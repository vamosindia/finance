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3" r:id="rId3"/>
    <p:sldId id="330" r:id="rId4"/>
    <p:sldId id="338" r:id="rId5"/>
    <p:sldId id="334" r:id="rId6"/>
    <p:sldId id="335" r:id="rId7"/>
    <p:sldId id="336" r:id="rId8"/>
    <p:sldId id="33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E7B5DA-2EB7-45F4-8BF8-259087D95BCE}" v="1" dt="2024-09-05T20:09:07.7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48" y="-1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sifzada Leyla" userId="ae4c97af-30dd-421f-ae78-da020e133fd2" providerId="ADAL" clId="{74E7B5DA-2EB7-45F4-8BF8-259087D95BCE}"/>
    <pc:docChg chg="custSel modSld">
      <pc:chgData name="Yusifzada Leyla" userId="ae4c97af-30dd-421f-ae78-da020e133fd2" providerId="ADAL" clId="{74E7B5DA-2EB7-45F4-8BF8-259087D95BCE}" dt="2024-09-09T09:18:45.644" v="264" actId="20577"/>
      <pc:docMkLst>
        <pc:docMk/>
      </pc:docMkLst>
      <pc:sldChg chg="modSp mod">
        <pc:chgData name="Yusifzada Leyla" userId="ae4c97af-30dd-421f-ae78-da020e133fd2" providerId="ADAL" clId="{74E7B5DA-2EB7-45F4-8BF8-259087D95BCE}" dt="2024-09-04T21:44:09.426" v="25" actId="20577"/>
        <pc:sldMkLst>
          <pc:docMk/>
          <pc:sldMk cId="2787226586" sldId="256"/>
        </pc:sldMkLst>
        <pc:spChg chg="mod">
          <ac:chgData name="Yusifzada Leyla" userId="ae4c97af-30dd-421f-ae78-da020e133fd2" providerId="ADAL" clId="{74E7B5DA-2EB7-45F4-8BF8-259087D95BCE}" dt="2024-09-04T21:43:52.027" v="7" actId="20577"/>
          <ac:spMkLst>
            <pc:docMk/>
            <pc:sldMk cId="2787226586" sldId="256"/>
            <ac:spMk id="2" creationId="{45B7CA3F-AA2B-3EBB-6709-BC384CD79D59}"/>
          </ac:spMkLst>
        </pc:spChg>
        <pc:spChg chg="mod">
          <ac:chgData name="Yusifzada Leyla" userId="ae4c97af-30dd-421f-ae78-da020e133fd2" providerId="ADAL" clId="{74E7B5DA-2EB7-45F4-8BF8-259087D95BCE}" dt="2024-09-04T21:44:09.426" v="25" actId="20577"/>
          <ac:spMkLst>
            <pc:docMk/>
            <pc:sldMk cId="2787226586" sldId="256"/>
            <ac:spMk id="3" creationId="{99E01EE9-5FA1-34BB-8599-5E1D5AE27425}"/>
          </ac:spMkLst>
        </pc:spChg>
      </pc:sldChg>
      <pc:sldChg chg="modSp mod">
        <pc:chgData name="Yusifzada Leyla" userId="ae4c97af-30dd-421f-ae78-da020e133fd2" providerId="ADAL" clId="{74E7B5DA-2EB7-45F4-8BF8-259087D95BCE}" dt="2024-09-09T09:18:45.644" v="264" actId="20577"/>
        <pc:sldMkLst>
          <pc:docMk/>
          <pc:sldMk cId="2627930548" sldId="334"/>
        </pc:sldMkLst>
        <pc:spChg chg="mod">
          <ac:chgData name="Yusifzada Leyla" userId="ae4c97af-30dd-421f-ae78-da020e133fd2" providerId="ADAL" clId="{74E7B5DA-2EB7-45F4-8BF8-259087D95BCE}" dt="2024-09-09T09:18:45.644" v="264" actId="20577"/>
          <ac:spMkLst>
            <pc:docMk/>
            <pc:sldMk cId="2627930548" sldId="334"/>
            <ac:spMk id="3" creationId="{712B5092-F202-326C-B5A7-6325B6E364B3}"/>
          </ac:spMkLst>
        </pc:spChg>
        <pc:picChg chg="mod">
          <ac:chgData name="Yusifzada Leyla" userId="ae4c97af-30dd-421f-ae78-da020e133fd2" providerId="ADAL" clId="{74E7B5DA-2EB7-45F4-8BF8-259087D95BCE}" dt="2024-09-05T20:09:07.765" v="261" actId="1035"/>
          <ac:picMkLst>
            <pc:docMk/>
            <pc:sldMk cId="2627930548" sldId="334"/>
            <ac:picMk id="6" creationId="{00000000-0000-0000-0000-000000000000}"/>
          </ac:picMkLst>
        </pc:picChg>
        <pc:picChg chg="mod">
          <ac:chgData name="Yusifzada Leyla" userId="ae4c97af-30dd-421f-ae78-da020e133fd2" providerId="ADAL" clId="{74E7B5DA-2EB7-45F4-8BF8-259087D95BCE}" dt="2024-09-04T21:58:23.348" v="30" actId="1076"/>
          <ac:picMkLst>
            <pc:docMk/>
            <pc:sldMk cId="2627930548" sldId="334"/>
            <ac:picMk id="7" creationId="{68C95DC1-3DC5-9799-3DC6-9482A01D99E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94E2-FB5D-110A-0147-B9B98981A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3B4628-3798-8B05-E216-337077FDF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C6C6-9E8C-1D74-9F45-C6DD279CF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869AA-4D20-449A-AFDD-9801084980B1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A8A4C-350F-A7B3-43E0-D4801D544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51727-5EC8-2657-924F-90F0AE96B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D196-9FFE-4BFE-9B56-6B1C5AB83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7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CD09-8AD4-94D3-8E60-669E93B54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6B2E2-8AE3-4C5B-BC01-CE339BA9E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042EE-4A5C-0D6E-EE59-994C9CAFD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869AA-4D20-449A-AFDD-9801084980B1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3D875-95AB-6B59-6DF9-ECE2730DA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CF62C-5885-BD47-A171-416CD70C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D196-9FFE-4BFE-9B56-6B1C5AB83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81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20879-206A-DD66-DAB1-F1385DB69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1BC84-403B-011A-DA53-1F9E66FDE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26525-A486-A52F-2CBE-2D53F5420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869AA-4D20-449A-AFDD-9801084980B1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40906-2F38-5272-4B6D-D9B38001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D240B-2F29-E2F2-F258-1E99E5A75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D196-9FFE-4BFE-9B56-6B1C5AB83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43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21CF2-E139-5C2B-F0C6-2030F6014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14F48-62A0-12EF-6B33-AB28A8749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43515F-40DE-FC47-01E0-9E3413BEB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11DC02-8977-7D11-3C4D-73DC0C4C5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869AA-4D20-449A-AFDD-9801084980B1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4D36B2-FCE0-B5B8-1B26-C6847F8DF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E60E4-05D1-BFAF-FA64-553B0CA79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D196-9FFE-4BFE-9B56-6B1C5AB83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518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75F0B-B433-05EF-F860-6F6F85544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E1833-0DC3-24CC-9D56-2328C9191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77E88-314B-E219-E2B5-B3880EF04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2EF0E3-F3AB-7E5C-B2B9-D6F52C7C5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1F1CAF-33E2-1222-7D80-B73D94CAD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71EA24-1F25-1AB0-F512-6D8284C97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869AA-4D20-449A-AFDD-9801084980B1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9273C5-1B88-24EA-84BB-16C3A3D1F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20DAA5-9607-4472-ACC1-949F36F83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D196-9FFE-4BFE-9B56-6B1C5AB83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474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7EC54-69C6-BC4A-89E1-FDBA58F03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FD28A8-9368-FD03-0435-87A0B1AA0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869AA-4D20-449A-AFDD-9801084980B1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6E469B-DEA4-B3E4-144F-98783F2AA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CF18CC-440B-290E-608A-D842D7E36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D196-9FFE-4BFE-9B56-6B1C5AB83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70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8E33ED-BD14-B971-13E9-F45407C20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869AA-4D20-449A-AFDD-9801084980B1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E09122-20AB-96FE-51B5-1FF93F564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59610-F669-0179-C08A-E12B4703E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D196-9FFE-4BFE-9B56-6B1C5AB83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74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F3D5-EE18-1E78-DE4C-16CF8E37E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07C1C-104E-BC03-EB9F-890874EB8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B7404-6F31-36BD-53A2-A790FD904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ECB94-D7C7-1FF9-760F-984672EDA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869AA-4D20-449A-AFDD-9801084980B1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39EC7-124F-18B3-741D-4DC4B5557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17A1F-25FF-E24A-AAD7-B8A80CEC7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D196-9FFE-4BFE-9B56-6B1C5AB83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207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DB290-D26A-A9E8-3C84-71063681B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3E093F-0F1D-7F09-A969-DDB1FBED67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2CE43E-5CC2-EEB6-6F8B-63A034C53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BA32A-3056-4744-C5F5-8993D59AB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869AA-4D20-449A-AFDD-9801084980B1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A2A7F-27B3-CCDF-16A5-7C1A632A6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21DDF-9C00-9A42-5F9B-5DB62B72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D196-9FFE-4BFE-9B56-6B1C5AB83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49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B4CD6-36AE-EC64-7525-99830BE2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DDF517-9740-FFD4-D8BA-D8DFA59C71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078D2-DD79-3546-6142-4856BF6C8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869AA-4D20-449A-AFDD-9801084980B1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5E434-D6D4-7AC3-8BF2-67C91A63A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FAE5B-18AE-75EF-47EA-095BD7034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D196-9FFE-4BFE-9B56-6B1C5AB83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520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3C8DE7-88A0-1474-935F-98740B42EE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277032-49A1-9875-925B-E2E25A5AC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0B92C-D48B-1DDF-1C8C-4C4A00497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869AA-4D20-449A-AFDD-9801084980B1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D25F6-1FDC-EBC2-107D-057D3EE6A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00E0E-B927-8A01-E50D-ACC7F4C67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D196-9FFE-4BFE-9B56-6B1C5AB83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2454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ímsor +1 felsorol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D07D3E3-AE15-4CCF-87C9-79791466A67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1813" y="1583728"/>
            <a:ext cx="11091861" cy="69769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hu-HU"/>
              <a:t>Georgia </a:t>
            </a:r>
            <a:r>
              <a:rPr lang="en-US"/>
              <a:t>36</a:t>
            </a:r>
            <a:r>
              <a:rPr lang="hu-HU"/>
              <a:t> </a:t>
            </a:r>
            <a:r>
              <a:rPr lang="hu-HU" err="1"/>
              <a:t>pt</a:t>
            </a:r>
            <a:endParaRPr lang="hu-HU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0785E47-8640-445E-ADE0-B4AF3857840B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1042987" y="2628900"/>
            <a:ext cx="10580687" cy="3644900"/>
          </a:xfrm>
          <a:prstGeom prst="rect">
            <a:avLst/>
          </a:prstGeom>
        </p:spPr>
        <p:txBody>
          <a:bodyPr lIns="0" tIns="0" rIns="0" bIns="0"/>
          <a:lstStyle>
            <a:lvl1pPr marL="216000" indent="-216000" defTabSz="54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11000"/>
              <a:buFont typeface="Wingdings" panose="05000000000000000000" pitchFamily="2" charset="2"/>
              <a:buChar char="§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hu-HU" err="1"/>
              <a:t>Arial</a:t>
            </a:r>
            <a:r>
              <a:rPr lang="hu-HU"/>
              <a:t> 18 </a:t>
            </a:r>
            <a:r>
              <a:rPr lang="hu-HU" err="1"/>
              <a:t>pt</a:t>
            </a:r>
            <a:r>
              <a:rPr lang="hu-HU"/>
              <a:t> felsorolás</a:t>
            </a: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E407B58E-6656-479D-A528-169ECA6EF1A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6361112" y="802093"/>
            <a:ext cx="5262562" cy="365125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lang="hu-HU" sz="1200" dirty="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Header</a:t>
            </a:r>
            <a:endParaRPr lang="hu-HU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4FC81C9-D12D-4A6F-A215-C7503B2C61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80475" y="553688"/>
            <a:ext cx="2743200" cy="18410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3B2AA8-89B5-4212-8DD8-FA9CB978D898}" type="datetime3">
              <a:rPr lang="en-US" smtClean="0"/>
              <a:t>9 September 2024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70916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CF4289-CE46-E1DD-231D-1CBF4F8FF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1BACB-C415-4304-95D0-815E1C3A3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CB67A-AB7C-1A0B-2A84-C53B29F0FC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869AA-4D20-449A-AFDD-9801084980B1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EB421-91EE-326F-5F7C-604CE40DE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E16B1-458E-21BB-7DBA-B8F65442C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AD196-9FFE-4BFE-9B56-6B1C5AB83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4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7CA3F-AA2B-3EBB-6709-BC384CD79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Week 1. Seminar 1.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E01EE9-5FA1-34BB-8599-5E1D5AE274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Law of one price. Solutions</a:t>
            </a:r>
          </a:p>
        </p:txBody>
      </p:sp>
    </p:spTree>
    <p:extLst>
      <p:ext uri="{BB962C8B-B14F-4D97-AF65-F5344CB8AC3E}">
        <p14:creationId xmlns:p14="http://schemas.microsoft.com/office/powerpoint/2010/main" val="2787226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ECB0B4-71A2-4EF6-8665-0F474940EA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err="1">
                <a:latin typeface="Times New Roman" panose="02020603050405020304" pitchFamily="18" charset="0"/>
                <a:cs typeface="Times New Roman" panose="02020603050405020304" pitchFamily="18" charset="0"/>
              </a:rPr>
              <a:t>Exercises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DD077-7BC2-F7A0-74F7-332BA09C9207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1042987" y="4859676"/>
            <a:ext cx="10580687" cy="1414123"/>
          </a:xfrm>
        </p:spPr>
        <p:txBody>
          <a:bodyPr/>
          <a:lstStyle/>
          <a:p>
            <a:r>
              <a:rPr lang="en-US"/>
              <a:t>Cash flow in one year of A+B =600</a:t>
            </a:r>
          </a:p>
          <a:p>
            <a:r>
              <a:rPr lang="en-US"/>
              <a:t>R=600/(231+346)-1=3.99%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4DB36F2-76DF-467F-BCCE-F99D399C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B2AA8-89B5-4212-8DD8-FA9CB978D898}" type="datetime3">
              <a:rPr lang="en-US" smtClean="0"/>
              <a:t>9 September 2024</a:t>
            </a:fld>
            <a:endParaRPr lang="hu-HU"/>
          </a:p>
        </p:txBody>
      </p:sp>
      <p:pic>
        <p:nvPicPr>
          <p:cNvPr id="6" name="Kép 5" descr="Képernyőrész kivágás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3" y="2281418"/>
            <a:ext cx="8367385" cy="232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198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átum helye 4">
            <a:extLst>
              <a:ext uri="{FF2B5EF4-FFF2-40B4-BE49-F238E27FC236}">
                <a16:creationId xmlns:a16="http://schemas.microsoft.com/office/drawing/2014/main" id="{34DB36F2-76DF-467F-BCCE-F99D399C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B2AA8-89B5-4212-8DD8-FA9CB978D898}" type="datetime3">
              <a:rPr lang="en-US" smtClean="0"/>
              <a:t>9 September 2024</a:t>
            </a:fld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3ECB0B4-71A2-4EF6-8665-0F474940EA9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584325"/>
            <a:ext cx="11091863" cy="696913"/>
          </a:xfrm>
        </p:spPr>
        <p:txBody>
          <a:bodyPr/>
          <a:lstStyle/>
          <a:p>
            <a:r>
              <a:rPr lang="hu-HU" err="1">
                <a:latin typeface="Times New Roman" panose="02020603050405020304" pitchFamily="18" charset="0"/>
                <a:cs typeface="Times New Roman" panose="02020603050405020304" pitchFamily="18" charset="0"/>
              </a:rPr>
              <a:t>Exercises</a:t>
            </a:r>
            <a:endParaRPr lang="hu-HU"/>
          </a:p>
        </p:txBody>
      </p:sp>
      <p:pic>
        <p:nvPicPr>
          <p:cNvPr id="7" name="Kép 6" descr="Képernyőrész kivágás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175" y="2544091"/>
            <a:ext cx="11004024" cy="333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303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19854-B283-BFC2-B7BE-B0D9B22E2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1813" y="301028"/>
            <a:ext cx="11091861" cy="697690"/>
          </a:xfrm>
        </p:spPr>
        <p:txBody>
          <a:bodyPr/>
          <a:lstStyle/>
          <a:p>
            <a:r>
              <a:rPr lang="en-US"/>
              <a:t>Solution 3A.2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70EFE-B98B-DD76-34F7-8BDBF3271EF0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1042987" y="2581726"/>
            <a:ext cx="10580687" cy="3812723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/>
              <a:t>C=3A+B</a:t>
            </a:r>
          </a:p>
          <a:p>
            <a:pPr marL="342900" indent="-342900">
              <a:buFont typeface="+mj-lt"/>
              <a:buAutoNum type="alphaUcPeriod"/>
            </a:pPr>
            <a:r>
              <a:rPr lang="en-US"/>
              <a:t>Price(C)=321*3+346=1039</a:t>
            </a:r>
          </a:p>
          <a:p>
            <a:pPr marL="342900" indent="-342900">
              <a:buFont typeface="+mj-lt"/>
              <a:buAutoNum type="alphaUcPeriod"/>
            </a:pPr>
            <a:endParaRPr lang="en-US" i="1">
              <a:latin typeface="KaTeX_Math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i="1">
                <a:latin typeface="KaTeX_Math"/>
              </a:rPr>
              <a:t>     </a:t>
            </a:r>
          </a:p>
          <a:p>
            <a:pPr marL="0" indent="0">
              <a:buNone/>
            </a:pPr>
            <a:endParaRPr lang="en-US" i="1">
              <a:latin typeface="KaTeX_Math"/>
            </a:endParaRPr>
          </a:p>
          <a:p>
            <a:pPr marL="0" indent="0">
              <a:buNone/>
            </a:pPr>
            <a:r>
              <a:rPr lang="en-US" i="1">
                <a:latin typeface="KaTeX_Math"/>
              </a:rPr>
              <a:t>R(C)-R(f)=15.5%-4%=11.5%</a:t>
            </a:r>
          </a:p>
          <a:p>
            <a:pPr marL="0" indent="0">
              <a:buNone/>
            </a:pPr>
            <a:r>
              <a:rPr lang="en-US" i="1">
                <a:latin typeface="KaTeX_Math"/>
              </a:rPr>
              <a:t>D.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lnSpc>
                <a:spcPct val="160000"/>
              </a:lnSpc>
              <a:buNone/>
            </a:pPr>
            <a:endParaRPr lang="en-US"/>
          </a:p>
          <a:p>
            <a:pPr marL="0" indent="0">
              <a:lnSpc>
                <a:spcPct val="160000"/>
              </a:lnSpc>
              <a:buNone/>
            </a:pPr>
            <a:r>
              <a:rPr lang="en-US"/>
              <a:t>E. R(C)=10%+4%=14%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/>
              <a:t>PV=Cash flow/(1+R)=1200/(1+14%)=1052.63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/>
              <a:t>Arbitrage profit=1052.63-1039=13.63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/>
              <a:t>Cell C and buy 3A+B</a:t>
            </a:r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9BA292C-5BCB-37EC-CC34-D801667F3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828028"/>
              </p:ext>
            </p:extLst>
          </p:nvPr>
        </p:nvGraphicFramePr>
        <p:xfrm>
          <a:off x="1175656" y="1000532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58307509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9617425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0456956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27174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961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886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503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34709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3528304C-F104-DD62-7BBF-3E552F91E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881" y="3010172"/>
            <a:ext cx="3941310" cy="5706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9A2952-D718-4B34-7960-63B34EB4F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881" y="4066900"/>
            <a:ext cx="2248580" cy="69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722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ECB0B4-71A2-4EF6-8665-0F474940E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err="1">
                <a:latin typeface="Times New Roman" panose="02020603050405020304" pitchFamily="18" charset="0"/>
                <a:cs typeface="Times New Roman" panose="02020603050405020304" pitchFamily="18" charset="0"/>
              </a:rPr>
              <a:t>Exercises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B5092-F202-326C-B5A7-6325B6E36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51261"/>
            <a:ext cx="10515600" cy="2325701"/>
          </a:xfrm>
        </p:spPr>
        <p:txBody>
          <a:bodyPr>
            <a:normAutofit/>
          </a:bodyPr>
          <a:lstStyle/>
          <a:p>
            <a:r>
              <a:rPr lang="en-US" sz="2400" dirty="0"/>
              <a:t>A. </a:t>
            </a:r>
          </a:p>
          <a:p>
            <a:r>
              <a:rPr lang="en-US" sz="2400" dirty="0"/>
              <a:t>B. no</a:t>
            </a:r>
          </a:p>
          <a:p>
            <a:r>
              <a:rPr lang="en-US" sz="2400" dirty="0"/>
              <a:t>C. No, because the payoff and their probability is independent from the market 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4DB36F2-76DF-467F-BCCE-F99D399C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B2AA8-89B5-4212-8DD8-FA9CB978D898}" type="datetime3">
              <a:rPr lang="en-US" smtClean="0"/>
              <a:t>9 September 2024</a:t>
            </a:fld>
            <a:endParaRPr lang="hu-HU"/>
          </a:p>
        </p:txBody>
      </p:sp>
      <p:pic>
        <p:nvPicPr>
          <p:cNvPr id="6" name="Kép 5" descr="Képernyőrész kivágás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82351"/>
            <a:ext cx="9245494" cy="25604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C95DC1-3DC5-9799-3DC6-9482A01D9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705" y="3851260"/>
            <a:ext cx="3355975" cy="66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930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ECB0B4-71A2-4EF6-8665-0F474940E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err="1">
                <a:latin typeface="Times New Roman" panose="02020603050405020304" pitchFamily="18" charset="0"/>
                <a:cs typeface="Times New Roman" panose="02020603050405020304" pitchFamily="18" charset="0"/>
              </a:rPr>
              <a:t>Exercises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6E8CE-C7FC-2093-94A5-E9C39178D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9659"/>
            <a:ext cx="10515600" cy="3128963"/>
          </a:xfrm>
        </p:spPr>
        <p:txBody>
          <a:bodyPr/>
          <a:lstStyle/>
          <a:p>
            <a:pPr marL="514350" indent="-514350">
              <a:buAutoNum type="alphaLcPeriod"/>
            </a:pPr>
            <a:r>
              <a:rPr lang="en-US"/>
              <a:t>MRP=10%-4%=6%, RP=6%/2=3%</a:t>
            </a:r>
          </a:p>
          <a:p>
            <a:pPr marL="514350" indent="-514350">
              <a:buAutoNum type="alphaLcPeriod"/>
            </a:pPr>
            <a:r>
              <a:rPr lang="en-US"/>
              <a:t>P=80/1.07=74.77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4DB36F2-76DF-467F-BCCE-F99D399C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B2AA8-89B5-4212-8DD8-FA9CB978D898}" type="datetime3">
              <a:rPr lang="en-US" smtClean="0"/>
              <a:t>9 September 2024</a:t>
            </a:fld>
            <a:endParaRPr lang="hu-HU"/>
          </a:p>
        </p:txBody>
      </p:sp>
      <p:pic>
        <p:nvPicPr>
          <p:cNvPr id="7" name="Kép 6" descr="Képernyőrész kivágás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13" y="1353859"/>
            <a:ext cx="9264132" cy="180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733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ECB0B4-71A2-4EF6-8665-0F474940E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err="1">
                <a:latin typeface="Times New Roman" panose="02020603050405020304" pitchFamily="18" charset="0"/>
                <a:cs typeface="Times New Roman" panose="02020603050405020304" pitchFamily="18" charset="0"/>
              </a:rPr>
              <a:t>Exercises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FE959-A644-8064-5902-711FAB979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89399"/>
            <a:ext cx="10515600" cy="2087563"/>
          </a:xfrm>
        </p:spPr>
        <p:txBody>
          <a:bodyPr/>
          <a:lstStyle/>
          <a:p>
            <a:pPr marL="514350" indent="-514350">
              <a:buAutoNum type="alphaLcPeriod"/>
            </a:pPr>
            <a:r>
              <a:rPr lang="en-US"/>
              <a:t>Buy Nasdaq: 28.10, Sell NYSE: 28.12</a:t>
            </a:r>
          </a:p>
          <a:p>
            <a:pPr marL="514350" indent="-514350">
              <a:buAutoNum type="alphaLcPeriod"/>
            </a:pPr>
            <a:r>
              <a:rPr lang="en-US"/>
              <a:t>No</a:t>
            </a:r>
          </a:p>
          <a:p>
            <a:pPr marL="514350" indent="-514350">
              <a:buAutoNum type="alphaLcPeriod"/>
            </a:pPr>
            <a:r>
              <a:rPr lang="en-US"/>
              <a:t>Highest bid&lt;Lowest ask</a:t>
            </a:r>
          </a:p>
          <a:p>
            <a:pPr marL="514350" indent="-514350">
              <a:buAutoNum type="alphaLcPeriod"/>
            </a:pPr>
            <a:endParaRPr lang="en-US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4DB36F2-76DF-467F-BCCE-F99D399C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B2AA8-89B5-4212-8DD8-FA9CB978D898}" type="datetime3">
              <a:rPr lang="en-US" smtClean="0"/>
              <a:t>9 September 2024</a:t>
            </a:fld>
            <a:endParaRPr lang="hu-HU"/>
          </a:p>
        </p:txBody>
      </p:sp>
      <p:pic>
        <p:nvPicPr>
          <p:cNvPr id="6" name="Kép 5" descr="Képernyőrész kivágás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13" y="1240018"/>
            <a:ext cx="8996342" cy="228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167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ECB0B4-71A2-4EF6-8665-0F474940E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err="1">
                <a:latin typeface="Times New Roman" panose="02020603050405020304" pitchFamily="18" charset="0"/>
                <a:cs typeface="Times New Roman" panose="02020603050405020304" pitchFamily="18" charset="0"/>
              </a:rPr>
              <a:t>Exercises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6092F-52AA-3126-B9A8-BF6C867DA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1917"/>
            <a:ext cx="10515600" cy="4119558"/>
          </a:xfrm>
        </p:spPr>
        <p:txBody>
          <a:bodyPr numCol="2">
            <a:normAutofit fontScale="92500" lnSpcReduction="10000"/>
          </a:bodyPr>
          <a:lstStyle/>
          <a:p>
            <a:pPr marL="0" indent="0">
              <a:buNone/>
            </a:pPr>
            <a:r>
              <a:rPr lang="en-US"/>
              <a:t>C(Bond)=100</a:t>
            </a:r>
          </a:p>
          <a:p>
            <a:pPr marL="0" indent="0">
              <a:buNone/>
            </a:pPr>
            <a:r>
              <a:rPr lang="en-US"/>
              <a:t>P(portfolio bid)=141.71</a:t>
            </a:r>
          </a:p>
          <a:p>
            <a:pPr marL="0" indent="0">
              <a:buNone/>
            </a:pPr>
            <a:r>
              <a:rPr lang="en-US"/>
              <a:t>P(portfolio ask)=142.26</a:t>
            </a:r>
          </a:p>
          <a:p>
            <a:pPr marL="0" indent="0">
              <a:buNone/>
            </a:pPr>
            <a:r>
              <a:rPr lang="en-US"/>
              <a:t>P(Bond bid)=91.67</a:t>
            </a:r>
          </a:p>
          <a:p>
            <a:pPr marL="0" indent="0">
              <a:buNone/>
            </a:pPr>
            <a:r>
              <a:rPr lang="en-US"/>
              <a:t>P(Bond ask)=91.88</a:t>
            </a:r>
          </a:p>
          <a:p>
            <a:pPr marL="0" indent="0">
              <a:buNone/>
            </a:pPr>
            <a:r>
              <a:rPr lang="en-US"/>
              <a:t>Sell portfolio=141.71</a:t>
            </a:r>
          </a:p>
          <a:p>
            <a:pPr marL="0" indent="0">
              <a:buNone/>
            </a:pPr>
            <a:r>
              <a:rPr lang="en-US"/>
              <a:t>Buy bond=91.88</a:t>
            </a:r>
          </a:p>
          <a:p>
            <a:pPr marL="0" indent="0">
              <a:buNone/>
            </a:pPr>
            <a:r>
              <a:rPr lang="en-US"/>
              <a:t>Buy stock=141.71-91.88=49.12</a:t>
            </a:r>
          </a:p>
          <a:p>
            <a:pPr marL="0" indent="0">
              <a:buNone/>
            </a:pPr>
            <a:r>
              <a:rPr lang="en-US"/>
              <a:t>Or</a:t>
            </a:r>
          </a:p>
          <a:p>
            <a:pPr marL="0" indent="0">
              <a:buNone/>
            </a:pPr>
            <a:r>
              <a:rPr lang="en-US"/>
              <a:t>Buy portfolio=142.26</a:t>
            </a:r>
          </a:p>
          <a:p>
            <a:pPr marL="0" indent="0">
              <a:buNone/>
            </a:pPr>
            <a:r>
              <a:rPr lang="en-US"/>
              <a:t>Sell bond=91.67</a:t>
            </a:r>
          </a:p>
          <a:p>
            <a:pPr marL="0" indent="0">
              <a:buNone/>
            </a:pPr>
            <a:r>
              <a:rPr lang="en-US"/>
              <a:t>Sell stock=50.59</a:t>
            </a:r>
          </a:p>
          <a:p>
            <a:pPr marL="0" indent="0">
              <a:buNone/>
            </a:pPr>
            <a:r>
              <a:rPr lang="en-US"/>
              <a:t>If P(stock)=49 too cheap</a:t>
            </a:r>
          </a:p>
          <a:p>
            <a:pPr marL="0" indent="0">
              <a:buNone/>
            </a:pPr>
            <a:r>
              <a:rPr lang="en-US"/>
              <a:t>Buy </a:t>
            </a:r>
            <a:r>
              <a:rPr lang="en-US" err="1"/>
              <a:t>stock+buy</a:t>
            </a:r>
            <a:r>
              <a:rPr lang="en-US"/>
              <a:t> </a:t>
            </a:r>
            <a:r>
              <a:rPr lang="en-US" err="1"/>
              <a:t>bond+sell</a:t>
            </a:r>
            <a:r>
              <a:rPr lang="en-US"/>
              <a:t> portfolio=</a:t>
            </a:r>
          </a:p>
          <a:p>
            <a:pPr marL="0" indent="0">
              <a:buNone/>
            </a:pPr>
            <a:r>
              <a:rPr lang="en-US"/>
              <a:t>-49-91.88+141.71=0.83</a:t>
            </a:r>
          </a:p>
          <a:p>
            <a:pPr marL="0" indent="0">
              <a:buNone/>
            </a:pPr>
            <a:r>
              <a:rPr lang="en-US"/>
              <a:t>If P(stock)=51 too expensive</a:t>
            </a:r>
          </a:p>
          <a:p>
            <a:pPr marL="0" indent="0">
              <a:buNone/>
            </a:pPr>
            <a:r>
              <a:rPr lang="en-US"/>
              <a:t>Sell </a:t>
            </a:r>
            <a:r>
              <a:rPr lang="en-US" err="1"/>
              <a:t>stock+Sell</a:t>
            </a:r>
            <a:r>
              <a:rPr lang="en-US"/>
              <a:t> </a:t>
            </a:r>
            <a:r>
              <a:rPr lang="en-US" err="1"/>
              <a:t>bond+buy</a:t>
            </a:r>
            <a:r>
              <a:rPr lang="en-US"/>
              <a:t> portfolio=</a:t>
            </a:r>
          </a:p>
          <a:p>
            <a:pPr marL="0" indent="0">
              <a:buNone/>
            </a:pPr>
            <a:r>
              <a:rPr lang="en-US"/>
              <a:t>51+91.67-142.26=0.41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4DB36F2-76DF-467F-BCCE-F99D399C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B2AA8-89B5-4212-8DD8-FA9CB978D898}" type="datetime3">
              <a:rPr lang="en-US" smtClean="0"/>
              <a:t>9 September 2024</a:t>
            </a:fld>
            <a:endParaRPr lang="hu-HU"/>
          </a:p>
        </p:txBody>
      </p:sp>
      <p:pic>
        <p:nvPicPr>
          <p:cNvPr id="7" name="Kép 6" descr="Képernyőrész kivágás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13" y="1367018"/>
            <a:ext cx="10445662" cy="123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031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</Words>
  <Application>Microsoft Office PowerPoint</Application>
  <PresentationFormat>Widescreen</PresentationFormat>
  <Paragraphs>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Georgia</vt:lpstr>
      <vt:lpstr>KaTeX_Math</vt:lpstr>
      <vt:lpstr>Times New Roman</vt:lpstr>
      <vt:lpstr>Wingdings</vt:lpstr>
      <vt:lpstr>Office Theme</vt:lpstr>
      <vt:lpstr>Week 1. Seminar 1.</vt:lpstr>
      <vt:lpstr>Exercises</vt:lpstr>
      <vt:lpstr>Exercises</vt:lpstr>
      <vt:lpstr>Solution 3A.2 </vt:lpstr>
      <vt:lpstr>Exercises</vt:lpstr>
      <vt:lpstr>Exercises</vt:lpstr>
      <vt:lpstr>Exercises</vt:lpstr>
      <vt:lpstr>Exercises</vt:lpstr>
    </vt:vector>
  </TitlesOfParts>
  <Company>Budapest Corvinus Egyetem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1. Seminar 2.</dc:title>
  <dc:creator>Yusifzada Leyla</dc:creator>
  <cp:lastModifiedBy>Yusifzada Leyla</cp:lastModifiedBy>
  <cp:revision>1</cp:revision>
  <dcterms:created xsi:type="dcterms:W3CDTF">2024-04-10T21:30:29Z</dcterms:created>
  <dcterms:modified xsi:type="dcterms:W3CDTF">2024-09-09T09:18:48Z</dcterms:modified>
</cp:coreProperties>
</file>