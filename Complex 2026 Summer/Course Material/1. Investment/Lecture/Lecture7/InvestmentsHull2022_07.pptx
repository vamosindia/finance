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  <p:sldMasterId id="2147483872" r:id="rId2"/>
  </p:sldMasterIdLst>
  <p:notesMasterIdLst>
    <p:notesMasterId r:id="rId27"/>
  </p:notesMasterIdLst>
  <p:sldIdLst>
    <p:sldId id="257" r:id="rId3"/>
    <p:sldId id="280" r:id="rId4"/>
    <p:sldId id="256" r:id="rId5"/>
    <p:sldId id="258" r:id="rId6"/>
    <p:sldId id="259" r:id="rId7"/>
    <p:sldId id="294" r:id="rId8"/>
    <p:sldId id="261" r:id="rId9"/>
    <p:sldId id="282" r:id="rId10"/>
    <p:sldId id="262" r:id="rId11"/>
    <p:sldId id="295" r:id="rId12"/>
    <p:sldId id="296" r:id="rId13"/>
    <p:sldId id="263" r:id="rId14"/>
    <p:sldId id="285" r:id="rId15"/>
    <p:sldId id="265" r:id="rId16"/>
    <p:sldId id="266" r:id="rId17"/>
    <p:sldId id="267" r:id="rId18"/>
    <p:sldId id="299" r:id="rId19"/>
    <p:sldId id="270" r:id="rId20"/>
    <p:sldId id="301" r:id="rId21"/>
    <p:sldId id="290" r:id="rId22"/>
    <p:sldId id="289" r:id="rId23"/>
    <p:sldId id="272" r:id="rId24"/>
    <p:sldId id="273" r:id="rId25"/>
    <p:sldId id="279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5CAB4C9-7572-46D3-821D-D914110753E7}" type="datetimeFigureOut">
              <a:rPr lang="en-US"/>
              <a:pPr>
                <a:defRPr/>
              </a:pPr>
              <a:t>12/18/2022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95A634F-D228-4484-9A19-B08726FEE6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716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FE487A-F8FB-4879-A815-74A17C993F1C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450789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3B234A3-1ABB-430E-B3AE-8273F23AC25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727E61-2B77-4FCE-9C91-4DC404E6C5C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/>
          </a:p>
        </p:txBody>
      </p:sp>
    </p:spTree>
    <p:extLst>
      <p:ext uri="{BB962C8B-B14F-4D97-AF65-F5344CB8AC3E}">
        <p14:creationId xmlns:p14="http://schemas.microsoft.com/office/powerpoint/2010/main" val="1116266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F4AFE85-03CA-46CD-99B4-F12F569B100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/>
          </a:p>
        </p:txBody>
      </p:sp>
    </p:spTree>
    <p:extLst>
      <p:ext uri="{BB962C8B-B14F-4D97-AF65-F5344CB8AC3E}">
        <p14:creationId xmlns:p14="http://schemas.microsoft.com/office/powerpoint/2010/main" val="2569503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7DAC8C7-224E-4340-B384-DDC3E0C560A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/>
          </a:p>
        </p:txBody>
      </p:sp>
    </p:spTree>
    <p:extLst>
      <p:ext uri="{BB962C8B-B14F-4D97-AF65-F5344CB8AC3E}">
        <p14:creationId xmlns:p14="http://schemas.microsoft.com/office/powerpoint/2010/main" val="3911459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6F7E8B5-D739-47DC-B6F6-FFD0DC4E2CF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13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5487D7-DA94-4BD0-96B6-AA8F73D6311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/>
          </a:p>
        </p:txBody>
      </p:sp>
    </p:spTree>
    <p:extLst>
      <p:ext uri="{BB962C8B-B14F-4D97-AF65-F5344CB8AC3E}">
        <p14:creationId xmlns:p14="http://schemas.microsoft.com/office/powerpoint/2010/main" val="8381124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590F902-74EE-45EB-8FED-20B3B4631AD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/>
          </a:p>
        </p:txBody>
      </p:sp>
    </p:spTree>
    <p:extLst>
      <p:ext uri="{BB962C8B-B14F-4D97-AF65-F5344CB8AC3E}">
        <p14:creationId xmlns:p14="http://schemas.microsoft.com/office/powerpoint/2010/main" val="2130508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DBC7F8-FD42-4E62-B70D-337A80651A2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31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2B61CD-88DE-4C7A-B93A-24C484A8075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/>
          </a:p>
        </p:txBody>
      </p:sp>
    </p:spTree>
    <p:extLst>
      <p:ext uri="{BB962C8B-B14F-4D97-AF65-F5344CB8AC3E}">
        <p14:creationId xmlns:p14="http://schemas.microsoft.com/office/powerpoint/2010/main" val="3605178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B56A8F0-C8E8-4A4A-8473-5467D1683D3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/>
          </a:p>
        </p:txBody>
      </p:sp>
    </p:spTree>
    <p:extLst>
      <p:ext uri="{BB962C8B-B14F-4D97-AF65-F5344CB8AC3E}">
        <p14:creationId xmlns:p14="http://schemas.microsoft.com/office/powerpoint/2010/main" val="503801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C82ECA5-B9D6-486E-A295-78FA9C7EC8D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/>
          </a:p>
        </p:txBody>
      </p:sp>
    </p:spTree>
    <p:extLst>
      <p:ext uri="{BB962C8B-B14F-4D97-AF65-F5344CB8AC3E}">
        <p14:creationId xmlns:p14="http://schemas.microsoft.com/office/powerpoint/2010/main" val="836772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6C0D48B-D797-41A5-9DDA-331C8BB1127D}" type="slidenum">
              <a:rPr lang="en-US" altLang="en-US" sz="1000"/>
              <a:pPr>
                <a:spcBef>
                  <a:spcPct val="0"/>
                </a:spcBef>
              </a:pPr>
              <a:t>17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34206979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89C4B7-5046-421C-9F71-E8D5FD618E7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/>
          </a:p>
        </p:txBody>
      </p:sp>
    </p:spTree>
    <p:extLst>
      <p:ext uri="{BB962C8B-B14F-4D97-AF65-F5344CB8AC3E}">
        <p14:creationId xmlns:p14="http://schemas.microsoft.com/office/powerpoint/2010/main" val="1355722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392BBCD-C8B0-42AD-BFE0-9DB997DDAE7F}" type="slidenum">
              <a:rPr lang="en-US" altLang="en-US" sz="1000"/>
              <a:pPr>
                <a:spcBef>
                  <a:spcPct val="0"/>
                </a:spcBef>
              </a:pPr>
              <a:t>19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1710597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AA5F30-095D-40BD-BA8D-22F09631E9D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358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D86243-D3DA-4770-9CBA-417117AA032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49123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89A42ED-BFC4-4239-B74E-8312F8B0EB2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/>
          </a:p>
        </p:txBody>
      </p:sp>
    </p:spTree>
    <p:extLst>
      <p:ext uri="{BB962C8B-B14F-4D97-AF65-F5344CB8AC3E}">
        <p14:creationId xmlns:p14="http://schemas.microsoft.com/office/powerpoint/2010/main" val="19801603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6C7CCF-17BC-47A6-B236-82BB986D5A1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5739501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0D95D9-2CDD-4DF7-8538-84B8F0E83E1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10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E59EC48-F65D-4168-ADD0-F8A3452B63F6}" type="datetime1">
              <a:rPr lang="en-US" smtClean="0"/>
              <a:t>12/18/2022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Options, Futures, and Other Derivatives,  11th Edition, Copyright © John  C. Hull 2021</a:t>
            </a:r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5F5014-D8D7-4590-96C7-FD5688B2A7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67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5CFDE1-267D-429E-83DA-1FA5CED3EBB0}" type="datetime1">
              <a:rPr lang="en-US" smtClean="0"/>
              <a:t>12/18/2022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Options, Futures, and Other Derivatives,  11th Edition, Copyright © John  C. Hull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BB4B8-278C-45E0-968A-8816E13BB3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0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4432F0-80C4-4846-B33E-2DB1F91152EE}" type="datetime1">
              <a:rPr lang="en-US" smtClean="0"/>
              <a:t>12/18/2022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 11th Edition, Copyright © John  C. Hull 2021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AEFA05-2741-47DF-AC47-8FFE2332AF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B3627A-15A0-4E67-80D3-A5B3ABD008F9}" type="datetime1">
              <a:rPr lang="en-US" smtClean="0"/>
              <a:t>12/18/2022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 11th Edition, Copyright © John  C. Hull 2021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1D1FF3-9454-4425-875A-07013CF753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16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70C241-F517-4546-85FC-54B38ED5BCAE}" type="datetime1">
              <a:rPr lang="en-US" smtClean="0"/>
              <a:t>12/18/2022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 11th Edition, Copyright © John  C. Hull 2021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220CA-9F58-41D4-B3D8-7588A98E6E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2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3844A95-4E98-4195-90D2-80D64283CD61}" type="datetime1">
              <a:rPr lang="en-US" smtClean="0"/>
              <a:t>12/18/2022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Options, Futures, and Other Derivatives,  11th Edition, Copyright © John  C. Hull 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992E6-6347-42F5-A88F-CCC23CC560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32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EC4B5-4412-465A-889E-1CDBF83A7146}" type="datetime1">
              <a:rPr lang="en-US" smtClean="0"/>
              <a:t>12/18/2022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 11th Edition, Copyright © John  C. Hull 2021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9BB4F-0588-4190-9E71-77D7C96EBD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45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555299-950B-48EF-A317-623048A44D08}" type="datetime1">
              <a:rPr lang="en-US" smtClean="0"/>
              <a:t>12/18/2022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 11th Edition, Copyright © John  C. Hull 2021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4B0FD7-1C5D-43F8-A691-9F9F1B5DC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7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B99A0-82AF-4FBC-AC25-CAB74BCA231C}" type="datetime1">
              <a:rPr lang="en-US" smtClean="0"/>
              <a:t>12/18/2022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 11th Edition, Copyright © John  C. Hull 2021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61988-5001-4D9E-A747-37B473865C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38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52433-A715-4164-B483-D0FCA8690AA1}" type="datetime1">
              <a:rPr lang="en-US" smtClean="0"/>
              <a:t>12/18/2022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 11th Edition, Copyright © John  C. Hull 2021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626C03-53DD-4D2A-B8E1-A43F708511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7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4357C-B000-4F38-AEBE-A74D17A598D4}" type="datetime1">
              <a:rPr lang="en-US" smtClean="0"/>
              <a:t>12/18/2022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 11th Edition, Copyright © John  C. Hull 2021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6DA001-D9AD-4F05-A368-B48D33EA5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5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8AAB475-CF0F-488D-A3C8-AD1AFB45E75E}" type="datetime1">
              <a:rPr lang="en-US" altLang="en-US" smtClean="0"/>
              <a:t>12/18/2022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Options, Futures, and Other Derivatives,  11th Edition, Copyright © John  C. Hull 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E69A69-AA2F-450B-B976-D7C65C272C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7104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3D93DED-5402-41B1-8C6C-2B25C2714312}" type="datetime1">
              <a:rPr lang="en-US" smtClean="0"/>
              <a:t>12/18/2022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Options, Futures, and Other Derivatives,  11th Edition, Copyright © John  C. Hull 2021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DABED-5C7E-4582-B97D-5FCF7D9A2C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23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0983-56D7-A66F-68AD-FFC4F50FC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04A6C-39E0-3C37-D1F6-FC6EAA707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4D20D-897D-B025-8058-BE2959E36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A4FA6-0332-405D-83D3-840D247911A5}" type="datetimeFigureOut">
              <a:rPr lang="en-SG" smtClean="0"/>
              <a:t>18/12/2022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24AFC-D039-BFA2-1DEA-5B1BEE91E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3B7D7-BCE2-D117-E674-C814EA7C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18D1-4E95-4359-B868-74BD3AF60A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7873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9AF8-DEB2-CA08-C9E9-C1D584F5E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D513E-2721-64BB-2875-416E5EBC8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3E41-49A6-430A-9687-C1EB083E3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A4FA6-0332-405D-83D3-840D247911A5}" type="datetimeFigureOut">
              <a:rPr lang="en-SG" smtClean="0"/>
              <a:t>18/12/2022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85F4C-1B47-6B1E-6096-73EB7313B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92CFE-ECE6-A02D-F122-A9C45B3A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18D1-4E95-4359-B868-74BD3AF60A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5351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C6274-5782-797B-823D-DFA9F768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6643A-8A54-A912-53C6-19EDEF4F8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A21BD-22B7-94B7-A128-FF2124E77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A4FA6-0332-405D-83D3-840D247911A5}" type="datetimeFigureOut">
              <a:rPr lang="en-SG" smtClean="0"/>
              <a:t>18/12/2022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FF907-F704-56B6-C471-92E31BF32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74A30-DB10-E73F-8EE8-E350CDA4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18D1-4E95-4359-B868-74BD3AF60A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9127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C4F9-3237-6424-6B7D-4513D2AC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23BD4-BF04-8C97-C855-384DEE01F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1F2CF-6B10-B0D3-FB79-202F307AB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31B8D-8734-95CA-5732-C1795173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A4FA6-0332-405D-83D3-840D247911A5}" type="datetimeFigureOut">
              <a:rPr lang="en-SG" smtClean="0"/>
              <a:t>18/12/2022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EAA3A-5B41-87F6-52AC-009D3309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50739-16A1-F747-0181-174CA27D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18D1-4E95-4359-B868-74BD3AF60A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3952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3DD18-BF80-7F78-0693-F27CCFC17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CA024-E51C-15FC-BEB4-4DED4FB43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00D1B-DC48-193F-A93C-FA38A1DC9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149523-DD98-2718-7170-0CB2FD870F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9180A-9B23-19EC-0B99-84AAB0E21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1AEFD0-2394-3329-B7DF-123476730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A4FA6-0332-405D-83D3-840D247911A5}" type="datetimeFigureOut">
              <a:rPr lang="en-SG" smtClean="0"/>
              <a:t>18/12/2022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F47198-9FDF-651A-8B86-3BBFD73FE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644B2B-E565-21B6-8A1F-4E501835B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18D1-4E95-4359-B868-74BD3AF60A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0001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F0D3F-488C-621D-C4CF-325B4831B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0B68C5-BAB3-C4D2-3160-E43061104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A4FA6-0332-405D-83D3-840D247911A5}" type="datetimeFigureOut">
              <a:rPr lang="en-SG" smtClean="0"/>
              <a:t>18/12/2022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286BB-77E1-CEEB-C90B-A5362F18B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77631-FD61-0438-31E6-0035852D1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18D1-4E95-4359-B868-74BD3AF60A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4831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86A716-7AE4-F0D9-32B0-A7F0EE22D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A4FA6-0332-405D-83D3-840D247911A5}" type="datetimeFigureOut">
              <a:rPr lang="en-SG" smtClean="0"/>
              <a:t>18/12/2022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8DD932-C324-AA89-9517-73E52A346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76BA4-CE27-E7BA-91D2-F406E0CC0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18D1-4E95-4359-B868-74BD3AF60A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329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E3F7-9576-D62D-DC64-113362332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668D7-5FB1-C727-4270-EC7FCD872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ED1F0-AA4E-E4E0-05B5-51621F8D1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679AF-3D31-E586-63B1-891913654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A4FA6-0332-405D-83D3-840D247911A5}" type="datetimeFigureOut">
              <a:rPr lang="en-SG" smtClean="0"/>
              <a:t>18/12/2022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28C52-48B3-F909-C8F3-7DAC7BC3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17E0B-8C3F-1544-F851-1D58E9E4A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18D1-4E95-4359-B868-74BD3AF60A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85998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F9C3-AA58-C2C9-4B1F-685D0AB15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1000B7-CD9D-5662-9D2F-6EC4FB4EF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A7DE2-6633-72FE-EBC5-5AE70EE49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29F10-5B65-E734-7313-0EE47EF05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A4FA6-0332-405D-83D3-840D247911A5}" type="datetimeFigureOut">
              <a:rPr lang="en-SG" smtClean="0"/>
              <a:t>18/12/2022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DB31F-A595-77C4-8988-68CC7E570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71E9D-D1C6-0256-673B-5BFCAA866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18D1-4E95-4359-B868-74BD3AF60A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96816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56F7-0510-58C4-B7ED-B7AC6368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4F71FB-FC4F-7A8B-673B-E31249E2E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E91D9-E5E4-485C-CA88-AFA1904F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A4FA6-0332-405D-83D3-840D247911A5}" type="datetimeFigureOut">
              <a:rPr lang="en-SG" smtClean="0"/>
              <a:t>18/12/2022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F23E0-24F8-D5FA-14AB-62569D8C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C7C27-E215-1A91-8837-54FB1A2DA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18D1-4E95-4359-B868-74BD3AF60A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075496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E2643B-2FD1-B8E7-F127-03C64E46EA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9CAC8-99D6-FA30-505B-6E99FBA8A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C45B0-7481-123A-FA79-237E9D54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A4FA6-0332-405D-83D3-840D247911A5}" type="datetimeFigureOut">
              <a:rPr lang="en-SG" smtClean="0"/>
              <a:t>18/12/2022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AE91E-BEAB-B925-58C1-E83F25F99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F4E28-DA1F-CDC2-D818-0EF06D0B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18D1-4E95-4359-B868-74BD3AF60A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650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80816F13-7DFC-4896-B082-3E6E4D245257}" type="datetime1">
              <a:rPr lang="en-US" smtClean="0"/>
              <a:t>12/18/2022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/>
              <a:t>Options, Futures, and Other Derivatives,  11th Edition, Copyright © John  C. Hull 2021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7DF96D9-6D10-417F-88D1-F5F07B128B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59" r:id="rId3"/>
    <p:sldLayoutId id="2147483860" r:id="rId4"/>
    <p:sldLayoutId id="2147483861" r:id="rId5"/>
    <p:sldLayoutId id="2147483869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70" r:id="rId12"/>
    <p:sldLayoutId id="2147483871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7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0AFBA-BF77-17C4-A58F-102A7AFFC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8FD01-6D4D-BC38-34D1-7BA1BC88A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5A0F3-7012-B345-382D-5452AABCD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A4FA6-0332-405D-83D3-840D247911A5}" type="datetimeFigureOut">
              <a:rPr lang="en-SG" smtClean="0"/>
              <a:t>18/12/2022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5D165-396B-1B88-CFC4-80645463A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0225E-82FA-6E0B-59C4-B5C011492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C18D1-4E95-4359-B868-74BD3AF60A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1391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7.wmf"/><Relationship Id="rId3" Type="http://schemas.openxmlformats.org/officeDocument/2006/relationships/image" Target="../media/image2.png"/><Relationship Id="rId21" Type="http://schemas.openxmlformats.org/officeDocument/2006/relationships/image" Target="../media/image18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8.bin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6.wmf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image" Target="../media/image19.wmf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3.png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5.wmf"/><Relationship Id="rId22" Type="http://schemas.openxmlformats.org/officeDocument/2006/relationships/oleObject" Target="../embeddings/oleObject1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53831-86BA-EA99-C664-8D03E508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385C6-DA13-0ED7-070A-9CB59BBE0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6DDF6-5DD7-C22E-8290-A14C7042B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071"/>
            <a:ext cx="9144000" cy="511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11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Implied Volatility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The implied volatility of an option is the volatility for which the Black-Scholes-Merton price equals the market price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There is a one-to-one correspondence between prices and implied volatilities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Traders and brokers often quote implied volatilities rather than dollar prices  </a:t>
            </a:r>
          </a:p>
        </p:txBody>
      </p:sp>
      <p:sp>
        <p:nvSpPr>
          <p:cNvPr id="337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9E49F1E-8480-42B2-85D5-8B60796BB9D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1981200"/>
            <a:ext cx="6934200" cy="2362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Chapter 19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Greek Letters</a:t>
            </a:r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24600"/>
            <a:ext cx="4572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F6920ED-EF34-4E37-9B9B-0CF42E647CF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609600"/>
            <a:ext cx="7165975" cy="10668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Example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800225"/>
            <a:ext cx="7210425" cy="34544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Arial" charset="0"/>
                <a:cs typeface="Arial" charset="0"/>
              </a:rPr>
              <a:t>A bank has sold for $300,000 a European call option on 100,000 shares of a non-dividend paying stock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Arial" charset="0"/>
                <a:cs typeface="Arial" charset="0"/>
              </a:rPr>
              <a:t> 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>
                <a:latin typeface="Arial" charset="0"/>
                <a:cs typeface="Arial" charset="0"/>
              </a:rPr>
              <a:t>  = 49,  </a:t>
            </a:r>
            <a:r>
              <a:rPr lang="en-US" altLang="en-US" sz="2400">
                <a:latin typeface="Times New Roman" pitchFamily="18" charset="0"/>
                <a:cs typeface="Arial" charset="0"/>
              </a:rPr>
              <a:t>  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K </a:t>
            </a:r>
            <a:r>
              <a:rPr lang="en-US" altLang="en-US" sz="2400">
                <a:latin typeface="Arial" charset="0"/>
                <a:cs typeface="Arial" charset="0"/>
              </a:rPr>
              <a:t> = 50,  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r</a:t>
            </a:r>
            <a:r>
              <a:rPr lang="en-US" altLang="en-US" sz="2400">
                <a:latin typeface="Arial" charset="0"/>
                <a:cs typeface="Arial" charset="0"/>
              </a:rPr>
              <a:t>  = 5%, </a:t>
            </a:r>
            <a:r>
              <a:rPr lang="en-US" altLang="en-US" sz="240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>
                <a:latin typeface="Symbol" pitchFamily="18" charset="2"/>
                <a:cs typeface="Arial" charset="0"/>
              </a:rPr>
              <a:t>s </a:t>
            </a:r>
            <a:r>
              <a:rPr lang="en-US" altLang="en-US" sz="2400">
                <a:latin typeface="Arial" charset="0"/>
                <a:cs typeface="Arial" charset="0"/>
              </a:rPr>
              <a:t>= 20%,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latin typeface="Arial" charset="0"/>
                <a:cs typeface="Arial" charset="0"/>
              </a:rPr>
              <a:t>	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T =</a:t>
            </a:r>
            <a:r>
              <a:rPr lang="en-US" altLang="en-US" sz="2400">
                <a:latin typeface="Arial" charset="0"/>
                <a:cs typeface="Arial" charset="0"/>
              </a:rPr>
              <a:t> 20 weeks, </a:t>
            </a:r>
            <a:r>
              <a:rPr lang="en-US" altLang="en-US" sz="2400">
                <a:latin typeface="Symbol" pitchFamily="18" charset="2"/>
                <a:cs typeface="Arial" charset="0"/>
              </a:rPr>
              <a:t>m </a:t>
            </a:r>
            <a:r>
              <a:rPr lang="en-US" altLang="en-US" sz="2400">
                <a:latin typeface="Arial" charset="0"/>
                <a:cs typeface="Arial" charset="0"/>
              </a:rPr>
              <a:t>= 13%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Arial" charset="0"/>
                <a:cs typeface="Arial" charset="0"/>
              </a:rPr>
              <a:t>The Black-Scholes-Merton value of the option is $240,000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Arial" charset="0"/>
                <a:cs typeface="Arial" charset="0"/>
              </a:rPr>
              <a:t>How does the bank hedge its risk to lock in a $60,000 profit?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8A3C9DC-79D5-4A79-8E0F-EBBB8A28136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Naked &amp; Covered Positions</a:t>
            </a:r>
          </a:p>
        </p:txBody>
      </p:sp>
      <p:sp>
        <p:nvSpPr>
          <p:cNvPr id="9219" name="Content Placeholder 5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3576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en-US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Naked position</a:t>
            </a:r>
          </a:p>
          <a:p>
            <a:pPr lvl="1" eaLnBrk="1" hangingPunct="1"/>
            <a:r>
              <a:rPr lang="en-US" altLang="en-US">
                <a:latin typeface="Arial" charset="0"/>
                <a:cs typeface="Arial" charset="0"/>
              </a:rPr>
              <a:t>Take no  action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Covered position</a:t>
            </a:r>
          </a:p>
          <a:p>
            <a:pPr lvl="1" eaLnBrk="1" hangingPunct="1"/>
            <a:r>
              <a:rPr lang="en-US" altLang="en-US">
                <a:latin typeface="Arial" charset="0"/>
                <a:cs typeface="Arial" charset="0"/>
              </a:rPr>
              <a:t>Buy 100,000 shares today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What are the risks associated with these strategies?</a:t>
            </a: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8CC6760-2C97-4A2C-B244-34FE5A1C374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Greek Letters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685800" y="2006907"/>
            <a:ext cx="7772400" cy="4114800"/>
          </a:xfrm>
        </p:spPr>
        <p:txBody>
          <a:bodyPr/>
          <a:lstStyle/>
          <a:p>
            <a:r>
              <a:rPr lang="en-CA" altLang="en-US" sz="2800" dirty="0"/>
              <a:t>Greek letters are the partial derivatives with respect to the model parameters that are liable to change</a:t>
            </a:r>
          </a:p>
          <a:p>
            <a:r>
              <a:rPr lang="en-CA" altLang="en-US" sz="2800" dirty="0"/>
              <a:t>Usually traders use the Black-Scholes-Merton model when calculating partial derivatives</a:t>
            </a:r>
          </a:p>
          <a:p>
            <a:r>
              <a:rPr lang="en-CA" altLang="en-US" sz="2800" dirty="0"/>
              <a:t>The volatility parameter in BSM is set equal to the implied volatility when Greek letters are calculated. This is referred to as using the “practitioner Black-Scholes” model </a:t>
            </a: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Options, Futures, and Other Derivatives,  11th Edition, Copyright © John  C. Hull 2021</a:t>
            </a:r>
            <a:endParaRPr lang="en-US" altLang="en-US" sz="1400" i="0"/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2C090B9-123A-42C0-BEBA-ECEB8742C23B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762000"/>
            <a:ext cx="7239000" cy="7620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Delta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(See Figure 19.2)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977900" y="1752600"/>
            <a:ext cx="7251700" cy="14859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Delta (</a:t>
            </a:r>
            <a:r>
              <a:rPr lang="en-US" altLang="en-US" dirty="0">
                <a:latin typeface="Symbol" pitchFamily="18" charset="2"/>
                <a:cs typeface="Arial" charset="0"/>
              </a:rPr>
              <a:t>D</a:t>
            </a:r>
            <a:r>
              <a:rPr lang="en-US" altLang="en-US" dirty="0">
                <a:latin typeface="Arial" charset="0"/>
                <a:cs typeface="Arial" charset="0"/>
              </a:rPr>
              <a:t>) is the rate of change of the option price with respect to the underlying asset price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7A49540-B1A3-4BC3-87D2-2A66DBB3301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latin typeface="Arial" charset="0"/>
            </a:endParaRPr>
          </a:p>
        </p:txBody>
      </p:sp>
      <p:grpSp>
        <p:nvGrpSpPr>
          <p:cNvPr id="12296" name="Group 20"/>
          <p:cNvGrpSpPr>
            <a:grpSpLocks/>
          </p:cNvGrpSpPr>
          <p:nvPr/>
        </p:nvGrpSpPr>
        <p:grpSpPr bwMode="auto">
          <a:xfrm>
            <a:off x="1967348" y="3572882"/>
            <a:ext cx="4840105" cy="2422619"/>
            <a:chOff x="1276" y="1938"/>
            <a:chExt cx="3432" cy="1833"/>
          </a:xfrm>
        </p:grpSpPr>
        <p:sp>
          <p:nvSpPr>
            <p:cNvPr id="12297" name="Line 5"/>
            <p:cNvSpPr>
              <a:spLocks noChangeShapeType="1"/>
            </p:cNvSpPr>
            <p:nvPr/>
          </p:nvSpPr>
          <p:spPr bwMode="auto">
            <a:xfrm>
              <a:off x="1494" y="1938"/>
              <a:ext cx="0" cy="15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8" name="Line 6"/>
            <p:cNvSpPr>
              <a:spLocks noChangeShapeType="1"/>
            </p:cNvSpPr>
            <p:nvPr/>
          </p:nvSpPr>
          <p:spPr bwMode="auto">
            <a:xfrm>
              <a:off x="1494" y="3492"/>
              <a:ext cx="26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299" name="Group 12"/>
            <p:cNvGrpSpPr>
              <a:grpSpLocks/>
            </p:cNvGrpSpPr>
            <p:nvPr/>
          </p:nvGrpSpPr>
          <p:grpSpPr bwMode="auto">
            <a:xfrm>
              <a:off x="1494" y="2292"/>
              <a:ext cx="2533" cy="1196"/>
              <a:chOff x="1494" y="2292"/>
              <a:chExt cx="2533" cy="1196"/>
            </a:xfrm>
          </p:grpSpPr>
          <p:sp>
            <p:nvSpPr>
              <p:cNvPr id="12307" name="Freeform 7"/>
              <p:cNvSpPr>
                <a:spLocks/>
              </p:cNvSpPr>
              <p:nvPr/>
            </p:nvSpPr>
            <p:spPr bwMode="auto">
              <a:xfrm>
                <a:off x="1494" y="3455"/>
                <a:ext cx="461" cy="33"/>
              </a:xfrm>
              <a:custGeom>
                <a:avLst/>
                <a:gdLst>
                  <a:gd name="T0" fmla="*/ 0 w 461"/>
                  <a:gd name="T1" fmla="*/ 32 h 33"/>
                  <a:gd name="T2" fmla="*/ 6 w 461"/>
                  <a:gd name="T3" fmla="*/ 30 h 33"/>
                  <a:gd name="T4" fmla="*/ 17 w 461"/>
                  <a:gd name="T5" fmla="*/ 30 h 33"/>
                  <a:gd name="T6" fmla="*/ 24 w 461"/>
                  <a:gd name="T7" fmla="*/ 28 h 33"/>
                  <a:gd name="T8" fmla="*/ 35 w 461"/>
                  <a:gd name="T9" fmla="*/ 30 h 33"/>
                  <a:gd name="T10" fmla="*/ 42 w 461"/>
                  <a:gd name="T11" fmla="*/ 28 h 33"/>
                  <a:gd name="T12" fmla="*/ 143 w 461"/>
                  <a:gd name="T13" fmla="*/ 30 h 33"/>
                  <a:gd name="T14" fmla="*/ 244 w 461"/>
                  <a:gd name="T15" fmla="*/ 28 h 33"/>
                  <a:gd name="T16" fmla="*/ 368 w 461"/>
                  <a:gd name="T17" fmla="*/ 18 h 33"/>
                  <a:gd name="T18" fmla="*/ 415 w 461"/>
                  <a:gd name="T19" fmla="*/ 7 h 33"/>
                  <a:gd name="T20" fmla="*/ 460 w 461"/>
                  <a:gd name="T21" fmla="*/ 0 h 3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61"/>
                  <a:gd name="T34" fmla="*/ 0 h 33"/>
                  <a:gd name="T35" fmla="*/ 461 w 461"/>
                  <a:gd name="T36" fmla="*/ 33 h 3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61" h="33">
                    <a:moveTo>
                      <a:pt x="0" y="32"/>
                    </a:moveTo>
                    <a:lnTo>
                      <a:pt x="6" y="30"/>
                    </a:lnTo>
                    <a:lnTo>
                      <a:pt x="17" y="30"/>
                    </a:lnTo>
                    <a:lnTo>
                      <a:pt x="24" y="28"/>
                    </a:lnTo>
                    <a:lnTo>
                      <a:pt x="35" y="30"/>
                    </a:lnTo>
                    <a:lnTo>
                      <a:pt x="42" y="28"/>
                    </a:lnTo>
                    <a:lnTo>
                      <a:pt x="143" y="30"/>
                    </a:lnTo>
                    <a:lnTo>
                      <a:pt x="244" y="28"/>
                    </a:lnTo>
                    <a:lnTo>
                      <a:pt x="368" y="18"/>
                    </a:lnTo>
                    <a:lnTo>
                      <a:pt x="415" y="7"/>
                    </a:lnTo>
                    <a:lnTo>
                      <a:pt x="460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8" name="Freeform 8"/>
              <p:cNvSpPr>
                <a:spLocks/>
              </p:cNvSpPr>
              <p:nvPr/>
            </p:nvSpPr>
            <p:spPr bwMode="auto">
              <a:xfrm>
                <a:off x="1962" y="3274"/>
                <a:ext cx="685" cy="179"/>
              </a:xfrm>
              <a:custGeom>
                <a:avLst/>
                <a:gdLst>
                  <a:gd name="T0" fmla="*/ 0 w 685"/>
                  <a:gd name="T1" fmla="*/ 178 h 179"/>
                  <a:gd name="T2" fmla="*/ 204 w 685"/>
                  <a:gd name="T3" fmla="*/ 143 h 179"/>
                  <a:gd name="T4" fmla="*/ 469 w 685"/>
                  <a:gd name="T5" fmla="*/ 69 h 179"/>
                  <a:gd name="T6" fmla="*/ 684 w 685"/>
                  <a:gd name="T7" fmla="*/ 0 h 17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5"/>
                  <a:gd name="T13" fmla="*/ 0 h 179"/>
                  <a:gd name="T14" fmla="*/ 685 w 685"/>
                  <a:gd name="T15" fmla="*/ 179 h 17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5" h="179">
                    <a:moveTo>
                      <a:pt x="0" y="178"/>
                    </a:moveTo>
                    <a:lnTo>
                      <a:pt x="204" y="143"/>
                    </a:lnTo>
                    <a:lnTo>
                      <a:pt x="469" y="69"/>
                    </a:lnTo>
                    <a:lnTo>
                      <a:pt x="684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9" name="Freeform 9"/>
              <p:cNvSpPr>
                <a:spLocks/>
              </p:cNvSpPr>
              <p:nvPr/>
            </p:nvSpPr>
            <p:spPr bwMode="auto">
              <a:xfrm>
                <a:off x="2646" y="2959"/>
                <a:ext cx="640" cy="316"/>
              </a:xfrm>
              <a:custGeom>
                <a:avLst/>
                <a:gdLst>
                  <a:gd name="T0" fmla="*/ 0 w 640"/>
                  <a:gd name="T1" fmla="*/ 315 h 316"/>
                  <a:gd name="T2" fmla="*/ 220 w 640"/>
                  <a:gd name="T3" fmla="*/ 224 h 316"/>
                  <a:gd name="T4" fmla="*/ 381 w 640"/>
                  <a:gd name="T5" fmla="*/ 146 h 316"/>
                  <a:gd name="T6" fmla="*/ 639 w 640"/>
                  <a:gd name="T7" fmla="*/ 0 h 3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40"/>
                  <a:gd name="T13" fmla="*/ 0 h 316"/>
                  <a:gd name="T14" fmla="*/ 640 w 640"/>
                  <a:gd name="T15" fmla="*/ 316 h 3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40" h="316">
                    <a:moveTo>
                      <a:pt x="0" y="315"/>
                    </a:moveTo>
                    <a:lnTo>
                      <a:pt x="220" y="224"/>
                    </a:lnTo>
                    <a:lnTo>
                      <a:pt x="381" y="146"/>
                    </a:lnTo>
                    <a:lnTo>
                      <a:pt x="639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0" name="Freeform 10"/>
              <p:cNvSpPr>
                <a:spLocks/>
              </p:cNvSpPr>
              <p:nvPr/>
            </p:nvSpPr>
            <p:spPr bwMode="auto">
              <a:xfrm>
                <a:off x="3285" y="2535"/>
                <a:ext cx="539" cy="425"/>
              </a:xfrm>
              <a:custGeom>
                <a:avLst/>
                <a:gdLst>
                  <a:gd name="T0" fmla="*/ 0 w 539"/>
                  <a:gd name="T1" fmla="*/ 424 h 425"/>
                  <a:gd name="T2" fmla="*/ 210 w 539"/>
                  <a:gd name="T3" fmla="*/ 285 h 425"/>
                  <a:gd name="T4" fmla="*/ 333 w 539"/>
                  <a:gd name="T5" fmla="*/ 190 h 425"/>
                  <a:gd name="T6" fmla="*/ 467 w 539"/>
                  <a:gd name="T7" fmla="*/ 73 h 425"/>
                  <a:gd name="T8" fmla="*/ 538 w 539"/>
                  <a:gd name="T9" fmla="*/ 0 h 4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39"/>
                  <a:gd name="T16" fmla="*/ 0 h 425"/>
                  <a:gd name="T17" fmla="*/ 539 w 539"/>
                  <a:gd name="T18" fmla="*/ 425 h 4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39" h="425">
                    <a:moveTo>
                      <a:pt x="0" y="424"/>
                    </a:moveTo>
                    <a:lnTo>
                      <a:pt x="210" y="285"/>
                    </a:lnTo>
                    <a:lnTo>
                      <a:pt x="333" y="190"/>
                    </a:lnTo>
                    <a:lnTo>
                      <a:pt x="467" y="73"/>
                    </a:lnTo>
                    <a:lnTo>
                      <a:pt x="538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1" name="Freeform 11"/>
              <p:cNvSpPr>
                <a:spLocks/>
              </p:cNvSpPr>
              <p:nvPr/>
            </p:nvSpPr>
            <p:spPr bwMode="auto">
              <a:xfrm>
                <a:off x="3823" y="2292"/>
                <a:ext cx="204" cy="244"/>
              </a:xfrm>
              <a:custGeom>
                <a:avLst/>
                <a:gdLst>
                  <a:gd name="T0" fmla="*/ 0 w 204"/>
                  <a:gd name="T1" fmla="*/ 243 h 244"/>
                  <a:gd name="T2" fmla="*/ 54 w 204"/>
                  <a:gd name="T3" fmla="*/ 191 h 244"/>
                  <a:gd name="T4" fmla="*/ 107 w 204"/>
                  <a:gd name="T5" fmla="*/ 130 h 244"/>
                  <a:gd name="T6" fmla="*/ 161 w 204"/>
                  <a:gd name="T7" fmla="*/ 60 h 244"/>
                  <a:gd name="T8" fmla="*/ 203 w 204"/>
                  <a:gd name="T9" fmla="*/ 0 h 2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4"/>
                  <a:gd name="T16" fmla="*/ 0 h 244"/>
                  <a:gd name="T17" fmla="*/ 204 w 204"/>
                  <a:gd name="T18" fmla="*/ 244 h 2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4" h="244">
                    <a:moveTo>
                      <a:pt x="0" y="243"/>
                    </a:moveTo>
                    <a:lnTo>
                      <a:pt x="54" y="191"/>
                    </a:lnTo>
                    <a:lnTo>
                      <a:pt x="107" y="130"/>
                    </a:lnTo>
                    <a:lnTo>
                      <a:pt x="161" y="60"/>
                    </a:lnTo>
                    <a:lnTo>
                      <a:pt x="203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00" name="Freeform 13"/>
            <p:cNvSpPr>
              <a:spLocks/>
            </p:cNvSpPr>
            <p:nvPr/>
          </p:nvSpPr>
          <p:spPr bwMode="auto">
            <a:xfrm>
              <a:off x="2190" y="2812"/>
              <a:ext cx="1561" cy="675"/>
            </a:xfrm>
            <a:custGeom>
              <a:avLst/>
              <a:gdLst>
                <a:gd name="T0" fmla="*/ 0 w 1561"/>
                <a:gd name="T1" fmla="*/ 674 h 675"/>
                <a:gd name="T2" fmla="*/ 1560 w 1561"/>
                <a:gd name="T3" fmla="*/ 0 h 675"/>
                <a:gd name="T4" fmla="*/ 0 60000 65536"/>
                <a:gd name="T5" fmla="*/ 0 60000 65536"/>
                <a:gd name="T6" fmla="*/ 0 w 1561"/>
                <a:gd name="T7" fmla="*/ 0 h 675"/>
                <a:gd name="T8" fmla="*/ 1561 w 1561"/>
                <a:gd name="T9" fmla="*/ 675 h 6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61" h="675">
                  <a:moveTo>
                    <a:pt x="0" y="674"/>
                  </a:moveTo>
                  <a:lnTo>
                    <a:pt x="156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Line 14"/>
            <p:cNvSpPr>
              <a:spLocks noChangeShapeType="1"/>
            </p:cNvSpPr>
            <p:nvPr/>
          </p:nvSpPr>
          <p:spPr bwMode="auto">
            <a:xfrm>
              <a:off x="2838" y="3201"/>
              <a:ext cx="0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2" name="Line 15"/>
            <p:cNvSpPr>
              <a:spLocks noChangeShapeType="1"/>
            </p:cNvSpPr>
            <p:nvPr/>
          </p:nvSpPr>
          <p:spPr bwMode="auto">
            <a:xfrm flipH="1">
              <a:off x="1494" y="3208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3" name="Rectangle 16"/>
            <p:cNvSpPr>
              <a:spLocks noChangeArrowheads="1"/>
            </p:cNvSpPr>
            <p:nvPr/>
          </p:nvSpPr>
          <p:spPr bwMode="auto">
            <a:xfrm>
              <a:off x="2732" y="3514"/>
              <a:ext cx="228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Arial" charset="0"/>
                </a:rPr>
                <a:t>A</a:t>
              </a:r>
            </a:p>
          </p:txBody>
        </p:sp>
        <p:sp>
          <p:nvSpPr>
            <p:cNvPr id="12304" name="Rectangle 17"/>
            <p:cNvSpPr>
              <a:spLocks noChangeArrowheads="1"/>
            </p:cNvSpPr>
            <p:nvPr/>
          </p:nvSpPr>
          <p:spPr bwMode="auto">
            <a:xfrm>
              <a:off x="1276" y="3024"/>
              <a:ext cx="228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Arial" charset="0"/>
                </a:rPr>
                <a:t>B</a:t>
              </a:r>
            </a:p>
          </p:txBody>
        </p:sp>
        <p:sp>
          <p:nvSpPr>
            <p:cNvPr id="12305" name="Rectangle 18"/>
            <p:cNvSpPr>
              <a:spLocks noChangeArrowheads="1"/>
            </p:cNvSpPr>
            <p:nvPr/>
          </p:nvSpPr>
          <p:spPr bwMode="auto">
            <a:xfrm>
              <a:off x="3616" y="2848"/>
              <a:ext cx="1092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Arial" charset="0"/>
                </a:rPr>
                <a:t>Slope = </a:t>
              </a:r>
              <a:r>
                <a:rPr lang="en-US" altLang="en-US" sz="1600" dirty="0">
                  <a:latin typeface="Symbol" pitchFamily="18" charset="2"/>
                </a:rPr>
                <a:t>D = 0.6</a:t>
              </a:r>
            </a:p>
          </p:txBody>
        </p:sp>
        <p:sp>
          <p:nvSpPr>
            <p:cNvPr id="12306" name="Rectangle 19"/>
            <p:cNvSpPr>
              <a:spLocks noChangeArrowheads="1"/>
            </p:cNvSpPr>
            <p:nvPr/>
          </p:nvSpPr>
          <p:spPr bwMode="auto">
            <a:xfrm>
              <a:off x="3339" y="3496"/>
              <a:ext cx="1029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Arial" charset="0"/>
                </a:rPr>
                <a:t>Stock price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4279" y="3352800"/>
            <a:ext cx="1190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Call option price</a:t>
            </a:r>
            <a:endParaRPr lang="en-US" sz="1600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Hedge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Trader would be hedged with the position:</a:t>
            </a:r>
          </a:p>
          <a:p>
            <a:pPr lvl="1" eaLnBrk="1" hangingPunct="1"/>
            <a:r>
              <a:rPr lang="en-US" altLang="en-US" dirty="0">
                <a:latin typeface="Arial" charset="0"/>
                <a:cs typeface="Arial" charset="0"/>
              </a:rPr>
              <a:t>short 1000 options</a:t>
            </a:r>
          </a:p>
          <a:p>
            <a:pPr lvl="1" eaLnBrk="1" hangingPunct="1"/>
            <a:r>
              <a:rPr lang="en-US" altLang="en-US" dirty="0">
                <a:latin typeface="Arial" charset="0"/>
                <a:cs typeface="Arial" charset="0"/>
              </a:rPr>
              <a:t>buy 600 shares</a:t>
            </a: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Gain/loss on the option position is offset by loss/gain on stock position</a:t>
            </a: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Delta changes as stock price changes and time passes</a:t>
            </a: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Hedge position must therefore be rebalanced </a:t>
            </a:r>
          </a:p>
          <a:p>
            <a:pPr eaLnBrk="1" hangingPunct="1">
              <a:buFontTx/>
              <a:buNone/>
            </a:pP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F8B4AFF-3E44-4DD6-B5D3-550B2DE1A35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914400"/>
            <a:ext cx="7239000" cy="9906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Delta Hedging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2057400"/>
            <a:ext cx="7315200" cy="3716338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This involves maintaining a delta neutral portfolio</a:t>
            </a: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The delta of a European call on a non-dividend paying stock is</a:t>
            </a:r>
            <a:r>
              <a:rPr lang="en-US" altLang="en-US" i="1" dirty="0">
                <a:latin typeface="Arial" charset="0"/>
                <a:cs typeface="Arial" charset="0"/>
              </a:rPr>
              <a:t>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N 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d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 </a:t>
            </a:r>
            <a:r>
              <a:rPr lang="en-US" altLang="en-US" baseline="-25000" dirty="0">
                <a:latin typeface="Times New Roman" pitchFamily="18" charset="0"/>
                <a:cs typeface="Arial" charset="0"/>
              </a:rPr>
              <a:t>1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)</a:t>
            </a: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The delta of a European put on the stock is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		</a:t>
            </a:r>
            <a:r>
              <a:rPr lang="en-US" altLang="en-US" baseline="30000" dirty="0">
                <a:latin typeface="Times New Roman" pitchFamily="18" charset="0"/>
                <a:cs typeface="Arial" charset="0"/>
              </a:rPr>
              <a:t>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 (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d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 </a:t>
            </a:r>
            <a:r>
              <a:rPr lang="en-US" altLang="en-US" baseline="-25000" dirty="0">
                <a:latin typeface="Times New Roman" pitchFamily="18" charset="0"/>
                <a:cs typeface="Arial" charset="0"/>
              </a:rPr>
              <a:t>1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) – 1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F8D2F16-D543-478B-AFAA-726ABA2BA98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Delta of a Stock Option </a:t>
            </a:r>
            <a:r>
              <a:rPr lang="en-CA" altLang="en-US" sz="2400" dirty="0"/>
              <a:t>(</a:t>
            </a:r>
            <a:r>
              <a:rPr lang="en-CA" altLang="en-US" sz="2400" i="1" dirty="0"/>
              <a:t>K</a:t>
            </a:r>
            <a:r>
              <a:rPr lang="en-CA" altLang="en-US" sz="2400" dirty="0"/>
              <a:t>=50, </a:t>
            </a:r>
            <a:r>
              <a:rPr lang="en-CA" altLang="en-US" sz="2400" i="1" dirty="0"/>
              <a:t>r</a:t>
            </a:r>
            <a:r>
              <a:rPr lang="en-CA" altLang="en-US" sz="2400" dirty="0"/>
              <a:t>=0, </a:t>
            </a:r>
            <a:r>
              <a:rPr lang="en-CA" altLang="en-US" sz="2400" dirty="0">
                <a:latin typeface="Symbol" panose="05050102010706020507" pitchFamily="18" charset="2"/>
              </a:rPr>
              <a:t>s </a:t>
            </a:r>
            <a:r>
              <a:rPr lang="en-CA" altLang="en-US" sz="2400" dirty="0"/>
              <a:t>= 25%, </a:t>
            </a:r>
            <a:r>
              <a:rPr lang="en-CA" altLang="en-US" sz="2400" i="1" dirty="0"/>
              <a:t>T</a:t>
            </a:r>
            <a:r>
              <a:rPr lang="en-CA" altLang="en-US" sz="2400" dirty="0"/>
              <a:t>=2, Figure 19.3)</a:t>
            </a:r>
          </a:p>
        </p:txBody>
      </p:sp>
      <p:sp>
        <p:nvSpPr>
          <p:cNvPr id="2253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Options, Futures, and Other Derivatives,  11th Edition, Copyright © John  C. Hull 2021</a:t>
            </a:r>
            <a:endParaRPr lang="en-US" altLang="en-US" sz="1400" i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F093F76-0902-4CAA-A311-6BE4E7E45A0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  <p:pic>
        <p:nvPicPr>
          <p:cNvPr id="2253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509044"/>
            <a:ext cx="3352800" cy="262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536" y="2461931"/>
            <a:ext cx="3649662" cy="250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35" name="TextBox 5"/>
          <p:cNvSpPr txBox="1">
            <a:spLocks noChangeArrowheads="1"/>
          </p:cNvSpPr>
          <p:nvPr/>
        </p:nvSpPr>
        <p:spPr bwMode="auto">
          <a:xfrm>
            <a:off x="1763713" y="5373688"/>
            <a:ext cx="158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800"/>
              <a:t>Call</a:t>
            </a:r>
          </a:p>
        </p:txBody>
      </p:sp>
      <p:sp>
        <p:nvSpPr>
          <p:cNvPr id="22536" name="TextBox 7"/>
          <p:cNvSpPr txBox="1">
            <a:spLocks noChangeArrowheads="1"/>
          </p:cNvSpPr>
          <p:nvPr/>
        </p:nvSpPr>
        <p:spPr bwMode="auto">
          <a:xfrm>
            <a:off x="5795963" y="5373688"/>
            <a:ext cx="1152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800"/>
              <a:t>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533400" y="1009651"/>
            <a:ext cx="7850188" cy="1295400"/>
          </a:xfrm>
        </p:spPr>
        <p:txBody>
          <a:bodyPr/>
          <a:lstStyle/>
          <a:p>
            <a:r>
              <a:rPr lang="en-CA" altLang="en-US" dirty="0"/>
              <a:t>Variation of Delta with Time to Maturity</a:t>
            </a:r>
            <a:r>
              <a:rPr lang="en-CA" altLang="en-US" sz="2400" dirty="0"/>
              <a:t>(</a:t>
            </a:r>
            <a:r>
              <a:rPr lang="en-CA" altLang="en-US" sz="2400" i="1" dirty="0"/>
              <a:t>S</a:t>
            </a:r>
            <a:r>
              <a:rPr lang="en-CA" altLang="en-US" sz="2400" baseline="-25000" dirty="0"/>
              <a:t>0</a:t>
            </a:r>
            <a:r>
              <a:rPr lang="en-CA" altLang="en-US" sz="2400" dirty="0"/>
              <a:t>=50, </a:t>
            </a:r>
            <a:r>
              <a:rPr lang="en-CA" altLang="en-US" sz="2400" i="1" dirty="0"/>
              <a:t>r</a:t>
            </a:r>
            <a:r>
              <a:rPr lang="en-CA" altLang="en-US" sz="2400" dirty="0"/>
              <a:t>=0, </a:t>
            </a:r>
            <a:r>
              <a:rPr lang="en-CA" altLang="en-US" sz="2400" dirty="0">
                <a:latin typeface="Symbol" panose="05050102010706020507" pitchFamily="18" charset="2"/>
              </a:rPr>
              <a:t>s</a:t>
            </a:r>
            <a:r>
              <a:rPr lang="en-CA" altLang="en-US" sz="2400" dirty="0"/>
              <a:t>=25%, Figure 19.4)</a:t>
            </a:r>
          </a:p>
        </p:txBody>
      </p:sp>
      <p:sp>
        <p:nvSpPr>
          <p:cNvPr id="2355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Options, Futures, and Other Derivatives,  11th Edition, Copyright © John  C. Hull 2021</a:t>
            </a:r>
            <a:endParaRPr lang="en-US" altLang="en-US" sz="1400" i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7E29B73-65E6-4A5E-B35D-1DA0799F019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  <p:pic>
        <p:nvPicPr>
          <p:cNvPr id="2355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93963"/>
            <a:ext cx="7272337" cy="364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Costs in Delta Hedging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continued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2438400"/>
            <a:ext cx="7620000" cy="40036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Delta hedging a written option involves a “buy high, sell low” trading rule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CCEE2C8-F135-42CF-935E-B08F9148962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8440737" cy="1143000"/>
          </a:xfrm>
        </p:spPr>
        <p:txBody>
          <a:bodyPr/>
          <a:lstStyle/>
          <a:p>
            <a:pPr eaLnBrk="1" hangingPunct="1"/>
            <a:r>
              <a:rPr lang="en-CA" altLang="en-US" dirty="0"/>
              <a:t>Second Scenario for the Example </a:t>
            </a:r>
            <a:r>
              <a:rPr lang="en-CA" altLang="en-US" sz="2400" dirty="0"/>
              <a:t>(Table 19.3)</a:t>
            </a:r>
            <a:endParaRPr lang="en-US" altLang="en-US" dirty="0"/>
          </a:p>
        </p:txBody>
      </p:sp>
      <p:sp>
        <p:nvSpPr>
          <p:cNvPr id="1741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F1F461C-B36F-4834-A81A-FFB6E38ECB2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2362200"/>
          <a:ext cx="8001001" cy="37512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72319">
                <a:tc>
                  <a:txBody>
                    <a:bodyPr/>
                    <a:lstStyle/>
                    <a:p>
                      <a:r>
                        <a:rPr lang="en-CA" sz="1800" dirty="0"/>
                        <a:t>Week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Stock price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Delta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Shares purchased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Cost (‘$000)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Cumulative</a:t>
                      </a:r>
                    </a:p>
                    <a:p>
                      <a:r>
                        <a:rPr lang="en-CA" sz="1800" dirty="0"/>
                        <a:t>Cost ($000)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Interest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49.00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0.522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52,200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2,557.8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2,557.8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2.5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1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49.75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0.568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  4,600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228.9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2,789.2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2.7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52.00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0.705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13,700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712.4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3,504.3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3.4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319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.......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/>
                        <a:t>.......</a:t>
                      </a:r>
                      <a:endParaRPr lang="en-US" sz="1800" dirty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/>
                        <a:t>.......</a:t>
                      </a:r>
                      <a:endParaRPr lang="en-US" sz="1800" dirty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/>
                        <a:t>.......</a:t>
                      </a:r>
                      <a:endParaRPr lang="en-US" sz="1800" dirty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/>
                        <a:t>.......</a:t>
                      </a:r>
                      <a:endParaRPr lang="en-US" sz="1800" dirty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/>
                        <a:t>.......</a:t>
                      </a:r>
                      <a:endParaRPr lang="en-US" sz="1800" dirty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/>
                        <a:t>.......</a:t>
                      </a:r>
                      <a:endParaRPr lang="en-US" sz="1800" dirty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19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46.63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0.007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(17,600)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(820.7)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290.0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0.3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48.12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0.000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(700)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(33.7)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256.6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685800"/>
            <a:ext cx="7391400" cy="923925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Theta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800225"/>
            <a:ext cx="7467600" cy="3914775"/>
          </a:xfrm>
        </p:spPr>
        <p:txBody>
          <a:bodyPr lIns="92075" tIns="46038" rIns="92075" bIns="46038"/>
          <a:lstStyle/>
          <a:p>
            <a:pPr marL="365125" indent="-282575" eaLnBrk="1" hangingPunct="1">
              <a:buFont typeface="Wingdings 2" pitchFamily="18" charset="2"/>
              <a:buChar char=""/>
            </a:pPr>
            <a:r>
              <a:rPr lang="en-US" altLang="en-US">
                <a:latin typeface="Arial" charset="0"/>
                <a:cs typeface="Arial" charset="0"/>
              </a:rPr>
              <a:t>Theta (</a:t>
            </a:r>
            <a:r>
              <a:rPr lang="en-US" altLang="en-US">
                <a:latin typeface="Symbol" pitchFamily="18" charset="2"/>
                <a:cs typeface="Arial" charset="0"/>
              </a:rPr>
              <a:t>Q</a:t>
            </a:r>
            <a:r>
              <a:rPr lang="en-US" altLang="en-US">
                <a:latin typeface="Arial" charset="0"/>
                <a:cs typeface="Arial" charset="0"/>
              </a:rPr>
              <a:t>) of a derivative  (or portfolio of derivatives) is the rate of change of the value with respect to the passage of time</a:t>
            </a:r>
          </a:p>
          <a:p>
            <a:pPr marL="365125" indent="-282575" eaLnBrk="1" hangingPunct="1">
              <a:buFont typeface="Wingdings 2" pitchFamily="18" charset="2"/>
              <a:buChar char=""/>
            </a:pPr>
            <a:r>
              <a:rPr lang="en-US" altLang="en-US">
                <a:latin typeface="Arial" charset="0"/>
                <a:cs typeface="Arial" charset="0"/>
              </a:rPr>
              <a:t>The theta of a call or put  is usually negative. This means that, if time passes with the price of the underlying asset and its volatility remaining the same, the value of a long call or put option declines</a:t>
            </a:r>
          </a:p>
          <a:p>
            <a:pPr marL="365125" indent="-282575" eaLnBrk="1" hangingPunct="1">
              <a:buFont typeface="Wingdings 2" pitchFamily="18" charset="2"/>
              <a:buChar char="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3041B5C-DC23-4492-A86C-20DC237F80D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1066800"/>
            <a:ext cx="7162800" cy="7620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Gamma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2362200"/>
            <a:ext cx="7315200" cy="3352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Gamma (</a:t>
            </a:r>
            <a:r>
              <a:rPr lang="en-US" altLang="en-US" dirty="0">
                <a:latin typeface="Symbol" pitchFamily="18" charset="2"/>
                <a:cs typeface="Arial" charset="0"/>
              </a:rPr>
              <a:t>G</a:t>
            </a:r>
            <a:r>
              <a:rPr lang="en-US" altLang="en-US" dirty="0">
                <a:latin typeface="Arial" charset="0"/>
                <a:cs typeface="Arial" charset="0"/>
              </a:rPr>
              <a:t>) is the rate of change of delta (</a:t>
            </a:r>
            <a:r>
              <a:rPr lang="en-US" altLang="en-US" dirty="0">
                <a:latin typeface="Symbol" pitchFamily="18" charset="2"/>
                <a:cs typeface="Arial" charset="0"/>
              </a:rPr>
              <a:t>D</a:t>
            </a:r>
            <a:r>
              <a:rPr lang="en-US" altLang="en-US" dirty="0">
                <a:latin typeface="Arial" charset="0"/>
                <a:cs typeface="Arial" charset="0"/>
              </a:rPr>
              <a:t>) with respect to the price of the underlying asset</a:t>
            </a: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Gamma is greatest for options that are close to the money</a:t>
            </a: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AB04C34-DFC0-4091-9BD3-4C5A3C128A5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990600"/>
            <a:ext cx="7391400" cy="16764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>
                <a:solidFill>
                  <a:schemeClr val="tx2">
                    <a:satMod val="130000"/>
                  </a:schemeClr>
                </a:solidFill>
              </a:rPr>
              <a:t>Gamma Addresses Delta Hedging Errors Caused By Curvature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(Figure 19.7)</a:t>
            </a:r>
            <a:br>
              <a:rPr lang="en-US" sz="3500" dirty="0">
                <a:solidFill>
                  <a:schemeClr val="tx2">
                    <a:satMod val="130000"/>
                  </a:schemeClr>
                </a:solidFill>
              </a:rPr>
            </a:br>
            <a:endParaRPr lang="en-US" sz="35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000"/>
              <a:t> </a:t>
            </a:r>
          </a:p>
        </p:txBody>
      </p:sp>
      <p:sp>
        <p:nvSpPr>
          <p:cNvPr id="2253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" y="6248400"/>
            <a:ext cx="6629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2253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2C31BF1-CCAD-4E3C-9E8F-5B976025D1F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22534" name="Line 4"/>
          <p:cNvSpPr>
            <a:spLocks noChangeShapeType="1"/>
          </p:cNvSpPr>
          <p:nvPr/>
        </p:nvSpPr>
        <p:spPr bwMode="auto">
          <a:xfrm>
            <a:off x="2295525" y="2093913"/>
            <a:ext cx="0" cy="3475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5" name="Line 5"/>
          <p:cNvSpPr>
            <a:spLocks noChangeShapeType="1"/>
          </p:cNvSpPr>
          <p:nvPr/>
        </p:nvSpPr>
        <p:spPr bwMode="auto">
          <a:xfrm>
            <a:off x="2295525" y="5568950"/>
            <a:ext cx="52276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536" name="Group 11"/>
          <p:cNvGrpSpPr>
            <a:grpSpLocks/>
          </p:cNvGrpSpPr>
          <p:nvPr/>
        </p:nvGrpSpPr>
        <p:grpSpPr bwMode="auto">
          <a:xfrm>
            <a:off x="2295525" y="2889250"/>
            <a:ext cx="4021138" cy="2671763"/>
            <a:chOff x="1446" y="1820"/>
            <a:chExt cx="2533" cy="1683"/>
          </a:xfrm>
        </p:grpSpPr>
        <p:sp>
          <p:nvSpPr>
            <p:cNvPr id="22550" name="Freeform 6"/>
            <p:cNvSpPr>
              <a:spLocks/>
            </p:cNvSpPr>
            <p:nvPr/>
          </p:nvSpPr>
          <p:spPr bwMode="auto">
            <a:xfrm>
              <a:off x="1446" y="3458"/>
              <a:ext cx="461" cy="45"/>
            </a:xfrm>
            <a:custGeom>
              <a:avLst/>
              <a:gdLst>
                <a:gd name="T0" fmla="*/ 0 w 461"/>
                <a:gd name="T1" fmla="*/ 44 h 45"/>
                <a:gd name="T2" fmla="*/ 6 w 461"/>
                <a:gd name="T3" fmla="*/ 41 h 45"/>
                <a:gd name="T4" fmla="*/ 17 w 461"/>
                <a:gd name="T5" fmla="*/ 41 h 45"/>
                <a:gd name="T6" fmla="*/ 24 w 461"/>
                <a:gd name="T7" fmla="*/ 39 h 45"/>
                <a:gd name="T8" fmla="*/ 35 w 461"/>
                <a:gd name="T9" fmla="*/ 41 h 45"/>
                <a:gd name="T10" fmla="*/ 42 w 461"/>
                <a:gd name="T11" fmla="*/ 39 h 45"/>
                <a:gd name="T12" fmla="*/ 143 w 461"/>
                <a:gd name="T13" fmla="*/ 41 h 45"/>
                <a:gd name="T14" fmla="*/ 244 w 461"/>
                <a:gd name="T15" fmla="*/ 39 h 45"/>
                <a:gd name="T16" fmla="*/ 368 w 461"/>
                <a:gd name="T17" fmla="*/ 25 h 45"/>
                <a:gd name="T18" fmla="*/ 415 w 461"/>
                <a:gd name="T19" fmla="*/ 10 h 45"/>
                <a:gd name="T20" fmla="*/ 460 w 461"/>
                <a:gd name="T21" fmla="*/ 0 h 4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61"/>
                <a:gd name="T34" fmla="*/ 0 h 45"/>
                <a:gd name="T35" fmla="*/ 461 w 461"/>
                <a:gd name="T36" fmla="*/ 45 h 4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61" h="45">
                  <a:moveTo>
                    <a:pt x="0" y="44"/>
                  </a:moveTo>
                  <a:lnTo>
                    <a:pt x="6" y="41"/>
                  </a:lnTo>
                  <a:lnTo>
                    <a:pt x="17" y="41"/>
                  </a:lnTo>
                  <a:lnTo>
                    <a:pt x="24" y="39"/>
                  </a:lnTo>
                  <a:lnTo>
                    <a:pt x="35" y="41"/>
                  </a:lnTo>
                  <a:lnTo>
                    <a:pt x="42" y="39"/>
                  </a:lnTo>
                  <a:lnTo>
                    <a:pt x="143" y="41"/>
                  </a:lnTo>
                  <a:lnTo>
                    <a:pt x="244" y="39"/>
                  </a:lnTo>
                  <a:lnTo>
                    <a:pt x="368" y="25"/>
                  </a:lnTo>
                  <a:lnTo>
                    <a:pt x="415" y="10"/>
                  </a:lnTo>
                  <a:lnTo>
                    <a:pt x="46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Freeform 7"/>
            <p:cNvSpPr>
              <a:spLocks/>
            </p:cNvSpPr>
            <p:nvPr/>
          </p:nvSpPr>
          <p:spPr bwMode="auto">
            <a:xfrm>
              <a:off x="1914" y="3203"/>
              <a:ext cx="685" cy="252"/>
            </a:xfrm>
            <a:custGeom>
              <a:avLst/>
              <a:gdLst>
                <a:gd name="T0" fmla="*/ 0 w 685"/>
                <a:gd name="T1" fmla="*/ 251 h 252"/>
                <a:gd name="T2" fmla="*/ 204 w 685"/>
                <a:gd name="T3" fmla="*/ 202 h 252"/>
                <a:gd name="T4" fmla="*/ 469 w 685"/>
                <a:gd name="T5" fmla="*/ 98 h 252"/>
                <a:gd name="T6" fmla="*/ 684 w 685"/>
                <a:gd name="T7" fmla="*/ 0 h 2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5"/>
                <a:gd name="T13" fmla="*/ 0 h 252"/>
                <a:gd name="T14" fmla="*/ 685 w 685"/>
                <a:gd name="T15" fmla="*/ 252 h 2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5" h="252">
                  <a:moveTo>
                    <a:pt x="0" y="251"/>
                  </a:moveTo>
                  <a:lnTo>
                    <a:pt x="204" y="202"/>
                  </a:lnTo>
                  <a:lnTo>
                    <a:pt x="469" y="98"/>
                  </a:lnTo>
                  <a:lnTo>
                    <a:pt x="684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Freeform 8"/>
            <p:cNvSpPr>
              <a:spLocks/>
            </p:cNvSpPr>
            <p:nvPr/>
          </p:nvSpPr>
          <p:spPr bwMode="auto">
            <a:xfrm>
              <a:off x="2598" y="2759"/>
              <a:ext cx="640" cy="445"/>
            </a:xfrm>
            <a:custGeom>
              <a:avLst/>
              <a:gdLst>
                <a:gd name="T0" fmla="*/ 0 w 640"/>
                <a:gd name="T1" fmla="*/ 444 h 445"/>
                <a:gd name="T2" fmla="*/ 220 w 640"/>
                <a:gd name="T3" fmla="*/ 316 h 445"/>
                <a:gd name="T4" fmla="*/ 381 w 640"/>
                <a:gd name="T5" fmla="*/ 206 h 445"/>
                <a:gd name="T6" fmla="*/ 639 w 640"/>
                <a:gd name="T7" fmla="*/ 0 h 4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0"/>
                <a:gd name="T13" fmla="*/ 0 h 445"/>
                <a:gd name="T14" fmla="*/ 640 w 640"/>
                <a:gd name="T15" fmla="*/ 445 h 4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0" h="445">
                  <a:moveTo>
                    <a:pt x="0" y="444"/>
                  </a:moveTo>
                  <a:lnTo>
                    <a:pt x="220" y="316"/>
                  </a:lnTo>
                  <a:lnTo>
                    <a:pt x="381" y="206"/>
                  </a:lnTo>
                  <a:lnTo>
                    <a:pt x="639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Freeform 9"/>
            <p:cNvSpPr>
              <a:spLocks/>
            </p:cNvSpPr>
            <p:nvPr/>
          </p:nvSpPr>
          <p:spPr bwMode="auto">
            <a:xfrm>
              <a:off x="3237" y="2162"/>
              <a:ext cx="539" cy="598"/>
            </a:xfrm>
            <a:custGeom>
              <a:avLst/>
              <a:gdLst>
                <a:gd name="T0" fmla="*/ 0 w 539"/>
                <a:gd name="T1" fmla="*/ 597 h 598"/>
                <a:gd name="T2" fmla="*/ 210 w 539"/>
                <a:gd name="T3" fmla="*/ 401 h 598"/>
                <a:gd name="T4" fmla="*/ 333 w 539"/>
                <a:gd name="T5" fmla="*/ 268 h 598"/>
                <a:gd name="T6" fmla="*/ 467 w 539"/>
                <a:gd name="T7" fmla="*/ 103 h 598"/>
                <a:gd name="T8" fmla="*/ 538 w 539"/>
                <a:gd name="T9" fmla="*/ 0 h 5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9"/>
                <a:gd name="T16" fmla="*/ 0 h 598"/>
                <a:gd name="T17" fmla="*/ 539 w 539"/>
                <a:gd name="T18" fmla="*/ 598 h 5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9" h="598">
                  <a:moveTo>
                    <a:pt x="0" y="597"/>
                  </a:moveTo>
                  <a:lnTo>
                    <a:pt x="210" y="401"/>
                  </a:lnTo>
                  <a:lnTo>
                    <a:pt x="333" y="268"/>
                  </a:lnTo>
                  <a:lnTo>
                    <a:pt x="467" y="103"/>
                  </a:lnTo>
                  <a:lnTo>
                    <a:pt x="538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4" name="Freeform 10"/>
            <p:cNvSpPr>
              <a:spLocks/>
            </p:cNvSpPr>
            <p:nvPr/>
          </p:nvSpPr>
          <p:spPr bwMode="auto">
            <a:xfrm>
              <a:off x="3775" y="1820"/>
              <a:ext cx="204" cy="343"/>
            </a:xfrm>
            <a:custGeom>
              <a:avLst/>
              <a:gdLst>
                <a:gd name="T0" fmla="*/ 0 w 204"/>
                <a:gd name="T1" fmla="*/ 342 h 343"/>
                <a:gd name="T2" fmla="*/ 54 w 204"/>
                <a:gd name="T3" fmla="*/ 269 h 343"/>
                <a:gd name="T4" fmla="*/ 107 w 204"/>
                <a:gd name="T5" fmla="*/ 183 h 343"/>
                <a:gd name="T6" fmla="*/ 161 w 204"/>
                <a:gd name="T7" fmla="*/ 85 h 343"/>
                <a:gd name="T8" fmla="*/ 203 w 204"/>
                <a:gd name="T9" fmla="*/ 0 h 3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4"/>
                <a:gd name="T16" fmla="*/ 0 h 343"/>
                <a:gd name="T17" fmla="*/ 204 w 204"/>
                <a:gd name="T18" fmla="*/ 343 h 3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4" h="343">
                  <a:moveTo>
                    <a:pt x="0" y="342"/>
                  </a:moveTo>
                  <a:lnTo>
                    <a:pt x="54" y="269"/>
                  </a:lnTo>
                  <a:lnTo>
                    <a:pt x="107" y="183"/>
                  </a:lnTo>
                  <a:lnTo>
                    <a:pt x="161" y="85"/>
                  </a:lnTo>
                  <a:lnTo>
                    <a:pt x="203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37" name="Freeform 12"/>
          <p:cNvSpPr>
            <a:spLocks/>
          </p:cNvSpPr>
          <p:nvPr/>
        </p:nvSpPr>
        <p:spPr bwMode="auto">
          <a:xfrm>
            <a:off x="3400425" y="4054475"/>
            <a:ext cx="2478088" cy="1504950"/>
          </a:xfrm>
          <a:custGeom>
            <a:avLst/>
            <a:gdLst>
              <a:gd name="T0" fmla="*/ 0 w 1561"/>
              <a:gd name="T1" fmla="*/ 2147483647 h 948"/>
              <a:gd name="T2" fmla="*/ 2147483647 w 1561"/>
              <a:gd name="T3" fmla="*/ 0 h 948"/>
              <a:gd name="T4" fmla="*/ 0 60000 65536"/>
              <a:gd name="T5" fmla="*/ 0 60000 65536"/>
              <a:gd name="T6" fmla="*/ 0 w 1561"/>
              <a:gd name="T7" fmla="*/ 0 h 948"/>
              <a:gd name="T8" fmla="*/ 1561 w 1561"/>
              <a:gd name="T9" fmla="*/ 948 h 9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61" h="948">
                <a:moveTo>
                  <a:pt x="0" y="947"/>
                </a:moveTo>
                <a:lnTo>
                  <a:pt x="1560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8" name="Line 13"/>
          <p:cNvSpPr>
            <a:spLocks noChangeShapeType="1"/>
          </p:cNvSpPr>
          <p:nvPr/>
        </p:nvSpPr>
        <p:spPr bwMode="auto">
          <a:xfrm>
            <a:off x="4429125" y="4918075"/>
            <a:ext cx="0" cy="6508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Line 14"/>
          <p:cNvSpPr>
            <a:spLocks noChangeShapeType="1"/>
          </p:cNvSpPr>
          <p:nvPr/>
        </p:nvSpPr>
        <p:spPr bwMode="auto">
          <a:xfrm flipH="1">
            <a:off x="2268538" y="4941888"/>
            <a:ext cx="2133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0" name="Rectangle 15"/>
          <p:cNvSpPr>
            <a:spLocks noChangeArrowheads="1"/>
          </p:cNvSpPr>
          <p:nvPr/>
        </p:nvSpPr>
        <p:spPr bwMode="auto">
          <a:xfrm>
            <a:off x="4184650" y="5580063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i="1">
                <a:latin typeface="Times New Roman" pitchFamily="18" charset="0"/>
              </a:rPr>
              <a:t>S</a:t>
            </a:r>
          </a:p>
        </p:txBody>
      </p:sp>
      <p:sp>
        <p:nvSpPr>
          <p:cNvPr id="22541" name="Rectangle 16"/>
          <p:cNvSpPr>
            <a:spLocks noChangeArrowheads="1"/>
          </p:cNvSpPr>
          <p:nvPr/>
        </p:nvSpPr>
        <p:spPr bwMode="auto">
          <a:xfrm>
            <a:off x="1692275" y="4724400"/>
            <a:ext cx="71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C</a:t>
            </a:r>
          </a:p>
        </p:txBody>
      </p:sp>
      <p:sp>
        <p:nvSpPr>
          <p:cNvPr id="22542" name="Rectangle 17"/>
          <p:cNvSpPr>
            <a:spLocks noChangeArrowheads="1"/>
          </p:cNvSpPr>
          <p:nvPr/>
        </p:nvSpPr>
        <p:spPr bwMode="auto">
          <a:xfrm>
            <a:off x="6143625" y="5105400"/>
            <a:ext cx="2024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charset="0"/>
              </a:rPr>
              <a:t>Stock price</a:t>
            </a:r>
          </a:p>
        </p:txBody>
      </p:sp>
      <p:sp>
        <p:nvSpPr>
          <p:cNvPr id="22543" name="Rectangle 18"/>
          <p:cNvSpPr>
            <a:spLocks noChangeArrowheads="1"/>
          </p:cNvSpPr>
          <p:nvPr/>
        </p:nvSpPr>
        <p:spPr bwMode="auto">
          <a:xfrm>
            <a:off x="5376863" y="5580063"/>
            <a:ext cx="500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i="1">
                <a:latin typeface="Times New Roman" pitchFamily="18" charset="0"/>
              </a:rPr>
              <a:t>S</a:t>
            </a:r>
            <a:r>
              <a:rPr lang="en-US" altLang="en-US" sz="2800">
                <a:latin typeface="Arial" charset="0"/>
              </a:rPr>
              <a:t>'</a:t>
            </a:r>
          </a:p>
        </p:txBody>
      </p:sp>
      <p:sp>
        <p:nvSpPr>
          <p:cNvPr id="22544" name="Line 19"/>
          <p:cNvSpPr>
            <a:spLocks noChangeShapeType="1"/>
          </p:cNvSpPr>
          <p:nvPr/>
        </p:nvSpPr>
        <p:spPr bwMode="auto">
          <a:xfrm flipV="1">
            <a:off x="5567363" y="3968750"/>
            <a:ext cx="0" cy="16033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5" name="Line 20"/>
          <p:cNvSpPr>
            <a:spLocks noChangeShapeType="1"/>
          </p:cNvSpPr>
          <p:nvPr/>
        </p:nvSpPr>
        <p:spPr bwMode="auto">
          <a:xfrm flipH="1">
            <a:off x="2295525" y="4251325"/>
            <a:ext cx="327183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Line 21"/>
          <p:cNvSpPr>
            <a:spLocks noChangeShapeType="1"/>
          </p:cNvSpPr>
          <p:nvPr/>
        </p:nvSpPr>
        <p:spPr bwMode="auto">
          <a:xfrm flipH="1">
            <a:off x="2295525" y="3960813"/>
            <a:ext cx="32861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7" name="Rectangle 22"/>
          <p:cNvSpPr>
            <a:spLocks noChangeArrowheads="1"/>
          </p:cNvSpPr>
          <p:nvPr/>
        </p:nvSpPr>
        <p:spPr bwMode="auto">
          <a:xfrm>
            <a:off x="2362200" y="2306638"/>
            <a:ext cx="9906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charset="0"/>
              </a:rPr>
              <a:t>Call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charset="0"/>
              </a:rPr>
              <a:t>price</a:t>
            </a:r>
          </a:p>
        </p:txBody>
      </p:sp>
      <p:sp>
        <p:nvSpPr>
          <p:cNvPr id="22548" name="Rectangle 24"/>
          <p:cNvSpPr>
            <a:spLocks noChangeArrowheads="1"/>
          </p:cNvSpPr>
          <p:nvPr/>
        </p:nvSpPr>
        <p:spPr bwMode="auto">
          <a:xfrm>
            <a:off x="1692275" y="36449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C</a:t>
            </a:r>
            <a:r>
              <a:rPr lang="en-US" altLang="en-US" sz="2400">
                <a:latin typeface="Arial" charset="0"/>
              </a:rPr>
              <a:t>''</a:t>
            </a:r>
          </a:p>
        </p:txBody>
      </p:sp>
      <p:sp>
        <p:nvSpPr>
          <p:cNvPr id="22549" name="Rectangle 32"/>
          <p:cNvSpPr>
            <a:spLocks noChangeArrowheads="1"/>
          </p:cNvSpPr>
          <p:nvPr/>
        </p:nvSpPr>
        <p:spPr bwMode="auto">
          <a:xfrm>
            <a:off x="1692275" y="4005263"/>
            <a:ext cx="885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C</a:t>
            </a:r>
            <a:r>
              <a:rPr lang="en-US" altLang="en-US" sz="2400">
                <a:latin typeface="Arial" charset="0"/>
              </a:rPr>
              <a:t>'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625065" y="1066800"/>
            <a:ext cx="7543800" cy="1295400"/>
          </a:xfrm>
        </p:spPr>
        <p:txBody>
          <a:bodyPr/>
          <a:lstStyle/>
          <a:p>
            <a:r>
              <a:rPr lang="en-CA" altLang="en-US" dirty="0"/>
              <a:t>Gamma for Call or Put Option: (</a:t>
            </a:r>
            <a:r>
              <a:rPr lang="en-CA" altLang="en-US" sz="2400" i="1" dirty="0"/>
              <a:t>K</a:t>
            </a:r>
            <a:r>
              <a:rPr lang="en-CA" altLang="en-US" sz="2400" dirty="0"/>
              <a:t>=50, </a:t>
            </a:r>
            <a:r>
              <a:rPr lang="en-CA" altLang="en-US" sz="2400" dirty="0">
                <a:latin typeface="Symbol" panose="05050102010706020507" pitchFamily="18" charset="2"/>
              </a:rPr>
              <a:t>s </a:t>
            </a:r>
            <a:r>
              <a:rPr lang="en-CA" altLang="en-US" sz="2400" dirty="0"/>
              <a:t>= 25%, </a:t>
            </a:r>
            <a:r>
              <a:rPr lang="en-CA" altLang="en-US" sz="2400" i="1" dirty="0"/>
              <a:t>r </a:t>
            </a:r>
            <a:r>
              <a:rPr lang="en-CA" altLang="en-US" sz="2400" dirty="0"/>
              <a:t>= 0%, </a:t>
            </a:r>
            <a:r>
              <a:rPr lang="en-CA" altLang="en-US" sz="2400" i="1" dirty="0"/>
              <a:t>T </a:t>
            </a:r>
            <a:r>
              <a:rPr lang="en-CA" altLang="en-US" sz="2400" dirty="0"/>
              <a:t>= 2, Figure 19.9)</a:t>
            </a:r>
            <a:endParaRPr lang="en-US" altLang="en-US" sz="2400" dirty="0"/>
          </a:p>
        </p:txBody>
      </p:sp>
      <p:sp>
        <p:nvSpPr>
          <p:cNvPr id="31747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Options, Futures, and Other Derivatives,  11th Edition, Copyright © John  C. Hull 2021</a:t>
            </a:r>
            <a:endParaRPr lang="en-US" altLang="en-US" sz="1400" i="0"/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2BB624-4CCB-4DE5-A04E-42A6CF7B1A55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  <p:pic>
        <p:nvPicPr>
          <p:cNvPr id="3174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656188"/>
            <a:ext cx="5254625" cy="3149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685800"/>
            <a:ext cx="7162800" cy="11430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Vega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676400"/>
            <a:ext cx="7696200" cy="42957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Vega (</a:t>
            </a:r>
            <a:r>
              <a:rPr lang="en-US" altLang="en-US" sz="4000" dirty="0">
                <a:latin typeface="Symbol" pitchFamily="18" charset="2"/>
                <a:cs typeface="Arial" charset="0"/>
              </a:rPr>
              <a:t>n</a:t>
            </a:r>
            <a:r>
              <a:rPr lang="en-US" altLang="en-US" dirty="0">
                <a:latin typeface="Arial" charset="0"/>
                <a:cs typeface="Arial" charset="0"/>
              </a:rPr>
              <a:t>) is the rate of change of the value of a derivatives portfolio with respect to volatility</a:t>
            </a:r>
          </a:p>
          <a:p>
            <a:pPr eaLnBrk="1" hangingPunct="1"/>
            <a:r>
              <a:rPr lang="en-CA" altLang="en-US" dirty="0">
                <a:latin typeface="Arial" charset="0"/>
                <a:cs typeface="Arial" charset="0"/>
              </a:rPr>
              <a:t>If </a:t>
            </a:r>
            <a:r>
              <a:rPr lang="en-CA" altLang="en-US" dirty="0" err="1">
                <a:latin typeface="Arial" charset="0"/>
                <a:cs typeface="Arial" charset="0"/>
              </a:rPr>
              <a:t>vega</a:t>
            </a:r>
            <a:r>
              <a:rPr lang="en-CA" altLang="en-US" dirty="0">
                <a:latin typeface="Arial" charset="0"/>
                <a:cs typeface="Arial" charset="0"/>
              </a:rPr>
              <a:t> is calculated for a portfolio as a weighted average of the </a:t>
            </a:r>
            <a:r>
              <a:rPr lang="en-CA" altLang="en-US" dirty="0" err="1">
                <a:latin typeface="Arial" charset="0"/>
                <a:cs typeface="Arial" charset="0"/>
              </a:rPr>
              <a:t>vegas</a:t>
            </a:r>
            <a:r>
              <a:rPr lang="en-CA" altLang="en-US" dirty="0">
                <a:latin typeface="Arial" charset="0"/>
                <a:cs typeface="Arial" charset="0"/>
              </a:rPr>
              <a:t> for the individual transactions comprising the portfolio, the result shows the effect of all implied volatilities changing by the same small amount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60C62AC-3A59-4400-8E77-C7E581B52DA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1066800" y="737983"/>
            <a:ext cx="7210425" cy="1295400"/>
          </a:xfrm>
        </p:spPr>
        <p:txBody>
          <a:bodyPr/>
          <a:lstStyle/>
          <a:p>
            <a:r>
              <a:rPr lang="en-CA" altLang="en-US" dirty="0"/>
              <a:t>Vega for Call or Put Option </a:t>
            </a:r>
            <a:r>
              <a:rPr lang="en-CA" altLang="en-US" sz="2400" dirty="0"/>
              <a:t>(</a:t>
            </a:r>
            <a:r>
              <a:rPr lang="en-CA" altLang="en-US" sz="2400" i="1" dirty="0"/>
              <a:t>K</a:t>
            </a:r>
            <a:r>
              <a:rPr lang="en-CA" altLang="en-US" sz="2400" dirty="0"/>
              <a:t>=50, </a:t>
            </a:r>
            <a:r>
              <a:rPr lang="en-CA" altLang="en-US" sz="2400" dirty="0">
                <a:latin typeface="Symbol" panose="05050102010706020507" pitchFamily="18" charset="2"/>
              </a:rPr>
              <a:t>s </a:t>
            </a:r>
            <a:r>
              <a:rPr lang="en-CA" altLang="en-US" sz="2400" dirty="0"/>
              <a:t>= 25%, </a:t>
            </a:r>
            <a:r>
              <a:rPr lang="en-CA" altLang="en-US" sz="2400" i="1" dirty="0"/>
              <a:t>r </a:t>
            </a:r>
            <a:r>
              <a:rPr lang="en-CA" altLang="en-US" sz="2400" dirty="0"/>
              <a:t>= 0, </a:t>
            </a:r>
            <a:r>
              <a:rPr lang="en-CA" altLang="en-US" sz="2400" i="1" dirty="0"/>
              <a:t>T </a:t>
            </a:r>
            <a:r>
              <a:rPr lang="en-CA" altLang="en-US" sz="2400" dirty="0"/>
              <a:t>= 2, Figure 19.11))</a:t>
            </a:r>
            <a:endParaRPr lang="en-US" altLang="en-US" sz="2400" dirty="0"/>
          </a:p>
        </p:txBody>
      </p:sp>
      <p:sp>
        <p:nvSpPr>
          <p:cNvPr id="3789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Options, Futures, and Other Derivatives,  11th Edition, Copyright © John  C. Hull 2021</a:t>
            </a:r>
            <a:endParaRPr lang="en-US" altLang="en-US" sz="1400" i="0"/>
          </a:p>
        </p:txBody>
      </p:sp>
      <p:sp>
        <p:nvSpPr>
          <p:cNvPr id="378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E97B6FA-CBDC-41CC-9BB4-CEFE3D8CDB1C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  <p:pic>
        <p:nvPicPr>
          <p:cNvPr id="3789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238505"/>
            <a:ext cx="6550025" cy="3925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Taylor Series Expansion </a:t>
            </a:r>
            <a:r>
              <a:rPr lang="en-US" altLang="en-US" sz="2000"/>
              <a:t>(Appendix to Chapter 19)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The value of a portfolio of derivatives dependent on an asset is a function of </a:t>
            </a:r>
            <a:r>
              <a:rPr lang="en-US" dirty="0" err="1"/>
              <a:t>of</a:t>
            </a:r>
            <a:r>
              <a:rPr lang="en-US" dirty="0"/>
              <a:t> the asset price </a:t>
            </a:r>
            <a:r>
              <a:rPr lang="en-US" i="1" dirty="0">
                <a:latin typeface="+mj-lt"/>
              </a:rPr>
              <a:t>S</a:t>
            </a:r>
            <a:r>
              <a:rPr lang="en-US" dirty="0"/>
              <a:t>, its volatility </a:t>
            </a:r>
            <a:r>
              <a:rPr lang="en-US" i="1" dirty="0">
                <a:latin typeface="Symbol" pitchFamily="18" charset="2"/>
              </a:rPr>
              <a:t>s</a:t>
            </a:r>
            <a:r>
              <a:rPr lang="en-US" dirty="0"/>
              <a:t>, and time </a:t>
            </a:r>
            <a:r>
              <a:rPr lang="en-US" i="1" dirty="0">
                <a:latin typeface="+mj-lt"/>
              </a:rPr>
              <a:t>t</a:t>
            </a: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0FA4AE5-EEB2-4569-8630-AAF77900842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27654" name="Object 2"/>
          <p:cNvGraphicFramePr>
            <a:graphicFrameLocks noChangeAspect="1"/>
          </p:cNvGraphicFramePr>
          <p:nvPr/>
        </p:nvGraphicFramePr>
        <p:xfrm>
          <a:off x="928688" y="3810000"/>
          <a:ext cx="6548437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91000" imgH="812800" progId="Equation.3">
                  <p:embed/>
                </p:oleObj>
              </mc:Choice>
              <mc:Fallback>
                <p:oleObj name="Equation" r:id="rId5" imgW="4191000" imgH="812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3810000"/>
                        <a:ext cx="6548437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914400"/>
            <a:ext cx="7596188" cy="1295400"/>
          </a:xfrm>
        </p:spPr>
        <p:txBody>
          <a:bodyPr/>
          <a:lstStyle/>
          <a:p>
            <a:pPr eaLnBrk="1" hangingPunct="1"/>
            <a:r>
              <a:rPr lang="en-US" altLang="en-US"/>
              <a:t>Managing  Delta, Gamma, &amp; Vega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Delta can be changed by taking a position in the underlying asset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To adjust gamma and vega it is necessary to take a position in an option or other derivative</a:t>
            </a:r>
          </a:p>
          <a:p>
            <a:pPr eaLnBrk="1" hangingPunct="1"/>
            <a:endParaRPr lang="en-US" altLang="en-US" sz="3600">
              <a:latin typeface="Arial" charset="0"/>
              <a:cs typeface="Arial" charset="0"/>
            </a:endParaRPr>
          </a:p>
        </p:txBody>
      </p:sp>
      <p:sp>
        <p:nvSpPr>
          <p:cNvPr id="286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3183DE1-21E2-41E9-81AF-CFA76DCD826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Rho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450975" y="2362200"/>
            <a:ext cx="6826250" cy="37687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Rho is the rate of change of the value of a derivative with respect to the interest rate							</a:t>
            </a: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D32D291-9093-4E6D-B998-E74AE7A2F03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Hedging in Practice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Traders usually ensure that their portfolios are delta-neutral at least once a day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Whenever the opportunity arises, they  improve gamma and vega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There are economies of scale</a:t>
            </a:r>
          </a:p>
          <a:p>
            <a:pPr lvl="1" eaLnBrk="1" hangingPunct="1"/>
            <a:r>
              <a:rPr lang="en-US" altLang="en-US">
                <a:latin typeface="Arial" charset="0"/>
                <a:cs typeface="Arial" charset="0"/>
              </a:rPr>
              <a:t>As portfolio becomes larger hedging becomes less expensive per option in the portfolio</a:t>
            </a:r>
          </a:p>
        </p:txBody>
      </p:sp>
      <p:sp>
        <p:nvSpPr>
          <p:cNvPr id="327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327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7E52F5A-54DD-4BD1-868E-8EE3F89543C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6699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4000" dirty="0">
                <a:solidFill>
                  <a:schemeClr val="tx2">
                    <a:satMod val="130000"/>
                  </a:schemeClr>
                </a:solidFill>
              </a:rPr>
              <a:t>Greek Letters for European Options on an Asset that Provides a Yield at Rate q </a:t>
            </a:r>
            <a:r>
              <a:rPr lang="en-US" sz="2700" dirty="0">
                <a:solidFill>
                  <a:schemeClr val="tx2">
                    <a:satMod val="130000"/>
                  </a:schemeClr>
                </a:solidFill>
              </a:rPr>
              <a:t>(Table 19.6)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533400" y="2768600"/>
            <a:ext cx="7772400" cy="41148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 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3482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Copyright © John  C. Hull 2021</a:t>
            </a:r>
          </a:p>
        </p:txBody>
      </p:sp>
      <p:sp>
        <p:nvSpPr>
          <p:cNvPr id="348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993704-5B6A-474E-BE8D-9C267787AC8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667000"/>
          <a:ext cx="6705600" cy="2565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Arial" pitchFamily="34" charset="0"/>
                          <a:cs typeface="Arial" pitchFamily="34" charset="0"/>
                        </a:rPr>
                        <a:t>Greek</a:t>
                      </a:r>
                      <a:r>
                        <a:rPr lang="en-US" i="1" baseline="0" dirty="0">
                          <a:latin typeface="Arial" pitchFamily="34" charset="0"/>
                          <a:cs typeface="Arial" pitchFamily="34" charset="0"/>
                        </a:rPr>
                        <a:t> Letter</a:t>
                      </a:r>
                      <a:endParaRPr lang="en-US" i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Arial" pitchFamily="34" charset="0"/>
                          <a:cs typeface="Arial" pitchFamily="34" charset="0"/>
                        </a:rPr>
                        <a:t>Call 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Arial" pitchFamily="34" charset="0"/>
                          <a:cs typeface="Arial" pitchFamily="34" charset="0"/>
                        </a:rPr>
                        <a:t>Put Option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Theta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Vega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Rho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852" name="Object 6"/>
          <p:cNvGraphicFramePr>
            <a:graphicFrameLocks noChangeAspect="1"/>
          </p:cNvGraphicFramePr>
          <p:nvPr/>
        </p:nvGraphicFramePr>
        <p:xfrm>
          <a:off x="2819400" y="3124200"/>
          <a:ext cx="647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7700" imgH="228600" progId="Equation.3">
                  <p:embed/>
                </p:oleObj>
              </mc:Choice>
              <mc:Fallback>
                <p:oleObj name="Equation" r:id="rId5" imgW="6477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124200"/>
                        <a:ext cx="6477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3" name="Object 7"/>
          <p:cNvGraphicFramePr>
            <a:graphicFrameLocks noChangeAspect="1"/>
          </p:cNvGraphicFramePr>
          <p:nvPr/>
        </p:nvGraphicFramePr>
        <p:xfrm>
          <a:off x="2819400" y="3429000"/>
          <a:ext cx="723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23586" imgH="469696" progId="Equation.3">
                  <p:embed/>
                </p:oleObj>
              </mc:Choice>
              <mc:Fallback>
                <p:oleObj name="Equation" r:id="rId7" imgW="723586" imgH="46969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9000"/>
                        <a:ext cx="723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4" name="Object 8"/>
          <p:cNvGraphicFramePr>
            <a:graphicFrameLocks noChangeAspect="1"/>
          </p:cNvGraphicFramePr>
          <p:nvPr/>
        </p:nvGraphicFramePr>
        <p:xfrm>
          <a:off x="5181600" y="3429000"/>
          <a:ext cx="723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23586" imgH="469696" progId="Equation.3">
                  <p:embed/>
                </p:oleObj>
              </mc:Choice>
              <mc:Fallback>
                <p:oleObj name="Equation" r:id="rId9" imgW="723586" imgH="46969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429000"/>
                        <a:ext cx="723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5" name="Object 9"/>
          <p:cNvGraphicFramePr>
            <a:graphicFrameLocks noChangeAspect="1"/>
          </p:cNvGraphicFramePr>
          <p:nvPr/>
        </p:nvGraphicFramePr>
        <p:xfrm>
          <a:off x="5181600" y="3124200"/>
          <a:ext cx="914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14400" imgH="228600" progId="Equation.3">
                  <p:embed/>
                </p:oleObj>
              </mc:Choice>
              <mc:Fallback>
                <p:oleObj name="Equation" r:id="rId11" imgW="9144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124200"/>
                        <a:ext cx="9144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6" name="Object 10"/>
          <p:cNvGraphicFramePr>
            <a:graphicFrameLocks noChangeAspect="1"/>
          </p:cNvGraphicFramePr>
          <p:nvPr/>
        </p:nvGraphicFramePr>
        <p:xfrm>
          <a:off x="2667000" y="3962400"/>
          <a:ext cx="1892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92300" imgH="508000" progId="Equation.3">
                  <p:embed/>
                </p:oleObj>
              </mc:Choice>
              <mc:Fallback>
                <p:oleObj name="Equation" r:id="rId13" imgW="1892300" imgH="508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962400"/>
                        <a:ext cx="1892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7" name="Object 11"/>
          <p:cNvGraphicFramePr>
            <a:graphicFrameLocks noChangeAspect="1"/>
          </p:cNvGraphicFramePr>
          <p:nvPr/>
        </p:nvGraphicFramePr>
        <p:xfrm>
          <a:off x="5105400" y="3962400"/>
          <a:ext cx="2070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70100" imgH="508000" progId="Equation.3">
                  <p:embed/>
                </p:oleObj>
              </mc:Choice>
              <mc:Fallback>
                <p:oleObj name="Equation" r:id="rId15" imgW="2070100" imgH="508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962400"/>
                        <a:ext cx="2070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8" name="Object 12"/>
          <p:cNvGraphicFramePr>
            <a:graphicFrameLocks noChangeAspect="1"/>
          </p:cNvGraphicFramePr>
          <p:nvPr/>
        </p:nvGraphicFramePr>
        <p:xfrm>
          <a:off x="2819400" y="4572000"/>
          <a:ext cx="1028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28254" imgH="253890" progId="Equation.3">
                  <p:embed/>
                </p:oleObj>
              </mc:Choice>
              <mc:Fallback>
                <p:oleObj name="Equation" r:id="rId17" imgW="1028254" imgH="25389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572000"/>
                        <a:ext cx="10287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9" name="Object 13"/>
          <p:cNvGraphicFramePr>
            <a:graphicFrameLocks noChangeAspect="1"/>
          </p:cNvGraphicFramePr>
          <p:nvPr/>
        </p:nvGraphicFramePr>
        <p:xfrm>
          <a:off x="5181600" y="4572000"/>
          <a:ext cx="1028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28254" imgH="253890" progId="Equation.3">
                  <p:embed/>
                </p:oleObj>
              </mc:Choice>
              <mc:Fallback>
                <p:oleObj name="Equation" r:id="rId19" imgW="1028254" imgH="25389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572000"/>
                        <a:ext cx="10287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0" name="Object 14"/>
          <p:cNvGraphicFramePr>
            <a:graphicFrameLocks noChangeAspect="1"/>
          </p:cNvGraphicFramePr>
          <p:nvPr/>
        </p:nvGraphicFramePr>
        <p:xfrm>
          <a:off x="2819400" y="4953000"/>
          <a:ext cx="850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50900" imgH="228600" progId="Equation.3">
                  <p:embed/>
                </p:oleObj>
              </mc:Choice>
              <mc:Fallback>
                <p:oleObj name="Equation" r:id="rId20" imgW="8509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953000"/>
                        <a:ext cx="8509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1" name="Object 15"/>
          <p:cNvGraphicFramePr>
            <a:graphicFrameLocks noChangeAspect="1"/>
          </p:cNvGraphicFramePr>
          <p:nvPr/>
        </p:nvGraphicFramePr>
        <p:xfrm>
          <a:off x="5105400" y="4953000"/>
          <a:ext cx="1054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54100" imgH="228600" progId="Equation.3">
                  <p:embed/>
                </p:oleObj>
              </mc:Choice>
              <mc:Fallback>
                <p:oleObj name="Equation" r:id="rId22" imgW="105410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953000"/>
                        <a:ext cx="10541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14400" y="5638800"/>
            <a:ext cx="7104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practice, the volatility, </a:t>
            </a:r>
            <a:r>
              <a:rPr lang="en-US" dirty="0">
                <a:latin typeface="Symbol" panose="05050102010706020507" pitchFamily="18" charset="2"/>
              </a:rPr>
              <a:t>s,</a:t>
            </a:r>
            <a:r>
              <a:rPr lang="en-US" dirty="0"/>
              <a:t> is usually set equal to the implied volatility </a:t>
            </a:r>
            <a:endParaRPr lang="en-C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Ch17HullOFOD8thEdition</Template>
  <TotalTime>364</TotalTime>
  <Words>1372</Words>
  <Application>Microsoft Office PowerPoint</Application>
  <PresentationFormat>On-screen Show (4:3)</PresentationFormat>
  <Paragraphs>209</Paragraphs>
  <Slides>24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Calibri</vt:lpstr>
      <vt:lpstr>Calibri Light</vt:lpstr>
      <vt:lpstr>Symbol</vt:lpstr>
      <vt:lpstr>Tahoma</vt:lpstr>
      <vt:lpstr>Times New Roman</vt:lpstr>
      <vt:lpstr>Wingdings</vt:lpstr>
      <vt:lpstr>Wingdings 2</vt:lpstr>
      <vt:lpstr>Global</vt:lpstr>
      <vt:lpstr>Office Theme</vt:lpstr>
      <vt:lpstr>Equation</vt:lpstr>
      <vt:lpstr>PowerPoint Presentation</vt:lpstr>
      <vt:lpstr>Implied Volatility</vt:lpstr>
      <vt:lpstr> Chapter 19 The Greek Letters</vt:lpstr>
      <vt:lpstr>Example</vt:lpstr>
      <vt:lpstr>Naked &amp; Covered Positions</vt:lpstr>
      <vt:lpstr>Greek Letters</vt:lpstr>
      <vt:lpstr>Delta (See Figure 19.2)</vt:lpstr>
      <vt:lpstr>Hedge</vt:lpstr>
      <vt:lpstr>Delta Hedging</vt:lpstr>
      <vt:lpstr>Delta of a Stock Option (K=50, r=0, s = 25%, T=2, Figure 19.3)</vt:lpstr>
      <vt:lpstr>Variation of Delta with Time to Maturity(S0=50, r=0, s=25%, Figure 19.4)</vt:lpstr>
      <vt:lpstr>The Costs in Delta Hedging continued</vt:lpstr>
      <vt:lpstr>Second Scenario for the Example (Table 19.3)</vt:lpstr>
      <vt:lpstr>Theta</vt:lpstr>
      <vt:lpstr>Gamma</vt:lpstr>
      <vt:lpstr>Gamma Addresses Delta Hedging Errors Caused By Curvature (Figure 19.7) </vt:lpstr>
      <vt:lpstr>Gamma for Call or Put Option: (K=50, s = 25%, r = 0%, T = 2, Figure 19.9)</vt:lpstr>
      <vt:lpstr>Vega</vt:lpstr>
      <vt:lpstr>Vega for Call or Put Option (K=50, s = 25%, r = 0, T = 2, Figure 19.11))</vt:lpstr>
      <vt:lpstr>Taylor Series Expansion (Appendix to Chapter 19)</vt:lpstr>
      <vt:lpstr>Managing  Delta, Gamma, &amp; Vega</vt:lpstr>
      <vt:lpstr>Rho</vt:lpstr>
      <vt:lpstr>Hedging in Practice</vt:lpstr>
      <vt:lpstr> Greek Letters for European Options on an Asset that Provides a Yield at Rate q (Table 19.6)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Greek Letters</dc:title>
  <dc:subject>Options, Futures, and Other Derivatives, 11e</dc:subject>
  <dc:creator>John C. Hull</dc:creator>
  <cp:keywords>Chapter 19</cp:keywords>
  <dc:description>Copyright 2021 by John C. Hull. All Rights Reserved. Published 2021</dc:description>
  <cp:lastModifiedBy>Bihary  Zsolt</cp:lastModifiedBy>
  <cp:revision>42</cp:revision>
  <dcterms:created xsi:type="dcterms:W3CDTF">2008-05-30T08:49:59Z</dcterms:created>
  <dcterms:modified xsi:type="dcterms:W3CDTF">2022-12-18T19:39:08Z</dcterms:modified>
</cp:coreProperties>
</file>