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6"/>
  </p:notesMasterIdLst>
  <p:sldIdLst>
    <p:sldId id="256" r:id="rId2"/>
    <p:sldId id="287" r:id="rId3"/>
    <p:sldId id="288" r:id="rId4"/>
    <p:sldId id="289" r:id="rId5"/>
    <p:sldId id="290" r:id="rId6"/>
    <p:sldId id="291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18" r:id="rId17"/>
    <p:sldId id="259" r:id="rId18"/>
    <p:sldId id="260" r:id="rId19"/>
    <p:sldId id="261" r:id="rId20"/>
    <p:sldId id="262" r:id="rId21"/>
    <p:sldId id="263" r:id="rId22"/>
    <p:sldId id="264" r:id="rId23"/>
    <p:sldId id="266" r:id="rId24"/>
    <p:sldId id="267" r:id="rId25"/>
    <p:sldId id="268" r:id="rId26"/>
    <p:sldId id="269" r:id="rId27"/>
    <p:sldId id="274" r:id="rId28"/>
    <p:sldId id="275" r:id="rId29"/>
    <p:sldId id="276" r:id="rId30"/>
    <p:sldId id="321" r:id="rId31"/>
    <p:sldId id="278" r:id="rId32"/>
    <p:sldId id="323" r:id="rId33"/>
    <p:sldId id="324" r:id="rId34"/>
    <p:sldId id="286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F438912-D5C8-4AA3-AB45-DD9B00127022}" type="datetimeFigureOut">
              <a:rPr lang="en-US"/>
              <a:pPr>
                <a:defRPr/>
              </a:pPr>
              <a:t>12/11/2022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C714287-5008-41DC-8265-B6CEC6DB20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76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013046-BBD2-4E26-9468-E93404B6364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02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296E1D-C34E-4E12-942C-AF29242CA74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05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CD8CCA-2177-4BF7-B7DB-AE5B459E822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26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5C64EB-B77D-42A2-AECF-CA4305D8FEE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40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FDB2A1-11EC-4246-84B1-AC7A44671719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811424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1B3186-7706-4795-927B-B270DFCC7387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992469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31DA0F-A1AA-47CA-AE87-AC4C1C6CD9FC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715339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07F91B-4D8F-4AC9-BA3F-48B22A6ADFCA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905618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5A0478-1653-4D0D-BA8A-43067E0B9FBF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43476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3165D7-FE60-4EC1-B3E1-7FBDEEF09C3D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158277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5FC985-BF6F-4203-87BD-B543161CB079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82567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2C9A07-A6E3-41E2-805C-682899708436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759717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4121D-CB85-4BC6-A3AA-E910402D82FB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109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457CBC-2F3C-4DCF-9EB5-1426425B44A1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21432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472B3A-B699-4104-B6FD-5AA4105BE45C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287034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7C342DB-4381-45D4-AAAD-5AE9F6DFA6D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75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348298-6129-4309-8DB3-528B4FF63107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254279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4F752E-9184-4E87-9FBD-9B7E8727AACA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19000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0D38B9-976F-4569-905F-D70F63AFE2CB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892088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39304B-A41F-4C92-B5D1-BCE201B05E2C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1785491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EB322D-EA5E-4423-BDFA-4260A5A1BA8B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348399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DB20B0-C284-4A71-84FF-FE1E8E12B4FB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616770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79852E-D91B-4F38-9529-A24D460484E0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733938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10B8A9-EF6F-4339-BFFD-1819AF6DB6EF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7251297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BFAC06-B23A-4702-A8E0-0CF77B42E3DC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4828067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FA8A21-70D9-4AFD-8AD4-B01287B0C208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636827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48CA77-FDAC-4D31-A611-C57C31D55885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2536916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FE5967-24BE-466D-8120-94B125B9E9EE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834250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C3502E-6529-48D0-8BFA-94F7E9EBF552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477522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7332754-1149-4385-AE42-E3C3E74E3628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813852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673CBA-7519-460F-A275-88AAE807CA8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309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FE487A-F8FB-4879-A815-74A17C993F1C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507892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AF97C9-3FB8-4A8B-8863-142670B058C3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9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1DC49A-2B4E-48FD-A8E8-C7046A87C002}" type="datetime1">
              <a:rPr lang="en-US" smtClean="0"/>
              <a:t>12/11/2022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17CC5-3892-4135-BF08-892704885D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2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9A2DCB-EF94-44D6-9A50-C5446BC8E7DC}" type="datetime1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2B42E-F280-41E9-B6AB-E1E078212C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4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217F4-0557-4DE3-A18E-AB90AC3986E7}" type="datetime1">
              <a:rPr lang="en-US" smtClean="0"/>
              <a:t>12/11/2022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6A299-354E-4588-B44D-2D63ED50D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49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8A867-B8B2-433A-9354-DAE11722C13B}" type="datetime1">
              <a:rPr lang="en-US" smtClean="0"/>
              <a:t>12/11/2022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F3AA7-1885-48AC-9883-77D3202F84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3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F052E7-6638-4201-8D2B-C99CEFE45328}" type="datetime1">
              <a:rPr lang="en-US" smtClean="0"/>
              <a:t>12/11/2022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4D8C9-DF41-4A5F-B693-702BEE289F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0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86BA6C-8907-41AE-9C73-03FA7F8E9869}" type="datetime1">
              <a:rPr lang="en-US" smtClean="0"/>
              <a:t>12/11/2022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98745-34B1-4D85-961E-F473B17310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90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A817A-D7D0-4464-9243-37ABD6F11711}" type="datetime1">
              <a:rPr lang="en-US" smtClean="0"/>
              <a:t>12/11/2022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6E659-1E10-488A-9B78-BC7C1E2BAA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9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700C0-9933-4641-B5AC-F6BB9A953E94}" type="datetime1">
              <a:rPr lang="en-US" smtClean="0"/>
              <a:t>12/11/2022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DF9358-7D18-471D-9102-A6577D2E74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09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9B2E1-206E-4158-B8BC-4C0F1B684287}" type="datetime1">
              <a:rPr lang="en-US" smtClean="0"/>
              <a:t>12/11/2022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6966C-A987-4D8C-88B4-FDFCD1A6BD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3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8D084-E275-4DB9-ACA2-434D265EDA0F}" type="datetime1">
              <a:rPr lang="en-US" smtClean="0"/>
              <a:t>12/11/2022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B5B081-076E-49D2-9FFB-1B732BDCF7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3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6D60B-7FD1-4A7C-A601-525902090787}" type="datetime1">
              <a:rPr lang="en-US" smtClean="0"/>
              <a:t>12/11/2022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4B487-FACC-4BB3-8F5A-B85C89ACF1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98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AB40-1911-4077-81EB-D3103BCCC677}" type="datetime1">
              <a:rPr lang="en-US" altLang="en-US" smtClean="0"/>
              <a:t>12/11/2022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11th Edition, Copyright © John C. Hull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752C2A-CC51-4872-BD4D-43D6C55C3A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578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B2D83-2955-4B8C-97BB-911B41974ED6}" type="datetime1">
              <a:rPr lang="en-US" altLang="en-US" smtClean="0"/>
              <a:t>12/11/2022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11th Edition, Copyright © John C. Hull 2021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EA9B6-3178-4DC7-849D-7D150CC7F0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919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F62ABC6F-E293-42D2-A543-141CC572E6D1}" type="datetime1">
              <a:rPr lang="en-US" smtClean="0"/>
              <a:t>12/11/2022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17D9E5-9680-43AA-AA66-4A061356B5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71" r:id="rId3"/>
    <p:sldLayoutId id="2147483872" r:id="rId4"/>
    <p:sldLayoutId id="2147483873" r:id="rId5"/>
    <p:sldLayoutId id="2147483881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82" r:id="rId12"/>
    <p:sldLayoutId id="2147483883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11" Type="http://schemas.openxmlformats.org/officeDocument/2006/relationships/oleObject" Target="../embeddings/Microsoft_Excel_Chart1.xls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4.emf"/><Relationship Id="rId4" Type="http://schemas.openxmlformats.org/officeDocument/2006/relationships/image" Target="../media/image3.png"/><Relationship Id="rId9" Type="http://schemas.openxmlformats.org/officeDocument/2006/relationships/oleObject" Target="../embeddings/Microsoft_Excel_Chart.xls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2.png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CA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Chapter 14</a:t>
            </a:r>
            <a:br>
              <a:rPr lang="en-CA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Wiener Processes and </a:t>
            </a:r>
            <a:r>
              <a:rPr lang="en-CA" dirty="0" err="1">
                <a:solidFill>
                  <a:schemeClr val="tx2">
                    <a:satMod val="130000"/>
                  </a:schemeClr>
                </a:solidFill>
              </a:rPr>
              <a:t>Itô’s</a:t>
            </a: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 Lemma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11th Edition, Copyright © John C. Hull 2021</a:t>
            </a: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6640458-E233-4689-BF4E-A76620F2742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Stochastic Processes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Describes the way in which a variable such as a stock price, exchange rate or interest rate changes through time</a:t>
            </a:r>
          </a:p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Incorporates uncertainties</a:t>
            </a: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1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63EB64F-2D96-4B27-BEBE-2430959F6ED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1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Each day a stock price </a:t>
            </a:r>
          </a:p>
          <a:p>
            <a:pPr lvl="1" eaLnBrk="1" hangingPunct="1"/>
            <a:r>
              <a:rPr lang="en-US" altLang="en-US">
                <a:latin typeface="Arial" charset="0"/>
                <a:cs typeface="Arial" charset="0"/>
              </a:rPr>
              <a:t>increases by $1 with probability 30%</a:t>
            </a:r>
          </a:p>
          <a:p>
            <a:pPr lvl="1" eaLnBrk="1" hangingPunct="1"/>
            <a:r>
              <a:rPr lang="en-US" altLang="en-US">
                <a:latin typeface="Arial" charset="0"/>
                <a:cs typeface="Arial" charset="0"/>
              </a:rPr>
              <a:t>stays the same with probability 50%</a:t>
            </a:r>
          </a:p>
          <a:p>
            <a:pPr lvl="1" eaLnBrk="1" hangingPunct="1"/>
            <a:r>
              <a:rPr lang="en-US" altLang="en-US">
                <a:latin typeface="Arial" charset="0"/>
                <a:cs typeface="Arial" charset="0"/>
              </a:rPr>
              <a:t>reduces by $1 with probability 20%</a:t>
            </a: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C4D6494-D810-4FB8-B028-D44AD45F762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2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Each day a stock price change is drawn from a normal distribution with mean $0.2 and standard deviation $1</a:t>
            </a:r>
          </a:p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349F5D0-EA59-49B6-8F00-6A7814A92D5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936BAB7-2EFE-4CC2-8B3B-C7B78977E52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7461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Markov Processes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19263"/>
            <a:ext cx="7450138" cy="44116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In a Markov process future movements in a variable depend only on where we are, not the history of how we got to where we are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Is the process followed by the temperature at a certain place Markov?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We assume that stock prices follow Markov processes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963FD08-85C9-47DF-BF37-D0E8A6CDAAB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77724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Weak-Form Market Efficiency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7391400" cy="43989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This asserts that it is impossible  to produce consistently superior returns with a trading rule based on the past history of stock prices. In other words technical analysis does not work.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A Markov process for stock prices is consistent  with weak-form market efficiency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C1E85F-BB00-4F75-B440-B7036CFE714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A Wiener Process </a:t>
            </a:r>
            <a:r>
              <a:rPr lang="en-US" altLang="en-US" sz="2200" dirty="0"/>
              <a:t>(equation 14.1)</a:t>
            </a:r>
            <a:endParaRPr lang="en-US" altLang="en-US" dirty="0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7239000" cy="4419600"/>
          </a:xfrm>
          <a:noFill/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CA" altLang="en-US" dirty="0">
                <a:latin typeface="Arial" charset="0"/>
                <a:cs typeface="Arial" charset="0"/>
              </a:rPr>
              <a:t>Define</a:t>
            </a:r>
            <a:r>
              <a:rPr lang="en-CA" altLang="en-US" dirty="0">
                <a:latin typeface="Symbol" pitchFamily="18" charset="2"/>
                <a:cs typeface="Arial" charset="0"/>
              </a:rPr>
              <a:t> f</a:t>
            </a:r>
            <a:r>
              <a:rPr lang="en-CA" altLang="en-US" dirty="0">
                <a:latin typeface="Arial" charset="0"/>
                <a:cs typeface="Arial" charset="0"/>
              </a:rPr>
              <a:t>(</a:t>
            </a:r>
            <a:r>
              <a:rPr lang="en-CA" altLang="en-US" dirty="0" err="1">
                <a:latin typeface="Symbol" pitchFamily="18" charset="2"/>
                <a:cs typeface="Arial" charset="0"/>
              </a:rPr>
              <a:t>m</a:t>
            </a:r>
            <a:r>
              <a:rPr lang="en-CA" altLang="en-US" dirty="0" err="1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CA" altLang="en-US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CA" alt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CA" altLang="en-US" dirty="0">
                <a:latin typeface="Symbol" pitchFamily="18" charset="2"/>
                <a:cs typeface="Arial" charset="0"/>
              </a:rPr>
              <a:t> </a:t>
            </a:r>
            <a:r>
              <a:rPr lang="en-CA" altLang="en-US" dirty="0">
                <a:latin typeface="Arial" charset="0"/>
                <a:cs typeface="Arial" charset="0"/>
              </a:rPr>
              <a:t>as a normal distribution with mean </a:t>
            </a:r>
            <a:r>
              <a:rPr lang="en-CA" altLang="en-US" dirty="0">
                <a:latin typeface="Symbol" pitchFamily="18" charset="2"/>
                <a:cs typeface="Arial" charset="0"/>
              </a:rPr>
              <a:t>m</a:t>
            </a:r>
            <a:r>
              <a:rPr lang="en-CA" altLang="en-US" dirty="0">
                <a:latin typeface="Arial" charset="0"/>
                <a:cs typeface="Arial" charset="0"/>
              </a:rPr>
              <a:t> and variance </a:t>
            </a:r>
            <a:r>
              <a:rPr lang="en-CA" altLang="en-US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en-US" dirty="0">
                <a:latin typeface="Arial" charset="0"/>
                <a:cs typeface="Arial" charset="0"/>
              </a:rPr>
              <a:t> 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altLang="en-US" dirty="0">
              <a:latin typeface="Arial" charset="0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</a:pPr>
            <a:r>
              <a:rPr lang="en-US" altLang="en-US" dirty="0">
                <a:latin typeface="Arial" charset="0"/>
                <a:cs typeface="Arial" charset="0"/>
              </a:rPr>
              <a:t>A variable 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dirty="0">
                <a:latin typeface="Arial" charset="0"/>
                <a:cs typeface="Arial" charset="0"/>
              </a:rPr>
              <a:t> follows a Wiener process if</a:t>
            </a:r>
          </a:p>
          <a:p>
            <a:pPr marL="808038" lvl="1" indent="-533400" eaLnBrk="1" hangingPunct="1">
              <a:lnSpc>
                <a:spcPct val="90000"/>
              </a:lnSpc>
            </a:pPr>
            <a:r>
              <a:rPr lang="en-US" altLang="en-US" dirty="0">
                <a:latin typeface="Arial" charset="0"/>
                <a:cs typeface="Arial" charset="0"/>
              </a:rPr>
              <a:t>The change in 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dirty="0">
                <a:latin typeface="Arial" charset="0"/>
                <a:cs typeface="Arial" charset="0"/>
              </a:rPr>
              <a:t> in a small interval of time </a:t>
            </a:r>
            <a:r>
              <a:rPr lang="en-US" altLang="en-US" dirty="0">
                <a:latin typeface="Symbol" pitchFamily="18" charset="2"/>
                <a:cs typeface="Arial" charset="0"/>
              </a:rPr>
              <a:t>D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>
                <a:latin typeface="Arial" charset="0"/>
                <a:cs typeface="Arial" charset="0"/>
              </a:rPr>
              <a:t>  is </a:t>
            </a:r>
            <a:r>
              <a:rPr lang="en-US" altLang="en-US" dirty="0" err="1">
                <a:latin typeface="Symbol" pitchFamily="18" charset="2"/>
                <a:cs typeface="Arial" charset="0"/>
              </a:rPr>
              <a:t>D</a:t>
            </a:r>
            <a:r>
              <a:rPr lang="en-US" altLang="en-US" i="1" dirty="0" err="1">
                <a:latin typeface="Times New Roman" pitchFamily="18" charset="0"/>
                <a:cs typeface="Arial" charset="0"/>
              </a:rPr>
              <a:t>z</a:t>
            </a:r>
            <a:endParaRPr lang="en-US" altLang="en-US" dirty="0">
              <a:latin typeface="Arial" charset="0"/>
              <a:cs typeface="Arial" charset="0"/>
            </a:endParaRPr>
          </a:p>
          <a:p>
            <a:pPr marL="808038" lvl="1" indent="-533400" eaLnBrk="1" hangingPunct="1">
              <a:lnSpc>
                <a:spcPct val="90000"/>
              </a:lnSpc>
            </a:pPr>
            <a:r>
              <a:rPr lang="en-US" altLang="en-US" dirty="0">
                <a:latin typeface="Arial" charset="0"/>
                <a:cs typeface="Arial" charset="0"/>
              </a:rPr>
              <a:t>   				</a:t>
            </a:r>
          </a:p>
          <a:p>
            <a:pPr marL="808038" lvl="1" indent="-533400" eaLnBrk="1" hangingPunct="1">
              <a:lnSpc>
                <a:spcPct val="90000"/>
              </a:lnSpc>
            </a:pPr>
            <a:r>
              <a:rPr lang="en-US" altLang="en-US" dirty="0">
                <a:latin typeface="Arial" charset="0"/>
                <a:cs typeface="Arial" charset="0"/>
              </a:rPr>
              <a:t>The values of </a:t>
            </a:r>
            <a:r>
              <a:rPr lang="en-US" altLang="en-US" dirty="0" err="1">
                <a:latin typeface="Symbol" pitchFamily="18" charset="2"/>
                <a:cs typeface="Arial" charset="0"/>
              </a:rPr>
              <a:t>D</a:t>
            </a:r>
            <a:r>
              <a:rPr lang="en-US" altLang="en-US" i="1" dirty="0" err="1">
                <a:latin typeface="Times New Roman" pitchFamily="18" charset="0"/>
                <a:cs typeface="Arial" charset="0"/>
              </a:rPr>
              <a:t>z</a:t>
            </a:r>
            <a:r>
              <a:rPr lang="en-US" altLang="en-US" dirty="0">
                <a:latin typeface="Arial" charset="0"/>
                <a:cs typeface="Arial" charset="0"/>
              </a:rPr>
              <a:t>  for any 2 different (non-overlapping) periods of time are independent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CA" altLang="en-US" sz="2000" dirty="0">
              <a:latin typeface="Symbol" pitchFamily="18" charset="2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CA" altLang="en-US" sz="2000" dirty="0">
                <a:latin typeface="Symbol" pitchFamily="18" charset="2"/>
                <a:cs typeface="Arial" charset="0"/>
              </a:rPr>
              <a:t>	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graphicFrame>
        <p:nvGraphicFramePr>
          <p:cNvPr id="15366" name="Object 1024"/>
          <p:cNvGraphicFramePr>
            <a:graphicFrameLocks/>
          </p:cNvGraphicFramePr>
          <p:nvPr/>
        </p:nvGraphicFramePr>
        <p:xfrm>
          <a:off x="1447800" y="4572000"/>
          <a:ext cx="358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500" imgH="241300" progId="Equation.3">
                  <p:embed/>
                </p:oleObj>
              </mc:Choice>
              <mc:Fallback>
                <p:oleObj name="Equation" r:id="rId5" imgW="1841500" imgH="2413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572000"/>
                        <a:ext cx="3581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05382C1-1597-462E-9F68-848734D68BD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Properties of a Wiener Process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590800"/>
            <a:ext cx="6911975" cy="19685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Mean of  [</a:t>
            </a:r>
            <a:r>
              <a:rPr lang="en-US" altLang="en-US" i="1">
                <a:latin typeface="Times New Roman" pitchFamily="18" charset="0"/>
                <a:cs typeface="Arial" charset="0"/>
              </a:rPr>
              <a:t>z</a:t>
            </a:r>
            <a:r>
              <a:rPr lang="en-US" altLang="en-US">
                <a:latin typeface="Arial" charset="0"/>
                <a:cs typeface="Arial" charset="0"/>
              </a:rPr>
              <a:t> (</a:t>
            </a:r>
            <a:r>
              <a:rPr lang="en-US" altLang="en-US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Arial" charset="0"/>
                <a:cs typeface="Arial" charset="0"/>
              </a:rPr>
              <a:t> ) –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z</a:t>
            </a:r>
            <a:r>
              <a:rPr lang="en-US" altLang="en-US">
                <a:latin typeface="Arial" charset="0"/>
                <a:cs typeface="Arial" charset="0"/>
              </a:rPr>
              <a:t> (0)]  is 0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Variance of  [</a:t>
            </a:r>
            <a:r>
              <a:rPr lang="en-US" altLang="en-US" i="1">
                <a:latin typeface="Times New Roman" pitchFamily="18" charset="0"/>
                <a:cs typeface="Arial" charset="0"/>
              </a:rPr>
              <a:t>z</a:t>
            </a:r>
            <a:r>
              <a:rPr lang="en-US" altLang="en-US">
                <a:latin typeface="Arial" charset="0"/>
                <a:cs typeface="Arial" charset="0"/>
              </a:rPr>
              <a:t> (</a:t>
            </a:r>
            <a:r>
              <a:rPr lang="en-US" altLang="en-US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Times New Roman" pitchFamily="18" charset="0"/>
                <a:cs typeface="Arial" charset="0"/>
              </a:rPr>
              <a:t> ) –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z</a:t>
            </a:r>
            <a:r>
              <a:rPr lang="en-US" altLang="en-US">
                <a:latin typeface="Arial" charset="0"/>
                <a:cs typeface="Arial" charset="0"/>
              </a:rPr>
              <a:t> (0)]  is </a:t>
            </a:r>
            <a:r>
              <a:rPr lang="en-US" altLang="en-US" i="1"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en-US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Standard deviation of [</a:t>
            </a:r>
            <a:r>
              <a:rPr lang="en-US" altLang="en-US" i="1">
                <a:latin typeface="Times New Roman" pitchFamily="18" charset="0"/>
                <a:cs typeface="Arial" charset="0"/>
              </a:rPr>
              <a:t>z</a:t>
            </a:r>
            <a:r>
              <a:rPr lang="en-US" altLang="en-US">
                <a:latin typeface="Times New Roman" pitchFamily="18" charset="0"/>
                <a:cs typeface="Arial" charset="0"/>
              </a:rPr>
              <a:t> (</a:t>
            </a:r>
            <a:r>
              <a:rPr lang="en-US" altLang="en-US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Times New Roman" pitchFamily="18" charset="0"/>
                <a:cs typeface="Arial" charset="0"/>
              </a:rPr>
              <a:t> ) –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z</a:t>
            </a:r>
            <a:r>
              <a:rPr lang="en-US" altLang="en-US">
                <a:latin typeface="Arial" charset="0"/>
                <a:cs typeface="Arial" charset="0"/>
              </a:rPr>
              <a:t> (0)]  is</a:t>
            </a:r>
          </a:p>
        </p:txBody>
      </p:sp>
      <p:graphicFrame>
        <p:nvGraphicFramePr>
          <p:cNvPr id="16390" name="Object 1024"/>
          <p:cNvGraphicFramePr>
            <a:graphicFrameLocks/>
          </p:cNvGraphicFramePr>
          <p:nvPr/>
        </p:nvGraphicFramePr>
        <p:xfrm>
          <a:off x="7391400" y="3505200"/>
          <a:ext cx="838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780" imgH="215713" progId="Equation.2">
                  <p:embed/>
                </p:oleObj>
              </mc:Choice>
              <mc:Fallback>
                <p:oleObj name="Equation" r:id="rId5" imgW="253780" imgH="215713" progId="Equation.2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505200"/>
                        <a:ext cx="838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E6C54A-D87A-4424-A9CA-D2C4F3B588E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Generalized Wiener Processes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209800"/>
            <a:ext cx="7359650" cy="44116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A Wiener process has a drift rate (i.e. average change per unit time) of 0 and a variance rate of 1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In a generalized Wiener process the drift rate and the variance rate can be set equal to any chosen constants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DCA118A-A5E4-45DA-9083-15988A639D7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Generalized Wiener Processes</a:t>
            </a:r>
            <a:br>
              <a:rPr lang="en-US"/>
            </a:br>
            <a:r>
              <a:rPr lang="en-US" sz="2600"/>
              <a:t>(continued)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3505200"/>
            <a:ext cx="6818313" cy="19939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Mean change in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x</a:t>
            </a:r>
            <a:r>
              <a:rPr lang="en-US" altLang="en-US">
                <a:latin typeface="Arial" charset="0"/>
                <a:cs typeface="Arial" charset="0"/>
              </a:rPr>
              <a:t> per unit time is </a:t>
            </a:r>
            <a:r>
              <a:rPr lang="en-US" altLang="en-US" i="1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Variance of change in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x</a:t>
            </a:r>
            <a:r>
              <a:rPr lang="en-US" altLang="en-US">
                <a:latin typeface="Arial" charset="0"/>
                <a:cs typeface="Arial" charset="0"/>
              </a:rPr>
              <a:t> per unit time is </a:t>
            </a:r>
            <a:r>
              <a:rPr lang="en-US" altLang="en-US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baseline="30000">
                <a:latin typeface="Arial" charset="0"/>
                <a:cs typeface="Arial" charset="0"/>
              </a:rPr>
              <a:t>2</a:t>
            </a:r>
            <a:endParaRPr lang="en-US" altLang="en-US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18438" name="Object 1024"/>
          <p:cNvGraphicFramePr>
            <a:graphicFrameLocks/>
          </p:cNvGraphicFramePr>
          <p:nvPr/>
        </p:nvGraphicFramePr>
        <p:xfrm>
          <a:off x="2895600" y="2514600"/>
          <a:ext cx="31337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93800" imgH="228600" progId="Equation.3">
                  <p:embed/>
                </p:oleObj>
              </mc:Choice>
              <mc:Fallback>
                <p:oleObj name="Equation" r:id="rId5" imgW="1193800" imgH="2286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514600"/>
                        <a:ext cx="31337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A22554-CC29-457C-BB7E-FF487F61846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14400"/>
            <a:ext cx="77724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Taking Limits . . .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7924800" cy="451485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What does an expression involving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dz </a:t>
            </a:r>
            <a:r>
              <a:rPr lang="en-US" altLang="en-US">
                <a:latin typeface="Arial" charset="0"/>
                <a:cs typeface="Arial" charset="0"/>
              </a:rPr>
              <a:t> and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dt</a:t>
            </a:r>
            <a:r>
              <a:rPr lang="en-US" altLang="en-US">
                <a:latin typeface="Arial" charset="0"/>
                <a:cs typeface="Arial" charset="0"/>
              </a:rPr>
              <a:t>  mean?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It should be interpreted as meaning that the corresponding expression involving 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 i="1">
                <a:latin typeface="Times New Roman" pitchFamily="18" charset="0"/>
                <a:cs typeface="Arial" charset="0"/>
              </a:rPr>
              <a:t>z  </a:t>
            </a:r>
            <a:r>
              <a:rPr lang="en-US" altLang="en-US">
                <a:latin typeface="Arial" charset="0"/>
                <a:cs typeface="Arial" charset="0"/>
              </a:rPr>
              <a:t>and 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Arial" charset="0"/>
                <a:cs typeface="Arial" charset="0"/>
              </a:rPr>
              <a:t> is true in the limit  as 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Arial" charset="0"/>
                <a:cs typeface="Arial" charset="0"/>
              </a:rPr>
              <a:t>  tends to zero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In this respect, stochastic calculus is analogous  to ordinary calculus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AC96097-6353-4A7E-BD93-2685720628D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14400"/>
            <a:ext cx="7543800" cy="914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The Example Revisited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315200" cy="471487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A stock price starts at 40 and has a probability distribution of</a:t>
            </a:r>
            <a:r>
              <a:rPr lang="en-US" altLang="en-US" sz="2400">
                <a:latin typeface="Symbol" pitchFamily="18" charset="2"/>
                <a:cs typeface="Arial" charset="0"/>
              </a:rPr>
              <a:t> f</a:t>
            </a:r>
            <a:r>
              <a:rPr lang="en-US" altLang="en-US" sz="2400">
                <a:latin typeface="Arial" charset="0"/>
                <a:cs typeface="Arial" charset="0"/>
              </a:rPr>
              <a:t>(40,100) at the end  of the year</a:t>
            </a: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If we assume the stochastic process is Markov with no drift  then the process is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sz="2400" i="1">
                <a:latin typeface="Times New Roman" pitchFamily="18" charset="0"/>
                <a:cs typeface="Arial" charset="0"/>
              </a:rPr>
              <a:t>dS  = 10dz </a:t>
            </a: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If the stock price were expected to grow by $8 on average during the year, so that the year-end distribution is </a:t>
            </a:r>
            <a:r>
              <a:rPr lang="en-US" altLang="en-US" sz="2400">
                <a:latin typeface="Symbol" pitchFamily="18" charset="2"/>
                <a:cs typeface="Arial" charset="0"/>
              </a:rPr>
              <a:t>f</a:t>
            </a:r>
            <a:r>
              <a:rPr lang="en-US" altLang="en-US" sz="2400">
                <a:latin typeface="Arial" charset="0"/>
                <a:cs typeface="Arial" charset="0"/>
              </a:rPr>
              <a:t>(48,100), the process would be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sz="2400" i="1">
                <a:latin typeface="Times New Roman" pitchFamily="18" charset="0"/>
                <a:cs typeface="Arial" charset="0"/>
              </a:rPr>
              <a:t>dS</a:t>
            </a:r>
            <a:r>
              <a:rPr lang="en-US" altLang="en-US" sz="2400">
                <a:latin typeface="Times New Roman" pitchFamily="18" charset="0"/>
                <a:cs typeface="Arial" charset="0"/>
              </a:rPr>
              <a:t>  = 8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dt </a:t>
            </a:r>
            <a:r>
              <a:rPr lang="en-US" altLang="en-US" sz="2400">
                <a:latin typeface="Times New Roman" pitchFamily="18" charset="0"/>
                <a:cs typeface="Arial" charset="0"/>
              </a:rPr>
              <a:t> + 10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dz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1D2849-DBBF-419A-9EF9-D2F4C9DA4BD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8223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      </a:t>
            </a:r>
            <a:r>
              <a:rPr lang="en-US" altLang="en-US" dirty="0" err="1"/>
              <a:t>It</a:t>
            </a:r>
            <a:r>
              <a:rPr lang="en-US" altLang="en-US" dirty="0" err="1">
                <a:cs typeface="Times New Roman" pitchFamily="18" charset="0"/>
              </a:rPr>
              <a:t>ô</a:t>
            </a:r>
            <a:r>
              <a:rPr lang="en-US" altLang="en-US" dirty="0"/>
              <a:t> Process </a:t>
            </a:r>
            <a:r>
              <a:rPr lang="en-US" altLang="en-US" sz="2200" dirty="0"/>
              <a:t>(equation 14.4)</a:t>
            </a:r>
            <a:endParaRPr lang="en-US" altLang="en-US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315200" cy="4343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In an Itô process the drift rate and the variance rate are functions of time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i="1">
                <a:latin typeface="Arial" charset="0"/>
                <a:cs typeface="Arial" charset="0"/>
              </a:rPr>
              <a:t> 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dx=a</a:t>
            </a:r>
            <a:r>
              <a:rPr lang="en-US" altLang="en-US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>
                <a:latin typeface="Times New Roman" pitchFamily="18" charset="0"/>
                <a:cs typeface="Arial" charset="0"/>
              </a:rPr>
              <a:t>x,t</a:t>
            </a:r>
            <a:r>
              <a:rPr lang="en-US" altLang="en-US">
                <a:latin typeface="Times New Roman" pitchFamily="18" charset="0"/>
                <a:cs typeface="Arial" charset="0"/>
              </a:rPr>
              <a:t>)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dt+b</a:t>
            </a:r>
            <a:r>
              <a:rPr lang="en-US" altLang="en-US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>
                <a:latin typeface="Times New Roman" pitchFamily="18" charset="0"/>
                <a:cs typeface="Arial" charset="0"/>
              </a:rPr>
              <a:t>x,t</a:t>
            </a:r>
            <a:r>
              <a:rPr lang="en-US" altLang="en-US">
                <a:latin typeface="Times New Roman" pitchFamily="18" charset="0"/>
                <a:cs typeface="Arial" charset="0"/>
              </a:rPr>
              <a:t>)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dz</a:t>
            </a:r>
            <a:r>
              <a:rPr lang="en-US" altLang="en-US">
                <a:latin typeface="Times New Roman" pitchFamily="18" charset="0"/>
                <a:cs typeface="Arial" charset="0"/>
              </a:rPr>
              <a:t>	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The discrete time equivalent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    is true in the limit as 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Arial" charset="0"/>
                <a:cs typeface="Arial" charset="0"/>
              </a:rPr>
              <a:t> tends to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    zero</a:t>
            </a:r>
          </a:p>
        </p:txBody>
      </p:sp>
      <p:graphicFrame>
        <p:nvGraphicFramePr>
          <p:cNvPr id="21510" name="Object 1024"/>
          <p:cNvGraphicFramePr>
            <a:graphicFrameLocks/>
          </p:cNvGraphicFramePr>
          <p:nvPr/>
        </p:nvGraphicFramePr>
        <p:xfrm>
          <a:off x="2743200" y="3886200"/>
          <a:ext cx="42973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14500" imgH="241300" progId="Equation.3">
                  <p:embed/>
                </p:oleObj>
              </mc:Choice>
              <mc:Fallback>
                <p:oleObj name="Equation" r:id="rId5" imgW="1714500" imgH="2413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886200"/>
                        <a:ext cx="42973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954100E-F8BA-4733-8F01-FC85255A35D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990600"/>
            <a:ext cx="7770813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Why a Generalized Wiener Process Is Not Appropriate for Stocks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8077200" cy="38909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For a stock price we can conjecture that its expected </a:t>
            </a:r>
            <a:r>
              <a:rPr lang="en-US" altLang="en-US" i="1">
                <a:latin typeface="Arial" charset="0"/>
                <a:cs typeface="Arial" charset="0"/>
              </a:rPr>
              <a:t>percentage </a:t>
            </a:r>
            <a:r>
              <a:rPr lang="en-US" altLang="en-US">
                <a:latin typeface="Arial" charset="0"/>
                <a:cs typeface="Arial" charset="0"/>
              </a:rPr>
              <a:t>change in a short period of time remains constant (not its expected actual change)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We can also conjecture that our uncertainty as to the size of future stock price movements is proportional to the level of the stock price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97C9B3-CE1F-44CF-911F-FB3466099C4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An Ito Process for Stock Prices</a:t>
            </a:r>
            <a:br>
              <a:rPr lang="en-US" altLang="en-US" dirty="0"/>
            </a:br>
            <a:r>
              <a:rPr lang="en-US" altLang="en-US" sz="2200" dirty="0"/>
              <a:t>(equation 14.6 and 14.7)</a:t>
            </a:r>
            <a:endParaRPr lang="en-US" altLang="en-US" dirty="0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905000"/>
            <a:ext cx="6818313" cy="4411663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   where </a:t>
            </a:r>
            <a:r>
              <a:rPr lang="en-US" altLang="en-US">
                <a:latin typeface="Symbol" pitchFamily="18" charset="2"/>
                <a:cs typeface="Arial" charset="0"/>
              </a:rPr>
              <a:t>m</a:t>
            </a:r>
            <a:r>
              <a:rPr lang="en-US" altLang="en-US">
                <a:latin typeface="Arial" charset="0"/>
                <a:cs typeface="Arial" charset="0"/>
              </a:rPr>
              <a:t> is the expected return </a:t>
            </a:r>
            <a:r>
              <a:rPr lang="en-US" altLang="en-US">
                <a:latin typeface="Symbol" pitchFamily="18" charset="2"/>
                <a:cs typeface="Arial" charset="0"/>
              </a:rPr>
              <a:t>s</a:t>
            </a:r>
            <a:r>
              <a:rPr lang="en-US" altLang="en-US">
                <a:latin typeface="Arial" charset="0"/>
                <a:cs typeface="Arial" charset="0"/>
              </a:rPr>
              <a:t> is the volatility.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   The discrete time equivalent is</a:t>
            </a:r>
          </a:p>
          <a:p>
            <a:pPr eaLnBrk="1" hangingPunct="1">
              <a:buFont typeface="Wingdings" pitchFamily="2" charset="2"/>
              <a:buNone/>
            </a:pPr>
            <a:endParaRPr lang="en-CA" altLang="en-US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CA" altLang="en-US">
                <a:latin typeface="Arial" charset="0"/>
                <a:cs typeface="Arial" charset="0"/>
              </a:rPr>
              <a:t>	The process is known as geometric Brownian motion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</p:txBody>
      </p:sp>
      <p:graphicFrame>
        <p:nvGraphicFramePr>
          <p:cNvPr id="23558" name="Object 1024"/>
          <p:cNvGraphicFramePr>
            <a:graphicFrameLocks/>
          </p:cNvGraphicFramePr>
          <p:nvPr/>
        </p:nvGraphicFramePr>
        <p:xfrm>
          <a:off x="2362200" y="2362200"/>
          <a:ext cx="44719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400" imgH="203200" progId="Equation.3">
                  <p:embed/>
                </p:oleObj>
              </mc:Choice>
              <mc:Fallback>
                <p:oleObj name="Equation" r:id="rId5" imgW="1422400" imgH="2032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62200"/>
                        <a:ext cx="44719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1025"/>
          <p:cNvGraphicFramePr>
            <a:graphicFrameLocks/>
          </p:cNvGraphicFramePr>
          <p:nvPr/>
        </p:nvGraphicFramePr>
        <p:xfrm>
          <a:off x="2895600" y="4343400"/>
          <a:ext cx="40100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800" imgH="241300" progId="Equation.3">
                  <p:embed/>
                </p:oleObj>
              </mc:Choice>
              <mc:Fallback>
                <p:oleObj name="Equation" r:id="rId7" imgW="1701800" imgH="241300" progId="Equation.3">
                  <p:embed/>
                  <p:pic>
                    <p:nvPicPr>
                      <p:cNvPr id="0" name="Object 102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343400"/>
                        <a:ext cx="40100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/>
              <a:t>Chapter 15</a:t>
            </a:r>
            <a:br>
              <a:rPr lang="en-CA" dirty="0"/>
            </a:br>
            <a:r>
              <a:rPr lang="en-CA" dirty="0"/>
              <a:t>The Black-Scholes-Merton Model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Options, Futures, and Other Derivatives,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11th Edition, Copyright © John C. Hull 2021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CC60EFF-DA27-4455-9581-0AD4BE8A263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7162800" cy="1295400"/>
          </a:xfrm>
        </p:spPr>
        <p:txBody>
          <a:bodyPr/>
          <a:lstStyle/>
          <a:p>
            <a:pPr eaLnBrk="1" hangingPunct="1"/>
            <a:r>
              <a:rPr lang="en-US" altLang="en-US"/>
              <a:t>The Stock Price Assumption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7394575" cy="4411663"/>
          </a:xfrm>
        </p:spPr>
        <p:txBody>
          <a:bodyPr/>
          <a:lstStyle/>
          <a:p>
            <a:pPr eaLnBrk="1" hangingPunct="1"/>
            <a:r>
              <a:rPr lang="en-US" altLang="en-US" sz="2800">
                <a:latin typeface="Arial" charset="0"/>
                <a:cs typeface="Arial" charset="0"/>
              </a:rPr>
              <a:t>Consider a stock whose price is </a:t>
            </a:r>
            <a:r>
              <a:rPr lang="en-US" altLang="en-US" sz="2800" i="1">
                <a:latin typeface="Times New Roman" pitchFamily="18" charset="0"/>
                <a:cs typeface="Arial" charset="0"/>
              </a:rPr>
              <a:t>S</a:t>
            </a:r>
          </a:p>
          <a:p>
            <a:pPr eaLnBrk="1" hangingPunct="1"/>
            <a:r>
              <a:rPr lang="en-US" altLang="en-US" sz="2800">
                <a:latin typeface="Arial" charset="0"/>
                <a:cs typeface="Arial" charset="0"/>
              </a:rPr>
              <a:t>In a short period of time of length </a:t>
            </a:r>
            <a:r>
              <a:rPr lang="en-US" altLang="en-US" sz="2800">
                <a:latin typeface="Symbol" pitchFamily="18" charset="2"/>
                <a:cs typeface="Arial" charset="0"/>
              </a:rPr>
              <a:t>D</a:t>
            </a:r>
            <a:r>
              <a:rPr lang="en-US" altLang="en-US" sz="2800" i="1">
                <a:latin typeface="Arial" charset="0"/>
                <a:cs typeface="Arial" charset="0"/>
              </a:rPr>
              <a:t>t,</a:t>
            </a:r>
            <a:r>
              <a:rPr lang="en-US" altLang="en-US" sz="2800">
                <a:latin typeface="Arial" charset="0"/>
                <a:cs typeface="Arial" charset="0"/>
              </a:rPr>
              <a:t> the return on the stock is normally distributed:</a:t>
            </a:r>
          </a:p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	</a:t>
            </a:r>
            <a:r>
              <a:rPr lang="en-US" altLang="en-US" sz="2800">
                <a:latin typeface="Arial" charset="0"/>
                <a:cs typeface="Arial" charset="0"/>
              </a:rPr>
              <a:t>where </a:t>
            </a:r>
            <a:r>
              <a:rPr lang="en-US" altLang="en-US" sz="2800">
                <a:latin typeface="Symbol" pitchFamily="18" charset="2"/>
                <a:cs typeface="Arial" charset="0"/>
              </a:rPr>
              <a:t>m</a:t>
            </a:r>
            <a:r>
              <a:rPr lang="en-US" altLang="en-US" sz="2800">
                <a:latin typeface="Arial" charset="0"/>
                <a:cs typeface="Arial" charset="0"/>
              </a:rPr>
              <a:t> is expected return and </a:t>
            </a:r>
            <a:r>
              <a:rPr lang="en-US" altLang="en-US" sz="2800">
                <a:latin typeface="Symbol" pitchFamily="18" charset="2"/>
                <a:cs typeface="Arial" charset="0"/>
              </a:rPr>
              <a:t>s</a:t>
            </a:r>
            <a:r>
              <a:rPr lang="en-US" altLang="en-US" sz="2800">
                <a:latin typeface="Arial" charset="0"/>
                <a:cs typeface="Arial" charset="0"/>
              </a:rPr>
              <a:t> is volatility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</p:txBody>
      </p:sp>
      <p:graphicFrame>
        <p:nvGraphicFramePr>
          <p:cNvPr id="8196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833688" y="3286125"/>
          <a:ext cx="26241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7358" imgH="352533" progId="Equation.3">
                  <p:embed/>
                </p:oleObj>
              </mc:Choice>
              <mc:Fallback>
                <p:oleObj name="Equation" r:id="rId3" imgW="1057358" imgH="352533" progId="Equation.3">
                  <p:embed/>
                  <p:pic>
                    <p:nvPicPr>
                      <p:cNvPr id="819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3286125"/>
                        <a:ext cx="262413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3600" y="6248400"/>
            <a:ext cx="49926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5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6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81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5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6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D3D7C3-8AB0-4867-8548-0C8441B292E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39063" cy="1295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The Lognormal Property</a:t>
            </a:r>
            <a:br>
              <a:rPr lang="en-US" altLang="en-US" dirty="0"/>
            </a:br>
            <a:r>
              <a:rPr lang="en-US" altLang="en-US" sz="2200" dirty="0"/>
              <a:t>(Equations 15.2 and 15.3)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2133600"/>
            <a:ext cx="7215188" cy="34321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Arial" charset="0"/>
                <a:cs typeface="Arial" charset="0"/>
              </a:rPr>
              <a:t>It follows from this assumption that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Arial" charset="0"/>
                <a:cs typeface="Arial" charset="0"/>
              </a:rPr>
              <a:t>Since the logarithm of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>
                <a:latin typeface="Arial" charset="0"/>
                <a:cs typeface="Arial" charset="0"/>
              </a:rPr>
              <a:t> </a:t>
            </a:r>
            <a:r>
              <a:rPr lang="en-US" altLang="en-US">
                <a:latin typeface="Arial" charset="0"/>
                <a:cs typeface="Arial" charset="0"/>
              </a:rPr>
              <a:t> is normal,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Arial" charset="0"/>
                <a:cs typeface="Arial" charset="0"/>
              </a:rPr>
              <a:t>  is lognormally distributed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DD2FA14-C637-410F-A1C5-CD955223451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9222" name="Object 4"/>
          <p:cNvGraphicFramePr>
            <a:graphicFrameLocks/>
          </p:cNvGraphicFramePr>
          <p:nvPr/>
        </p:nvGraphicFramePr>
        <p:xfrm>
          <a:off x="3000375" y="2800350"/>
          <a:ext cx="4233863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57516" imgH="1076225" progId="Equation.3">
                  <p:embed/>
                </p:oleObj>
              </mc:Choice>
              <mc:Fallback>
                <p:oleObj name="Equation" r:id="rId5" imgW="2257516" imgH="1076225" progId="Equation.3">
                  <p:embed/>
                  <p:pic>
                    <p:nvPicPr>
                      <p:cNvPr id="9222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800350"/>
                        <a:ext cx="4233863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The Lognormal Distribution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024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3F876FE-9708-49F1-921C-ACC5AD77E77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10246" name="Object 4"/>
          <p:cNvGraphicFramePr>
            <a:graphicFrameLocks/>
          </p:cNvGraphicFramePr>
          <p:nvPr/>
        </p:nvGraphicFramePr>
        <p:xfrm>
          <a:off x="2070100" y="4800600"/>
          <a:ext cx="5100638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16200" imgH="508000" progId="Equation.2">
                  <p:embed/>
                </p:oleObj>
              </mc:Choice>
              <mc:Fallback>
                <p:oleObj name="Equation" r:id="rId5" imgW="2616200" imgH="508000" progId="Equation.2">
                  <p:embed/>
                  <p:pic>
                    <p:nvPicPr>
                      <p:cNvPr id="10246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4800600"/>
                        <a:ext cx="5100638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5"/>
          <p:cNvSpPr>
            <a:spLocks noChangeArrowheads="1"/>
          </p:cNvSpPr>
          <p:nvPr/>
        </p:nvSpPr>
        <p:spPr bwMode="auto">
          <a:xfrm>
            <a:off x="1371600" y="25146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CA" altLang="en-US">
              <a:latin typeface="Gloucester MT Extra Condensed" pitchFamily="18" charset="0"/>
            </a:endParaRPr>
          </a:p>
        </p:txBody>
      </p:sp>
      <p:graphicFrame>
        <p:nvGraphicFramePr>
          <p:cNvPr id="10248" name="Object 6"/>
          <p:cNvGraphicFramePr>
            <a:graphicFrameLocks/>
          </p:cNvGraphicFramePr>
          <p:nvPr/>
        </p:nvGraphicFramePr>
        <p:xfrm>
          <a:off x="1519238" y="1390650"/>
          <a:ext cx="6086475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6096000" imgH="4067175" progId="MSGraph.Chart.5">
                  <p:embed followColorScheme="full"/>
                </p:oleObj>
              </mc:Choice>
              <mc:Fallback>
                <p:oleObj name="Chart" r:id="rId7" imgW="6096000" imgH="4067175" progId="MSGraph.Chart.5">
                  <p:embed followColorScheme="full"/>
                  <p:pic>
                    <p:nvPicPr>
                      <p:cNvPr id="1024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1390650"/>
                        <a:ext cx="6086475" cy="405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7"/>
          <p:cNvGraphicFramePr>
            <a:graphicFrameLocks/>
          </p:cNvGraphicFramePr>
          <p:nvPr/>
        </p:nvGraphicFramePr>
        <p:xfrm>
          <a:off x="1577975" y="2713038"/>
          <a:ext cx="360680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3810000" imgH="1409700" progId="Excel.Chart.8">
                  <p:embed followColorScheme="full"/>
                </p:oleObj>
              </mc:Choice>
              <mc:Fallback>
                <p:oleObj name="Chart" r:id="rId9" imgW="3810000" imgH="1409700" progId="Excel.Chart.8">
                  <p:embed followColorScheme="full"/>
                  <p:pic>
                    <p:nvPicPr>
                      <p:cNvPr id="10249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2713038"/>
                        <a:ext cx="360680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8"/>
          <p:cNvGraphicFramePr>
            <a:graphicFrameLocks/>
          </p:cNvGraphicFramePr>
          <p:nvPr/>
        </p:nvGraphicFramePr>
        <p:xfrm>
          <a:off x="1903413" y="1293813"/>
          <a:ext cx="7240587" cy="411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1" imgW="8677275" imgH="5934075" progId="Excel.Chart.8">
                  <p:embed followColorScheme="full"/>
                </p:oleObj>
              </mc:Choice>
              <mc:Fallback>
                <p:oleObj name="Chart" r:id="rId11" imgW="8677275" imgH="5934075" progId="Excel.Chart.8">
                  <p:embed followColorScheme="full"/>
                  <p:pic>
                    <p:nvPicPr>
                      <p:cNvPr id="1025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1293813"/>
                        <a:ext cx="7240587" cy="411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145337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Continuously Compounded Return</a:t>
            </a:r>
            <a:r>
              <a:rPr lang="en-US" dirty="0">
                <a:latin typeface="Symbol" pitchFamily="18" charset="2"/>
              </a:rPr>
              <a:t> </a:t>
            </a:r>
            <a:r>
              <a:rPr lang="en-US" sz="2200" dirty="0">
                <a:latin typeface="Symbol" pitchFamily="18" charset="2"/>
              </a:rPr>
              <a:t>(</a:t>
            </a:r>
            <a:r>
              <a:rPr lang="en-US" sz="2000" dirty="0"/>
              <a:t>Equations 15.6 and 15.7)</a:t>
            </a:r>
            <a:r>
              <a:rPr lang="en-US" dirty="0">
                <a:latin typeface="Symbol" pitchFamily="18" charset="2"/>
              </a:rPr>
              <a:t> </a:t>
            </a:r>
          </a:p>
        </p:txBody>
      </p:sp>
      <p:sp>
        <p:nvSpPr>
          <p:cNvPr id="11267" name="Content Placeholder 6"/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If </a:t>
            </a:r>
            <a:r>
              <a:rPr lang="en-CA" alt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altLang="en-US" dirty="0">
                <a:latin typeface="Arial" charset="0"/>
                <a:cs typeface="Arial" charset="0"/>
              </a:rPr>
              <a:t> is the realized continuously compounded return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F247770-F55E-47F0-A6D9-40FC8366D0A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11270" name="Object 1024"/>
          <p:cNvGraphicFramePr>
            <a:graphicFrameLocks/>
          </p:cNvGraphicFramePr>
          <p:nvPr/>
        </p:nvGraphicFramePr>
        <p:xfrm>
          <a:off x="1998663" y="3449638"/>
          <a:ext cx="4643437" cy="235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4947" imgH="1009552" progId="Equation.3">
                  <p:embed/>
                </p:oleObj>
              </mc:Choice>
              <mc:Fallback>
                <p:oleObj name="Equation" r:id="rId5" imgW="1704947" imgH="1009552" progId="Equation.3">
                  <p:embed/>
                  <p:pic>
                    <p:nvPicPr>
                      <p:cNvPr id="1127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63" y="3449638"/>
                        <a:ext cx="4643437" cy="235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7543800" cy="1295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The Expected Return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286000"/>
            <a:ext cx="7745413" cy="384492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The expected value of the stock price is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400" baseline="30000">
                <a:latin typeface="Symbol" pitchFamily="18" charset="2"/>
                <a:cs typeface="Arial" charset="0"/>
              </a:rPr>
              <a:t>m</a:t>
            </a:r>
            <a:r>
              <a:rPr lang="en-US" altLang="en-US" sz="2400" i="1" baseline="30000">
                <a:latin typeface="Times New Roman" pitchFamily="18" charset="0"/>
                <a:cs typeface="Arial" charset="0"/>
              </a:rPr>
              <a:t>T</a:t>
            </a:r>
            <a:endParaRPr lang="en-US" altLang="en-US" sz="2400" baseline="30000">
              <a:latin typeface="Times New Roman" pitchFamily="18" charset="0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The expected return on the stock is </a:t>
            </a: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r>
              <a:rPr lang="en-US" altLang="en-US" sz="2400" i="1">
                <a:latin typeface="Symbol" pitchFamily="18" charset="2"/>
                <a:cs typeface="Arial" charset="0"/>
              </a:rPr>
              <a:t> m</a:t>
            </a:r>
            <a:r>
              <a:rPr lang="en-US" altLang="en-US" sz="2400">
                <a:latin typeface="Symbol" pitchFamily="18" charset="2"/>
                <a:cs typeface="Arial" charset="0"/>
              </a:rPr>
              <a:t> </a:t>
            </a:r>
            <a:r>
              <a:rPr lang="en-US" altLang="en-US" sz="2400">
                <a:latin typeface="Times New Roman" pitchFamily="18" charset="0"/>
                <a:cs typeface="Arial" charset="0"/>
              </a:rPr>
              <a:t>– </a:t>
            </a:r>
            <a:r>
              <a:rPr lang="en-US" altLang="en-US" sz="2400" i="1">
                <a:latin typeface="Symbol" pitchFamily="18" charset="2"/>
                <a:cs typeface="Arial" charset="0"/>
              </a:rPr>
              <a:t>s </a:t>
            </a:r>
            <a:r>
              <a:rPr lang="en-US" altLang="en-US" sz="2400" baseline="30000">
                <a:latin typeface="Symbol" pitchFamily="18" charset="2"/>
                <a:cs typeface="Arial" charset="0"/>
              </a:rPr>
              <a:t>2</a:t>
            </a:r>
            <a:r>
              <a:rPr lang="en-US" altLang="en-US" sz="2400">
                <a:latin typeface="Symbol" pitchFamily="18" charset="2"/>
                <a:cs typeface="Arial" charset="0"/>
              </a:rPr>
              <a:t>/2 </a:t>
            </a:r>
            <a:r>
              <a:rPr lang="en-US" altLang="en-US" sz="2400">
                <a:latin typeface="Arial" charset="0"/>
                <a:cs typeface="Arial" charset="0"/>
              </a:rPr>
              <a:t>not </a:t>
            </a:r>
            <a:r>
              <a:rPr lang="en-US" altLang="en-US" sz="2400" i="1">
                <a:latin typeface="Symbol" pitchFamily="18" charset="2"/>
                <a:cs typeface="Arial" charset="0"/>
              </a:rPr>
              <a:t>m</a:t>
            </a: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endParaRPr lang="en-US" altLang="en-US" sz="2400">
              <a:latin typeface="Symbol" pitchFamily="18" charset="2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r>
              <a:rPr lang="en-US" altLang="en-US" sz="2400">
                <a:latin typeface="Arial" charset="0"/>
                <a:cs typeface="Arial" charset="0"/>
              </a:rPr>
              <a:t> This is because  </a:t>
            </a: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endParaRPr lang="en-US" altLang="en-US" sz="240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endParaRPr lang="en-US" altLang="en-US" sz="240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r>
              <a:rPr lang="en-US" altLang="en-US" sz="2400">
                <a:latin typeface="Arial" charset="0"/>
                <a:cs typeface="Arial" charset="0"/>
              </a:rPr>
              <a:t>  are not the same</a:t>
            </a: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endParaRPr lang="en-US" altLang="en-US" sz="240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en-US" sz="2400">
              <a:latin typeface="Symbol" pitchFamily="18" charset="2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latin typeface="Arial" charset="0"/>
                <a:cs typeface="Arial" charset="0"/>
              </a:rPr>
              <a:t>	</a:t>
            </a:r>
          </a:p>
        </p:txBody>
      </p:sp>
      <p:graphicFrame>
        <p:nvGraphicFramePr>
          <p:cNvPr id="12292" name="Object 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33600" y="4267200"/>
          <a:ext cx="48577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24100" imgH="228600" progId="Equation.3">
                  <p:embed/>
                </p:oleObj>
              </mc:Choice>
              <mc:Fallback>
                <p:oleObj name="Equation" r:id="rId3" imgW="2324100" imgH="228600" progId="Equation.3">
                  <p:embed/>
                  <p:pic>
                    <p:nvPicPr>
                      <p:cNvPr id="12292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267200"/>
                        <a:ext cx="48577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5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6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229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5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6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54F5330-57ED-4D64-BF1D-BB1C585E17D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Symbol" pitchFamily="18" charset="2"/>
              </a:rPr>
              <a:t>m </a:t>
            </a:r>
            <a:r>
              <a:rPr lang="en-US" altLang="en-US"/>
              <a:t>and </a:t>
            </a:r>
            <a:r>
              <a:rPr lang="en-US" altLang="en-US">
                <a:latin typeface="Symbol" pitchFamily="18" charset="2"/>
              </a:rPr>
              <a:t>m </a:t>
            </a:r>
            <a:r>
              <a:rPr lang="en-US" altLang="en-US">
                <a:cs typeface="Times New Roman" pitchFamily="18" charset="0"/>
              </a:rPr>
              <a:t>−</a:t>
            </a:r>
            <a:r>
              <a:rPr lang="en-US" altLang="en-US">
                <a:latin typeface="Symbol" pitchFamily="18" charset="2"/>
                <a:cs typeface="Times New Roman" pitchFamily="18" charset="0"/>
              </a:rPr>
              <a:t>s </a:t>
            </a:r>
            <a:r>
              <a:rPr lang="en-US" altLang="en-US" baseline="30000">
                <a:latin typeface="Symbol" pitchFamily="18" charset="2"/>
                <a:cs typeface="Times New Roman" pitchFamily="18" charset="0"/>
              </a:rPr>
              <a:t>2</a:t>
            </a:r>
            <a:r>
              <a:rPr lang="en-US" altLang="en-US">
                <a:latin typeface="Symbol" pitchFamily="18" charset="2"/>
                <a:cs typeface="Times New Roman" pitchFamily="18" charset="0"/>
              </a:rPr>
              <a:t>/2</a:t>
            </a:r>
            <a:endParaRPr lang="en-US" altLang="en-US">
              <a:cs typeface="Times New Roman" pitchFamily="18" charset="0"/>
            </a:endParaRPr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45F610B-989B-43F1-83E3-F29E152B3AF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i="1" dirty="0">
                <a:latin typeface="Symbol" pitchFamily="18" charset="2"/>
                <a:cs typeface="Arial" charset="0"/>
              </a:rPr>
              <a:t>m</a:t>
            </a:r>
            <a:r>
              <a:rPr lang="en-US" dirty="0">
                <a:latin typeface="Arial" charset="0"/>
                <a:cs typeface="Arial" charset="0"/>
              </a:rPr>
              <a:t> is the expected return in a very short time, </a:t>
            </a:r>
            <a:r>
              <a:rPr lang="en-US" dirty="0" err="1">
                <a:latin typeface="Symbol" pitchFamily="18" charset="2"/>
                <a:cs typeface="Arial" charset="0"/>
              </a:rPr>
              <a:t>D</a:t>
            </a:r>
            <a:r>
              <a:rPr lang="en-US" i="1" dirty="0" err="1">
                <a:latin typeface="+mj-lt"/>
                <a:cs typeface="Arial" charset="0"/>
              </a:rPr>
              <a:t>t</a:t>
            </a:r>
            <a:r>
              <a:rPr lang="en-US" i="1" dirty="0">
                <a:latin typeface="+mj-lt"/>
                <a:cs typeface="Arial" charset="0"/>
              </a:rPr>
              <a:t>,</a:t>
            </a:r>
            <a:r>
              <a:rPr lang="en-US" dirty="0">
                <a:latin typeface="Arial" charset="0"/>
                <a:cs typeface="Arial" charset="0"/>
              </a:rPr>
              <a:t> expressed with a compounding frequency of </a:t>
            </a:r>
            <a:r>
              <a:rPr lang="en-US" dirty="0" err="1">
                <a:latin typeface="Symbol" pitchFamily="18" charset="2"/>
                <a:cs typeface="Arial" charset="0"/>
              </a:rPr>
              <a:t>D</a:t>
            </a:r>
            <a:r>
              <a:rPr lang="en-US" i="1" dirty="0" err="1">
                <a:latin typeface="+mj-lt"/>
                <a:cs typeface="Arial" charset="0"/>
              </a:rPr>
              <a:t>t</a:t>
            </a:r>
            <a:endParaRPr lang="en-US" i="1" dirty="0">
              <a:latin typeface="+mj-lt"/>
              <a:cs typeface="Arial" charset="0"/>
            </a:endParaRPr>
          </a:p>
          <a:p>
            <a:pPr eaLnBrk="1" hangingPunct="1">
              <a:defRPr/>
            </a:pPr>
            <a:r>
              <a:rPr lang="en-CA" i="1" dirty="0">
                <a:latin typeface="Symbol" pitchFamily="18" charset="2"/>
                <a:cs typeface="Arial" charset="0"/>
              </a:rPr>
              <a:t>m </a:t>
            </a:r>
            <a:r>
              <a:rPr lang="en-CA" dirty="0">
                <a:latin typeface="Arial" charset="0"/>
                <a:cs typeface="Arial" charset="0"/>
              </a:rPr>
              <a:t>−</a:t>
            </a:r>
            <a:r>
              <a:rPr lang="en-CA" dirty="0">
                <a:latin typeface="Symbol" pitchFamily="18" charset="2"/>
                <a:cs typeface="Arial" charset="0"/>
              </a:rPr>
              <a:t>s</a:t>
            </a:r>
            <a:r>
              <a:rPr lang="en-CA" i="1" baseline="30000" dirty="0">
                <a:latin typeface="Symbol" pitchFamily="18" charset="2"/>
                <a:cs typeface="Arial" charset="0"/>
              </a:rPr>
              <a:t>2</a:t>
            </a:r>
            <a:r>
              <a:rPr lang="en-CA" dirty="0">
                <a:latin typeface="+mj-lt"/>
                <a:cs typeface="Arial" charset="0"/>
              </a:rPr>
              <a:t>/2</a:t>
            </a:r>
            <a:r>
              <a:rPr lang="en-CA" dirty="0">
                <a:latin typeface="Arial" charset="0"/>
                <a:cs typeface="Arial" charset="0"/>
              </a:rPr>
              <a:t> is the expected return in a long period of time </a:t>
            </a:r>
            <a:r>
              <a:rPr lang="en-US" dirty="0">
                <a:latin typeface="Arial" charset="0"/>
                <a:cs typeface="Arial" charset="0"/>
              </a:rPr>
              <a:t>expressed with continuous compounding (or, to a good approximation, with a compounding frequency of </a:t>
            </a:r>
            <a:r>
              <a:rPr lang="en-US" dirty="0" err="1">
                <a:latin typeface="Symbol" pitchFamily="18" charset="2"/>
                <a:cs typeface="Arial" charset="0"/>
              </a:rPr>
              <a:t>D</a:t>
            </a:r>
            <a:r>
              <a:rPr lang="en-US" i="1" dirty="0" err="1">
                <a:latin typeface="+mj-lt"/>
                <a:cs typeface="Arial" charset="0"/>
              </a:rPr>
              <a:t>t</a:t>
            </a:r>
            <a:r>
              <a:rPr lang="en-US" dirty="0">
                <a:latin typeface="+mj-lt"/>
                <a:cs typeface="Arial" charset="0"/>
              </a:rPr>
              <a:t>)</a:t>
            </a:r>
          </a:p>
          <a:p>
            <a:pPr eaLnBrk="1" hangingPunct="1"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990600"/>
            <a:ext cx="7696200" cy="609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The Volatility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828800"/>
            <a:ext cx="7086600" cy="3795713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The volatility is the standard deviation of the continuously compounded rate of return in 1 year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The standard deviation of the return in a short time period  time 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 i="1">
                <a:latin typeface="Arial" charset="0"/>
                <a:cs typeface="Arial" charset="0"/>
              </a:rPr>
              <a:t>t</a:t>
            </a:r>
            <a:r>
              <a:rPr lang="en-US" altLang="en-US">
                <a:latin typeface="Arial" charset="0"/>
                <a:cs typeface="Arial" charset="0"/>
              </a:rPr>
              <a:t>  is approximately 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If a stock price is $50 and its volatility is 25% per year what is the standard deviation of the price change in one day?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D127AAB-CDE8-4561-A569-2BF9DB87D2F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15366" name="Object 4"/>
          <p:cNvGraphicFramePr>
            <a:graphicFrameLocks noChangeAspect="1"/>
          </p:cNvGraphicFramePr>
          <p:nvPr/>
        </p:nvGraphicFramePr>
        <p:xfrm>
          <a:off x="4114800" y="4038600"/>
          <a:ext cx="8858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140" imgH="215806" progId="Equation.3">
                  <p:embed/>
                </p:oleObj>
              </mc:Choice>
              <mc:Fallback>
                <p:oleObj name="Equation" r:id="rId5" imgW="368140" imgH="215806" progId="Equation.3">
                  <p:embed/>
                  <p:pic>
                    <p:nvPicPr>
                      <p:cNvPr id="1536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038600"/>
                        <a:ext cx="8858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066800"/>
            <a:ext cx="6629400" cy="474663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600" dirty="0"/>
              <a:t>Estimating Volatility from Historical  Data</a:t>
            </a:r>
            <a:endParaRPr lang="en-US" sz="220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057400"/>
            <a:ext cx="6877050" cy="3427413"/>
          </a:xfrm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400">
                <a:latin typeface="Arial" charset="0"/>
                <a:cs typeface="Arial" charset="0"/>
              </a:rPr>
              <a:t>Take observations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, S</a:t>
            </a:r>
            <a:r>
              <a:rPr lang="en-US" altLang="en-US" sz="2400" baseline="-25000">
                <a:latin typeface="Times New Roman" pitchFamily="18" charset="0"/>
                <a:cs typeface="Arial" charset="0"/>
              </a:rPr>
              <a:t>1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, . . . , S</a:t>
            </a:r>
            <a:r>
              <a:rPr lang="en-US" altLang="en-US" sz="2400" i="1" baseline="-2500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>
                <a:latin typeface="Arial" charset="0"/>
                <a:cs typeface="Arial" charset="0"/>
              </a:rPr>
              <a:t>  at intervals of </a:t>
            </a:r>
            <a:r>
              <a:rPr lang="en-US" altLang="en-US" sz="2400">
                <a:latin typeface="Symbol" pitchFamily="18" charset="2"/>
                <a:cs typeface="Arial" charset="0"/>
              </a:rPr>
              <a:t>t</a:t>
            </a:r>
            <a:r>
              <a:rPr lang="en-US" altLang="en-US" sz="2400">
                <a:latin typeface="Arial" charset="0"/>
                <a:cs typeface="Arial" charset="0"/>
              </a:rPr>
              <a:t> years (e.g. for weekly data </a:t>
            </a:r>
            <a:r>
              <a:rPr lang="en-US" altLang="en-US" sz="2400">
                <a:latin typeface="Symbol" pitchFamily="18" charset="2"/>
                <a:cs typeface="Arial" charset="0"/>
              </a:rPr>
              <a:t>t</a:t>
            </a:r>
            <a:r>
              <a:rPr lang="en-US" altLang="en-US" sz="2400">
                <a:latin typeface="Arial" charset="0"/>
                <a:cs typeface="Arial" charset="0"/>
              </a:rPr>
              <a:t> = 1/52)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400">
                <a:latin typeface="Arial" charset="0"/>
                <a:cs typeface="Arial" charset="0"/>
              </a:rPr>
              <a:t>Calculate the continuously compounded return in each interval as: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400">
              <a:latin typeface="Arial" charset="0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3"/>
            </a:pPr>
            <a:endParaRPr lang="en-US" altLang="en-US" sz="2400">
              <a:latin typeface="Arial" charset="0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3"/>
            </a:pPr>
            <a:r>
              <a:rPr lang="en-US" altLang="en-US" sz="2400">
                <a:latin typeface="Arial" charset="0"/>
                <a:cs typeface="Arial" charset="0"/>
              </a:rPr>
              <a:t>Calculate the standard deviation,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>
                <a:latin typeface="Arial" charset="0"/>
                <a:cs typeface="Arial" charset="0"/>
              </a:rPr>
              <a:t> , of the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u</a:t>
            </a:r>
            <a:r>
              <a:rPr lang="en-US" altLang="en-US" sz="2400" i="1" baseline="-2500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>
                <a:latin typeface="Arial" charset="0"/>
                <a:cs typeface="Arial" charset="0"/>
              </a:rPr>
              <a:t>´s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3"/>
            </a:pPr>
            <a:r>
              <a:rPr lang="en-US" altLang="en-US" sz="2400">
                <a:latin typeface="Arial" charset="0"/>
                <a:cs typeface="Arial" charset="0"/>
              </a:rPr>
              <a:t>The historical volatility estimate is: 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53108F1-96C0-4A41-8953-AE3A372A652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16390" name="Object 4"/>
          <p:cNvGraphicFramePr>
            <a:graphicFrameLocks/>
          </p:cNvGraphicFramePr>
          <p:nvPr/>
        </p:nvGraphicFramePr>
        <p:xfrm>
          <a:off x="3733800" y="3581400"/>
          <a:ext cx="1143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8718" imgH="466715" progId="Equation.2">
                  <p:embed/>
                </p:oleObj>
              </mc:Choice>
              <mc:Fallback>
                <p:oleObj name="Equation" r:id="rId5" imgW="828718" imgH="466715" progId="Equation.2">
                  <p:embed/>
                  <p:pic>
                    <p:nvPicPr>
                      <p:cNvPr id="1639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581400"/>
                        <a:ext cx="1143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5"/>
          <p:cNvGraphicFramePr>
            <a:graphicFrameLocks/>
          </p:cNvGraphicFramePr>
          <p:nvPr/>
        </p:nvGraphicFramePr>
        <p:xfrm>
          <a:off x="6734175" y="4889500"/>
          <a:ext cx="7032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8114" imgH="390594" progId="Equation.3">
                  <p:embed/>
                </p:oleObj>
              </mc:Choice>
              <mc:Fallback>
                <p:oleObj name="Equation" r:id="rId7" imgW="438114" imgH="390594" progId="Equation.3">
                  <p:embed/>
                  <p:pic>
                    <p:nvPicPr>
                      <p:cNvPr id="16391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175" y="4889500"/>
                        <a:ext cx="70326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Nature of Volatility </a:t>
            </a:r>
            <a:r>
              <a:rPr lang="en-US" altLang="en-US" sz="2400" dirty="0"/>
              <a:t>(Business Snapshot 15.2)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Volatility is usually much greater when the market is open (i.e. the asset is trading) than when it is closed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For this reason time is usually measured in “trading days” not calendar days when options are valued</a:t>
            </a:r>
          </a:p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It is assumed that there are 252 trading days in one year for most assets</a:t>
            </a: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5A2B99E-77DE-4ACB-91CC-05FFB64B742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The Concepts  Underlying Black-</a:t>
            </a:r>
            <a:r>
              <a:rPr lang="en-US" dirty="0" err="1"/>
              <a:t>Scholes</a:t>
            </a:r>
            <a:r>
              <a:rPr lang="en-US" dirty="0"/>
              <a:t>-Merton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590800"/>
            <a:ext cx="7772400" cy="3200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The option price and the stock price depend on the same underlying source of uncertainty</a:t>
            </a: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We can form a portfolio consisting of the stock and the option which eliminates this source of uncertainty</a:t>
            </a: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The portfolio is instantaneously riskless and must instantaneously earn the risk-free rate</a:t>
            </a: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This leads to the Black-Scholes-Merton differential equation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D5521CF-5676-4BBE-AF5F-8E599B1A5B8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2" y="930275"/>
            <a:ext cx="8897938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The Black-Scholes-Merton Formulas for Options </a:t>
            </a:r>
            <a:r>
              <a:rPr lang="en-US" altLang="en-US" sz="2200" dirty="0"/>
              <a:t>(equations 15.20 and 15.21))</a:t>
            </a:r>
            <a:endParaRPr lang="en-US" altLang="en-US" dirty="0"/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D613FEC-8772-4AED-9603-7921196450F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25605" name="Object 3"/>
          <p:cNvGraphicFramePr>
            <a:graphicFrameLocks/>
          </p:cNvGraphicFramePr>
          <p:nvPr/>
        </p:nvGraphicFramePr>
        <p:xfrm>
          <a:off x="1447800" y="2362200"/>
          <a:ext cx="7278688" cy="364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81227" imgH="1476267" progId="Equation.3">
                  <p:embed/>
                </p:oleObj>
              </mc:Choice>
              <mc:Fallback>
                <p:oleObj name="Equation" r:id="rId5" imgW="2981227" imgH="1476267" progId="Equation.3">
                  <p:embed/>
                  <p:pic>
                    <p:nvPicPr>
                      <p:cNvPr id="2560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362200"/>
                        <a:ext cx="7278688" cy="364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7461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The N(x) Function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510088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i="1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>
                <a:latin typeface="Arial" charset="0"/>
                <a:cs typeface="Arial" charset="0"/>
              </a:rPr>
              <a:t>(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>
                <a:latin typeface="Arial" charset="0"/>
                <a:cs typeface="Arial" charset="0"/>
              </a:rPr>
              <a:t>) is the probability that a normally distributed variable with a mean of zero and a standard deviation of 1 is less than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x</a:t>
            </a:r>
            <a:endParaRPr lang="en-US" altLang="en-US" sz="2400" i="1">
              <a:latin typeface="Arial" charset="0"/>
              <a:cs typeface="Arial" charset="0"/>
            </a:endParaRPr>
          </a:p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See tables at the end of the book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88EC08-B2B4-4A77-97A0-BDA424164BE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latin typeface="Arial" charset="0"/>
            </a:endParaRPr>
          </a:p>
        </p:txBody>
      </p:sp>
      <p:pic>
        <p:nvPicPr>
          <p:cNvPr id="26630" name="Picture 8" descr="OFOD7_13-03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0"/>
            <a:ext cx="4792663" cy="232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1066800"/>
            <a:ext cx="7772400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3600"/>
              <a:t>Properties of Black-Scholes Formula</a:t>
            </a:r>
            <a:br>
              <a:rPr lang="en-US" altLang="en-US" sz="3600"/>
            </a:br>
            <a:endParaRPr lang="en-US" altLang="en-US" sz="36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As </a:t>
            </a:r>
            <a:r>
              <a:rPr lang="en-US" i="1" dirty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dirty="0">
                <a:latin typeface="Arial" charset="0"/>
                <a:cs typeface="Arial" charset="0"/>
              </a:rPr>
              <a:t> becomes very large </a:t>
            </a:r>
            <a:r>
              <a:rPr lang="en-US" i="1" dirty="0">
                <a:latin typeface="Times New Roman" pitchFamily="18" charset="0"/>
                <a:cs typeface="Arial" charset="0"/>
              </a:rPr>
              <a:t>c</a:t>
            </a:r>
            <a:r>
              <a:rPr lang="en-US" i="1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tends to </a:t>
            </a:r>
            <a:r>
              <a:rPr lang="en-US" i="1" dirty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i="1" dirty="0">
                <a:latin typeface="Times New Roman" pitchFamily="18" charset="0"/>
                <a:cs typeface="Arial" charset="0"/>
              </a:rPr>
              <a:t> </a:t>
            </a:r>
            <a:r>
              <a:rPr lang="en-US" i="1" dirty="0">
                <a:latin typeface="Arial" charset="0"/>
                <a:cs typeface="Arial" charset="0"/>
              </a:rPr>
              <a:t>– </a:t>
            </a:r>
            <a:r>
              <a:rPr lang="en-US" i="1" dirty="0" err="1">
                <a:latin typeface="Times New Roman" pitchFamily="18" charset="0"/>
                <a:cs typeface="Arial" charset="0"/>
              </a:rPr>
              <a:t>Ke</a:t>
            </a:r>
            <a:r>
              <a:rPr lang="en-US" i="1" baseline="30000" dirty="0" err="1">
                <a:latin typeface="Times New Roman" pitchFamily="18" charset="0"/>
                <a:cs typeface="Arial" charset="0"/>
              </a:rPr>
              <a:t>-rT</a:t>
            </a:r>
            <a:r>
              <a:rPr lang="en-US" i="1" baseline="30000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and </a:t>
            </a:r>
            <a:r>
              <a:rPr lang="en-US" i="1" dirty="0">
                <a:latin typeface="Times New Roman" pitchFamily="18" charset="0"/>
                <a:cs typeface="Arial" charset="0"/>
              </a:rPr>
              <a:t>p</a:t>
            </a:r>
            <a:r>
              <a:rPr lang="en-US" dirty="0">
                <a:latin typeface="Arial" charset="0"/>
                <a:cs typeface="Arial" charset="0"/>
              </a:rPr>
              <a:t> tends to zero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As </a:t>
            </a:r>
            <a:r>
              <a:rPr lang="en-US" i="1" dirty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dirty="0">
                <a:latin typeface="Arial" charset="0"/>
                <a:cs typeface="Arial" charset="0"/>
              </a:rPr>
              <a:t> becomes very small </a:t>
            </a:r>
            <a:r>
              <a:rPr lang="en-US" i="1" dirty="0">
                <a:latin typeface="Times New Roman" pitchFamily="18" charset="0"/>
                <a:cs typeface="Arial" charset="0"/>
              </a:rPr>
              <a:t>c</a:t>
            </a:r>
            <a:r>
              <a:rPr lang="en-US" dirty="0">
                <a:latin typeface="Arial" charset="0"/>
                <a:cs typeface="Arial" charset="0"/>
              </a:rPr>
              <a:t> tends to zero and </a:t>
            </a:r>
            <a:r>
              <a:rPr lang="en-US" i="1" dirty="0">
                <a:latin typeface="Times New Roman" pitchFamily="18" charset="0"/>
                <a:cs typeface="Arial" charset="0"/>
              </a:rPr>
              <a:t>p</a:t>
            </a:r>
            <a:r>
              <a:rPr lang="en-US" dirty="0">
                <a:latin typeface="Arial" charset="0"/>
                <a:cs typeface="Arial" charset="0"/>
              </a:rPr>
              <a:t> tends to </a:t>
            </a:r>
            <a:r>
              <a:rPr lang="en-US" i="1" dirty="0" err="1">
                <a:latin typeface="Times New Roman" pitchFamily="18" charset="0"/>
                <a:cs typeface="Arial" charset="0"/>
              </a:rPr>
              <a:t>Ke</a:t>
            </a:r>
            <a:r>
              <a:rPr lang="en-US" i="1" baseline="30000" dirty="0" err="1">
                <a:latin typeface="Times New Roman" pitchFamily="18" charset="0"/>
                <a:cs typeface="Arial" charset="0"/>
              </a:rPr>
              <a:t>-rT</a:t>
            </a:r>
            <a:r>
              <a:rPr lang="en-US" i="1" dirty="0">
                <a:latin typeface="Times New Roman" pitchFamily="18" charset="0"/>
                <a:cs typeface="Arial" charset="0"/>
              </a:rPr>
              <a:t> </a:t>
            </a:r>
            <a:r>
              <a:rPr lang="en-US" i="1" dirty="0">
                <a:latin typeface="Arial" charset="0"/>
                <a:cs typeface="Arial" charset="0"/>
              </a:rPr>
              <a:t>–</a:t>
            </a:r>
            <a:r>
              <a:rPr lang="en-US" i="1" dirty="0">
                <a:latin typeface="Times New Roman" pitchFamily="18" charset="0"/>
                <a:cs typeface="Arial" charset="0"/>
              </a:rPr>
              <a:t> S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i="1" dirty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defRPr/>
            </a:pPr>
            <a:r>
              <a:rPr lang="en-CA" dirty="0">
                <a:latin typeface="Arial" charset="0"/>
                <a:cs typeface="Arial" charset="0"/>
              </a:rPr>
              <a:t>What happens as </a:t>
            </a:r>
            <a:r>
              <a:rPr lang="en-CA" dirty="0">
                <a:latin typeface="Symbol" pitchFamily="18" charset="2"/>
                <a:cs typeface="Arial" charset="0"/>
              </a:rPr>
              <a:t>s</a:t>
            </a:r>
            <a:r>
              <a:rPr lang="en-CA" dirty="0">
                <a:latin typeface="Arial" charset="0"/>
                <a:cs typeface="Arial" charset="0"/>
              </a:rPr>
              <a:t> becomes very large?</a:t>
            </a:r>
          </a:p>
          <a:p>
            <a:pPr eaLnBrk="1" hangingPunct="1">
              <a:defRPr/>
            </a:pPr>
            <a:r>
              <a:rPr lang="en-CA" dirty="0">
                <a:latin typeface="Arial" charset="0"/>
                <a:cs typeface="Arial" charset="0"/>
              </a:rPr>
              <a:t>What happens as </a:t>
            </a:r>
            <a:r>
              <a:rPr lang="en-CA" i="1" dirty="0">
                <a:latin typeface="+mj-lt"/>
                <a:cs typeface="Arial" charset="0"/>
              </a:rPr>
              <a:t>T</a:t>
            </a:r>
            <a:r>
              <a:rPr lang="en-CA" dirty="0">
                <a:latin typeface="Arial" charset="0"/>
                <a:cs typeface="Arial" charset="0"/>
              </a:rPr>
              <a:t> becomes very large?</a:t>
            </a: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F7D9ACD-FA42-44B5-A932-B474D062DCF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228600" y="838200"/>
            <a:ext cx="7772400" cy="1143000"/>
          </a:xfrm>
        </p:spPr>
        <p:txBody>
          <a:bodyPr/>
          <a:lstStyle/>
          <a:p>
            <a:r>
              <a:rPr lang="en-US" altLang="en-US"/>
              <a:t>Understanding Black-Scholes</a:t>
            </a:r>
            <a:endParaRPr lang="en-CA" altLang="en-US"/>
          </a:p>
        </p:txBody>
      </p:sp>
      <p:sp>
        <p:nvSpPr>
          <p:cNvPr id="2867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Options, Futures, and Other Derivatives, 11th Edition, Copyright © John C. Hull 2021</a:t>
            </a:r>
          </a:p>
        </p:txBody>
      </p:sp>
      <p:sp>
        <p:nvSpPr>
          <p:cNvPr id="2867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BBB6474-5802-43F9-8751-221B77CAB1DC}" type="slidenum">
              <a:rPr lang="en-US" altLang="en-US" smtClean="0"/>
              <a:pPr eaLnBrk="1" hangingPunct="1"/>
              <a:t>30</a:t>
            </a:fld>
            <a:endParaRPr lang="en-US" altLang="en-US"/>
          </a:p>
        </p:txBody>
      </p:sp>
      <p:graphicFrame>
        <p:nvGraphicFramePr>
          <p:cNvPr id="28677" name="Object 6"/>
          <p:cNvGraphicFramePr>
            <a:graphicFrameLocks noChangeAspect="1"/>
          </p:cNvGraphicFramePr>
          <p:nvPr/>
        </p:nvGraphicFramePr>
        <p:xfrm>
          <a:off x="303213" y="1981200"/>
          <a:ext cx="8951912" cy="362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76640" imgH="1650960" progId="Equation.3">
                  <p:embed/>
                </p:oleObj>
              </mc:Choice>
              <mc:Fallback>
                <p:oleObj name="Equation" r:id="rId2" imgW="4076640" imgH="1650960" progId="Equation.3">
                  <p:embed/>
                  <p:pic>
                    <p:nvPicPr>
                      <p:cNvPr id="2867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981200"/>
                        <a:ext cx="8951912" cy="362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0"/>
            <a:ext cx="7315200" cy="9144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Applying Risk-Neutral Valuation</a:t>
            </a:r>
            <a:br>
              <a:rPr lang="en-US" dirty="0"/>
            </a:br>
            <a:endParaRPr lang="en-US" sz="2200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530350" y="2362200"/>
            <a:ext cx="6086475" cy="376872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1. Assume that the expected return from the stock price is the risk-free rate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2. Calculate the expected payoff from the option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3. Discount at the risk-free rate</a:t>
            </a: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09FF650-A639-4484-92F8-8472F7E0CC1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/>
              <a:t>Proving Black-Scholes-Merton Using Risk-Neutral Valuation </a:t>
            </a:r>
            <a:r>
              <a:rPr lang="en-US" sz="2200" dirty="0"/>
              <a:t>(Appendix to Chapter 15)</a:t>
            </a:r>
          </a:p>
        </p:txBody>
      </p:sp>
      <p:graphicFrame>
        <p:nvGraphicFramePr>
          <p:cNvPr id="32771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2209800" y="2133600"/>
          <a:ext cx="34877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4400" imgH="330200" progId="Equation.3">
                  <p:embed/>
                </p:oleObj>
              </mc:Choice>
              <mc:Fallback>
                <p:oleObj name="Equation" r:id="rId3" imgW="2184400" imgH="330200" progId="Equation.3">
                  <p:embed/>
                  <p:pic>
                    <p:nvPicPr>
                      <p:cNvPr id="32771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133600"/>
                        <a:ext cx="348773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2667000"/>
            <a:ext cx="8153400" cy="4586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200" dirty="0"/>
              <a:t>where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200" dirty="0"/>
              <a:t>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i="1" baseline="-25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dirty="0"/>
              <a:t>) is the probability density function for the lognormal distribution of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i="1" baseline="-25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dirty="0"/>
              <a:t>  in a risk-neutral world. </a:t>
            </a:r>
            <a:r>
              <a:rPr lang="en-US" sz="2200" dirty="0" err="1"/>
              <a:t>ln</a:t>
            </a:r>
            <a:r>
              <a:rPr lang="en-US" sz="2200" dirty="0"/>
              <a:t>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i="1" baseline="-25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dirty="0"/>
              <a:t>  is </a:t>
            </a:r>
            <a:r>
              <a:rPr lang="en-US" sz="2200" i="1" dirty="0">
                <a:latin typeface="Symbol" pitchFamily="18" charset="2"/>
              </a:rPr>
              <a:t>j</a:t>
            </a:r>
            <a:r>
              <a:rPr lang="en-US" sz="2200" dirty="0"/>
              <a:t>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dirty="0"/>
              <a:t>,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i="1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/>
              <a:t>) where </a:t>
            </a:r>
          </a:p>
          <a:p>
            <a:pPr>
              <a:defRPr/>
            </a:pPr>
            <a:endParaRPr lang="en-US" sz="2200" dirty="0"/>
          </a:p>
          <a:p>
            <a:pPr>
              <a:defRPr/>
            </a:pPr>
            <a:r>
              <a:rPr lang="en-US" sz="2200" dirty="0"/>
              <a:t>We substitute </a:t>
            </a:r>
          </a:p>
          <a:p>
            <a:pPr>
              <a:defRPr/>
            </a:pPr>
            <a:endParaRPr lang="en-US" sz="2200" dirty="0"/>
          </a:p>
          <a:p>
            <a:pPr>
              <a:defRPr/>
            </a:pPr>
            <a:r>
              <a:rPr lang="en-US" sz="2200" dirty="0"/>
              <a:t>so that</a:t>
            </a:r>
          </a:p>
          <a:p>
            <a:pPr>
              <a:defRPr/>
            </a:pPr>
            <a:endParaRPr lang="en-US" sz="2200" dirty="0"/>
          </a:p>
          <a:p>
            <a:pPr>
              <a:defRPr/>
            </a:pPr>
            <a:endParaRPr lang="en-US" sz="2200" dirty="0"/>
          </a:p>
          <a:p>
            <a:pPr>
              <a:defRPr/>
            </a:pPr>
            <a:r>
              <a:rPr lang="en-US" sz="2200" dirty="0"/>
              <a:t>where </a:t>
            </a:r>
            <a:r>
              <a:rPr lang="en-US" sz="2200" i="1" dirty="0">
                <a:latin typeface="+mj-lt"/>
              </a:rPr>
              <a:t>h</a:t>
            </a:r>
            <a:r>
              <a:rPr lang="en-US" sz="2200" dirty="0"/>
              <a:t> is the probability density function for a standard normal. Evaluating the integral leads to the BSM result.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</p:txBody>
      </p:sp>
      <p:graphicFrame>
        <p:nvGraphicFramePr>
          <p:cNvPr id="32773" name="Object 5"/>
          <p:cNvGraphicFramePr>
            <a:graphicFrameLocks noChangeAspect="1"/>
          </p:cNvGraphicFramePr>
          <p:nvPr/>
        </p:nvGraphicFramePr>
        <p:xfrm>
          <a:off x="2057400" y="3352800"/>
          <a:ext cx="3781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62200" imgH="254000" progId="Equation.3">
                  <p:embed/>
                </p:oleObj>
              </mc:Choice>
              <mc:Fallback>
                <p:oleObj name="Equation" r:id="rId5" imgW="2362200" imgH="254000" progId="Equation.3">
                  <p:embed/>
                  <p:pic>
                    <p:nvPicPr>
                      <p:cNvPr id="327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52800"/>
                        <a:ext cx="37814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2895600" y="4038600"/>
          <a:ext cx="13858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5920" imgH="393529" progId="Equation.3">
                  <p:embed/>
                </p:oleObj>
              </mc:Choice>
              <mc:Fallback>
                <p:oleObj name="Equation" r:id="rId7" imgW="875920" imgH="393529" progId="Equation.3">
                  <p:embed/>
                  <p:pic>
                    <p:nvPicPr>
                      <p:cNvPr id="327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038600"/>
                        <a:ext cx="138588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/>
          <p:cNvGraphicFramePr>
            <a:graphicFrameLocks noChangeAspect="1"/>
          </p:cNvGraphicFramePr>
          <p:nvPr/>
        </p:nvGraphicFramePr>
        <p:xfrm>
          <a:off x="1433513" y="4800600"/>
          <a:ext cx="40624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14600" imgH="355600" progId="Equation.3">
                  <p:embed/>
                </p:oleObj>
              </mc:Choice>
              <mc:Fallback>
                <p:oleObj name="Equation" r:id="rId9" imgW="2514600" imgH="355600" progId="Equation.3">
                  <p:embed/>
                  <p:pic>
                    <p:nvPicPr>
                      <p:cNvPr id="32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4800600"/>
                        <a:ext cx="406241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151" imgH="215619" progId="Equation.3">
                  <p:embed/>
                </p:oleObj>
              </mc:Choice>
              <mc:Fallback>
                <p:oleObj name="Equation" r:id="rId11" imgW="114151" imgH="215619" progId="Equation.3">
                  <p:embed/>
                  <p:pic>
                    <p:nvPicPr>
                      <p:cNvPr id="327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1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815FFD6-9966-4FAB-858A-07A82B4B433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32778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1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Implied Volatility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The implied volatility of an option is the volatility for which the Black-Scholes-Merton price equals the market price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There is a one-to-one correspondence between prices and implied volatilities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Traders and brokers often quote implied volatilities rather than dollar prices  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E49F1E-8480-42B2-85D5-8B60796BB9D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CA" dirty="0"/>
              <a:t>The VIX S&amp;P500 Volatility Index </a:t>
            </a:r>
            <a:r>
              <a:rPr lang="en-CA" sz="2700" dirty="0"/>
              <a:t>(Figure 15.4)</a:t>
            </a:r>
            <a:endParaRPr lang="en-US" sz="2700" dirty="0"/>
          </a:p>
        </p:txBody>
      </p:sp>
      <p:sp>
        <p:nvSpPr>
          <p:cNvPr id="3481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CA" altLang="en-US" dirty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</a:t>
            </a:r>
            <a:r>
              <a:rPr lang="en-CA" altLang="en-US" sz="2000" dirty="0">
                <a:latin typeface="Arial" charset="0"/>
                <a:cs typeface="Arial" charset="0"/>
              </a:rPr>
              <a:t>Chapter 26 explains how the index is calculated</a:t>
            </a:r>
            <a:endParaRPr lang="en-US" altLang="en-US" sz="2000" dirty="0">
              <a:latin typeface="Arial" charset="0"/>
              <a:cs typeface="Arial" charset="0"/>
            </a:endParaRPr>
          </a:p>
        </p:txBody>
      </p:sp>
      <p:sp>
        <p:nvSpPr>
          <p:cNvPr id="3482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600200" y="6324600"/>
            <a:ext cx="5029200" cy="533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482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1E72B67-B266-45F5-A7FE-F4F1AB984A4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latin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55" y="2147888"/>
            <a:ext cx="7620857" cy="3442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Ch09HullOFOD8thEdition</Template>
  <TotalTime>260</TotalTime>
  <Words>2047</Words>
  <Application>Microsoft Office PowerPoint</Application>
  <PresentationFormat>On-screen Show (4:3)</PresentationFormat>
  <Paragraphs>264</Paragraphs>
  <Slides>34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Calibri</vt:lpstr>
      <vt:lpstr>Gloucester MT Extra Condensed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Chart</vt:lpstr>
      <vt:lpstr> Chapter 14 Wiener Processes and Itô’s Lemma</vt:lpstr>
      <vt:lpstr>Stochastic Processes</vt:lpstr>
      <vt:lpstr>Example 1</vt:lpstr>
      <vt:lpstr>Example 2</vt:lpstr>
      <vt:lpstr>Markov Processes</vt:lpstr>
      <vt:lpstr>Weak-Form Market Efficiency</vt:lpstr>
      <vt:lpstr>A Wiener Process (equation 14.1)</vt:lpstr>
      <vt:lpstr>Properties of a Wiener Process</vt:lpstr>
      <vt:lpstr>Generalized Wiener Processes</vt:lpstr>
      <vt:lpstr>Generalized Wiener Processes (continued)</vt:lpstr>
      <vt:lpstr>Taking Limits . . .</vt:lpstr>
      <vt:lpstr>The Example Revisited</vt:lpstr>
      <vt:lpstr>      Itô Process (equation 14.4)</vt:lpstr>
      <vt:lpstr>Why a Generalized Wiener Process Is Not Appropriate for Stocks</vt:lpstr>
      <vt:lpstr>An Ito Process for Stock Prices (equation 14.6 and 14.7)</vt:lpstr>
      <vt:lpstr>Chapter 15 The Black-Scholes-Merton Model</vt:lpstr>
      <vt:lpstr>The Stock Price Assumption</vt:lpstr>
      <vt:lpstr>The Lognormal Property (Equations 15.2 and 15.3)</vt:lpstr>
      <vt:lpstr>The Lognormal Distribution</vt:lpstr>
      <vt:lpstr>Continuously Compounded Return (Equations 15.6 and 15.7) </vt:lpstr>
      <vt:lpstr>The Expected Return</vt:lpstr>
      <vt:lpstr>m and m −s 2/2</vt:lpstr>
      <vt:lpstr>The Volatility</vt:lpstr>
      <vt:lpstr>Estimating Volatility from Historical  Data</vt:lpstr>
      <vt:lpstr>Nature of Volatility (Business Snapshot 15.2)</vt:lpstr>
      <vt:lpstr>The Concepts  Underlying Black-Scholes-Merton</vt:lpstr>
      <vt:lpstr>The Black-Scholes-Merton Formulas for Options (equations 15.20 and 15.21))</vt:lpstr>
      <vt:lpstr>The N(x) Function</vt:lpstr>
      <vt:lpstr>Properties of Black-Scholes Formula </vt:lpstr>
      <vt:lpstr>Understanding Black-Scholes</vt:lpstr>
      <vt:lpstr>Applying Risk-Neutral Valuation </vt:lpstr>
      <vt:lpstr>Proving Black-Scholes-Merton Using Risk-Neutral Valuation (Appendix to Chapter 15)</vt:lpstr>
      <vt:lpstr>Implied Volatility</vt:lpstr>
      <vt:lpstr>The VIX S&amp;P500 Volatility Index (Figure 15.4)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Wiener Processes and Ito's Lemma</dc:title>
  <dc:subject>Options, Futures, and Other Derivatives, 11e</dc:subject>
  <dc:creator>John C. Hull</dc:creator>
  <cp:keywords>Chapter 14</cp:keywords>
  <dc:description>Copyright 2021 by John C. Hull. All Rights Reserved. Published 2021</dc:description>
  <cp:lastModifiedBy>Bihary  Zsolt</cp:lastModifiedBy>
  <cp:revision>36</cp:revision>
  <dcterms:created xsi:type="dcterms:W3CDTF">2008-05-29T16:38:10Z</dcterms:created>
  <dcterms:modified xsi:type="dcterms:W3CDTF">2022-12-11T20:46:33Z</dcterms:modified>
</cp:coreProperties>
</file>