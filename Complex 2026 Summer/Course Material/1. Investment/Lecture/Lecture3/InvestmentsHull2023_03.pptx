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27" r:id="rId1"/>
  </p:sldMasterIdLst>
  <p:notesMasterIdLst>
    <p:notesMasterId r:id="rId26"/>
  </p:notesMasterIdLst>
  <p:handoutMasterIdLst>
    <p:handoutMasterId r:id="rId27"/>
  </p:handoutMasterIdLst>
  <p:sldIdLst>
    <p:sldId id="281" r:id="rId2"/>
    <p:sldId id="257" r:id="rId3"/>
    <p:sldId id="294" r:id="rId4"/>
    <p:sldId id="259" r:id="rId5"/>
    <p:sldId id="329" r:id="rId6"/>
    <p:sldId id="328" r:id="rId7"/>
    <p:sldId id="260" r:id="rId8"/>
    <p:sldId id="295" r:id="rId9"/>
    <p:sldId id="265" r:id="rId10"/>
    <p:sldId id="266" r:id="rId11"/>
    <p:sldId id="318" r:id="rId12"/>
    <p:sldId id="330" r:id="rId13"/>
    <p:sldId id="272" r:id="rId14"/>
    <p:sldId id="273" r:id="rId15"/>
    <p:sldId id="303" r:id="rId16"/>
    <p:sldId id="275" r:id="rId17"/>
    <p:sldId id="304" r:id="rId18"/>
    <p:sldId id="277" r:id="rId19"/>
    <p:sldId id="291" r:id="rId20"/>
    <p:sldId id="292" r:id="rId21"/>
    <p:sldId id="293" r:id="rId22"/>
    <p:sldId id="311" r:id="rId23"/>
    <p:sldId id="312" r:id="rId24"/>
    <p:sldId id="286" r:id="rId25"/>
  </p:sldIdLst>
  <p:sldSz cx="9144000" cy="6858000" type="letter"/>
  <p:notesSz cx="6858000" cy="92075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5" autoAdjust="0"/>
    <p:restoredTop sz="94681" autoAdjust="0"/>
  </p:normalViewPr>
  <p:slideViewPr>
    <p:cSldViewPr>
      <p:cViewPr varScale="1">
        <p:scale>
          <a:sx n="105" d="100"/>
          <a:sy n="105" d="100"/>
        </p:scale>
        <p:origin x="180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1476" y="-84"/>
      </p:cViewPr>
      <p:guideLst>
        <p:guide orient="horz" pos="290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24917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defTabSz="7620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defTabSz="7620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defTabSz="762000">
              <a:defRPr sz="1000" i="1" smtClean="0">
                <a:latin typeface="Times New Roman" panose="02020603050405020304" pitchFamily="18" charset="0"/>
              </a:defRPr>
            </a:lvl1pPr>
          </a:lstStyle>
          <a:p>
            <a:pPr>
              <a:defRPr/>
            </a:pPr>
            <a:fld id="{9E0DDD9F-3D61-4772-8B0A-7142CDA55369}"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a:t>Click to edit Master notes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14343" name="Rectangle 7"/>
          <p:cNvSpPr>
            <a:spLocks noGrp="1" noRot="1" noChangeAspect="1" noChangeArrowheads="1" noTextEdit="1"/>
          </p:cNvSpPr>
          <p:nvPr>
            <p:ph type="sldImg" idx="2"/>
          </p:nvPr>
        </p:nvSpPr>
        <p:spPr bwMode="auto">
          <a:xfrm>
            <a:off x="1127125" y="692150"/>
            <a:ext cx="4603750" cy="34496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18028238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28713" y="692150"/>
            <a:ext cx="4600575" cy="3449638"/>
          </a:xfrm>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543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1128713" y="692150"/>
            <a:ext cx="4600575" cy="3449638"/>
          </a:xfrm>
          <a:ln cap="flat"/>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415224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30300" y="692150"/>
            <a:ext cx="4597400" cy="3449638"/>
          </a:xfrm>
          <a:ln cap="flat"/>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a:p>
        </p:txBody>
      </p:sp>
    </p:spTree>
    <p:extLst>
      <p:ext uri="{BB962C8B-B14F-4D97-AF65-F5344CB8AC3E}">
        <p14:creationId xmlns:p14="http://schemas.microsoft.com/office/powerpoint/2010/main" val="1344487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28713" y="692150"/>
            <a:ext cx="4600575" cy="3449638"/>
          </a:xfrm>
          <a:ln cap="flat"/>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111129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30300" y="692150"/>
            <a:ext cx="4597400" cy="3449638"/>
          </a:xfrm>
          <a:ln cap="flat"/>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a:p>
        </p:txBody>
      </p:sp>
    </p:spTree>
    <p:extLst>
      <p:ext uri="{BB962C8B-B14F-4D97-AF65-F5344CB8AC3E}">
        <p14:creationId xmlns:p14="http://schemas.microsoft.com/office/powerpoint/2010/main" val="3083161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28713" y="692150"/>
            <a:ext cx="4600575" cy="3449638"/>
          </a:xfrm>
          <a:ln cap="flat"/>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976955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
        <p:nvSpPr>
          <p:cNvPr id="24579" name="Rectangle 3"/>
          <p:cNvSpPr>
            <a:spLocks noGrp="1" noRot="1" noChangeAspect="1" noChangeArrowheads="1" noTextEdit="1"/>
          </p:cNvSpPr>
          <p:nvPr>
            <p:ph type="sldImg"/>
          </p:nvPr>
        </p:nvSpPr>
        <p:spPr>
          <a:xfrm>
            <a:off x="1128713" y="692150"/>
            <a:ext cx="4600575" cy="3449638"/>
          </a:xfrm>
          <a:ln cap="flat"/>
        </p:spPr>
      </p:sp>
    </p:spTree>
    <p:extLst>
      <p:ext uri="{BB962C8B-B14F-4D97-AF65-F5344CB8AC3E}">
        <p14:creationId xmlns:p14="http://schemas.microsoft.com/office/powerpoint/2010/main" val="1785363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128713" y="692150"/>
            <a:ext cx="4600575" cy="3449638"/>
          </a:xfrm>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7AA3E98-9D7C-4E59-A46B-D89E72CB5BF4}" type="slidenum">
              <a:rPr lang="en-US" altLang="en-US" sz="1000"/>
              <a:pPr>
                <a:spcBef>
                  <a:spcPct val="0"/>
                </a:spcBef>
              </a:pPr>
              <a:t>8</a:t>
            </a:fld>
            <a:endParaRPr lang="en-US" altLang="en-US" sz="1000"/>
          </a:p>
        </p:txBody>
      </p:sp>
    </p:spTree>
    <p:extLst>
      <p:ext uri="{BB962C8B-B14F-4D97-AF65-F5344CB8AC3E}">
        <p14:creationId xmlns:p14="http://schemas.microsoft.com/office/powerpoint/2010/main" val="321867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
        <p:nvSpPr>
          <p:cNvPr id="39939" name="Rectangle 3"/>
          <p:cNvSpPr>
            <a:spLocks noGrp="1" noRot="1" noChangeAspect="1" noChangeArrowheads="1" noTextEdit="1"/>
          </p:cNvSpPr>
          <p:nvPr>
            <p:ph type="sldImg"/>
          </p:nvPr>
        </p:nvSpPr>
        <p:spPr>
          <a:xfrm>
            <a:off x="1128713" y="692150"/>
            <a:ext cx="4600575" cy="3449638"/>
          </a:xfrm>
          <a:ln cap="flat"/>
        </p:spPr>
      </p:sp>
    </p:spTree>
    <p:extLst>
      <p:ext uri="{BB962C8B-B14F-4D97-AF65-F5344CB8AC3E}">
        <p14:creationId xmlns:p14="http://schemas.microsoft.com/office/powerpoint/2010/main" val="2444664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128713" y="692150"/>
            <a:ext cx="4600575" cy="3449638"/>
          </a:xfrm>
          <a:ln cap="flat"/>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3176075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30300" y="692150"/>
            <a:ext cx="4597400" cy="3449638"/>
          </a:xfrm>
          <a:ln cap="flat"/>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a:p>
        </p:txBody>
      </p:sp>
    </p:spTree>
    <p:extLst>
      <p:ext uri="{BB962C8B-B14F-4D97-AF65-F5344CB8AC3E}">
        <p14:creationId xmlns:p14="http://schemas.microsoft.com/office/powerpoint/2010/main" val="468355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28713" y="692150"/>
            <a:ext cx="4600575" cy="3449638"/>
          </a:xfrm>
          <a:ln cap="flat"/>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2814234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128713" y="692150"/>
            <a:ext cx="4600575" cy="3449638"/>
          </a:xfrm>
          <a:ln cap="flat"/>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2280780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30300" y="692150"/>
            <a:ext cx="4597400" cy="3449638"/>
          </a:xfrm>
          <a:ln cap="flat"/>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CA" altLang="en-US" sz="2400"/>
          </a:p>
        </p:txBody>
      </p:sp>
    </p:spTree>
    <p:extLst>
      <p:ext uri="{BB962C8B-B14F-4D97-AF65-F5344CB8AC3E}">
        <p14:creationId xmlns:p14="http://schemas.microsoft.com/office/powerpoint/2010/main" val="1794087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xfrm>
            <a:off x="1128713" y="692150"/>
            <a:ext cx="4600575" cy="3449638"/>
          </a:xfrm>
          <a:ln cap="flat"/>
        </p:spPr>
      </p:sp>
      <p:sp>
        <p:nvSpPr>
          <p:cNvPr id="593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1638438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1128713" y="692150"/>
            <a:ext cx="4600575" cy="3449638"/>
          </a:xfrm>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09A6742-3908-4E8B-A80C-31CBFBF850B5}" type="slidenum">
              <a:rPr lang="en-US" altLang="en-US" sz="1000"/>
              <a:pPr>
                <a:spcBef>
                  <a:spcPct val="0"/>
                </a:spcBef>
              </a:pPr>
              <a:t>17</a:t>
            </a:fld>
            <a:endParaRPr lang="en-US" altLang="en-US" sz="1000"/>
          </a:p>
        </p:txBody>
      </p:sp>
    </p:spTree>
    <p:extLst>
      <p:ext uri="{BB962C8B-B14F-4D97-AF65-F5344CB8AC3E}">
        <p14:creationId xmlns:p14="http://schemas.microsoft.com/office/powerpoint/2010/main" val="2103424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28713" y="692150"/>
            <a:ext cx="4600575" cy="3449638"/>
          </a:xfrm>
          <a:ln cap="flat"/>
        </p:spPr>
      </p:sp>
      <p:sp>
        <p:nvSpPr>
          <p:cNvPr id="634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sz="2400"/>
          </a:p>
        </p:txBody>
      </p:sp>
    </p:spTree>
    <p:extLst>
      <p:ext uri="{BB962C8B-B14F-4D97-AF65-F5344CB8AC3E}">
        <p14:creationId xmlns:p14="http://schemas.microsoft.com/office/powerpoint/2010/main" val="3505813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1128713" y="692150"/>
            <a:ext cx="4600575" cy="3449638"/>
          </a:xfrm>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196769-0E21-43D6-853E-71EFA861E5CD}" type="slidenum">
              <a:rPr lang="en-US" altLang="en-US" sz="1000"/>
              <a:pPr>
                <a:spcBef>
                  <a:spcPct val="0"/>
                </a:spcBef>
              </a:pPr>
              <a:t>19</a:t>
            </a:fld>
            <a:endParaRPr lang="en-US" altLang="en-US" sz="1000"/>
          </a:p>
        </p:txBody>
      </p:sp>
    </p:spTree>
    <p:extLst>
      <p:ext uri="{BB962C8B-B14F-4D97-AF65-F5344CB8AC3E}">
        <p14:creationId xmlns:p14="http://schemas.microsoft.com/office/powerpoint/2010/main" val="921393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1128713" y="692150"/>
            <a:ext cx="4600575" cy="3449638"/>
          </a:xfrm>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9B37523-BAEF-4378-BBBD-FC5AFF5DFF9E}" type="slidenum">
              <a:rPr lang="en-US" altLang="en-US" sz="1000"/>
              <a:pPr>
                <a:spcBef>
                  <a:spcPct val="0"/>
                </a:spcBef>
              </a:pPr>
              <a:t>20</a:t>
            </a:fld>
            <a:endParaRPr lang="en-US" altLang="en-US" sz="1000"/>
          </a:p>
        </p:txBody>
      </p:sp>
    </p:spTree>
    <p:extLst>
      <p:ext uri="{BB962C8B-B14F-4D97-AF65-F5344CB8AC3E}">
        <p14:creationId xmlns:p14="http://schemas.microsoft.com/office/powerpoint/2010/main" val="1431088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xfrm>
            <a:off x="1128713" y="692150"/>
            <a:ext cx="4600575" cy="3449638"/>
          </a:xfrm>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C0EF112-06C5-4AC8-8CF6-817A3E06EFD6}" type="slidenum">
              <a:rPr lang="en-US" altLang="en-US" sz="1000"/>
              <a:pPr>
                <a:spcBef>
                  <a:spcPct val="0"/>
                </a:spcBef>
              </a:pPr>
              <a:t>21</a:t>
            </a:fld>
            <a:endParaRPr lang="en-US" altLang="en-US" sz="1000"/>
          </a:p>
        </p:txBody>
      </p:sp>
    </p:spTree>
    <p:extLst>
      <p:ext uri="{BB962C8B-B14F-4D97-AF65-F5344CB8AC3E}">
        <p14:creationId xmlns:p14="http://schemas.microsoft.com/office/powerpoint/2010/main" val="1327691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28713" y="692150"/>
            <a:ext cx="4600575" cy="3449638"/>
          </a:xfrm>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73064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endParaRPr lang="en-US" altLang="en-US"/>
          </a:p>
        </p:txBody>
      </p:sp>
      <p:sp>
        <p:nvSpPr>
          <p:cNvPr id="95" name="Rectangle 95"/>
          <p:cNvSpPr>
            <a:spLocks noGrp="1" noChangeArrowheads="1"/>
          </p:cNvSpPr>
          <p:nvPr>
            <p:ph type="ftr" sz="quarter" idx="11"/>
          </p:nvPr>
        </p:nvSpPr>
        <p:spPr>
          <a:xfrm>
            <a:off x="1905000" y="6324600"/>
            <a:ext cx="5791200" cy="457200"/>
          </a:xfrm>
        </p:spPr>
        <p:txBody>
          <a:bodyPr/>
          <a:lstStyle>
            <a:lvl1pPr>
              <a:defRPr/>
            </a:lvl1pPr>
          </a:lstStyle>
          <a:p>
            <a:pPr>
              <a:defRPr/>
            </a:pPr>
            <a:r>
              <a:rPr lang="en-US" altLang="en-US"/>
              <a:t>Options, Futures, and Other Derivatives, 11th Edition, Copyright © John C. Hull 2021</a:t>
            </a:r>
            <a:endParaRPr lang="en-US" altLang="en-US" i="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2863C8D7-02E6-4272-874C-11AA223959B3}" type="slidenum">
              <a:rPr lang="en-US" altLang="en-US" smtClean="0"/>
              <a:pPr>
                <a:defRPr/>
              </a:pPr>
              <a:t>‹#›</a:t>
            </a:fld>
            <a:endParaRPr lang="en-US" altLang="en-US"/>
          </a:p>
        </p:txBody>
      </p:sp>
    </p:spTree>
    <p:extLst>
      <p:ext uri="{BB962C8B-B14F-4D97-AF65-F5344CB8AC3E}">
        <p14:creationId xmlns:p14="http://schemas.microsoft.com/office/powerpoint/2010/main" val="1585564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endParaRPr lang="en-US" altLang="en-US"/>
          </a:p>
        </p:txBody>
      </p:sp>
      <p:sp>
        <p:nvSpPr>
          <p:cNvPr id="5" name="Footer Placeholder 4"/>
          <p:cNvSpPr>
            <a:spLocks noGrp="1"/>
          </p:cNvSpPr>
          <p:nvPr>
            <p:ph type="ftr" sz="quarter" idx="11"/>
          </p:nvPr>
        </p:nvSpPr>
        <p:spPr>
          <a:xfrm>
            <a:off x="1600200" y="6248400"/>
            <a:ext cx="5029200" cy="457200"/>
          </a:xfrm>
        </p:spPr>
        <p:txBody>
          <a:bodyPr/>
          <a:lstStyle>
            <a:lvl1pPr>
              <a:defRPr/>
            </a:lvl1pPr>
          </a:lstStyle>
          <a:p>
            <a:pPr>
              <a:defRPr/>
            </a:pPr>
            <a:r>
              <a:rPr lang="en-US" altLang="en-US"/>
              <a:t>Options, Futures, and Other Derivatives, 11th Edition, Copyright © John C. Hull 2021</a:t>
            </a:r>
            <a:endParaRPr lang="en-US" altLang="en-US" i="0"/>
          </a:p>
        </p:txBody>
      </p:sp>
      <p:sp>
        <p:nvSpPr>
          <p:cNvPr id="6" name="Slide Number Placeholder 5"/>
          <p:cNvSpPr>
            <a:spLocks noGrp="1"/>
          </p:cNvSpPr>
          <p:nvPr>
            <p:ph type="sldNum" sz="quarter" idx="12"/>
          </p:nvPr>
        </p:nvSpPr>
        <p:spPr/>
        <p:txBody>
          <a:bodyPr/>
          <a:lstStyle>
            <a:lvl1pPr>
              <a:defRPr/>
            </a:lvl1pPr>
          </a:lstStyle>
          <a:p>
            <a:pPr>
              <a:defRPr/>
            </a:pPr>
            <a:fld id="{B279D880-1821-47EF-A47D-DFD410122695}" type="slidenum">
              <a:rPr lang="en-US" altLang="en-US" smtClean="0"/>
              <a:pPr>
                <a:defRPr/>
              </a:pPr>
              <a:t>‹#›</a:t>
            </a:fld>
            <a:endParaRPr lang="en-US" altLang="en-US"/>
          </a:p>
        </p:txBody>
      </p:sp>
    </p:spTree>
    <p:extLst>
      <p:ext uri="{BB962C8B-B14F-4D97-AF65-F5344CB8AC3E}">
        <p14:creationId xmlns:p14="http://schemas.microsoft.com/office/powerpoint/2010/main" val="3831810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6" name="Rectangle 6"/>
          <p:cNvSpPr>
            <a:spLocks noGrp="1" noChangeArrowheads="1"/>
          </p:cNvSpPr>
          <p:nvPr>
            <p:ph type="sldNum" sz="quarter" idx="12"/>
          </p:nvPr>
        </p:nvSpPr>
        <p:spPr>
          <a:ln/>
        </p:spPr>
        <p:txBody>
          <a:bodyPr/>
          <a:lstStyle>
            <a:lvl1pPr>
              <a:defRPr/>
            </a:lvl1pPr>
          </a:lstStyle>
          <a:p>
            <a:pPr>
              <a:defRPr/>
            </a:pPr>
            <a:fld id="{C8007485-0160-4E3C-A0B7-7D6A82D77445}" type="slidenum">
              <a:rPr lang="en-US" altLang="en-US" smtClean="0"/>
              <a:pPr>
                <a:defRPr/>
              </a:pPr>
              <a:t>‹#›</a:t>
            </a:fld>
            <a:endParaRPr lang="en-US" altLang="en-US"/>
          </a:p>
        </p:txBody>
      </p:sp>
    </p:spTree>
    <p:extLst>
      <p:ext uri="{BB962C8B-B14F-4D97-AF65-F5344CB8AC3E}">
        <p14:creationId xmlns:p14="http://schemas.microsoft.com/office/powerpoint/2010/main" val="1655012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7" name="Rectangle 6"/>
          <p:cNvSpPr>
            <a:spLocks noGrp="1" noChangeArrowheads="1"/>
          </p:cNvSpPr>
          <p:nvPr>
            <p:ph type="sldNum" sz="quarter" idx="12"/>
          </p:nvPr>
        </p:nvSpPr>
        <p:spPr>
          <a:ln/>
        </p:spPr>
        <p:txBody>
          <a:bodyPr/>
          <a:lstStyle>
            <a:lvl1pPr>
              <a:defRPr/>
            </a:lvl1pPr>
          </a:lstStyle>
          <a:p>
            <a:pPr>
              <a:defRPr/>
            </a:pPr>
            <a:fld id="{0A0FD4D2-268D-4916-A7C8-A4A1259BB4B0}" type="slidenum">
              <a:rPr lang="en-US" altLang="en-US" smtClean="0"/>
              <a:pPr>
                <a:defRPr/>
              </a:pPr>
              <a:t>‹#›</a:t>
            </a:fld>
            <a:endParaRPr lang="en-US" altLang="en-US"/>
          </a:p>
        </p:txBody>
      </p:sp>
    </p:spTree>
    <p:extLst>
      <p:ext uri="{BB962C8B-B14F-4D97-AF65-F5344CB8AC3E}">
        <p14:creationId xmlns:p14="http://schemas.microsoft.com/office/powerpoint/2010/main" val="127829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9" name="Rectangle 6"/>
          <p:cNvSpPr>
            <a:spLocks noGrp="1" noChangeArrowheads="1"/>
          </p:cNvSpPr>
          <p:nvPr>
            <p:ph type="sldNum" sz="quarter" idx="12"/>
          </p:nvPr>
        </p:nvSpPr>
        <p:spPr>
          <a:ln/>
        </p:spPr>
        <p:txBody>
          <a:bodyPr/>
          <a:lstStyle>
            <a:lvl1pPr>
              <a:defRPr/>
            </a:lvl1pPr>
          </a:lstStyle>
          <a:p>
            <a:pPr>
              <a:defRPr/>
            </a:pPr>
            <a:fld id="{0F131806-AEEC-48CC-8864-897F2368C934}" type="slidenum">
              <a:rPr lang="en-US" altLang="en-US" smtClean="0"/>
              <a:pPr>
                <a:defRPr/>
              </a:pPr>
              <a:t>‹#›</a:t>
            </a:fld>
            <a:endParaRPr lang="en-US" altLang="en-US"/>
          </a:p>
        </p:txBody>
      </p:sp>
    </p:spTree>
    <p:extLst>
      <p:ext uri="{BB962C8B-B14F-4D97-AF65-F5344CB8AC3E}">
        <p14:creationId xmlns:p14="http://schemas.microsoft.com/office/powerpoint/2010/main" val="3841059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smtClean="0"/>
            </a:lvl1pPr>
          </a:lstStyle>
          <a:p>
            <a:pPr>
              <a:defRPr/>
            </a:pPr>
            <a:endParaRPr lang="en-US" altLang="en-US"/>
          </a:p>
        </p:txBody>
      </p:sp>
      <p:sp>
        <p:nvSpPr>
          <p:cNvPr id="4" name="Footer Placeholder 3"/>
          <p:cNvSpPr>
            <a:spLocks noGrp="1"/>
          </p:cNvSpPr>
          <p:nvPr>
            <p:ph type="ftr" sz="quarter" idx="11"/>
          </p:nvPr>
        </p:nvSpPr>
        <p:spPr>
          <a:xfrm>
            <a:off x="2133600" y="6324600"/>
            <a:ext cx="4800600" cy="457200"/>
          </a:xfrm>
        </p:spPr>
        <p:txBody>
          <a:bodyPr/>
          <a:lstStyle>
            <a:lvl1pPr>
              <a:defRPr/>
            </a:lvl1pPr>
          </a:lstStyle>
          <a:p>
            <a:pPr>
              <a:defRPr/>
            </a:pPr>
            <a:r>
              <a:rPr lang="en-US" altLang="en-US"/>
              <a:t>Options, Futures, and Other Derivatives, 11th Edition, Copyright © John C. Hull 2021</a:t>
            </a:r>
            <a:endParaRPr lang="en-US" altLang="en-US" i="0"/>
          </a:p>
        </p:txBody>
      </p:sp>
      <p:sp>
        <p:nvSpPr>
          <p:cNvPr id="5" name="Slide Number Placeholder 4"/>
          <p:cNvSpPr>
            <a:spLocks noGrp="1"/>
          </p:cNvSpPr>
          <p:nvPr>
            <p:ph type="sldNum" sz="quarter" idx="12"/>
          </p:nvPr>
        </p:nvSpPr>
        <p:spPr/>
        <p:txBody>
          <a:bodyPr/>
          <a:lstStyle>
            <a:lvl1pPr>
              <a:defRPr/>
            </a:lvl1pPr>
          </a:lstStyle>
          <a:p>
            <a:pPr>
              <a:defRPr/>
            </a:pPr>
            <a:fld id="{22CA72A1-CDC7-48E0-A975-2B9E53CE00D3}" type="slidenum">
              <a:rPr lang="en-US" altLang="en-US" smtClean="0"/>
              <a:pPr>
                <a:defRPr/>
              </a:pPr>
              <a:t>‹#›</a:t>
            </a:fld>
            <a:endParaRPr lang="en-US" altLang="en-US"/>
          </a:p>
        </p:txBody>
      </p:sp>
    </p:spTree>
    <p:extLst>
      <p:ext uri="{BB962C8B-B14F-4D97-AF65-F5344CB8AC3E}">
        <p14:creationId xmlns:p14="http://schemas.microsoft.com/office/powerpoint/2010/main" val="1661567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4" name="Rectangle 6"/>
          <p:cNvSpPr>
            <a:spLocks noGrp="1" noChangeArrowheads="1"/>
          </p:cNvSpPr>
          <p:nvPr>
            <p:ph type="sldNum" sz="quarter" idx="12"/>
          </p:nvPr>
        </p:nvSpPr>
        <p:spPr>
          <a:ln/>
        </p:spPr>
        <p:txBody>
          <a:bodyPr/>
          <a:lstStyle>
            <a:lvl1pPr>
              <a:defRPr/>
            </a:lvl1pPr>
          </a:lstStyle>
          <a:p>
            <a:pPr>
              <a:defRPr/>
            </a:pPr>
            <a:fld id="{9CF66308-5E30-4DBF-B1D1-C7686376E9CE}" type="slidenum">
              <a:rPr lang="en-US" altLang="en-US" smtClean="0"/>
              <a:pPr>
                <a:defRPr/>
              </a:pPr>
              <a:t>‹#›</a:t>
            </a:fld>
            <a:endParaRPr lang="en-US" altLang="en-US"/>
          </a:p>
        </p:txBody>
      </p:sp>
    </p:spTree>
    <p:extLst>
      <p:ext uri="{BB962C8B-B14F-4D97-AF65-F5344CB8AC3E}">
        <p14:creationId xmlns:p14="http://schemas.microsoft.com/office/powerpoint/2010/main" val="3334966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7" name="Rectangle 6"/>
          <p:cNvSpPr>
            <a:spLocks noGrp="1" noChangeArrowheads="1"/>
          </p:cNvSpPr>
          <p:nvPr>
            <p:ph type="sldNum" sz="quarter" idx="12"/>
          </p:nvPr>
        </p:nvSpPr>
        <p:spPr>
          <a:ln/>
        </p:spPr>
        <p:txBody>
          <a:bodyPr/>
          <a:lstStyle>
            <a:lvl1pPr>
              <a:defRPr/>
            </a:lvl1pPr>
          </a:lstStyle>
          <a:p>
            <a:pPr>
              <a:defRPr/>
            </a:pPr>
            <a:fld id="{35093D9D-243B-440F-9F21-C9128C6CB081}" type="slidenum">
              <a:rPr lang="en-US" altLang="en-US" smtClean="0"/>
              <a:pPr>
                <a:defRPr/>
              </a:pPr>
              <a:t>‹#›</a:t>
            </a:fld>
            <a:endParaRPr lang="en-US" altLang="en-US"/>
          </a:p>
        </p:txBody>
      </p:sp>
    </p:spTree>
    <p:extLst>
      <p:ext uri="{BB962C8B-B14F-4D97-AF65-F5344CB8AC3E}">
        <p14:creationId xmlns:p14="http://schemas.microsoft.com/office/powerpoint/2010/main" val="304352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7" name="Rectangle 6"/>
          <p:cNvSpPr>
            <a:spLocks noGrp="1" noChangeArrowheads="1"/>
          </p:cNvSpPr>
          <p:nvPr>
            <p:ph type="sldNum" sz="quarter" idx="12"/>
          </p:nvPr>
        </p:nvSpPr>
        <p:spPr>
          <a:ln/>
        </p:spPr>
        <p:txBody>
          <a:bodyPr/>
          <a:lstStyle>
            <a:lvl1pPr>
              <a:defRPr/>
            </a:lvl1pPr>
          </a:lstStyle>
          <a:p>
            <a:pPr>
              <a:defRPr/>
            </a:pPr>
            <a:fld id="{A6CC9E67-64BC-446D-B521-A80A11B1720D}" type="slidenum">
              <a:rPr lang="en-US" altLang="en-US" smtClean="0"/>
              <a:pPr>
                <a:defRPr/>
              </a:pPr>
              <a:t>‹#›</a:t>
            </a:fld>
            <a:endParaRPr lang="en-US" altLang="en-US"/>
          </a:p>
        </p:txBody>
      </p:sp>
    </p:spTree>
    <p:extLst>
      <p:ext uri="{BB962C8B-B14F-4D97-AF65-F5344CB8AC3E}">
        <p14:creationId xmlns:p14="http://schemas.microsoft.com/office/powerpoint/2010/main" val="2527972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6" name="Rectangle 6"/>
          <p:cNvSpPr>
            <a:spLocks noGrp="1" noChangeArrowheads="1"/>
          </p:cNvSpPr>
          <p:nvPr>
            <p:ph type="sldNum" sz="quarter" idx="12"/>
          </p:nvPr>
        </p:nvSpPr>
        <p:spPr>
          <a:ln/>
        </p:spPr>
        <p:txBody>
          <a:bodyPr/>
          <a:lstStyle>
            <a:lvl1pPr>
              <a:defRPr/>
            </a:lvl1pPr>
          </a:lstStyle>
          <a:p>
            <a:pPr>
              <a:defRPr/>
            </a:pPr>
            <a:fld id="{6439CBC3-161F-4BC6-88E4-8573D5ABD4C9}" type="slidenum">
              <a:rPr lang="en-US" altLang="en-US" smtClean="0"/>
              <a:pPr>
                <a:defRPr/>
              </a:pPr>
              <a:t>‹#›</a:t>
            </a:fld>
            <a:endParaRPr lang="en-US" altLang="en-US"/>
          </a:p>
        </p:txBody>
      </p:sp>
    </p:spTree>
    <p:extLst>
      <p:ext uri="{BB962C8B-B14F-4D97-AF65-F5344CB8AC3E}">
        <p14:creationId xmlns:p14="http://schemas.microsoft.com/office/powerpoint/2010/main" val="1912270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Options, Futures, and Other Derivatives, 11th Edition, Copyright © John C. Hull 2021</a:t>
            </a:r>
            <a:endParaRPr lang="en-US" altLang="en-US" i="0"/>
          </a:p>
        </p:txBody>
      </p:sp>
      <p:sp>
        <p:nvSpPr>
          <p:cNvPr id="6" name="Rectangle 6"/>
          <p:cNvSpPr>
            <a:spLocks noGrp="1" noChangeArrowheads="1"/>
          </p:cNvSpPr>
          <p:nvPr>
            <p:ph type="sldNum" sz="quarter" idx="12"/>
          </p:nvPr>
        </p:nvSpPr>
        <p:spPr>
          <a:ln/>
        </p:spPr>
        <p:txBody>
          <a:bodyPr/>
          <a:lstStyle>
            <a:lvl1pPr>
              <a:defRPr/>
            </a:lvl1pPr>
          </a:lstStyle>
          <a:p>
            <a:pPr>
              <a:defRPr/>
            </a:pPr>
            <a:fld id="{AE73D632-1568-4259-84D1-67246985CB9C}" type="slidenum">
              <a:rPr lang="en-US" altLang="en-US" smtClean="0"/>
              <a:pPr>
                <a:defRPr/>
              </a:pPr>
              <a:t>‹#›</a:t>
            </a:fld>
            <a:endParaRPr lang="en-US" altLang="en-US"/>
          </a:p>
        </p:txBody>
      </p:sp>
    </p:spTree>
    <p:extLst>
      <p:ext uri="{BB962C8B-B14F-4D97-AF65-F5344CB8AC3E}">
        <p14:creationId xmlns:p14="http://schemas.microsoft.com/office/powerpoint/2010/main" val="135634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Arial" charset="0"/>
                <a:cs typeface="Arial" charset="0"/>
              </a:defRPr>
            </a:lvl1pPr>
          </a:lstStyle>
          <a:p>
            <a:pPr>
              <a:defRPr/>
            </a:pPr>
            <a:endParaRPr lang="en-US" altLang="en-US"/>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atin typeface="Arial" charset="0"/>
                <a:cs typeface="Arial" charset="0"/>
              </a:defRPr>
            </a:lvl1pPr>
          </a:lstStyle>
          <a:p>
            <a:pPr>
              <a:defRPr/>
            </a:pPr>
            <a:r>
              <a:rPr lang="en-US" altLang="en-US"/>
              <a:t>Options, Futures, and Other Derivatives, 11th Edition, Copyright © John C. Hull 2021</a:t>
            </a: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r>
              <a:rPr lang="en-US" altLang="en-US"/>
              <a:t>7.</a:t>
            </a:r>
            <a:fld id="{B58BA2A1-E63E-44FE-9D36-B1B1C7771BB6}" type="slidenum">
              <a:rPr lang="en-US" altLang="en-US" smtClean="0"/>
              <a:pPr>
                <a:defRPr/>
              </a:pPr>
              <a:t>‹#›</a:t>
            </a:fld>
            <a:endParaRPr lang="en-US" alt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07485114"/>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dt="0"/>
  <p:txStyles>
    <p:titleStyle>
      <a:lvl1pPr algn="l" rtl="0" eaLnBrk="1" fontAlgn="base" hangingPunct="1">
        <a:spcBef>
          <a:spcPct val="0"/>
        </a:spcBef>
        <a:spcAft>
          <a:spcPct val="0"/>
        </a:spcAft>
        <a:defRPr sz="4400" b="1" i="1">
          <a:solidFill>
            <a:schemeClr val="tx2"/>
          </a:solidFill>
          <a:latin typeface="+mj-lt"/>
          <a:ea typeface="+mj-ea"/>
          <a:cs typeface="+mj-cs"/>
        </a:defRPr>
      </a:lvl1pPr>
      <a:lvl2pPr algn="l" rtl="0" eaLnBrk="1" fontAlgn="base" hangingPunct="1">
        <a:spcBef>
          <a:spcPct val="0"/>
        </a:spcBef>
        <a:spcAft>
          <a:spcPct val="0"/>
        </a:spcAft>
        <a:defRPr sz="4400" b="1" i="1">
          <a:solidFill>
            <a:schemeClr val="tx2"/>
          </a:solidFill>
          <a:latin typeface="Times New Roman" pitchFamily="18" charset="0"/>
        </a:defRPr>
      </a:lvl2pPr>
      <a:lvl3pPr algn="l" rtl="0" eaLnBrk="1" fontAlgn="base" hangingPunct="1">
        <a:spcBef>
          <a:spcPct val="0"/>
        </a:spcBef>
        <a:spcAft>
          <a:spcPct val="0"/>
        </a:spcAft>
        <a:defRPr sz="4400" b="1" i="1">
          <a:solidFill>
            <a:schemeClr val="tx2"/>
          </a:solidFill>
          <a:latin typeface="Times New Roman" pitchFamily="18" charset="0"/>
        </a:defRPr>
      </a:lvl3pPr>
      <a:lvl4pPr algn="l" rtl="0" eaLnBrk="1" fontAlgn="base" hangingPunct="1">
        <a:spcBef>
          <a:spcPct val="0"/>
        </a:spcBef>
        <a:spcAft>
          <a:spcPct val="0"/>
        </a:spcAft>
        <a:defRPr sz="4400" b="1" i="1">
          <a:solidFill>
            <a:schemeClr val="tx2"/>
          </a:solidFill>
          <a:latin typeface="Times New Roman" pitchFamily="18" charset="0"/>
        </a:defRPr>
      </a:lvl4pPr>
      <a:lvl5pPr algn="l" rtl="0" eaLnBrk="1" fontAlgn="base" hangingPunct="1">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Blip>
          <a:blip r:embed="rId14"/>
        </a:buBlip>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75000"/>
        <a:buBlip>
          <a:blip r:embed="rId15"/>
        </a:buBlip>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5"/>
          <p:cNvSpPr>
            <a:spLocks noGrp="1" noChangeArrowheads="1"/>
          </p:cNvSpPr>
          <p:nvPr>
            <p:ph type="subTitle" idx="1"/>
          </p:nvPr>
        </p:nvSpPr>
        <p:spPr>
          <a:xfrm>
            <a:off x="2267744" y="2996952"/>
            <a:ext cx="6248400" cy="2362200"/>
          </a:xfrm>
        </p:spPr>
        <p:txBody>
          <a:bodyPr/>
          <a:lstStyle/>
          <a:p>
            <a:pPr eaLnBrk="1" hangingPunct="1"/>
            <a:r>
              <a:rPr lang="en-US" altLang="en-US" sz="4400" b="1" i="1" dirty="0">
                <a:latin typeface="+mj-lt"/>
              </a:rPr>
              <a:t>Chapter 7</a:t>
            </a:r>
          </a:p>
          <a:p>
            <a:r>
              <a:rPr lang="en-US" altLang="en-US" sz="4400" b="1" i="1" dirty="0">
                <a:latin typeface="+mj-lt"/>
              </a:rPr>
              <a:t>Swaps</a:t>
            </a:r>
          </a:p>
        </p:txBody>
      </p:sp>
      <p:sp>
        <p:nvSpPr>
          <p:cNvPr id="15362" name="Rectangle 6"/>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dirty="0"/>
              <a:t>Options, Futures, and Other Derivatives, 11th Edition, </a:t>
            </a:r>
          </a:p>
          <a:p>
            <a:pPr>
              <a:spcBef>
                <a:spcPct val="0"/>
              </a:spcBef>
              <a:buClrTx/>
              <a:buSzTx/>
              <a:buFontTx/>
              <a:buNone/>
            </a:pPr>
            <a:r>
              <a:rPr lang="en-US" altLang="en-US" sz="1400" dirty="0"/>
              <a:t>Copyright © John C. Hull 2021</a:t>
            </a:r>
            <a:endParaRPr lang="en-US" altLang="en-US" sz="1400" i="0" dirty="0"/>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30D02F-E1F5-4C08-B4FD-073FB27000B9}" type="slidenum">
              <a:rPr lang="en-US" altLang="en-US" sz="1800"/>
              <a:pPr>
                <a:spcBef>
                  <a:spcPct val="0"/>
                </a:spcBef>
                <a:buClrTx/>
                <a:buSzTx/>
                <a:buFontTx/>
                <a:buNone/>
              </a:pPr>
              <a:t>1</a:t>
            </a:fld>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noFill/>
        </p:spPr>
        <p:txBody>
          <a:bodyPr lIns="92075" tIns="46038" rIns="92075" bIns="46038" anchor="ctr"/>
          <a:lstStyle/>
          <a:p>
            <a:pPr eaLnBrk="1" hangingPunct="1"/>
            <a:r>
              <a:rPr lang="en-US" altLang="en-US"/>
              <a:t>Nature of Swaps</a:t>
            </a:r>
          </a:p>
        </p:txBody>
      </p:sp>
      <p:sp>
        <p:nvSpPr>
          <p:cNvPr id="17412" name="Rectangle 3"/>
          <p:cNvSpPr>
            <a:spLocks noGrp="1" noChangeArrowheads="1"/>
          </p:cNvSpPr>
          <p:nvPr>
            <p:ph idx="1"/>
          </p:nvPr>
        </p:nvSpPr>
        <p:spPr>
          <a:xfrm>
            <a:off x="1143000" y="1925638"/>
            <a:ext cx="7196138" cy="4106862"/>
          </a:xfrm>
          <a:noFill/>
        </p:spPr>
        <p:txBody>
          <a:bodyPr lIns="92075" tIns="46038" rIns="92075" bIns="46038"/>
          <a:lstStyle/>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a:t>	A swap is an agreement to exchange cash flows at specified future times according to certain specified rules</a:t>
            </a:r>
          </a:p>
        </p:txBody>
      </p:sp>
      <p:sp>
        <p:nvSpPr>
          <p:cNvPr id="174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4A40C9C-00AD-4E31-BFBB-D6F454C3699D}" type="slidenum">
              <a:rPr lang="en-US" altLang="en-US" sz="1800"/>
              <a:pPr>
                <a:spcBef>
                  <a:spcPct val="0"/>
                </a:spcBef>
                <a:buClrTx/>
                <a:buSzTx/>
                <a:buFontTx/>
                <a:buNone/>
              </a:pPr>
              <a:t>2</a:t>
            </a:fld>
            <a:endParaRPr lang="en-US" altLang="en-US" sz="18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850" y="0"/>
            <a:ext cx="7848550" cy="2924944"/>
          </a:xfrm>
        </p:spPr>
        <p:txBody>
          <a:bodyPr lIns="92075" tIns="46038" rIns="92075" bIns="46038"/>
          <a:lstStyle/>
          <a:p>
            <a:pPr eaLnBrk="1" hangingPunct="1"/>
            <a:r>
              <a:rPr lang="en-US" altLang="en-US" sz="3500" dirty="0"/>
              <a:t>An Example of a “Plain Vanilla” Overnight Indexed Swap</a:t>
            </a:r>
          </a:p>
        </p:txBody>
      </p:sp>
      <p:sp>
        <p:nvSpPr>
          <p:cNvPr id="19459" name="Rectangle 3"/>
          <p:cNvSpPr>
            <a:spLocks noGrp="1" noChangeArrowheads="1"/>
          </p:cNvSpPr>
          <p:nvPr>
            <p:ph idx="1"/>
          </p:nvPr>
        </p:nvSpPr>
        <p:spPr>
          <a:xfrm>
            <a:off x="874713" y="2399508"/>
            <a:ext cx="7583487" cy="3829050"/>
          </a:xfrm>
        </p:spPr>
        <p:txBody>
          <a:bodyPr lIns="92075" tIns="46038" rIns="92075" bIns="46038"/>
          <a:lstStyle/>
          <a:p>
            <a:pPr eaLnBrk="1" hangingPunct="1"/>
            <a:r>
              <a:rPr lang="en-US" altLang="en-US" dirty="0">
                <a:cs typeface="Arial" panose="020B0604020202020204" pitchFamily="34" charset="0"/>
              </a:rPr>
              <a:t>Deal </a:t>
            </a:r>
            <a:r>
              <a:rPr lang="en-US" altLang="en-US" dirty="0"/>
              <a:t>e</a:t>
            </a:r>
            <a:r>
              <a:rPr lang="en-US" altLang="en-US" dirty="0">
                <a:cs typeface="Arial" panose="020B0604020202020204" pitchFamily="34" charset="0"/>
              </a:rPr>
              <a:t>ntered into on March 8, 2022 where Apple agrees to receive 3-month SOFR &amp; pay a fixed rate of 3% per annum every 3 months for 2 years on a notional principal of $100 million</a:t>
            </a:r>
          </a:p>
          <a:p>
            <a:pPr eaLnBrk="1" hangingPunct="1"/>
            <a:r>
              <a:rPr lang="en-US" altLang="en-US" dirty="0">
                <a:cs typeface="Arial" panose="020B0604020202020204" pitchFamily="34" charset="0"/>
              </a:rPr>
              <a:t>Next slide illustrates cash flows that could occur (Day count conventions are not considered)</a:t>
            </a: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a:cs typeface="Arial" panose="020B0604020202020204" pitchFamily="34" charset="0"/>
            </a:endParaRP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B70A4D7-BC67-4D3E-8D15-DBFB35746289}" type="slidenum">
              <a:rPr lang="en-US" altLang="en-US" sz="1800"/>
              <a:pPr>
                <a:spcBef>
                  <a:spcPct val="0"/>
                </a:spcBef>
                <a:buClrTx/>
                <a:buSzTx/>
                <a:buFontTx/>
                <a:buNone/>
              </a:pPr>
              <a:t>3</a:t>
            </a:fld>
            <a:endParaRPr lang="en-US" altLang="en-US" sz="18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58"/>
          <p:cNvSpPr>
            <a:spLocks noGrp="1" noChangeArrowheads="1"/>
          </p:cNvSpPr>
          <p:nvPr>
            <p:ph type="title"/>
          </p:nvPr>
        </p:nvSpPr>
        <p:spPr>
          <a:xfrm>
            <a:off x="484981" y="738189"/>
            <a:ext cx="8204200" cy="1011237"/>
          </a:xfrm>
          <a:noFill/>
        </p:spPr>
        <p:txBody>
          <a:bodyPr lIns="92075" tIns="46038" rIns="92075" bIns="46038" anchor="ctr"/>
          <a:lstStyle/>
          <a:p>
            <a:pPr eaLnBrk="1" hangingPunct="1"/>
            <a:r>
              <a:rPr lang="en-US" altLang="en-US" sz="3500" dirty="0"/>
              <a:t>Cash Flows to Apple for One Outcome</a:t>
            </a:r>
            <a:br>
              <a:rPr lang="en-US" altLang="en-US" sz="3500" dirty="0"/>
            </a:br>
            <a:r>
              <a:rPr lang="en-US" altLang="en-US" sz="2200" dirty="0"/>
              <a:t>(See Table 7.1)</a:t>
            </a:r>
            <a:endParaRPr lang="en-US" altLang="en-US" sz="3500" dirty="0"/>
          </a:p>
        </p:txBody>
      </p:sp>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21509" name="Slide Number Placeholder 6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D6EA468-405D-42D0-9132-4A4753760BA6}" type="slidenum">
              <a:rPr lang="en-US" altLang="en-US" sz="1800"/>
              <a:pPr>
                <a:spcBef>
                  <a:spcPct val="0"/>
                </a:spcBef>
                <a:buClrTx/>
                <a:buSzTx/>
                <a:buFontTx/>
                <a:buNone/>
              </a:pPr>
              <a:t>4</a:t>
            </a:fld>
            <a:endParaRPr lang="en-US" altLang="en-US" sz="1800"/>
          </a:p>
        </p:txBody>
      </p:sp>
      <p:graphicFrame>
        <p:nvGraphicFramePr>
          <p:cNvPr id="2" name="Table 1"/>
          <p:cNvGraphicFramePr>
            <a:graphicFrameLocks noGrp="1"/>
          </p:cNvGraphicFramePr>
          <p:nvPr>
            <p:extLst>
              <p:ext uri="{D42A27DB-BD31-4B8C-83A1-F6EECF244321}">
                <p14:modId xmlns:p14="http://schemas.microsoft.com/office/powerpoint/2010/main" val="2286294756"/>
              </p:ext>
            </p:extLst>
          </p:nvPr>
        </p:nvGraphicFramePr>
        <p:xfrm>
          <a:off x="826528" y="2012929"/>
          <a:ext cx="6913824" cy="4035555"/>
        </p:xfrm>
        <a:graphic>
          <a:graphicData uri="http://schemas.openxmlformats.org/drawingml/2006/table">
            <a:tbl>
              <a:tblPr firstRow="1" bandRow="1">
                <a:tableStyleId>{5940675A-B579-460E-94D1-54222C63F5DA}</a:tableStyleId>
              </a:tblPr>
              <a:tblGrid>
                <a:gridCol w="1680000">
                  <a:extLst>
                    <a:ext uri="{9D8B030D-6E8A-4147-A177-3AD203B41FA5}">
                      <a16:colId xmlns:a16="http://schemas.microsoft.com/office/drawing/2014/main" val="87919747"/>
                    </a:ext>
                  </a:extLst>
                </a:gridCol>
                <a:gridCol w="1224136">
                  <a:extLst>
                    <a:ext uri="{9D8B030D-6E8A-4147-A177-3AD203B41FA5}">
                      <a16:colId xmlns:a16="http://schemas.microsoft.com/office/drawing/2014/main" val="497714357"/>
                    </a:ext>
                  </a:extLst>
                </a:gridCol>
                <a:gridCol w="1368152">
                  <a:extLst>
                    <a:ext uri="{9D8B030D-6E8A-4147-A177-3AD203B41FA5}">
                      <a16:colId xmlns:a16="http://schemas.microsoft.com/office/drawing/2014/main" val="4013689170"/>
                    </a:ext>
                  </a:extLst>
                </a:gridCol>
                <a:gridCol w="1368152">
                  <a:extLst>
                    <a:ext uri="{9D8B030D-6E8A-4147-A177-3AD203B41FA5}">
                      <a16:colId xmlns:a16="http://schemas.microsoft.com/office/drawing/2014/main" val="3174650698"/>
                    </a:ext>
                  </a:extLst>
                </a:gridCol>
                <a:gridCol w="1273384">
                  <a:extLst>
                    <a:ext uri="{9D8B030D-6E8A-4147-A177-3AD203B41FA5}">
                      <a16:colId xmlns:a16="http://schemas.microsoft.com/office/drawing/2014/main" val="3489685442"/>
                    </a:ext>
                  </a:extLst>
                </a:gridCol>
              </a:tblGrid>
              <a:tr h="1056031">
                <a:tc>
                  <a:txBody>
                    <a:bodyPr/>
                    <a:lstStyle/>
                    <a:p>
                      <a:r>
                        <a:rPr lang="en-US" dirty="0"/>
                        <a:t>Date</a:t>
                      </a:r>
                      <a:endParaRPr lang="en-CA" dirty="0"/>
                    </a:p>
                  </a:txBody>
                  <a:tcPr/>
                </a:tc>
                <a:tc>
                  <a:txBody>
                    <a:bodyPr/>
                    <a:lstStyle/>
                    <a:p>
                      <a:pPr algn="ctr"/>
                      <a:r>
                        <a:rPr lang="en-US" dirty="0"/>
                        <a:t>SOFR Rate (%)</a:t>
                      </a:r>
                      <a:endParaRPr lang="en-CA" dirty="0"/>
                    </a:p>
                  </a:txBody>
                  <a:tcPr/>
                </a:tc>
                <a:tc>
                  <a:txBody>
                    <a:bodyPr/>
                    <a:lstStyle/>
                    <a:p>
                      <a:pPr algn="ctr"/>
                      <a:r>
                        <a:rPr lang="en-US" dirty="0"/>
                        <a:t>Floating</a:t>
                      </a:r>
                      <a:r>
                        <a:rPr lang="en-US" baseline="0" dirty="0"/>
                        <a:t> Received (‘000s)</a:t>
                      </a:r>
                      <a:endParaRPr lang="en-CA" dirty="0"/>
                    </a:p>
                  </a:txBody>
                  <a:tcPr/>
                </a:tc>
                <a:tc>
                  <a:txBody>
                    <a:bodyPr/>
                    <a:lstStyle/>
                    <a:p>
                      <a:pPr algn="ctr"/>
                      <a:r>
                        <a:rPr lang="en-US" dirty="0"/>
                        <a:t>Fixed Paid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(‘000s)</a:t>
                      </a:r>
                      <a:endParaRPr lang="en-CA" dirty="0"/>
                    </a:p>
                    <a:p>
                      <a:pPr algn="ctr"/>
                      <a:endParaRPr lang="en-CA" dirty="0"/>
                    </a:p>
                  </a:txBody>
                  <a:tcPr/>
                </a:tc>
                <a:tc>
                  <a:txBody>
                    <a:bodyPr/>
                    <a:lstStyle/>
                    <a:p>
                      <a:pPr algn="ctr"/>
                      <a:r>
                        <a:rPr lang="en-US" dirty="0"/>
                        <a:t>Net cash flow</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(‘000s)</a:t>
                      </a:r>
                      <a:endParaRPr lang="en-CA" dirty="0"/>
                    </a:p>
                  </a:txBody>
                  <a:tcPr/>
                </a:tc>
                <a:extLst>
                  <a:ext uri="{0D108BD9-81ED-4DB2-BD59-A6C34878D82A}">
                    <a16:rowId xmlns:a16="http://schemas.microsoft.com/office/drawing/2014/main" val="1217478846"/>
                  </a:ext>
                </a:extLst>
              </a:tr>
              <a:tr h="370840">
                <a:tc>
                  <a:txBody>
                    <a:bodyPr/>
                    <a:lstStyle/>
                    <a:p>
                      <a:r>
                        <a:rPr lang="en-US" dirty="0"/>
                        <a:t>June 8, 2022</a:t>
                      </a:r>
                      <a:endParaRPr lang="en-CA" dirty="0"/>
                    </a:p>
                  </a:txBody>
                  <a:tcPr/>
                </a:tc>
                <a:tc>
                  <a:txBody>
                    <a:bodyPr/>
                    <a:lstStyle/>
                    <a:p>
                      <a:pPr algn="ctr"/>
                      <a:r>
                        <a:rPr lang="en-US" dirty="0"/>
                        <a:t>2.20</a:t>
                      </a:r>
                      <a:endParaRPr lang="en-CA" dirty="0"/>
                    </a:p>
                  </a:txBody>
                  <a:tcPr/>
                </a:tc>
                <a:tc>
                  <a:txBody>
                    <a:bodyPr/>
                    <a:lstStyle/>
                    <a:p>
                      <a:pPr algn="ctr"/>
                      <a:r>
                        <a:rPr lang="en-US" dirty="0"/>
                        <a:t>550</a:t>
                      </a:r>
                      <a:endParaRPr lang="en-CA" dirty="0"/>
                    </a:p>
                  </a:txBody>
                  <a:tcPr/>
                </a:tc>
                <a:tc>
                  <a:txBody>
                    <a:bodyPr/>
                    <a:lstStyle/>
                    <a:p>
                      <a:pPr algn="ctr"/>
                      <a:r>
                        <a:rPr lang="en-US" dirty="0"/>
                        <a:t>750</a:t>
                      </a:r>
                      <a:endParaRPr lang="en-CA" dirty="0"/>
                    </a:p>
                  </a:txBody>
                  <a:tcPr/>
                </a:tc>
                <a:tc>
                  <a:txBody>
                    <a:bodyPr/>
                    <a:lstStyle/>
                    <a:p>
                      <a:pPr algn="ctr"/>
                      <a:r>
                        <a:rPr lang="en-US" dirty="0"/>
                        <a:t>-200</a:t>
                      </a:r>
                      <a:endParaRPr lang="en-CA" dirty="0"/>
                    </a:p>
                  </a:txBody>
                  <a:tcPr/>
                </a:tc>
                <a:extLst>
                  <a:ext uri="{0D108BD9-81ED-4DB2-BD59-A6C34878D82A}">
                    <a16:rowId xmlns:a16="http://schemas.microsoft.com/office/drawing/2014/main" val="1873422864"/>
                  </a:ext>
                </a:extLst>
              </a:tr>
              <a:tr h="370840">
                <a:tc>
                  <a:txBody>
                    <a:bodyPr/>
                    <a:lstStyle/>
                    <a:p>
                      <a:r>
                        <a:rPr lang="en-US" dirty="0"/>
                        <a:t>Sept 8, 2022</a:t>
                      </a:r>
                      <a:endParaRPr lang="en-CA" dirty="0"/>
                    </a:p>
                  </a:txBody>
                  <a:tcPr/>
                </a:tc>
                <a:tc>
                  <a:txBody>
                    <a:bodyPr/>
                    <a:lstStyle/>
                    <a:p>
                      <a:pPr algn="ctr"/>
                      <a:r>
                        <a:rPr lang="en-US" dirty="0"/>
                        <a:t>2.60</a:t>
                      </a:r>
                      <a:endParaRPr lang="en-CA" dirty="0"/>
                    </a:p>
                  </a:txBody>
                  <a:tcPr/>
                </a:tc>
                <a:tc>
                  <a:txBody>
                    <a:bodyPr/>
                    <a:lstStyle/>
                    <a:p>
                      <a:pPr algn="ctr"/>
                      <a:r>
                        <a:rPr lang="en-US" dirty="0"/>
                        <a:t>650</a:t>
                      </a:r>
                      <a:endParaRPr lang="en-CA" dirty="0"/>
                    </a:p>
                  </a:txBody>
                  <a:tcPr/>
                </a:tc>
                <a:tc>
                  <a:txBody>
                    <a:bodyPr/>
                    <a:lstStyle/>
                    <a:p>
                      <a:pPr algn="ctr"/>
                      <a:r>
                        <a:rPr lang="en-US" dirty="0"/>
                        <a:t>750</a:t>
                      </a:r>
                      <a:endParaRPr lang="en-CA" dirty="0"/>
                    </a:p>
                  </a:txBody>
                  <a:tcPr/>
                </a:tc>
                <a:tc>
                  <a:txBody>
                    <a:bodyPr/>
                    <a:lstStyle/>
                    <a:p>
                      <a:pPr algn="ctr"/>
                      <a:r>
                        <a:rPr lang="en-US" dirty="0"/>
                        <a:t>-100</a:t>
                      </a:r>
                      <a:endParaRPr lang="en-CA" dirty="0"/>
                    </a:p>
                  </a:txBody>
                  <a:tcPr/>
                </a:tc>
                <a:extLst>
                  <a:ext uri="{0D108BD9-81ED-4DB2-BD59-A6C34878D82A}">
                    <a16:rowId xmlns:a16="http://schemas.microsoft.com/office/drawing/2014/main" val="2474218144"/>
                  </a:ext>
                </a:extLst>
              </a:tr>
              <a:tr h="370840">
                <a:tc>
                  <a:txBody>
                    <a:bodyPr/>
                    <a:lstStyle/>
                    <a:p>
                      <a:r>
                        <a:rPr lang="en-US" dirty="0"/>
                        <a:t>Dec 8, 2022</a:t>
                      </a:r>
                      <a:endParaRPr lang="en-CA" dirty="0"/>
                    </a:p>
                  </a:txBody>
                  <a:tcPr/>
                </a:tc>
                <a:tc>
                  <a:txBody>
                    <a:bodyPr/>
                    <a:lstStyle/>
                    <a:p>
                      <a:pPr algn="ctr"/>
                      <a:r>
                        <a:rPr lang="en-US" dirty="0"/>
                        <a:t>2.80</a:t>
                      </a:r>
                      <a:endParaRPr lang="en-CA" dirty="0"/>
                    </a:p>
                  </a:txBody>
                  <a:tcPr/>
                </a:tc>
                <a:tc>
                  <a:txBody>
                    <a:bodyPr/>
                    <a:lstStyle/>
                    <a:p>
                      <a:pPr algn="ctr"/>
                      <a:r>
                        <a:rPr lang="en-US" dirty="0"/>
                        <a:t>700</a:t>
                      </a:r>
                      <a:endParaRPr lang="en-CA" dirty="0"/>
                    </a:p>
                  </a:txBody>
                  <a:tcPr/>
                </a:tc>
                <a:tc>
                  <a:txBody>
                    <a:bodyPr/>
                    <a:lstStyle/>
                    <a:p>
                      <a:pPr algn="ctr"/>
                      <a:r>
                        <a:rPr lang="en-US" dirty="0"/>
                        <a:t>750</a:t>
                      </a:r>
                      <a:endParaRPr lang="en-CA" dirty="0"/>
                    </a:p>
                  </a:txBody>
                  <a:tcPr/>
                </a:tc>
                <a:tc>
                  <a:txBody>
                    <a:bodyPr/>
                    <a:lstStyle/>
                    <a:p>
                      <a:pPr algn="ctr"/>
                      <a:r>
                        <a:rPr lang="en-US" dirty="0"/>
                        <a:t>-50</a:t>
                      </a:r>
                      <a:endParaRPr lang="en-CA" dirty="0"/>
                    </a:p>
                  </a:txBody>
                  <a:tcPr/>
                </a:tc>
                <a:extLst>
                  <a:ext uri="{0D108BD9-81ED-4DB2-BD59-A6C34878D82A}">
                    <a16:rowId xmlns:a16="http://schemas.microsoft.com/office/drawing/2014/main" val="302221726"/>
                  </a:ext>
                </a:extLst>
              </a:tr>
              <a:tr h="370840">
                <a:tc>
                  <a:txBody>
                    <a:bodyPr/>
                    <a:lstStyle/>
                    <a:p>
                      <a:r>
                        <a:rPr lang="en-US" dirty="0"/>
                        <a:t>Mar 8, 2023</a:t>
                      </a:r>
                      <a:endParaRPr lang="en-CA" dirty="0"/>
                    </a:p>
                  </a:txBody>
                  <a:tcPr/>
                </a:tc>
                <a:tc>
                  <a:txBody>
                    <a:bodyPr/>
                    <a:lstStyle/>
                    <a:p>
                      <a:pPr algn="ctr"/>
                      <a:r>
                        <a:rPr lang="en-US" dirty="0"/>
                        <a:t>3.10</a:t>
                      </a:r>
                      <a:endParaRPr lang="en-CA" dirty="0"/>
                    </a:p>
                  </a:txBody>
                  <a:tcPr/>
                </a:tc>
                <a:tc>
                  <a:txBody>
                    <a:bodyPr/>
                    <a:lstStyle/>
                    <a:p>
                      <a:pPr algn="ctr"/>
                      <a:r>
                        <a:rPr lang="en-US" dirty="0"/>
                        <a:t>775</a:t>
                      </a:r>
                      <a:endParaRPr lang="en-CA" dirty="0"/>
                    </a:p>
                  </a:txBody>
                  <a:tcPr/>
                </a:tc>
                <a:tc>
                  <a:txBody>
                    <a:bodyPr/>
                    <a:lstStyle/>
                    <a:p>
                      <a:pPr algn="ctr"/>
                      <a:r>
                        <a:rPr lang="en-US" dirty="0"/>
                        <a:t>750</a:t>
                      </a:r>
                      <a:endParaRPr lang="en-CA" dirty="0"/>
                    </a:p>
                  </a:txBody>
                  <a:tcPr/>
                </a:tc>
                <a:tc>
                  <a:txBody>
                    <a:bodyPr/>
                    <a:lstStyle/>
                    <a:p>
                      <a:pPr algn="ctr"/>
                      <a:r>
                        <a:rPr lang="en-US" dirty="0"/>
                        <a:t>+25</a:t>
                      </a:r>
                      <a:endParaRPr lang="en-CA" dirty="0"/>
                    </a:p>
                  </a:txBody>
                  <a:tcPr/>
                </a:tc>
                <a:extLst>
                  <a:ext uri="{0D108BD9-81ED-4DB2-BD59-A6C34878D82A}">
                    <a16:rowId xmlns:a16="http://schemas.microsoft.com/office/drawing/2014/main" val="1499228009"/>
                  </a:ext>
                </a:extLst>
              </a:tr>
              <a:tr h="370840">
                <a:tc>
                  <a:txBody>
                    <a:bodyPr/>
                    <a:lstStyle/>
                    <a:p>
                      <a:r>
                        <a:rPr lang="en-US" dirty="0"/>
                        <a:t>June 8, 2023</a:t>
                      </a:r>
                      <a:endParaRPr lang="en-CA" dirty="0"/>
                    </a:p>
                  </a:txBody>
                  <a:tcPr/>
                </a:tc>
                <a:tc>
                  <a:txBody>
                    <a:bodyPr/>
                    <a:lstStyle/>
                    <a:p>
                      <a:pPr algn="ctr"/>
                      <a:r>
                        <a:rPr lang="en-US" dirty="0"/>
                        <a:t>3.30</a:t>
                      </a:r>
                      <a:endParaRPr lang="en-CA" dirty="0"/>
                    </a:p>
                  </a:txBody>
                  <a:tcPr/>
                </a:tc>
                <a:tc>
                  <a:txBody>
                    <a:bodyPr/>
                    <a:lstStyle/>
                    <a:p>
                      <a:pPr algn="ctr"/>
                      <a:r>
                        <a:rPr lang="en-US" dirty="0"/>
                        <a:t>825</a:t>
                      </a:r>
                      <a:endParaRPr lang="en-CA" dirty="0"/>
                    </a:p>
                  </a:txBody>
                  <a:tcPr/>
                </a:tc>
                <a:tc>
                  <a:txBody>
                    <a:bodyPr/>
                    <a:lstStyle/>
                    <a:p>
                      <a:pPr algn="ctr"/>
                      <a:r>
                        <a:rPr lang="en-US" dirty="0"/>
                        <a:t>750</a:t>
                      </a:r>
                      <a:endParaRPr lang="en-CA" dirty="0"/>
                    </a:p>
                  </a:txBody>
                  <a:tcPr/>
                </a:tc>
                <a:tc>
                  <a:txBody>
                    <a:bodyPr/>
                    <a:lstStyle/>
                    <a:p>
                      <a:pPr algn="ctr"/>
                      <a:r>
                        <a:rPr lang="en-US" dirty="0"/>
                        <a:t>+75</a:t>
                      </a:r>
                      <a:endParaRPr lang="en-CA" dirty="0"/>
                    </a:p>
                  </a:txBody>
                  <a:tcPr/>
                </a:tc>
                <a:extLst>
                  <a:ext uri="{0D108BD9-81ED-4DB2-BD59-A6C34878D82A}">
                    <a16:rowId xmlns:a16="http://schemas.microsoft.com/office/drawing/2014/main" val="3856821215"/>
                  </a:ext>
                </a:extLst>
              </a:tr>
              <a:tr h="370840">
                <a:tc>
                  <a:txBody>
                    <a:bodyPr/>
                    <a:lstStyle/>
                    <a:p>
                      <a:r>
                        <a:rPr lang="en-US" dirty="0"/>
                        <a:t>Sept 8, 2023</a:t>
                      </a:r>
                      <a:endParaRPr lang="en-CA" dirty="0"/>
                    </a:p>
                  </a:txBody>
                  <a:tcPr/>
                </a:tc>
                <a:tc>
                  <a:txBody>
                    <a:bodyPr/>
                    <a:lstStyle/>
                    <a:p>
                      <a:pPr algn="ctr"/>
                      <a:r>
                        <a:rPr lang="en-US" dirty="0"/>
                        <a:t>3.40</a:t>
                      </a:r>
                      <a:endParaRPr lang="en-CA" dirty="0"/>
                    </a:p>
                  </a:txBody>
                  <a:tcPr/>
                </a:tc>
                <a:tc>
                  <a:txBody>
                    <a:bodyPr/>
                    <a:lstStyle/>
                    <a:p>
                      <a:pPr algn="ctr"/>
                      <a:r>
                        <a:rPr lang="en-US" dirty="0"/>
                        <a:t>850</a:t>
                      </a:r>
                      <a:endParaRPr lang="en-CA" dirty="0"/>
                    </a:p>
                  </a:txBody>
                  <a:tcPr/>
                </a:tc>
                <a:tc>
                  <a:txBody>
                    <a:bodyPr/>
                    <a:lstStyle/>
                    <a:p>
                      <a:pPr algn="ctr"/>
                      <a:r>
                        <a:rPr lang="en-US" dirty="0"/>
                        <a:t>750</a:t>
                      </a:r>
                      <a:endParaRPr lang="en-CA" dirty="0"/>
                    </a:p>
                  </a:txBody>
                  <a:tcPr/>
                </a:tc>
                <a:tc>
                  <a:txBody>
                    <a:bodyPr/>
                    <a:lstStyle/>
                    <a:p>
                      <a:pPr algn="ctr"/>
                      <a:r>
                        <a:rPr lang="en-US" dirty="0"/>
                        <a:t>+100</a:t>
                      </a:r>
                      <a:endParaRPr lang="en-CA" dirty="0"/>
                    </a:p>
                  </a:txBody>
                  <a:tcPr/>
                </a:tc>
                <a:extLst>
                  <a:ext uri="{0D108BD9-81ED-4DB2-BD59-A6C34878D82A}">
                    <a16:rowId xmlns:a16="http://schemas.microsoft.com/office/drawing/2014/main" val="3905560794"/>
                  </a:ext>
                </a:extLst>
              </a:tr>
              <a:tr h="383644">
                <a:tc>
                  <a:txBody>
                    <a:bodyPr/>
                    <a:lstStyle/>
                    <a:p>
                      <a:r>
                        <a:rPr lang="en-US" dirty="0"/>
                        <a:t>Dec 8, 2023</a:t>
                      </a:r>
                      <a:endParaRPr lang="en-CA" dirty="0"/>
                    </a:p>
                  </a:txBody>
                  <a:tcPr/>
                </a:tc>
                <a:tc>
                  <a:txBody>
                    <a:bodyPr/>
                    <a:lstStyle/>
                    <a:p>
                      <a:pPr algn="ctr"/>
                      <a:r>
                        <a:rPr lang="en-US" dirty="0"/>
                        <a:t>3.60</a:t>
                      </a:r>
                      <a:endParaRPr lang="en-CA" dirty="0"/>
                    </a:p>
                  </a:txBody>
                  <a:tcPr/>
                </a:tc>
                <a:tc>
                  <a:txBody>
                    <a:bodyPr/>
                    <a:lstStyle/>
                    <a:p>
                      <a:pPr algn="ctr"/>
                      <a:r>
                        <a:rPr lang="en-US" dirty="0"/>
                        <a:t>900</a:t>
                      </a:r>
                      <a:endParaRPr lang="en-CA" dirty="0"/>
                    </a:p>
                  </a:txBody>
                  <a:tcPr/>
                </a:tc>
                <a:tc>
                  <a:txBody>
                    <a:bodyPr/>
                    <a:lstStyle/>
                    <a:p>
                      <a:pPr algn="ctr"/>
                      <a:r>
                        <a:rPr lang="en-US" dirty="0"/>
                        <a:t>750</a:t>
                      </a:r>
                      <a:endParaRPr lang="en-CA" dirty="0"/>
                    </a:p>
                  </a:txBody>
                  <a:tcPr/>
                </a:tc>
                <a:tc>
                  <a:txBody>
                    <a:bodyPr/>
                    <a:lstStyle/>
                    <a:p>
                      <a:pPr algn="ctr"/>
                      <a:r>
                        <a:rPr lang="en-US" dirty="0"/>
                        <a:t>+150</a:t>
                      </a:r>
                      <a:endParaRPr lang="en-CA" dirty="0"/>
                    </a:p>
                  </a:txBody>
                  <a:tcPr/>
                </a:tc>
                <a:extLst>
                  <a:ext uri="{0D108BD9-81ED-4DB2-BD59-A6C34878D82A}">
                    <a16:rowId xmlns:a16="http://schemas.microsoft.com/office/drawing/2014/main" val="3437151254"/>
                  </a:ext>
                </a:extLst>
              </a:tr>
              <a:tr h="370840">
                <a:tc>
                  <a:txBody>
                    <a:bodyPr/>
                    <a:lstStyle/>
                    <a:p>
                      <a:r>
                        <a:rPr lang="en-US" dirty="0"/>
                        <a:t>Mar 8, 2024</a:t>
                      </a:r>
                      <a:endParaRPr lang="en-CA" dirty="0"/>
                    </a:p>
                  </a:txBody>
                  <a:tcPr/>
                </a:tc>
                <a:tc>
                  <a:txBody>
                    <a:bodyPr/>
                    <a:lstStyle/>
                    <a:p>
                      <a:pPr algn="ctr"/>
                      <a:r>
                        <a:rPr lang="en-US" dirty="0"/>
                        <a:t>3.80</a:t>
                      </a:r>
                      <a:endParaRPr lang="en-CA" dirty="0"/>
                    </a:p>
                  </a:txBody>
                  <a:tcPr/>
                </a:tc>
                <a:tc>
                  <a:txBody>
                    <a:bodyPr/>
                    <a:lstStyle/>
                    <a:p>
                      <a:pPr algn="ctr"/>
                      <a:r>
                        <a:rPr lang="en-US" dirty="0"/>
                        <a:t>950</a:t>
                      </a:r>
                      <a:endParaRPr lang="en-CA" dirty="0"/>
                    </a:p>
                  </a:txBody>
                  <a:tcPr/>
                </a:tc>
                <a:tc>
                  <a:txBody>
                    <a:bodyPr/>
                    <a:lstStyle/>
                    <a:p>
                      <a:pPr algn="ctr"/>
                      <a:r>
                        <a:rPr lang="en-US" dirty="0"/>
                        <a:t>750</a:t>
                      </a:r>
                      <a:endParaRPr lang="en-CA" dirty="0"/>
                    </a:p>
                  </a:txBody>
                  <a:tcPr/>
                </a:tc>
                <a:tc>
                  <a:txBody>
                    <a:bodyPr/>
                    <a:lstStyle/>
                    <a:p>
                      <a:pPr algn="ctr"/>
                      <a:r>
                        <a:rPr lang="en-US" dirty="0"/>
                        <a:t>+200</a:t>
                      </a:r>
                      <a:endParaRPr lang="en-CA" dirty="0"/>
                    </a:p>
                  </a:txBody>
                  <a:tcPr/>
                </a:tc>
                <a:extLst>
                  <a:ext uri="{0D108BD9-81ED-4DB2-BD59-A6C34878D82A}">
                    <a16:rowId xmlns:a16="http://schemas.microsoft.com/office/drawing/2014/main" val="1913349628"/>
                  </a:ext>
                </a:extLst>
              </a:tr>
            </a:tbl>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850" y="0"/>
            <a:ext cx="7848550" cy="2924944"/>
          </a:xfrm>
        </p:spPr>
        <p:txBody>
          <a:bodyPr lIns="92075" tIns="46038" rIns="92075" bIns="46038"/>
          <a:lstStyle/>
          <a:p>
            <a:pPr eaLnBrk="1" hangingPunct="1"/>
            <a:r>
              <a:rPr lang="en-US" altLang="en-US" sz="3500" dirty="0"/>
              <a:t>An Example of a “Plain Vanilla” </a:t>
            </a:r>
            <a:r>
              <a:rPr lang="hu-HU" altLang="en-US" sz="3500" dirty="0">
                <a:solidFill>
                  <a:srgbClr val="FF0000"/>
                </a:solidFill>
              </a:rPr>
              <a:t>LIBOR</a:t>
            </a:r>
            <a:r>
              <a:rPr lang="en-US" altLang="en-US" sz="3500" dirty="0"/>
              <a:t> Indexed Swap</a:t>
            </a:r>
          </a:p>
        </p:txBody>
      </p:sp>
      <p:sp>
        <p:nvSpPr>
          <p:cNvPr id="19459" name="Rectangle 3"/>
          <p:cNvSpPr>
            <a:spLocks noGrp="1" noChangeArrowheads="1"/>
          </p:cNvSpPr>
          <p:nvPr>
            <p:ph idx="1"/>
          </p:nvPr>
        </p:nvSpPr>
        <p:spPr>
          <a:xfrm>
            <a:off x="874713" y="2399508"/>
            <a:ext cx="7583487" cy="3829050"/>
          </a:xfrm>
        </p:spPr>
        <p:txBody>
          <a:bodyPr lIns="92075" tIns="46038" rIns="92075" bIns="46038"/>
          <a:lstStyle/>
          <a:p>
            <a:pPr eaLnBrk="1" hangingPunct="1"/>
            <a:r>
              <a:rPr lang="en-US" altLang="en-US" dirty="0">
                <a:cs typeface="Arial" panose="020B0604020202020204" pitchFamily="34" charset="0"/>
              </a:rPr>
              <a:t>Deal </a:t>
            </a:r>
            <a:r>
              <a:rPr lang="en-US" altLang="en-US" dirty="0"/>
              <a:t>e</a:t>
            </a:r>
            <a:r>
              <a:rPr lang="en-US" altLang="en-US" dirty="0">
                <a:cs typeface="Arial" panose="020B0604020202020204" pitchFamily="34" charset="0"/>
              </a:rPr>
              <a:t>ntered into on March 8, 2022 </a:t>
            </a:r>
            <a:r>
              <a:rPr lang="hu-HU" altLang="en-US" dirty="0">
                <a:solidFill>
                  <a:srgbClr val="FF0000"/>
                </a:solidFill>
                <a:cs typeface="Arial" panose="020B0604020202020204" pitchFamily="34" charset="0"/>
              </a:rPr>
              <a:t>(LIBOR=2%) </a:t>
            </a:r>
            <a:r>
              <a:rPr lang="en-US" altLang="en-US" dirty="0">
                <a:cs typeface="Arial" panose="020B0604020202020204" pitchFamily="34" charset="0"/>
              </a:rPr>
              <a:t>where Apple agrees to receive 3-month </a:t>
            </a:r>
            <a:r>
              <a:rPr lang="hu-HU" altLang="en-US" dirty="0">
                <a:solidFill>
                  <a:srgbClr val="FF0000"/>
                </a:solidFill>
              </a:rPr>
              <a:t>LIBOR</a:t>
            </a:r>
            <a:r>
              <a:rPr lang="en-US" altLang="en-US" dirty="0">
                <a:cs typeface="Arial" panose="020B0604020202020204" pitchFamily="34" charset="0"/>
              </a:rPr>
              <a:t> &amp; pay a fixed rate of 3% per annum every 3 months for 2 years on a notional principal of $100 million</a:t>
            </a:r>
            <a:r>
              <a:rPr lang="hu-HU" altLang="en-US" dirty="0"/>
              <a:t>.</a:t>
            </a:r>
            <a:endParaRPr lang="en-US" altLang="en-US" dirty="0">
              <a:cs typeface="Arial" panose="020B0604020202020204" pitchFamily="34" charset="0"/>
            </a:endParaRPr>
          </a:p>
          <a:p>
            <a:pPr eaLnBrk="1" hangingPunct="1"/>
            <a:r>
              <a:rPr lang="en-US" altLang="en-US" dirty="0">
                <a:cs typeface="Arial" panose="020B0604020202020204" pitchFamily="34" charset="0"/>
              </a:rPr>
              <a:t>Next slide illustrates cash flows that could occur (Day count conventions are not considered)</a:t>
            </a: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a:cs typeface="Arial" panose="020B0604020202020204" pitchFamily="34" charset="0"/>
            </a:endParaRP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B70A4D7-BC67-4D3E-8D15-DBFB35746289}" type="slidenum">
              <a:rPr lang="en-US" altLang="en-US" sz="1800"/>
              <a:pPr>
                <a:spcBef>
                  <a:spcPct val="0"/>
                </a:spcBef>
                <a:buClrTx/>
                <a:buSzTx/>
                <a:buFontTx/>
                <a:buNone/>
              </a:pPr>
              <a:t>5</a:t>
            </a:fld>
            <a:endParaRPr lang="en-US" altLang="en-US" sz="1800"/>
          </a:p>
        </p:txBody>
      </p:sp>
    </p:spTree>
    <p:extLst>
      <p:ext uri="{BB962C8B-B14F-4D97-AF65-F5344CB8AC3E}">
        <p14:creationId xmlns:p14="http://schemas.microsoft.com/office/powerpoint/2010/main" val="82363059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58"/>
          <p:cNvSpPr>
            <a:spLocks noGrp="1" noChangeArrowheads="1"/>
          </p:cNvSpPr>
          <p:nvPr>
            <p:ph type="title"/>
          </p:nvPr>
        </p:nvSpPr>
        <p:spPr>
          <a:xfrm>
            <a:off x="484981" y="738189"/>
            <a:ext cx="8204200" cy="1011237"/>
          </a:xfrm>
          <a:noFill/>
        </p:spPr>
        <p:txBody>
          <a:bodyPr lIns="92075" tIns="46038" rIns="92075" bIns="46038" anchor="ctr"/>
          <a:lstStyle/>
          <a:p>
            <a:pPr eaLnBrk="1" hangingPunct="1"/>
            <a:r>
              <a:rPr lang="en-US" altLang="en-US" sz="3500" dirty="0"/>
              <a:t>Cash Flows to Apple for One Outcome</a:t>
            </a:r>
            <a:br>
              <a:rPr lang="en-US" altLang="en-US" sz="3500" dirty="0"/>
            </a:br>
            <a:r>
              <a:rPr lang="hu-HU" altLang="en-US" sz="2200" dirty="0">
                <a:solidFill>
                  <a:srgbClr val="FF0000"/>
                </a:solidFill>
              </a:rPr>
              <a:t>(LIBOR on March 8, 2000 = 2%</a:t>
            </a:r>
            <a:endParaRPr lang="en-US" altLang="en-US" sz="3500" dirty="0">
              <a:solidFill>
                <a:srgbClr val="FF0000"/>
              </a:solidFill>
            </a:endParaRPr>
          </a:p>
        </p:txBody>
      </p:sp>
      <p:sp>
        <p:nvSpPr>
          <p:cNvPr id="2150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21509" name="Slide Number Placeholder 6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D6EA468-405D-42D0-9132-4A4753760BA6}" type="slidenum">
              <a:rPr lang="en-US" altLang="en-US" sz="1800"/>
              <a:pPr>
                <a:spcBef>
                  <a:spcPct val="0"/>
                </a:spcBef>
                <a:buClrTx/>
                <a:buSzTx/>
                <a:buFontTx/>
                <a:buNone/>
              </a:pPr>
              <a:t>6</a:t>
            </a:fld>
            <a:endParaRPr lang="en-US" altLang="en-US" sz="1800"/>
          </a:p>
        </p:txBody>
      </p:sp>
      <p:graphicFrame>
        <p:nvGraphicFramePr>
          <p:cNvPr id="2" name="Table 1"/>
          <p:cNvGraphicFramePr>
            <a:graphicFrameLocks noGrp="1"/>
          </p:cNvGraphicFramePr>
          <p:nvPr>
            <p:extLst>
              <p:ext uri="{D42A27DB-BD31-4B8C-83A1-F6EECF244321}">
                <p14:modId xmlns:p14="http://schemas.microsoft.com/office/powerpoint/2010/main" val="3872649396"/>
              </p:ext>
            </p:extLst>
          </p:nvPr>
        </p:nvGraphicFramePr>
        <p:xfrm>
          <a:off x="826528" y="2012929"/>
          <a:ext cx="6913824" cy="4168244"/>
        </p:xfrm>
        <a:graphic>
          <a:graphicData uri="http://schemas.openxmlformats.org/drawingml/2006/table">
            <a:tbl>
              <a:tblPr firstRow="1" bandRow="1">
                <a:tableStyleId>{5940675A-B579-460E-94D1-54222C63F5DA}</a:tableStyleId>
              </a:tblPr>
              <a:tblGrid>
                <a:gridCol w="1680000">
                  <a:extLst>
                    <a:ext uri="{9D8B030D-6E8A-4147-A177-3AD203B41FA5}">
                      <a16:colId xmlns:a16="http://schemas.microsoft.com/office/drawing/2014/main" val="87919747"/>
                    </a:ext>
                  </a:extLst>
                </a:gridCol>
                <a:gridCol w="1224136">
                  <a:extLst>
                    <a:ext uri="{9D8B030D-6E8A-4147-A177-3AD203B41FA5}">
                      <a16:colId xmlns:a16="http://schemas.microsoft.com/office/drawing/2014/main" val="497714357"/>
                    </a:ext>
                  </a:extLst>
                </a:gridCol>
                <a:gridCol w="1368152">
                  <a:extLst>
                    <a:ext uri="{9D8B030D-6E8A-4147-A177-3AD203B41FA5}">
                      <a16:colId xmlns:a16="http://schemas.microsoft.com/office/drawing/2014/main" val="4013689170"/>
                    </a:ext>
                  </a:extLst>
                </a:gridCol>
                <a:gridCol w="1368152">
                  <a:extLst>
                    <a:ext uri="{9D8B030D-6E8A-4147-A177-3AD203B41FA5}">
                      <a16:colId xmlns:a16="http://schemas.microsoft.com/office/drawing/2014/main" val="3174650698"/>
                    </a:ext>
                  </a:extLst>
                </a:gridCol>
                <a:gridCol w="1273384">
                  <a:extLst>
                    <a:ext uri="{9D8B030D-6E8A-4147-A177-3AD203B41FA5}">
                      <a16:colId xmlns:a16="http://schemas.microsoft.com/office/drawing/2014/main" val="3489685442"/>
                    </a:ext>
                  </a:extLst>
                </a:gridCol>
              </a:tblGrid>
              <a:tr h="1056031">
                <a:tc>
                  <a:txBody>
                    <a:bodyPr/>
                    <a:lstStyle/>
                    <a:p>
                      <a:r>
                        <a:rPr lang="en-US" dirty="0"/>
                        <a:t>Date</a:t>
                      </a:r>
                      <a:endParaRPr lang="hu-HU" dirty="0"/>
                    </a:p>
                    <a:p>
                      <a:endParaRPr lang="hu-HU" dirty="0"/>
                    </a:p>
                    <a:p>
                      <a:endParaRPr lang="hu-HU" dirty="0"/>
                    </a:p>
                    <a:p>
                      <a:r>
                        <a:rPr lang="hu-HU" dirty="0"/>
                        <a:t>Mar 8, 2022</a:t>
                      </a:r>
                    </a:p>
                  </a:txBody>
                  <a:tcPr/>
                </a:tc>
                <a:tc>
                  <a:txBody>
                    <a:bodyPr/>
                    <a:lstStyle/>
                    <a:p>
                      <a:pPr algn="ctr"/>
                      <a:r>
                        <a:rPr lang="hu-HU" dirty="0">
                          <a:solidFill>
                            <a:srgbClr val="FF0000"/>
                          </a:solidFill>
                        </a:rPr>
                        <a:t>LIBOR</a:t>
                      </a:r>
                      <a:r>
                        <a:rPr lang="en-US" dirty="0"/>
                        <a:t> Rate (%)</a:t>
                      </a:r>
                      <a:endParaRPr lang="hu-HU" dirty="0"/>
                    </a:p>
                    <a:p>
                      <a:pPr algn="ctr"/>
                      <a:endParaRPr lang="hu-HU" dirty="0"/>
                    </a:p>
                    <a:p>
                      <a:pPr algn="ctr"/>
                      <a:r>
                        <a:rPr lang="hu-HU" dirty="0"/>
                        <a:t>2.00</a:t>
                      </a:r>
                    </a:p>
                  </a:txBody>
                  <a:tcPr/>
                </a:tc>
                <a:tc>
                  <a:txBody>
                    <a:bodyPr/>
                    <a:lstStyle/>
                    <a:p>
                      <a:pPr algn="ctr"/>
                      <a:r>
                        <a:rPr lang="en-US" dirty="0"/>
                        <a:t>Floating</a:t>
                      </a:r>
                      <a:r>
                        <a:rPr lang="en-US" baseline="0" dirty="0"/>
                        <a:t> Received (‘000s)</a:t>
                      </a:r>
                      <a:endParaRPr lang="en-CA" dirty="0"/>
                    </a:p>
                  </a:txBody>
                  <a:tcPr/>
                </a:tc>
                <a:tc>
                  <a:txBody>
                    <a:bodyPr/>
                    <a:lstStyle/>
                    <a:p>
                      <a:pPr algn="ctr"/>
                      <a:r>
                        <a:rPr lang="en-US" dirty="0"/>
                        <a:t>Fixed Paid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(‘000s)</a:t>
                      </a:r>
                      <a:endParaRPr lang="en-CA" dirty="0"/>
                    </a:p>
                    <a:p>
                      <a:pPr algn="ctr"/>
                      <a:endParaRPr lang="en-CA" dirty="0"/>
                    </a:p>
                  </a:txBody>
                  <a:tcPr/>
                </a:tc>
                <a:tc>
                  <a:txBody>
                    <a:bodyPr/>
                    <a:lstStyle/>
                    <a:p>
                      <a:pPr algn="ctr"/>
                      <a:r>
                        <a:rPr lang="en-US" dirty="0"/>
                        <a:t>Net cash flow</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(‘000s)</a:t>
                      </a:r>
                      <a:endParaRPr lang="en-CA" dirty="0"/>
                    </a:p>
                  </a:txBody>
                  <a:tcPr/>
                </a:tc>
                <a:extLst>
                  <a:ext uri="{0D108BD9-81ED-4DB2-BD59-A6C34878D82A}">
                    <a16:rowId xmlns:a16="http://schemas.microsoft.com/office/drawing/2014/main" val="1217478846"/>
                  </a:ext>
                </a:extLst>
              </a:tr>
              <a:tr h="370840">
                <a:tc>
                  <a:txBody>
                    <a:bodyPr/>
                    <a:lstStyle/>
                    <a:p>
                      <a:r>
                        <a:rPr lang="en-US" dirty="0"/>
                        <a:t>June 8, 2022</a:t>
                      </a:r>
                      <a:endParaRPr lang="en-CA" dirty="0"/>
                    </a:p>
                  </a:txBody>
                  <a:tcPr/>
                </a:tc>
                <a:tc>
                  <a:txBody>
                    <a:bodyPr/>
                    <a:lstStyle/>
                    <a:p>
                      <a:pPr algn="ctr"/>
                      <a:r>
                        <a:rPr lang="en-US" dirty="0"/>
                        <a:t>2.20</a:t>
                      </a:r>
                      <a:endParaRPr lang="en-CA" dirty="0"/>
                    </a:p>
                  </a:txBody>
                  <a:tcPr/>
                </a:tc>
                <a:tc>
                  <a:txBody>
                    <a:bodyPr/>
                    <a:lstStyle/>
                    <a:p>
                      <a:pPr algn="ctr"/>
                      <a:r>
                        <a:rPr lang="en-US" dirty="0"/>
                        <a:t>5</a:t>
                      </a:r>
                      <a:r>
                        <a:rPr lang="hu-HU" dirty="0"/>
                        <a:t>0</a:t>
                      </a:r>
                      <a:r>
                        <a:rPr lang="en-US" dirty="0"/>
                        <a:t>0</a:t>
                      </a:r>
                      <a:endParaRPr lang="en-CA" dirty="0"/>
                    </a:p>
                  </a:txBody>
                  <a:tcPr/>
                </a:tc>
                <a:tc>
                  <a:txBody>
                    <a:bodyPr/>
                    <a:lstStyle/>
                    <a:p>
                      <a:pPr algn="ctr"/>
                      <a:r>
                        <a:rPr lang="en-US" dirty="0"/>
                        <a:t>750</a:t>
                      </a:r>
                      <a:endParaRPr lang="en-CA" dirty="0"/>
                    </a:p>
                  </a:txBody>
                  <a:tcPr/>
                </a:tc>
                <a:tc>
                  <a:txBody>
                    <a:bodyPr/>
                    <a:lstStyle/>
                    <a:p>
                      <a:pPr algn="ctr"/>
                      <a:r>
                        <a:rPr lang="en-US" dirty="0"/>
                        <a:t>-2</a:t>
                      </a:r>
                      <a:r>
                        <a:rPr lang="hu-HU" dirty="0"/>
                        <a:t>50</a:t>
                      </a:r>
                      <a:endParaRPr lang="en-CA" dirty="0"/>
                    </a:p>
                  </a:txBody>
                  <a:tcPr/>
                </a:tc>
                <a:extLst>
                  <a:ext uri="{0D108BD9-81ED-4DB2-BD59-A6C34878D82A}">
                    <a16:rowId xmlns:a16="http://schemas.microsoft.com/office/drawing/2014/main" val="1873422864"/>
                  </a:ext>
                </a:extLst>
              </a:tr>
              <a:tr h="370840">
                <a:tc>
                  <a:txBody>
                    <a:bodyPr/>
                    <a:lstStyle/>
                    <a:p>
                      <a:r>
                        <a:rPr lang="en-US" dirty="0"/>
                        <a:t>Sept 8, 2022</a:t>
                      </a:r>
                      <a:endParaRPr lang="en-CA" dirty="0"/>
                    </a:p>
                  </a:txBody>
                  <a:tcPr/>
                </a:tc>
                <a:tc>
                  <a:txBody>
                    <a:bodyPr/>
                    <a:lstStyle/>
                    <a:p>
                      <a:pPr algn="ctr"/>
                      <a:r>
                        <a:rPr lang="en-US" dirty="0"/>
                        <a:t>2.60</a:t>
                      </a:r>
                      <a:endParaRPr lang="en-CA" dirty="0"/>
                    </a:p>
                  </a:txBody>
                  <a:tcPr/>
                </a:tc>
                <a:tc>
                  <a:txBody>
                    <a:bodyPr/>
                    <a:lstStyle/>
                    <a:p>
                      <a:pPr algn="ctr"/>
                      <a:r>
                        <a:rPr lang="en-US" dirty="0"/>
                        <a:t>550</a:t>
                      </a:r>
                      <a:endParaRPr lang="en-CA" dirty="0"/>
                    </a:p>
                  </a:txBody>
                  <a:tcPr/>
                </a:tc>
                <a:tc>
                  <a:txBody>
                    <a:bodyPr/>
                    <a:lstStyle/>
                    <a:p>
                      <a:pPr algn="ctr"/>
                      <a:r>
                        <a:rPr lang="en-US" dirty="0"/>
                        <a:t>750</a:t>
                      </a:r>
                      <a:endParaRPr lang="en-CA" dirty="0"/>
                    </a:p>
                  </a:txBody>
                  <a:tcPr/>
                </a:tc>
                <a:tc>
                  <a:txBody>
                    <a:bodyPr/>
                    <a:lstStyle/>
                    <a:p>
                      <a:pPr algn="ctr"/>
                      <a:r>
                        <a:rPr lang="en-US" dirty="0"/>
                        <a:t>-200</a:t>
                      </a:r>
                      <a:endParaRPr lang="en-CA" dirty="0"/>
                    </a:p>
                  </a:txBody>
                  <a:tcPr/>
                </a:tc>
                <a:extLst>
                  <a:ext uri="{0D108BD9-81ED-4DB2-BD59-A6C34878D82A}">
                    <a16:rowId xmlns:a16="http://schemas.microsoft.com/office/drawing/2014/main" val="2474218144"/>
                  </a:ext>
                </a:extLst>
              </a:tr>
              <a:tr h="370840">
                <a:tc>
                  <a:txBody>
                    <a:bodyPr/>
                    <a:lstStyle/>
                    <a:p>
                      <a:r>
                        <a:rPr lang="en-US" dirty="0"/>
                        <a:t>Dec 8, 2022</a:t>
                      </a:r>
                      <a:endParaRPr lang="en-CA" dirty="0"/>
                    </a:p>
                  </a:txBody>
                  <a:tcPr/>
                </a:tc>
                <a:tc>
                  <a:txBody>
                    <a:bodyPr/>
                    <a:lstStyle/>
                    <a:p>
                      <a:pPr algn="ctr"/>
                      <a:r>
                        <a:rPr lang="en-US" dirty="0"/>
                        <a:t>2.80</a:t>
                      </a:r>
                      <a:endParaRPr lang="en-CA" dirty="0"/>
                    </a:p>
                  </a:txBody>
                  <a:tcPr/>
                </a:tc>
                <a:tc>
                  <a:txBody>
                    <a:bodyPr/>
                    <a:lstStyle/>
                    <a:p>
                      <a:pPr algn="ctr"/>
                      <a:r>
                        <a:rPr lang="en-US" dirty="0"/>
                        <a:t>650</a:t>
                      </a:r>
                      <a:endParaRPr lang="en-CA" dirty="0"/>
                    </a:p>
                  </a:txBody>
                  <a:tcPr/>
                </a:tc>
                <a:tc>
                  <a:txBody>
                    <a:bodyPr/>
                    <a:lstStyle/>
                    <a:p>
                      <a:pPr algn="ctr"/>
                      <a:r>
                        <a:rPr lang="en-US" dirty="0"/>
                        <a:t>750</a:t>
                      </a:r>
                      <a:endParaRPr lang="en-CA" dirty="0"/>
                    </a:p>
                  </a:txBody>
                  <a:tcPr/>
                </a:tc>
                <a:tc>
                  <a:txBody>
                    <a:bodyPr/>
                    <a:lstStyle/>
                    <a:p>
                      <a:pPr algn="ctr"/>
                      <a:r>
                        <a:rPr lang="en-US" dirty="0"/>
                        <a:t>-100</a:t>
                      </a:r>
                      <a:endParaRPr lang="en-CA" dirty="0"/>
                    </a:p>
                  </a:txBody>
                  <a:tcPr/>
                </a:tc>
                <a:extLst>
                  <a:ext uri="{0D108BD9-81ED-4DB2-BD59-A6C34878D82A}">
                    <a16:rowId xmlns:a16="http://schemas.microsoft.com/office/drawing/2014/main" val="302221726"/>
                  </a:ext>
                </a:extLst>
              </a:tr>
              <a:tr h="370840">
                <a:tc>
                  <a:txBody>
                    <a:bodyPr/>
                    <a:lstStyle/>
                    <a:p>
                      <a:r>
                        <a:rPr lang="en-US" dirty="0"/>
                        <a:t>Mar 8, 2023</a:t>
                      </a:r>
                      <a:endParaRPr lang="en-CA" dirty="0"/>
                    </a:p>
                  </a:txBody>
                  <a:tcPr/>
                </a:tc>
                <a:tc>
                  <a:txBody>
                    <a:bodyPr/>
                    <a:lstStyle/>
                    <a:p>
                      <a:pPr algn="ctr"/>
                      <a:r>
                        <a:rPr lang="en-US" dirty="0"/>
                        <a:t>3.10</a:t>
                      </a:r>
                      <a:endParaRPr lang="en-CA" dirty="0"/>
                    </a:p>
                  </a:txBody>
                  <a:tcPr/>
                </a:tc>
                <a:tc>
                  <a:txBody>
                    <a:bodyPr/>
                    <a:lstStyle/>
                    <a:p>
                      <a:pPr algn="ctr"/>
                      <a:r>
                        <a:rPr lang="en-US" dirty="0"/>
                        <a:t>700</a:t>
                      </a:r>
                      <a:endParaRPr lang="en-CA" dirty="0"/>
                    </a:p>
                  </a:txBody>
                  <a:tcPr/>
                </a:tc>
                <a:tc>
                  <a:txBody>
                    <a:bodyPr/>
                    <a:lstStyle/>
                    <a:p>
                      <a:pPr algn="ctr"/>
                      <a:r>
                        <a:rPr lang="en-US" dirty="0"/>
                        <a:t>750</a:t>
                      </a:r>
                      <a:endParaRPr lang="en-CA" dirty="0"/>
                    </a:p>
                  </a:txBody>
                  <a:tcPr/>
                </a:tc>
                <a:tc>
                  <a:txBody>
                    <a:bodyPr/>
                    <a:lstStyle/>
                    <a:p>
                      <a:pPr algn="ctr"/>
                      <a:r>
                        <a:rPr lang="en-US" dirty="0"/>
                        <a:t>-50</a:t>
                      </a:r>
                      <a:endParaRPr lang="en-CA" dirty="0"/>
                    </a:p>
                  </a:txBody>
                  <a:tcPr/>
                </a:tc>
                <a:extLst>
                  <a:ext uri="{0D108BD9-81ED-4DB2-BD59-A6C34878D82A}">
                    <a16:rowId xmlns:a16="http://schemas.microsoft.com/office/drawing/2014/main" val="1499228009"/>
                  </a:ext>
                </a:extLst>
              </a:tr>
              <a:tr h="370840">
                <a:tc>
                  <a:txBody>
                    <a:bodyPr/>
                    <a:lstStyle/>
                    <a:p>
                      <a:r>
                        <a:rPr lang="en-US" dirty="0"/>
                        <a:t>June 8, 2023</a:t>
                      </a:r>
                      <a:endParaRPr lang="en-CA" dirty="0"/>
                    </a:p>
                  </a:txBody>
                  <a:tcPr/>
                </a:tc>
                <a:tc>
                  <a:txBody>
                    <a:bodyPr/>
                    <a:lstStyle/>
                    <a:p>
                      <a:pPr algn="ctr"/>
                      <a:r>
                        <a:rPr lang="en-US" dirty="0"/>
                        <a:t>3.30</a:t>
                      </a:r>
                      <a:endParaRPr lang="en-CA" dirty="0"/>
                    </a:p>
                  </a:txBody>
                  <a:tcPr/>
                </a:tc>
                <a:tc>
                  <a:txBody>
                    <a:bodyPr/>
                    <a:lstStyle/>
                    <a:p>
                      <a:pPr algn="ctr"/>
                      <a:r>
                        <a:rPr lang="en-US" dirty="0"/>
                        <a:t>775</a:t>
                      </a:r>
                      <a:endParaRPr lang="en-CA" dirty="0"/>
                    </a:p>
                  </a:txBody>
                  <a:tcPr/>
                </a:tc>
                <a:tc>
                  <a:txBody>
                    <a:bodyPr/>
                    <a:lstStyle/>
                    <a:p>
                      <a:pPr algn="ctr"/>
                      <a:r>
                        <a:rPr lang="en-US" dirty="0"/>
                        <a:t>750</a:t>
                      </a:r>
                      <a:endParaRPr lang="en-CA" dirty="0"/>
                    </a:p>
                  </a:txBody>
                  <a:tcPr/>
                </a:tc>
                <a:tc>
                  <a:txBody>
                    <a:bodyPr/>
                    <a:lstStyle/>
                    <a:p>
                      <a:pPr algn="ctr"/>
                      <a:r>
                        <a:rPr lang="en-US" dirty="0"/>
                        <a:t>+25</a:t>
                      </a:r>
                      <a:endParaRPr lang="en-CA" dirty="0"/>
                    </a:p>
                  </a:txBody>
                  <a:tcPr/>
                </a:tc>
                <a:extLst>
                  <a:ext uri="{0D108BD9-81ED-4DB2-BD59-A6C34878D82A}">
                    <a16:rowId xmlns:a16="http://schemas.microsoft.com/office/drawing/2014/main" val="3856821215"/>
                  </a:ext>
                </a:extLst>
              </a:tr>
              <a:tr h="370840">
                <a:tc>
                  <a:txBody>
                    <a:bodyPr/>
                    <a:lstStyle/>
                    <a:p>
                      <a:r>
                        <a:rPr lang="en-US" dirty="0"/>
                        <a:t>Sept 8, 2023</a:t>
                      </a:r>
                      <a:endParaRPr lang="en-CA" dirty="0"/>
                    </a:p>
                  </a:txBody>
                  <a:tcPr/>
                </a:tc>
                <a:tc>
                  <a:txBody>
                    <a:bodyPr/>
                    <a:lstStyle/>
                    <a:p>
                      <a:pPr algn="ctr"/>
                      <a:r>
                        <a:rPr lang="en-US" dirty="0"/>
                        <a:t>3.40</a:t>
                      </a:r>
                      <a:endParaRPr lang="en-CA" dirty="0"/>
                    </a:p>
                  </a:txBody>
                  <a:tcPr/>
                </a:tc>
                <a:tc>
                  <a:txBody>
                    <a:bodyPr/>
                    <a:lstStyle/>
                    <a:p>
                      <a:pPr algn="ctr"/>
                      <a:r>
                        <a:rPr lang="en-US" dirty="0"/>
                        <a:t>825</a:t>
                      </a:r>
                      <a:endParaRPr lang="en-CA" dirty="0"/>
                    </a:p>
                  </a:txBody>
                  <a:tcPr/>
                </a:tc>
                <a:tc>
                  <a:txBody>
                    <a:bodyPr/>
                    <a:lstStyle/>
                    <a:p>
                      <a:pPr algn="ctr"/>
                      <a:r>
                        <a:rPr lang="en-US" dirty="0"/>
                        <a:t>750</a:t>
                      </a:r>
                      <a:endParaRPr lang="en-CA" dirty="0"/>
                    </a:p>
                  </a:txBody>
                  <a:tcPr/>
                </a:tc>
                <a:tc>
                  <a:txBody>
                    <a:bodyPr/>
                    <a:lstStyle/>
                    <a:p>
                      <a:pPr algn="ctr"/>
                      <a:r>
                        <a:rPr lang="en-US" dirty="0"/>
                        <a:t>+75</a:t>
                      </a:r>
                      <a:endParaRPr lang="en-CA" dirty="0"/>
                    </a:p>
                  </a:txBody>
                  <a:tcPr/>
                </a:tc>
                <a:extLst>
                  <a:ext uri="{0D108BD9-81ED-4DB2-BD59-A6C34878D82A}">
                    <a16:rowId xmlns:a16="http://schemas.microsoft.com/office/drawing/2014/main" val="3905560794"/>
                  </a:ext>
                </a:extLst>
              </a:tr>
              <a:tr h="383644">
                <a:tc>
                  <a:txBody>
                    <a:bodyPr/>
                    <a:lstStyle/>
                    <a:p>
                      <a:r>
                        <a:rPr lang="en-US" dirty="0"/>
                        <a:t>Dec 8, 2023</a:t>
                      </a:r>
                      <a:endParaRPr lang="en-CA" dirty="0"/>
                    </a:p>
                  </a:txBody>
                  <a:tcPr/>
                </a:tc>
                <a:tc>
                  <a:txBody>
                    <a:bodyPr/>
                    <a:lstStyle/>
                    <a:p>
                      <a:pPr algn="ctr"/>
                      <a:r>
                        <a:rPr lang="en-US" dirty="0"/>
                        <a:t>3.60</a:t>
                      </a:r>
                      <a:endParaRPr lang="en-CA" dirty="0"/>
                    </a:p>
                  </a:txBody>
                  <a:tcPr/>
                </a:tc>
                <a:tc>
                  <a:txBody>
                    <a:bodyPr/>
                    <a:lstStyle/>
                    <a:p>
                      <a:pPr algn="ctr"/>
                      <a:r>
                        <a:rPr lang="en-US" dirty="0"/>
                        <a:t>850</a:t>
                      </a:r>
                      <a:endParaRPr lang="en-CA" dirty="0"/>
                    </a:p>
                  </a:txBody>
                  <a:tcPr/>
                </a:tc>
                <a:tc>
                  <a:txBody>
                    <a:bodyPr/>
                    <a:lstStyle/>
                    <a:p>
                      <a:pPr algn="ctr"/>
                      <a:r>
                        <a:rPr lang="en-US" dirty="0"/>
                        <a:t>750</a:t>
                      </a:r>
                      <a:endParaRPr lang="en-CA" dirty="0"/>
                    </a:p>
                  </a:txBody>
                  <a:tcPr/>
                </a:tc>
                <a:tc>
                  <a:txBody>
                    <a:bodyPr/>
                    <a:lstStyle/>
                    <a:p>
                      <a:pPr algn="ctr"/>
                      <a:r>
                        <a:rPr lang="en-US" dirty="0"/>
                        <a:t>+100</a:t>
                      </a:r>
                      <a:endParaRPr lang="en-CA" dirty="0"/>
                    </a:p>
                  </a:txBody>
                  <a:tcPr/>
                </a:tc>
                <a:extLst>
                  <a:ext uri="{0D108BD9-81ED-4DB2-BD59-A6C34878D82A}">
                    <a16:rowId xmlns:a16="http://schemas.microsoft.com/office/drawing/2014/main" val="3437151254"/>
                  </a:ext>
                </a:extLst>
              </a:tr>
              <a:tr h="370840">
                <a:tc>
                  <a:txBody>
                    <a:bodyPr/>
                    <a:lstStyle/>
                    <a:p>
                      <a:r>
                        <a:rPr lang="en-US" dirty="0"/>
                        <a:t>Mar 8, 2024</a:t>
                      </a:r>
                      <a:endParaRPr lang="en-CA" dirty="0"/>
                    </a:p>
                  </a:txBody>
                  <a:tcPr/>
                </a:tc>
                <a:tc>
                  <a:txBody>
                    <a:bodyPr/>
                    <a:lstStyle/>
                    <a:p>
                      <a:pPr algn="ctr"/>
                      <a:r>
                        <a:rPr lang="en-US" dirty="0"/>
                        <a:t>3.80</a:t>
                      </a:r>
                      <a:endParaRPr lang="en-CA" dirty="0"/>
                    </a:p>
                  </a:txBody>
                  <a:tcPr/>
                </a:tc>
                <a:tc>
                  <a:txBody>
                    <a:bodyPr/>
                    <a:lstStyle/>
                    <a:p>
                      <a:pPr algn="ctr"/>
                      <a:r>
                        <a:rPr lang="en-US" dirty="0"/>
                        <a:t>900</a:t>
                      </a:r>
                      <a:endParaRPr lang="en-CA" dirty="0"/>
                    </a:p>
                  </a:txBody>
                  <a:tcPr/>
                </a:tc>
                <a:tc>
                  <a:txBody>
                    <a:bodyPr/>
                    <a:lstStyle/>
                    <a:p>
                      <a:pPr algn="ctr"/>
                      <a:r>
                        <a:rPr lang="en-US" dirty="0"/>
                        <a:t>750</a:t>
                      </a:r>
                      <a:endParaRPr lang="en-CA" dirty="0"/>
                    </a:p>
                  </a:txBody>
                  <a:tcPr/>
                </a:tc>
                <a:tc>
                  <a:txBody>
                    <a:bodyPr/>
                    <a:lstStyle/>
                    <a:p>
                      <a:pPr algn="ctr"/>
                      <a:r>
                        <a:rPr lang="en-US" dirty="0"/>
                        <a:t>+150</a:t>
                      </a:r>
                      <a:endParaRPr lang="en-CA" dirty="0"/>
                    </a:p>
                  </a:txBody>
                  <a:tcPr/>
                </a:tc>
                <a:extLst>
                  <a:ext uri="{0D108BD9-81ED-4DB2-BD59-A6C34878D82A}">
                    <a16:rowId xmlns:a16="http://schemas.microsoft.com/office/drawing/2014/main" val="1913349628"/>
                  </a:ext>
                </a:extLst>
              </a:tr>
            </a:tbl>
          </a:graphicData>
        </a:graphic>
      </p:graphicFrame>
      <p:cxnSp>
        <p:nvCxnSpPr>
          <p:cNvPr id="4" name="Straight Arrow Connector 3">
            <a:extLst>
              <a:ext uri="{FF2B5EF4-FFF2-40B4-BE49-F238E27FC236}">
                <a16:creationId xmlns:a16="http://schemas.microsoft.com/office/drawing/2014/main" id="{2698A278-A610-C588-18AB-A85B28906DD5}"/>
              </a:ext>
            </a:extLst>
          </p:cNvPr>
          <p:cNvCxnSpPr/>
          <p:nvPr/>
        </p:nvCxnSpPr>
        <p:spPr bwMode="auto">
          <a:xfrm>
            <a:off x="3563888" y="342900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5" name="Straight Arrow Connector 4">
            <a:extLst>
              <a:ext uri="{FF2B5EF4-FFF2-40B4-BE49-F238E27FC236}">
                <a16:creationId xmlns:a16="http://schemas.microsoft.com/office/drawing/2014/main" id="{D5D77650-C39C-A8D5-BF35-4A72126147C8}"/>
              </a:ext>
            </a:extLst>
          </p:cNvPr>
          <p:cNvCxnSpPr/>
          <p:nvPr/>
        </p:nvCxnSpPr>
        <p:spPr bwMode="auto">
          <a:xfrm>
            <a:off x="3563888" y="378904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6" name="Straight Arrow Connector 5">
            <a:extLst>
              <a:ext uri="{FF2B5EF4-FFF2-40B4-BE49-F238E27FC236}">
                <a16:creationId xmlns:a16="http://schemas.microsoft.com/office/drawing/2014/main" id="{1E185E69-DD11-6937-8FB2-26BE12D1C019}"/>
              </a:ext>
            </a:extLst>
          </p:cNvPr>
          <p:cNvCxnSpPr/>
          <p:nvPr/>
        </p:nvCxnSpPr>
        <p:spPr bwMode="auto">
          <a:xfrm>
            <a:off x="3563888" y="414908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7" name="Straight Arrow Connector 6">
            <a:extLst>
              <a:ext uri="{FF2B5EF4-FFF2-40B4-BE49-F238E27FC236}">
                <a16:creationId xmlns:a16="http://schemas.microsoft.com/office/drawing/2014/main" id="{840914B2-22C7-D864-9A92-70528CA95450}"/>
              </a:ext>
            </a:extLst>
          </p:cNvPr>
          <p:cNvCxnSpPr/>
          <p:nvPr/>
        </p:nvCxnSpPr>
        <p:spPr bwMode="auto">
          <a:xfrm>
            <a:off x="3563888" y="450912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C94120C2-7C76-01F1-16BF-9DD93E1DED43}"/>
              </a:ext>
            </a:extLst>
          </p:cNvPr>
          <p:cNvCxnSpPr/>
          <p:nvPr/>
        </p:nvCxnSpPr>
        <p:spPr bwMode="auto">
          <a:xfrm>
            <a:off x="3563888" y="486916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C2A25F0C-406F-8909-F6EE-0ADB91DF74F5}"/>
              </a:ext>
            </a:extLst>
          </p:cNvPr>
          <p:cNvCxnSpPr/>
          <p:nvPr/>
        </p:nvCxnSpPr>
        <p:spPr bwMode="auto">
          <a:xfrm>
            <a:off x="3563888" y="522920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657A6A60-1148-AE44-FD14-F70BFC86DF9A}"/>
              </a:ext>
            </a:extLst>
          </p:cNvPr>
          <p:cNvCxnSpPr/>
          <p:nvPr/>
        </p:nvCxnSpPr>
        <p:spPr bwMode="auto">
          <a:xfrm>
            <a:off x="3563888" y="558924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25EF400C-A025-B654-8A46-66AD1949DF41}"/>
              </a:ext>
            </a:extLst>
          </p:cNvPr>
          <p:cNvCxnSpPr/>
          <p:nvPr/>
        </p:nvCxnSpPr>
        <p:spPr bwMode="auto">
          <a:xfrm>
            <a:off x="3563888" y="3068960"/>
            <a:ext cx="432048" cy="360040"/>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21982510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683568" y="1033393"/>
            <a:ext cx="7054850" cy="1295400"/>
          </a:xfrm>
          <a:noFill/>
        </p:spPr>
        <p:txBody>
          <a:bodyPr lIns="92075" tIns="46038" rIns="92075" bIns="46038" anchor="ctr"/>
          <a:lstStyle/>
          <a:p>
            <a:pPr eaLnBrk="1" hangingPunct="1"/>
            <a:r>
              <a:rPr lang="en-US" altLang="en-US" dirty="0"/>
              <a:t>Typical Uses of an</a:t>
            </a:r>
            <a:br>
              <a:rPr lang="en-US" altLang="en-US" dirty="0"/>
            </a:br>
            <a:r>
              <a:rPr lang="en-US" altLang="en-US" dirty="0"/>
              <a:t>Interest Rate Swap</a:t>
            </a:r>
          </a:p>
        </p:txBody>
      </p:sp>
      <p:sp>
        <p:nvSpPr>
          <p:cNvPr id="23556" name="Rectangle 3"/>
          <p:cNvSpPr>
            <a:spLocks noGrp="1" noChangeArrowheads="1"/>
          </p:cNvSpPr>
          <p:nvPr>
            <p:ph sz="half" idx="1"/>
          </p:nvPr>
        </p:nvSpPr>
        <p:spPr>
          <a:xfrm>
            <a:off x="935037" y="2564904"/>
            <a:ext cx="7273925" cy="1460500"/>
          </a:xfrm>
          <a:noFill/>
        </p:spPr>
        <p:txBody>
          <a:bodyPr lIns="92075" tIns="46038" rIns="92075" bIns="46038"/>
          <a:lstStyle/>
          <a:p>
            <a:pPr eaLnBrk="1" hangingPunct="1">
              <a:lnSpc>
                <a:spcPct val="80000"/>
              </a:lnSpc>
            </a:pPr>
            <a:r>
              <a:rPr lang="en-US" altLang="en-US" sz="3200" dirty="0"/>
              <a:t>Converting a liability from</a:t>
            </a:r>
          </a:p>
          <a:p>
            <a:pPr lvl="1" eaLnBrk="1" hangingPunct="1">
              <a:lnSpc>
                <a:spcPct val="80000"/>
              </a:lnSpc>
            </a:pPr>
            <a:r>
              <a:rPr lang="en-US" altLang="en-US" sz="3200" dirty="0"/>
              <a:t>fixed rate to floating rate </a:t>
            </a:r>
          </a:p>
          <a:p>
            <a:pPr lvl="1" eaLnBrk="1" hangingPunct="1">
              <a:lnSpc>
                <a:spcPct val="80000"/>
              </a:lnSpc>
            </a:pPr>
            <a:r>
              <a:rPr lang="en-US" altLang="en-US" sz="3200" dirty="0"/>
              <a:t>floating rate to fixed rate </a:t>
            </a:r>
          </a:p>
          <a:p>
            <a:pPr lvl="1" eaLnBrk="1" hangingPunct="1">
              <a:lnSpc>
                <a:spcPct val="80000"/>
              </a:lnSpc>
            </a:pPr>
            <a:endParaRPr lang="en-US" altLang="en-US" sz="3200" dirty="0"/>
          </a:p>
          <a:p>
            <a:pPr eaLnBrk="1" hangingPunct="1">
              <a:lnSpc>
                <a:spcPct val="80000"/>
              </a:lnSpc>
            </a:pPr>
            <a:r>
              <a:rPr lang="en-US" altLang="en-US" sz="3200" dirty="0"/>
              <a:t>Converting an investment from </a:t>
            </a:r>
          </a:p>
          <a:p>
            <a:pPr lvl="1" eaLnBrk="1" hangingPunct="1">
              <a:lnSpc>
                <a:spcPct val="80000"/>
              </a:lnSpc>
            </a:pPr>
            <a:r>
              <a:rPr lang="en-US" altLang="en-US" sz="3200" dirty="0"/>
              <a:t>fixed rate to floating rate</a:t>
            </a:r>
          </a:p>
          <a:p>
            <a:pPr lvl="1" eaLnBrk="1" hangingPunct="1">
              <a:lnSpc>
                <a:spcPct val="80000"/>
              </a:lnSpc>
            </a:pPr>
            <a:r>
              <a:rPr lang="en-US" altLang="en-US" sz="3200" dirty="0"/>
              <a:t>floating rate to fixed rate </a:t>
            </a:r>
          </a:p>
          <a:p>
            <a:pPr lvl="1" eaLnBrk="1" hangingPunct="1">
              <a:lnSpc>
                <a:spcPct val="80000"/>
              </a:lnSpc>
            </a:pPr>
            <a:endParaRPr lang="en-US" altLang="en-US" sz="3200" dirty="0"/>
          </a:p>
        </p:txBody>
      </p:sp>
      <p:sp>
        <p:nvSpPr>
          <p:cNvPr id="23554"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87CF2E5-54C6-4A80-BE19-06047C2479F4}" type="slidenum">
              <a:rPr lang="en-US" altLang="en-US" sz="1800"/>
              <a:pPr>
                <a:spcBef>
                  <a:spcPct val="0"/>
                </a:spcBef>
                <a:buClrTx/>
                <a:buSzTx/>
                <a:buFontTx/>
                <a:buNone/>
              </a:pPr>
              <a:t>7</a:t>
            </a:fld>
            <a:endParaRPr lang="en-US" altLang="en-US" sz="18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CA" altLang="en-US"/>
              <a:t>Day Count</a:t>
            </a:r>
            <a:endParaRPr lang="en-US" altLang="en-US"/>
          </a:p>
        </p:txBody>
      </p:sp>
      <p:sp>
        <p:nvSpPr>
          <p:cNvPr id="34819" name="Content Placeholder 2"/>
          <p:cNvSpPr>
            <a:spLocks noGrp="1"/>
          </p:cNvSpPr>
          <p:nvPr>
            <p:ph idx="1"/>
          </p:nvPr>
        </p:nvSpPr>
        <p:spPr/>
        <p:txBody>
          <a:bodyPr/>
          <a:lstStyle/>
          <a:p>
            <a:pPr eaLnBrk="1" hangingPunct="1"/>
            <a:r>
              <a:rPr lang="en-CA" altLang="en-US" dirty="0">
                <a:cs typeface="Arial" panose="020B0604020202020204" pitchFamily="34" charset="0"/>
              </a:rPr>
              <a:t>A day count convention is specified for fixed and floating payments</a:t>
            </a:r>
          </a:p>
          <a:p>
            <a:pPr eaLnBrk="1" hangingPunct="1"/>
            <a:r>
              <a:rPr lang="en-CA" altLang="en-US" dirty="0">
                <a:cs typeface="Arial" panose="020B0604020202020204" pitchFamily="34" charset="0"/>
              </a:rPr>
              <a:t>For example, SOFR is likely to be actual/360 in the U.S. </a:t>
            </a:r>
          </a:p>
          <a:p>
            <a:pPr eaLnBrk="1" hangingPunct="1"/>
            <a:r>
              <a:rPr lang="en-US" altLang="en-US" dirty="0"/>
              <a:t>The fixed rate might be quoted with actual/365 or 30/360</a:t>
            </a:r>
            <a:endParaRPr lang="en-US" altLang="en-US" dirty="0">
              <a:cs typeface="Arial" panose="020B0604020202020204" pitchFamily="34" charset="0"/>
            </a:endParaRPr>
          </a:p>
        </p:txBody>
      </p:sp>
      <p:sp>
        <p:nvSpPr>
          <p:cNvPr id="348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p>
        </p:txBody>
      </p:sp>
      <p:sp>
        <p:nvSpPr>
          <p:cNvPr id="348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232BD9A-EA1F-4961-A51D-61526CF6502A}" type="slidenum">
              <a:rPr lang="en-US" altLang="en-US" sz="1800"/>
              <a:pPr>
                <a:spcBef>
                  <a:spcPct val="0"/>
                </a:spcBef>
                <a:buClrTx/>
                <a:buSzTx/>
                <a:buFontTx/>
                <a:buNone/>
              </a:pPr>
              <a:t>8</a:t>
            </a:fld>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noFill/>
        </p:spPr>
        <p:txBody>
          <a:bodyPr lIns="92075" tIns="46038" rIns="92075" bIns="46038" anchor="ctr"/>
          <a:lstStyle/>
          <a:p>
            <a:pPr eaLnBrk="1" hangingPunct="1"/>
            <a:r>
              <a:rPr lang="en-US" altLang="en-US" sz="3500" dirty="0"/>
              <a:t>The Comparative Advantage Argument </a:t>
            </a:r>
            <a:r>
              <a:rPr lang="en-US" altLang="en-US" sz="2200" dirty="0"/>
              <a:t>(Table 7.5)</a:t>
            </a:r>
            <a:endParaRPr lang="en-US" altLang="en-US" sz="3500" dirty="0"/>
          </a:p>
        </p:txBody>
      </p:sp>
      <p:sp>
        <p:nvSpPr>
          <p:cNvPr id="38916" name="Rectangle 3"/>
          <p:cNvSpPr>
            <a:spLocks noGrp="1" noChangeArrowheads="1"/>
          </p:cNvSpPr>
          <p:nvPr>
            <p:ph idx="1"/>
          </p:nvPr>
        </p:nvSpPr>
        <p:spPr>
          <a:xfrm>
            <a:off x="971550" y="1719263"/>
            <a:ext cx="6438900" cy="1484312"/>
          </a:xfrm>
          <a:noFill/>
        </p:spPr>
        <p:txBody>
          <a:bodyPr lIns="92075" tIns="46038" rIns="92075" bIns="46038"/>
          <a:lstStyle/>
          <a:p>
            <a:pPr eaLnBrk="1" hangingPunct="1">
              <a:lnSpc>
                <a:spcPct val="90000"/>
              </a:lnSpc>
              <a:buFont typeface="Wingdings" panose="05000000000000000000" pitchFamily="2" charset="2"/>
              <a:buNone/>
            </a:pPr>
            <a:endParaRPr lang="en-US" altLang="en-US" sz="2800" dirty="0"/>
          </a:p>
          <a:p>
            <a:pPr eaLnBrk="1" hangingPunct="1">
              <a:lnSpc>
                <a:spcPct val="90000"/>
              </a:lnSpc>
            </a:pPr>
            <a:r>
              <a:rPr lang="en-US" altLang="en-US" sz="2800" dirty="0" err="1"/>
              <a:t>AAACorp</a:t>
            </a:r>
            <a:r>
              <a:rPr lang="en-US" altLang="en-US" sz="2800" dirty="0"/>
              <a:t> wants to borrow floating</a:t>
            </a:r>
          </a:p>
          <a:p>
            <a:pPr eaLnBrk="1" hangingPunct="1">
              <a:lnSpc>
                <a:spcPct val="90000"/>
              </a:lnSpc>
            </a:pPr>
            <a:r>
              <a:rPr lang="en-US" altLang="en-US" sz="2800" dirty="0" err="1"/>
              <a:t>BBBCorp</a:t>
            </a:r>
            <a:r>
              <a:rPr lang="en-US" altLang="en-US" sz="2800" dirty="0"/>
              <a:t> wants to borrow fixed</a:t>
            </a:r>
          </a:p>
        </p:txBody>
      </p:sp>
      <p:sp>
        <p:nvSpPr>
          <p:cNvPr id="389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38918" name="Slide Number Placeholder 2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43C489-6994-4F40-9EFA-4090F1C286BA}" type="slidenum">
              <a:rPr lang="en-US" altLang="en-US" sz="1800"/>
              <a:pPr>
                <a:spcBef>
                  <a:spcPct val="0"/>
                </a:spcBef>
                <a:buClrTx/>
                <a:buSzTx/>
                <a:buFontTx/>
                <a:buNone/>
              </a:pPr>
              <a:t>9</a:t>
            </a:fld>
            <a:endParaRPr lang="en-US" altLang="en-US" sz="1800"/>
          </a:p>
        </p:txBody>
      </p:sp>
      <p:grpSp>
        <p:nvGrpSpPr>
          <p:cNvPr id="38917" name="Group 19"/>
          <p:cNvGrpSpPr>
            <a:grpSpLocks/>
          </p:cNvGrpSpPr>
          <p:nvPr/>
        </p:nvGrpSpPr>
        <p:grpSpPr bwMode="auto">
          <a:xfrm>
            <a:off x="1042988" y="3459163"/>
            <a:ext cx="5915025" cy="2076450"/>
            <a:chOff x="1059" y="2524"/>
            <a:chExt cx="3726" cy="1298"/>
          </a:xfrm>
        </p:grpSpPr>
        <p:sp>
          <p:nvSpPr>
            <p:cNvPr id="38919" name="Line 4"/>
            <p:cNvSpPr>
              <a:spLocks noChangeShapeType="1"/>
            </p:cNvSpPr>
            <p:nvPr/>
          </p:nvSpPr>
          <p:spPr bwMode="auto">
            <a:xfrm>
              <a:off x="1153" y="2777"/>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0" name="Rectangle 5"/>
            <p:cNvSpPr>
              <a:spLocks noChangeArrowheads="1"/>
            </p:cNvSpPr>
            <p:nvPr/>
          </p:nvSpPr>
          <p:spPr bwMode="auto">
            <a:xfrm>
              <a:off x="1153" y="2777"/>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1" name="Line 6"/>
            <p:cNvSpPr>
              <a:spLocks noChangeShapeType="1"/>
            </p:cNvSpPr>
            <p:nvPr/>
          </p:nvSpPr>
          <p:spPr bwMode="auto">
            <a:xfrm>
              <a:off x="1153" y="3192"/>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2" name="Rectangle 7"/>
            <p:cNvSpPr>
              <a:spLocks noChangeArrowheads="1"/>
            </p:cNvSpPr>
            <p:nvPr/>
          </p:nvSpPr>
          <p:spPr bwMode="auto">
            <a:xfrm>
              <a:off x="1153" y="3192"/>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3" name="Line 8"/>
            <p:cNvSpPr>
              <a:spLocks noChangeShapeType="1"/>
            </p:cNvSpPr>
            <p:nvPr/>
          </p:nvSpPr>
          <p:spPr bwMode="auto">
            <a:xfrm>
              <a:off x="1153" y="3794"/>
              <a:ext cx="3632"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4" name="Rectangle 9"/>
            <p:cNvSpPr>
              <a:spLocks noChangeArrowheads="1"/>
            </p:cNvSpPr>
            <p:nvPr/>
          </p:nvSpPr>
          <p:spPr bwMode="auto">
            <a:xfrm>
              <a:off x="1153" y="3794"/>
              <a:ext cx="3626"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5" name="Rectangle 10"/>
            <p:cNvSpPr>
              <a:spLocks noChangeArrowheads="1"/>
            </p:cNvSpPr>
            <p:nvPr/>
          </p:nvSpPr>
          <p:spPr bwMode="auto">
            <a:xfrm>
              <a:off x="1059" y="2524"/>
              <a:ext cx="2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sp>
          <p:nvSpPr>
            <p:cNvPr id="38926" name="Rectangle 11"/>
            <p:cNvSpPr>
              <a:spLocks noChangeArrowheads="1"/>
            </p:cNvSpPr>
            <p:nvPr/>
          </p:nvSpPr>
          <p:spPr bwMode="auto">
            <a:xfrm>
              <a:off x="2123" y="2893"/>
              <a:ext cx="5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Fixed </a:t>
              </a:r>
            </a:p>
          </p:txBody>
        </p:sp>
        <p:sp>
          <p:nvSpPr>
            <p:cNvPr id="38927" name="Rectangle 12"/>
            <p:cNvSpPr>
              <a:spLocks noChangeArrowheads="1"/>
            </p:cNvSpPr>
            <p:nvPr/>
          </p:nvSpPr>
          <p:spPr bwMode="auto">
            <a:xfrm>
              <a:off x="3392" y="2893"/>
              <a:ext cx="7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i="1">
                  <a:solidFill>
                    <a:srgbClr val="000000"/>
                  </a:solidFill>
                </a:rPr>
                <a:t>Floating </a:t>
              </a:r>
            </a:p>
          </p:txBody>
        </p:sp>
        <p:sp>
          <p:nvSpPr>
            <p:cNvPr id="38928" name="Rectangle 13"/>
            <p:cNvSpPr>
              <a:spLocks noChangeArrowheads="1"/>
            </p:cNvSpPr>
            <p:nvPr/>
          </p:nvSpPr>
          <p:spPr bwMode="auto">
            <a:xfrm>
              <a:off x="1147" y="3269"/>
              <a:ext cx="78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AAACorp</a:t>
              </a:r>
            </a:p>
          </p:txBody>
        </p:sp>
        <p:sp>
          <p:nvSpPr>
            <p:cNvPr id="38929" name="Rectangle 14"/>
            <p:cNvSpPr>
              <a:spLocks noChangeArrowheads="1"/>
            </p:cNvSpPr>
            <p:nvPr/>
          </p:nvSpPr>
          <p:spPr bwMode="auto">
            <a:xfrm>
              <a:off x="2114" y="3269"/>
              <a:ext cx="56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4.00%</a:t>
              </a:r>
            </a:p>
          </p:txBody>
        </p:sp>
        <p:sp>
          <p:nvSpPr>
            <p:cNvPr id="38930" name="Rectangle 15"/>
            <p:cNvSpPr>
              <a:spLocks noChangeArrowheads="1"/>
            </p:cNvSpPr>
            <p:nvPr/>
          </p:nvSpPr>
          <p:spPr bwMode="auto">
            <a:xfrm>
              <a:off x="2840" y="3269"/>
              <a:ext cx="14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a:solidFill>
                    <a:srgbClr val="000000"/>
                  </a:solidFill>
                </a:rPr>
                <a:t>Floating ref − 0.1%</a:t>
              </a:r>
            </a:p>
          </p:txBody>
        </p:sp>
        <p:sp>
          <p:nvSpPr>
            <p:cNvPr id="38931" name="Rectangle 16"/>
            <p:cNvSpPr>
              <a:spLocks noChangeArrowheads="1"/>
            </p:cNvSpPr>
            <p:nvPr/>
          </p:nvSpPr>
          <p:spPr bwMode="auto">
            <a:xfrm>
              <a:off x="1149" y="3571"/>
              <a:ext cx="78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BBBCorp</a:t>
              </a:r>
            </a:p>
          </p:txBody>
        </p:sp>
        <p:sp>
          <p:nvSpPr>
            <p:cNvPr id="38932" name="Rectangle 17"/>
            <p:cNvSpPr>
              <a:spLocks noChangeArrowheads="1"/>
            </p:cNvSpPr>
            <p:nvPr/>
          </p:nvSpPr>
          <p:spPr bwMode="auto">
            <a:xfrm>
              <a:off x="2114" y="3571"/>
              <a:ext cx="569"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a:solidFill>
                    <a:srgbClr val="000000"/>
                  </a:solidFill>
                </a:rPr>
                <a:t>5.20%</a:t>
              </a:r>
            </a:p>
          </p:txBody>
        </p:sp>
        <p:sp>
          <p:nvSpPr>
            <p:cNvPr id="38933" name="Rectangle 18"/>
            <p:cNvSpPr>
              <a:spLocks noChangeArrowheads="1"/>
            </p:cNvSpPr>
            <p:nvPr/>
          </p:nvSpPr>
          <p:spPr bwMode="auto">
            <a:xfrm>
              <a:off x="2840" y="3571"/>
              <a:ext cx="14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a:solidFill>
                    <a:srgbClr val="000000"/>
                  </a:solidFill>
                </a:rPr>
                <a:t>Floating ref + 0.6%</a:t>
              </a: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568428" y="1676747"/>
            <a:ext cx="7772400" cy="1143000"/>
          </a:xfrm>
          <a:noFill/>
        </p:spPr>
        <p:txBody>
          <a:bodyPr lIns="92075" tIns="46038" rIns="92075" bIns="46038" anchor="ctr"/>
          <a:lstStyle/>
          <a:p>
            <a:pPr eaLnBrk="1" hangingPunct="1"/>
            <a:r>
              <a:rPr lang="en-US" altLang="en-US" dirty="0"/>
              <a:t>A Swap where Companies Trade Directly with Each Other </a:t>
            </a:r>
            <a:r>
              <a:rPr lang="en-US" altLang="en-US" sz="2200" dirty="0"/>
              <a:t>(Figure 7.7)</a:t>
            </a:r>
            <a:endParaRPr lang="en-US" altLang="en-US" dirty="0"/>
          </a:p>
        </p:txBody>
      </p:sp>
      <p:sp>
        <p:nvSpPr>
          <p:cNvPr id="40964" name="Rectangle 3"/>
          <p:cNvSpPr>
            <a:spLocks noGrp="1" noChangeArrowheads="1"/>
          </p:cNvSpPr>
          <p:nvPr>
            <p:ph idx="1"/>
          </p:nvPr>
        </p:nvSpPr>
        <p:spPr>
          <a:xfrm>
            <a:off x="52388" y="1812925"/>
            <a:ext cx="7969250" cy="4411663"/>
          </a:xfrm>
          <a:noFill/>
        </p:spPr>
        <p:txBody>
          <a:bodyPr lIns="92075" tIns="46038" rIns="92075" bIns="46038"/>
          <a:lstStyle/>
          <a:p>
            <a:pPr eaLnBrk="1" hangingPunct="1">
              <a:buFont typeface="Wingdings" panose="05000000000000000000" pitchFamily="2" charset="2"/>
              <a:buNone/>
            </a:pPr>
            <a:r>
              <a:rPr lang="en-US" altLang="en-US" dirty="0"/>
              <a:t> </a:t>
            </a:r>
          </a:p>
        </p:txBody>
      </p:sp>
      <p:sp>
        <p:nvSpPr>
          <p:cNvPr id="409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40965"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E33BCD-4197-4C32-B42F-5DFD1F7910BB}" type="slidenum">
              <a:rPr lang="en-US" altLang="en-US" sz="1800"/>
              <a:pPr>
                <a:spcBef>
                  <a:spcPct val="0"/>
                </a:spcBef>
                <a:buClrTx/>
                <a:buSzTx/>
                <a:buFontTx/>
                <a:buNone/>
              </a:pPr>
              <a:t>10</a:t>
            </a:fld>
            <a:endParaRPr lang="en-US" altLang="en-US" sz="1800"/>
          </a:p>
        </p:txBody>
      </p:sp>
      <p:grpSp>
        <p:nvGrpSpPr>
          <p:cNvPr id="40966" name="Group 7"/>
          <p:cNvGrpSpPr>
            <a:grpSpLocks/>
          </p:cNvGrpSpPr>
          <p:nvPr/>
        </p:nvGrpSpPr>
        <p:grpSpPr bwMode="auto">
          <a:xfrm>
            <a:off x="539552" y="3717032"/>
            <a:ext cx="8407400" cy="1330441"/>
            <a:chOff x="457200" y="2852936"/>
            <a:chExt cx="8407896" cy="1330772"/>
          </a:xfrm>
        </p:grpSpPr>
        <p:sp>
          <p:nvSpPr>
            <p:cNvPr id="26" name="Rectangle 25"/>
            <p:cNvSpPr/>
            <p:nvPr/>
          </p:nvSpPr>
          <p:spPr>
            <a:xfrm>
              <a:off x="1547877" y="3010137"/>
              <a:ext cx="1814619" cy="1070241"/>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err="1">
                  <a:latin typeface="Times New Roman" panose="02020603050405020304" pitchFamily="18" charset="0"/>
                  <a:cs typeface="Times New Roman" panose="02020603050405020304" pitchFamily="18" charset="0"/>
                </a:rPr>
                <a:t>AAACorp</a:t>
              </a:r>
              <a:endParaRPr lang="en-CA" sz="2800" dirty="0">
                <a:latin typeface="Times New Roman" panose="02020603050405020304" pitchFamily="18" charset="0"/>
                <a:cs typeface="Times New Roman" panose="02020603050405020304" pitchFamily="18" charset="0"/>
              </a:endParaRPr>
            </a:p>
          </p:txBody>
        </p:sp>
        <p:sp>
          <p:nvSpPr>
            <p:cNvPr id="27" name="Rectangle 26"/>
            <p:cNvSpPr/>
            <p:nvPr/>
          </p:nvSpPr>
          <p:spPr>
            <a:xfrm>
              <a:off x="5007243" y="2962500"/>
              <a:ext cx="1625696" cy="1071830"/>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800" dirty="0" err="1">
                  <a:latin typeface="Times New Roman" panose="02020603050405020304" pitchFamily="18" charset="0"/>
                  <a:cs typeface="Times New Roman" panose="02020603050405020304" pitchFamily="18" charset="0"/>
                </a:rPr>
                <a:t>BBBCorp</a:t>
              </a:r>
              <a:endParaRPr lang="en-CA" sz="2800" dirty="0">
                <a:latin typeface="Times New Roman" panose="02020603050405020304" pitchFamily="18" charset="0"/>
                <a:cs typeface="Times New Roman" panose="02020603050405020304" pitchFamily="18" charset="0"/>
              </a:endParaRPr>
            </a:p>
          </p:txBody>
        </p:sp>
        <p:cxnSp>
          <p:nvCxnSpPr>
            <p:cNvPr id="28" name="Straight Arrow Connector 27"/>
            <p:cNvCxnSpPr/>
            <p:nvPr/>
          </p:nvCxnSpPr>
          <p:spPr>
            <a:xfrm flipH="1">
              <a:off x="3337095" y="3300722"/>
              <a:ext cx="1670149"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3337095" y="3721514"/>
              <a:ext cx="1670149"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1" name="TextBox 29"/>
            <p:cNvSpPr txBox="1">
              <a:spLocks noChangeArrowheads="1"/>
            </p:cNvSpPr>
            <p:nvPr/>
          </p:nvSpPr>
          <p:spPr bwMode="auto">
            <a:xfrm>
              <a:off x="3690172" y="2852936"/>
              <a:ext cx="1101088"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latin typeface="Times New Roman" panose="02020603050405020304" pitchFamily="18" charset="0"/>
                  <a:cs typeface="Times New Roman" panose="02020603050405020304" pitchFamily="18" charset="0"/>
                </a:rPr>
                <a:t>4.35%</a:t>
              </a:r>
              <a:endParaRPr lang="en-CA" altLang="en-US" sz="2400">
                <a:latin typeface="Times New Roman" panose="02020603050405020304" pitchFamily="18" charset="0"/>
                <a:cs typeface="Times New Roman" panose="02020603050405020304" pitchFamily="18" charset="0"/>
              </a:endParaRPr>
            </a:p>
          </p:txBody>
        </p:sp>
        <p:sp>
          <p:nvSpPr>
            <p:cNvPr id="40972" name="TextBox 30"/>
            <p:cNvSpPr txBox="1">
              <a:spLocks noChangeArrowheads="1"/>
            </p:cNvSpPr>
            <p:nvPr/>
          </p:nvSpPr>
          <p:spPr bwMode="auto">
            <a:xfrm>
              <a:off x="3578481" y="3721928"/>
              <a:ext cx="1251170" cy="461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latin typeface="Times New Roman" panose="02020603050405020304" pitchFamily="18" charset="0"/>
                  <a:cs typeface="Times New Roman" panose="02020603050405020304" pitchFamily="18" charset="0"/>
                </a:rPr>
                <a:t>Floating</a:t>
              </a:r>
              <a:endParaRPr lang="en-CA" altLang="en-US" sz="2400" dirty="0">
                <a:latin typeface="Times New Roman" panose="02020603050405020304" pitchFamily="18" charset="0"/>
                <a:cs typeface="Times New Roman" panose="02020603050405020304" pitchFamily="18" charset="0"/>
              </a:endParaRPr>
            </a:p>
          </p:txBody>
        </p:sp>
        <p:cxnSp>
          <p:nvCxnSpPr>
            <p:cNvPr id="32" name="Straight Arrow Connector 31"/>
            <p:cNvCxnSpPr>
              <a:stCxn id="27" idx="3"/>
            </p:cNvCxnSpPr>
            <p:nvPr/>
          </p:nvCxnSpPr>
          <p:spPr>
            <a:xfrm flipV="1">
              <a:off x="6632939" y="3491270"/>
              <a:ext cx="1827321" cy="635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4" name="TextBox 32"/>
            <p:cNvSpPr txBox="1">
              <a:spLocks noChangeArrowheads="1"/>
            </p:cNvSpPr>
            <p:nvPr/>
          </p:nvSpPr>
          <p:spPr bwMode="auto">
            <a:xfrm>
              <a:off x="6810538" y="3083769"/>
              <a:ext cx="2054558"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latin typeface="Times New Roman" panose="02020603050405020304" pitchFamily="18" charset="0"/>
                  <a:cs typeface="Times New Roman" panose="02020603050405020304" pitchFamily="18" charset="0"/>
                </a:rPr>
                <a:t>Floating+0.6%</a:t>
              </a:r>
              <a:endParaRPr lang="en-CA" altLang="en-US" sz="2400" dirty="0">
                <a:latin typeface="Times New Roman" panose="02020603050405020304" pitchFamily="18" charset="0"/>
                <a:cs typeface="Times New Roman" panose="02020603050405020304" pitchFamily="18" charset="0"/>
              </a:endParaRPr>
            </a:p>
          </p:txBody>
        </p:sp>
        <p:cxnSp>
          <p:nvCxnSpPr>
            <p:cNvPr id="46" name="Straight Arrow Connector 45"/>
            <p:cNvCxnSpPr/>
            <p:nvPr/>
          </p:nvCxnSpPr>
          <p:spPr>
            <a:xfrm flipH="1">
              <a:off x="457200" y="3481742"/>
              <a:ext cx="1090677" cy="1587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976" name="TextBox 6"/>
            <p:cNvSpPr txBox="1">
              <a:spLocks noChangeArrowheads="1"/>
            </p:cNvSpPr>
            <p:nvPr/>
          </p:nvSpPr>
          <p:spPr bwMode="auto">
            <a:xfrm>
              <a:off x="457200" y="3083769"/>
              <a:ext cx="9127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400"/>
                <a:t>4%</a:t>
              </a:r>
              <a:endParaRPr lang="en-US" altLang="en-US" sz="2400"/>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72924" y="1077428"/>
            <a:ext cx="7543800" cy="1295400"/>
          </a:xfrm>
        </p:spPr>
        <p:txBody>
          <a:bodyPr/>
          <a:lstStyle/>
          <a:p>
            <a:r>
              <a:rPr lang="en-US" altLang="en-US" dirty="0"/>
              <a:t>The Swap when a Financial Institution (F.I.) is Involved </a:t>
            </a:r>
            <a:br>
              <a:rPr lang="en-US" altLang="en-US" dirty="0"/>
            </a:br>
            <a:r>
              <a:rPr lang="en-US" altLang="en-US" sz="2200" dirty="0"/>
              <a:t>(Figure 7.8)</a:t>
            </a:r>
            <a:endParaRPr lang="en-US" altLang="en-US" dirty="0"/>
          </a:p>
        </p:txBody>
      </p:sp>
      <p:sp>
        <p:nvSpPr>
          <p:cNvPr id="430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Options, Futures, and Other Derivatives, 11th Edition, Copyright © John C. Hull 2021</a:t>
            </a:r>
            <a:endParaRPr lang="en-US" altLang="en-US" i="0"/>
          </a:p>
        </p:txBody>
      </p:sp>
      <p:sp>
        <p:nvSpPr>
          <p:cNvPr id="4301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453975-56AE-47BB-803D-6094A90E3BF4}" type="slidenum">
              <a:rPr lang="en-US" altLang="en-US"/>
              <a:pPr/>
              <a:t>11</a:t>
            </a:fld>
            <a:endParaRPr lang="en-US" altLang="en-US"/>
          </a:p>
        </p:txBody>
      </p:sp>
      <p:grpSp>
        <p:nvGrpSpPr>
          <p:cNvPr id="2" name="Group 1"/>
          <p:cNvGrpSpPr/>
          <p:nvPr/>
        </p:nvGrpSpPr>
        <p:grpSpPr>
          <a:xfrm>
            <a:off x="461429" y="3573016"/>
            <a:ext cx="8555038" cy="1304012"/>
            <a:chOff x="457200" y="2841625"/>
            <a:chExt cx="8555038" cy="1304012"/>
          </a:xfrm>
        </p:grpSpPr>
        <p:sp>
          <p:nvSpPr>
            <p:cNvPr id="6" name="Rectangle 5"/>
            <p:cNvSpPr/>
            <p:nvPr/>
          </p:nvSpPr>
          <p:spPr>
            <a:xfrm>
              <a:off x="1116013" y="2954338"/>
              <a:ext cx="1511300" cy="1071562"/>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200" dirty="0" err="1">
                  <a:latin typeface="Times New Roman" panose="02020603050405020304" pitchFamily="18" charset="0"/>
                  <a:cs typeface="Times New Roman" panose="02020603050405020304" pitchFamily="18" charset="0"/>
                </a:rPr>
                <a:t>AAACorp</a:t>
              </a:r>
              <a:endParaRPr lang="en-CA" sz="2200" dirty="0">
                <a:latin typeface="Times New Roman" panose="02020603050405020304" pitchFamily="18" charset="0"/>
                <a:cs typeface="Times New Roman" panose="02020603050405020304" pitchFamily="18" charset="0"/>
              </a:endParaRPr>
            </a:p>
          </p:txBody>
        </p:sp>
        <p:sp>
          <p:nvSpPr>
            <p:cNvPr id="7" name="Rectangle 6"/>
            <p:cNvSpPr/>
            <p:nvPr/>
          </p:nvSpPr>
          <p:spPr>
            <a:xfrm>
              <a:off x="5580063" y="2962275"/>
              <a:ext cx="1512887" cy="1071563"/>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2200" dirty="0" err="1">
                  <a:latin typeface="Times New Roman" panose="02020603050405020304" pitchFamily="18" charset="0"/>
                  <a:cs typeface="Times New Roman" panose="02020603050405020304" pitchFamily="18" charset="0"/>
                </a:rPr>
                <a:t>BBBCorp</a:t>
              </a:r>
              <a:endParaRPr lang="en-CA" sz="22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flipV="1">
              <a:off x="2627313" y="3308350"/>
              <a:ext cx="1033462"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2627313" y="3652838"/>
              <a:ext cx="1036637" cy="1111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17" name="TextBox 9"/>
            <p:cNvSpPr txBox="1">
              <a:spLocks noChangeArrowheads="1"/>
            </p:cNvSpPr>
            <p:nvPr/>
          </p:nvSpPr>
          <p:spPr bwMode="auto">
            <a:xfrm>
              <a:off x="2717800" y="2841625"/>
              <a:ext cx="10953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a:latin typeface="Times New Roman" panose="02020603050405020304" pitchFamily="18" charset="0"/>
                  <a:cs typeface="Times New Roman" panose="02020603050405020304" pitchFamily="18" charset="0"/>
                </a:rPr>
                <a:t>4.33%</a:t>
              </a:r>
              <a:endParaRPr lang="en-CA" altLang="en-US" sz="2200">
                <a:latin typeface="Times New Roman" panose="02020603050405020304" pitchFamily="18" charset="0"/>
                <a:cs typeface="Times New Roman" panose="02020603050405020304" pitchFamily="18" charset="0"/>
              </a:endParaRPr>
            </a:p>
          </p:txBody>
        </p:sp>
        <p:sp>
          <p:nvSpPr>
            <p:cNvPr id="43018" name="TextBox 10"/>
            <p:cNvSpPr txBox="1">
              <a:spLocks noChangeArrowheads="1"/>
            </p:cNvSpPr>
            <p:nvPr/>
          </p:nvSpPr>
          <p:spPr bwMode="auto">
            <a:xfrm>
              <a:off x="2624138" y="3714750"/>
              <a:ext cx="12334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Times New Roman" panose="02020603050405020304" pitchFamily="18" charset="0"/>
                  <a:cs typeface="Times New Roman" panose="02020603050405020304" pitchFamily="18" charset="0"/>
                </a:rPr>
                <a:t>Floating</a:t>
              </a:r>
              <a:endParaRPr lang="en-CA" altLang="en-US" sz="2200" dirty="0">
                <a:latin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flipV="1">
              <a:off x="7092950" y="3490913"/>
              <a:ext cx="1366838" cy="793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0" name="TextBox 12"/>
            <p:cNvSpPr txBox="1">
              <a:spLocks noChangeArrowheads="1"/>
            </p:cNvSpPr>
            <p:nvPr/>
          </p:nvSpPr>
          <p:spPr bwMode="auto">
            <a:xfrm>
              <a:off x="7092950" y="3084513"/>
              <a:ext cx="19192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Times New Roman" panose="02020603050405020304" pitchFamily="18" charset="0"/>
                  <a:cs typeface="Times New Roman" panose="02020603050405020304" pitchFamily="18" charset="0"/>
                </a:rPr>
                <a:t>Floating+0.6%</a:t>
              </a:r>
              <a:endParaRPr lang="en-CA" altLang="en-US" sz="2200" dirty="0">
                <a:latin typeface="Times New Roman" panose="02020603050405020304" pitchFamily="18" charset="0"/>
                <a:cs typeface="Times New Roman" panose="02020603050405020304" pitchFamily="18" charset="0"/>
              </a:endParaRPr>
            </a:p>
          </p:txBody>
        </p:sp>
        <p:cxnSp>
          <p:nvCxnSpPr>
            <p:cNvPr id="14" name="Straight Arrow Connector 13"/>
            <p:cNvCxnSpPr>
              <a:stCxn id="6" idx="1"/>
            </p:cNvCxnSpPr>
            <p:nvPr/>
          </p:nvCxnSpPr>
          <p:spPr>
            <a:xfrm flipH="1">
              <a:off x="457200" y="3489325"/>
              <a:ext cx="658813" cy="95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2" name="TextBox 14"/>
            <p:cNvSpPr txBox="1">
              <a:spLocks noChangeArrowheads="1"/>
            </p:cNvSpPr>
            <p:nvPr/>
          </p:nvSpPr>
          <p:spPr bwMode="auto">
            <a:xfrm>
              <a:off x="457200" y="3084513"/>
              <a:ext cx="7477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2200" dirty="0"/>
                <a:t>4%</a:t>
              </a:r>
              <a:endParaRPr lang="en-US" altLang="en-US" sz="2200" dirty="0"/>
            </a:p>
          </p:txBody>
        </p:sp>
        <p:cxnSp>
          <p:nvCxnSpPr>
            <p:cNvPr id="40" name="Straight Arrow Connector 39"/>
            <p:cNvCxnSpPr/>
            <p:nvPr/>
          </p:nvCxnSpPr>
          <p:spPr>
            <a:xfrm>
              <a:off x="4545013" y="3714750"/>
              <a:ext cx="1035050" cy="1111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41" name="Straight Arrow Connector 40"/>
            <p:cNvCxnSpPr/>
            <p:nvPr/>
          </p:nvCxnSpPr>
          <p:spPr>
            <a:xfrm flipH="1" flipV="1">
              <a:off x="4545013" y="3344863"/>
              <a:ext cx="1031875" cy="158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3025" name="TextBox 42"/>
            <p:cNvSpPr txBox="1">
              <a:spLocks noChangeArrowheads="1"/>
            </p:cNvSpPr>
            <p:nvPr/>
          </p:nvSpPr>
          <p:spPr bwMode="auto">
            <a:xfrm>
              <a:off x="4543425" y="3694113"/>
              <a:ext cx="1231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dirty="0">
                  <a:latin typeface="Times New Roman" panose="02020603050405020304" pitchFamily="18" charset="0"/>
                  <a:cs typeface="Times New Roman" panose="02020603050405020304" pitchFamily="18" charset="0"/>
                </a:rPr>
                <a:t>Floating</a:t>
              </a:r>
              <a:endParaRPr lang="en-CA" altLang="en-US" sz="2200" dirty="0">
                <a:latin typeface="Times New Roman" panose="02020603050405020304" pitchFamily="18" charset="0"/>
                <a:cs typeface="Times New Roman" panose="02020603050405020304" pitchFamily="18" charset="0"/>
              </a:endParaRPr>
            </a:p>
          </p:txBody>
        </p:sp>
        <p:sp>
          <p:nvSpPr>
            <p:cNvPr id="43026" name="TextBox 43"/>
            <p:cNvSpPr txBox="1">
              <a:spLocks noChangeArrowheads="1"/>
            </p:cNvSpPr>
            <p:nvPr/>
          </p:nvSpPr>
          <p:spPr bwMode="auto">
            <a:xfrm>
              <a:off x="4664075" y="2887663"/>
              <a:ext cx="10953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200">
                  <a:latin typeface="Times New Roman" panose="02020603050405020304" pitchFamily="18" charset="0"/>
                  <a:cs typeface="Times New Roman" panose="02020603050405020304" pitchFamily="18" charset="0"/>
                </a:rPr>
                <a:t>4.37%</a:t>
              </a:r>
              <a:endParaRPr lang="en-CA" altLang="en-US" sz="2200">
                <a:latin typeface="Times New Roman" panose="02020603050405020304" pitchFamily="18" charset="0"/>
                <a:cs typeface="Times New Roman" panose="02020603050405020304" pitchFamily="18" charset="0"/>
              </a:endParaRPr>
            </a:p>
          </p:txBody>
        </p:sp>
        <p:sp>
          <p:nvSpPr>
            <p:cNvPr id="45" name="Rectangle 44"/>
            <p:cNvSpPr/>
            <p:nvPr/>
          </p:nvSpPr>
          <p:spPr>
            <a:xfrm>
              <a:off x="3676650" y="2954338"/>
              <a:ext cx="900113" cy="1108075"/>
            </a:xfrm>
            <a:prstGeom prst="rect">
              <a:avLst/>
            </a:prstGeom>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CA" sz="2200" dirty="0">
                  <a:latin typeface="Times New Roman" panose="02020603050405020304" pitchFamily="18" charset="0"/>
                  <a:cs typeface="Times New Roman" panose="02020603050405020304" pitchFamily="18" charset="0"/>
                </a:rPr>
                <a:t>F.I.</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lIns="92075" tIns="46038" rIns="92075" bIns="46038"/>
          <a:lstStyle/>
          <a:p>
            <a:pPr eaLnBrk="1" hangingPunct="1"/>
            <a:r>
              <a:rPr lang="en-US" altLang="en-US" dirty="0"/>
              <a:t>Valuation of an Interest Rate Swap</a:t>
            </a:r>
            <a:r>
              <a:rPr lang="hu-HU" altLang="en-US" dirty="0"/>
              <a:t> – Bond Pricing Method</a:t>
            </a:r>
            <a:endParaRPr lang="en-US" altLang="en-US" dirty="0"/>
          </a:p>
        </p:txBody>
      </p:sp>
      <p:sp>
        <p:nvSpPr>
          <p:cNvPr id="46083" name="Rectangle 3"/>
          <p:cNvSpPr>
            <a:spLocks noGrp="1" noChangeArrowheads="1"/>
          </p:cNvSpPr>
          <p:nvPr>
            <p:ph idx="1"/>
          </p:nvPr>
        </p:nvSpPr>
        <p:spPr>
          <a:xfrm>
            <a:off x="450016" y="2112314"/>
            <a:ext cx="7543800" cy="4114800"/>
          </a:xfrm>
        </p:spPr>
        <p:txBody>
          <a:bodyPr lIns="92075" tIns="46038" rIns="92075" bIns="46038"/>
          <a:lstStyle/>
          <a:p>
            <a:pPr eaLnBrk="1" hangingPunct="1"/>
            <a:r>
              <a:rPr lang="en-CA" altLang="en-US" sz="2600" dirty="0">
                <a:cs typeface="Arial" panose="020B0604020202020204" pitchFamily="34" charset="0"/>
              </a:rPr>
              <a:t>Initially interest rate swaps are worth close to zero</a:t>
            </a:r>
            <a:endParaRPr lang="en-US" altLang="en-US" sz="2600" dirty="0">
              <a:cs typeface="Arial" panose="020B0604020202020204" pitchFamily="34" charset="0"/>
            </a:endParaRPr>
          </a:p>
          <a:p>
            <a:pPr eaLnBrk="1" hangingPunct="1"/>
            <a:r>
              <a:rPr lang="en-US" altLang="en-US" sz="2600" dirty="0">
                <a:cs typeface="Arial" panose="020B0604020202020204" pitchFamily="34" charset="0"/>
              </a:rPr>
              <a:t>At later times they can be valued as a portfolio of </a:t>
            </a:r>
            <a:r>
              <a:rPr lang="hu-HU" altLang="en-US" sz="2600" dirty="0"/>
              <a:t>a fixed coupon – floating coupon bond pair</a:t>
            </a:r>
            <a:endParaRPr lang="en-US" altLang="en-US" sz="2600" dirty="0">
              <a:cs typeface="Arial" panose="020B0604020202020204" pitchFamily="34" charset="0"/>
            </a:endParaRPr>
          </a:p>
          <a:p>
            <a:pPr eaLnBrk="1" hangingPunct="1"/>
            <a:r>
              <a:rPr lang="en-US" altLang="en-US" sz="2600" dirty="0">
                <a:cs typeface="Arial" panose="020B0604020202020204" pitchFamily="34" charset="0"/>
              </a:rPr>
              <a:t>The procedure is to</a:t>
            </a:r>
          </a:p>
          <a:p>
            <a:pPr lvl="1" eaLnBrk="1" hangingPunct="1"/>
            <a:r>
              <a:rPr lang="en-US" altLang="en-US" sz="2400" dirty="0">
                <a:cs typeface="Arial" panose="020B0604020202020204" pitchFamily="34" charset="0"/>
              </a:rPr>
              <a:t>Calculate </a:t>
            </a:r>
            <a:r>
              <a:rPr lang="hu-HU" altLang="en-US" dirty="0"/>
              <a:t>the price of the fixed coupon bond</a:t>
            </a:r>
            <a:endParaRPr lang="en-US" altLang="en-US" sz="2400" dirty="0">
              <a:cs typeface="Arial" panose="020B0604020202020204" pitchFamily="34" charset="0"/>
            </a:endParaRPr>
          </a:p>
          <a:p>
            <a:pPr lvl="1" eaLnBrk="1" hangingPunct="1"/>
            <a:r>
              <a:rPr lang="en-US" altLang="en-US" sz="2400" dirty="0">
                <a:cs typeface="Arial" panose="020B0604020202020204" pitchFamily="34" charset="0"/>
              </a:rPr>
              <a:t>Calculate the </a:t>
            </a:r>
            <a:r>
              <a:rPr lang="hu-HU" altLang="en-US" dirty="0"/>
              <a:t>price of the floating coupon bond </a:t>
            </a:r>
          </a:p>
          <a:p>
            <a:pPr lvl="1" eaLnBrk="1" hangingPunct="1"/>
            <a:r>
              <a:rPr lang="hu-HU" altLang="en-US" dirty="0"/>
              <a:t>Calculate the difference</a:t>
            </a:r>
            <a:endParaRPr lang="en-US" altLang="en-US" sz="2400" dirty="0">
              <a:cs typeface="Arial" panose="020B0604020202020204" pitchFamily="34" charset="0"/>
            </a:endParaRPr>
          </a:p>
          <a:p>
            <a:pPr eaLnBrk="1" hangingPunct="1"/>
            <a:endParaRPr lang="en-US" altLang="en-US" dirty="0">
              <a:cs typeface="Arial" panose="020B0604020202020204" pitchFamily="34" charset="0"/>
            </a:endParaRPr>
          </a:p>
        </p:txBody>
      </p:sp>
      <p:sp>
        <p:nvSpPr>
          <p:cNvPr id="460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a:cs typeface="Arial" panose="020B0604020202020204" pitchFamily="34" charset="0"/>
            </a:endParaRPr>
          </a:p>
        </p:txBody>
      </p:sp>
      <p:sp>
        <p:nvSpPr>
          <p:cNvPr id="460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9E4401B-DFB1-4D7A-ADB0-C7B4486B075B}" type="slidenum">
              <a:rPr lang="en-US" altLang="en-US" sz="1800"/>
              <a:pPr>
                <a:spcBef>
                  <a:spcPct val="0"/>
                </a:spcBef>
                <a:buClrTx/>
                <a:buSzTx/>
                <a:buFontTx/>
                <a:buNone/>
              </a:pPr>
              <a:t>12</a:t>
            </a:fld>
            <a:endParaRPr lang="en-US" altLang="en-US" sz="1800"/>
          </a:p>
        </p:txBody>
      </p:sp>
    </p:spTree>
    <p:extLst>
      <p:ext uri="{BB962C8B-B14F-4D97-AF65-F5344CB8AC3E}">
        <p14:creationId xmlns:p14="http://schemas.microsoft.com/office/powerpoint/2010/main" val="104066559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228600" y="1283872"/>
            <a:ext cx="7772400" cy="1143000"/>
          </a:xfrm>
          <a:noFill/>
        </p:spPr>
        <p:txBody>
          <a:bodyPr lIns="92075" tIns="46038" rIns="92075" bIns="46038" anchor="ctr"/>
          <a:lstStyle/>
          <a:p>
            <a:pPr eaLnBrk="1" hangingPunct="1"/>
            <a:r>
              <a:rPr lang="en-US" altLang="en-US" dirty="0"/>
              <a:t>An Example of a Fixed-for-Fixed Currency Swap </a:t>
            </a:r>
            <a:r>
              <a:rPr lang="en-US" altLang="en-US" sz="2400" dirty="0"/>
              <a:t>(Figure 7.10)</a:t>
            </a:r>
          </a:p>
        </p:txBody>
      </p:sp>
      <p:sp>
        <p:nvSpPr>
          <p:cNvPr id="52228" name="Rectangle 3"/>
          <p:cNvSpPr>
            <a:spLocks noGrp="1" noChangeArrowheads="1"/>
          </p:cNvSpPr>
          <p:nvPr>
            <p:ph idx="1"/>
          </p:nvPr>
        </p:nvSpPr>
        <p:spPr>
          <a:xfrm>
            <a:off x="827584" y="2426872"/>
            <a:ext cx="7396163" cy="3479800"/>
          </a:xfrm>
          <a:noFill/>
        </p:spPr>
        <p:txBody>
          <a:bodyPr lIns="92075" tIns="46038" rIns="92075" bIns="46038"/>
          <a:lstStyle/>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r>
              <a:rPr lang="en-US" altLang="en-US" dirty="0"/>
              <a:t>   Five year agreement by BP to </a:t>
            </a:r>
          </a:p>
          <a:p>
            <a:pPr eaLnBrk="1" hangingPunct="1"/>
            <a:r>
              <a:rPr lang="en-US" altLang="en-US" dirty="0"/>
              <a:t>Pay 3% on a US dollar principal of $15,000,000 </a:t>
            </a:r>
          </a:p>
          <a:p>
            <a:pPr eaLnBrk="1" hangingPunct="1"/>
            <a:r>
              <a:rPr lang="en-US" altLang="en-US" dirty="0"/>
              <a:t>Receive 4% on a sterling principal of £10,000,000</a:t>
            </a:r>
          </a:p>
        </p:txBody>
      </p:sp>
      <p:sp>
        <p:nvSpPr>
          <p:cNvPr id="5222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522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24B300-06DF-4A32-91FF-40610B0CC3A3}" type="slidenum">
              <a:rPr lang="en-US" altLang="en-US" sz="1800"/>
              <a:pPr>
                <a:spcBef>
                  <a:spcPct val="0"/>
                </a:spcBef>
                <a:buClrTx/>
                <a:buSzTx/>
                <a:buFontTx/>
                <a:buNone/>
              </a:pPr>
              <a:t>13</a:t>
            </a:fld>
            <a:endParaRPr lang="en-US" altLang="en-US" sz="18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noFill/>
        </p:spPr>
        <p:txBody>
          <a:bodyPr lIns="92075" tIns="46038" rIns="92075" bIns="46038" anchor="ctr"/>
          <a:lstStyle/>
          <a:p>
            <a:pPr eaLnBrk="1" hangingPunct="1"/>
            <a:r>
              <a:rPr lang="en-US" altLang="en-US"/>
              <a:t>Exchange of Principal</a:t>
            </a:r>
          </a:p>
        </p:txBody>
      </p:sp>
      <p:sp>
        <p:nvSpPr>
          <p:cNvPr id="54276" name="Rectangle 3"/>
          <p:cNvSpPr>
            <a:spLocks noGrp="1" noChangeArrowheads="1"/>
          </p:cNvSpPr>
          <p:nvPr>
            <p:ph idx="1"/>
          </p:nvPr>
        </p:nvSpPr>
        <p:spPr>
          <a:xfrm>
            <a:off x="1017588" y="2640720"/>
            <a:ext cx="6118225" cy="4114800"/>
          </a:xfrm>
          <a:noFill/>
        </p:spPr>
        <p:txBody>
          <a:bodyPr lIns="92075" tIns="46038" rIns="92075" bIns="46038"/>
          <a:lstStyle/>
          <a:p>
            <a:pPr eaLnBrk="1" hangingPunct="1"/>
            <a:r>
              <a:rPr lang="en-US" altLang="en-US" dirty="0"/>
              <a:t>In an interest rate swap the principal is not exchanged</a:t>
            </a:r>
          </a:p>
          <a:p>
            <a:pPr eaLnBrk="1" hangingPunct="1"/>
            <a:r>
              <a:rPr lang="en-US" altLang="en-US" dirty="0"/>
              <a:t>In a currency swap the principal is exchanged at the beginning and the end of the swap</a:t>
            </a:r>
          </a:p>
        </p:txBody>
      </p:sp>
      <p:sp>
        <p:nvSpPr>
          <p:cNvPr id="542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542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72837F9-12CA-4EE2-90C5-1F5C45EA4D8A}" type="slidenum">
              <a:rPr lang="en-US" altLang="en-US" sz="1800"/>
              <a:pPr>
                <a:spcBef>
                  <a:spcPct val="0"/>
                </a:spcBef>
                <a:buClrTx/>
                <a:buSzTx/>
                <a:buFontTx/>
                <a:buNone/>
              </a:pPr>
              <a:t>14</a:t>
            </a:fld>
            <a:endParaRPr lang="en-US" altLang="en-US" sz="18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769937" y="482600"/>
            <a:ext cx="6499225" cy="1506538"/>
          </a:xfrm>
        </p:spPr>
        <p:txBody>
          <a:bodyPr lIns="92075" tIns="46038" rIns="92075" bIns="46038"/>
          <a:lstStyle/>
          <a:p>
            <a:pPr eaLnBrk="1" hangingPunct="1"/>
            <a:r>
              <a:rPr lang="en-US" altLang="en-US" sz="3500" dirty="0"/>
              <a:t>The Cash Flows </a:t>
            </a:r>
            <a:r>
              <a:rPr lang="en-US" altLang="en-US" sz="2200" dirty="0"/>
              <a:t>(Table 7.6)</a:t>
            </a:r>
            <a:endParaRPr lang="en-US" altLang="en-US" sz="3500" dirty="0"/>
          </a:p>
        </p:txBody>
      </p:sp>
      <p:sp>
        <p:nvSpPr>
          <p:cNvPr id="563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a:cs typeface="Arial" panose="020B0604020202020204" pitchFamily="34" charset="0"/>
            </a:endParaRPr>
          </a:p>
        </p:txBody>
      </p:sp>
      <p:sp>
        <p:nvSpPr>
          <p:cNvPr id="563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6070564-A42F-4663-9227-30BBB4AA0843}" type="slidenum">
              <a:rPr lang="en-US" altLang="en-US" sz="1800"/>
              <a:pPr>
                <a:spcBef>
                  <a:spcPct val="0"/>
                </a:spcBef>
                <a:buClrTx/>
                <a:buSzTx/>
                <a:buFontTx/>
                <a:buNone/>
              </a:pPr>
              <a:t>15</a:t>
            </a:fld>
            <a:endParaRPr lang="en-US" altLang="en-US" sz="1800"/>
          </a:p>
        </p:txBody>
      </p:sp>
      <p:sp>
        <p:nvSpPr>
          <p:cNvPr id="56325" name="Rectangle 4"/>
          <p:cNvSpPr>
            <a:spLocks noChangeArrowheads="1"/>
          </p:cNvSpPr>
          <p:nvPr/>
        </p:nvSpPr>
        <p:spPr bwMode="auto">
          <a:xfrm>
            <a:off x="2990850" y="1501775"/>
            <a:ext cx="3155950" cy="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a:p>
        </p:txBody>
      </p:sp>
      <p:graphicFrame>
        <p:nvGraphicFramePr>
          <p:cNvPr id="34" name="Table 33"/>
          <p:cNvGraphicFramePr>
            <a:graphicFrameLocks noGrp="1"/>
          </p:cNvGraphicFramePr>
          <p:nvPr>
            <p:extLst>
              <p:ext uri="{D42A27DB-BD31-4B8C-83A1-F6EECF244321}">
                <p14:modId xmlns:p14="http://schemas.microsoft.com/office/powerpoint/2010/main" val="23213503"/>
              </p:ext>
            </p:extLst>
          </p:nvPr>
        </p:nvGraphicFramePr>
        <p:xfrm>
          <a:off x="971550" y="1989138"/>
          <a:ext cx="6096000" cy="3383008"/>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914344">
                <a:tc>
                  <a:txBody>
                    <a:bodyPr/>
                    <a:lstStyle/>
                    <a:p>
                      <a:r>
                        <a:rPr lang="en-CA" sz="1800" dirty="0"/>
                        <a:t>Date</a:t>
                      </a:r>
                      <a:endParaRPr lang="en-US" sz="1800" dirty="0"/>
                    </a:p>
                  </a:txBody>
                  <a:tcPr marT="45702" marB="45702"/>
                </a:tc>
                <a:tc>
                  <a:txBody>
                    <a:bodyPr/>
                    <a:lstStyle/>
                    <a:p>
                      <a:pPr algn="ctr"/>
                      <a:r>
                        <a:rPr lang="en-CA" sz="1800" dirty="0"/>
                        <a:t>Dollar Cash Flows</a:t>
                      </a:r>
                    </a:p>
                    <a:p>
                      <a:pPr algn="ctr"/>
                      <a:r>
                        <a:rPr lang="en-CA" sz="1800" dirty="0"/>
                        <a:t>(millions)</a:t>
                      </a:r>
                      <a:endParaRPr lang="en-US" sz="1800" dirty="0"/>
                    </a:p>
                  </a:txBody>
                  <a:tcPr marT="45702" marB="45702"/>
                </a:tc>
                <a:tc>
                  <a:txBody>
                    <a:bodyPr/>
                    <a:lstStyle/>
                    <a:p>
                      <a:pPr algn="ctr"/>
                      <a:r>
                        <a:rPr lang="en-CA" sz="1800" dirty="0"/>
                        <a:t>Sterling cash flow</a:t>
                      </a:r>
                    </a:p>
                    <a:p>
                      <a:pPr algn="ctr"/>
                      <a:r>
                        <a:rPr lang="en-CA" sz="1800" dirty="0"/>
                        <a:t>(millions)</a:t>
                      </a:r>
                      <a:endParaRPr lang="en-US" sz="1800" dirty="0"/>
                    </a:p>
                  </a:txBody>
                  <a:tcPr marT="45702" marB="45702"/>
                </a:tc>
                <a:extLst>
                  <a:ext uri="{0D108BD9-81ED-4DB2-BD59-A6C34878D82A}">
                    <a16:rowId xmlns:a16="http://schemas.microsoft.com/office/drawing/2014/main" val="10000"/>
                  </a:ext>
                </a:extLst>
              </a:tr>
              <a:tr h="365717">
                <a:tc>
                  <a:txBody>
                    <a:bodyPr/>
                    <a:lstStyle/>
                    <a:p>
                      <a:r>
                        <a:rPr lang="en-CA" sz="1800" dirty="0"/>
                        <a:t>Feb 1, 2022</a:t>
                      </a:r>
                      <a:endParaRPr lang="en-US" sz="1800" dirty="0"/>
                    </a:p>
                  </a:txBody>
                  <a:tcPr marT="45702" marB="45702"/>
                </a:tc>
                <a:tc>
                  <a:txBody>
                    <a:bodyPr/>
                    <a:lstStyle/>
                    <a:p>
                      <a:pPr algn="ctr"/>
                      <a:r>
                        <a:rPr lang="en-CA" sz="1800" dirty="0"/>
                        <a:t> +15.00</a:t>
                      </a:r>
                      <a:endParaRPr lang="en-US" sz="1800" dirty="0"/>
                    </a:p>
                  </a:txBody>
                  <a:tcPr marT="45702" marB="45702"/>
                </a:tc>
                <a:tc>
                  <a:txBody>
                    <a:bodyPr/>
                    <a:lstStyle/>
                    <a:p>
                      <a:pPr algn="ctr"/>
                      <a:r>
                        <a:rPr lang="en-US" sz="1800" dirty="0"/>
                        <a:t>−</a:t>
                      </a:r>
                      <a:r>
                        <a:rPr lang="en-CA" sz="1800" dirty="0"/>
                        <a:t>10.00</a:t>
                      </a:r>
                      <a:endParaRPr lang="en-US" sz="1800" dirty="0"/>
                    </a:p>
                  </a:txBody>
                  <a:tcPr marT="45702" marB="45702"/>
                </a:tc>
                <a:extLst>
                  <a:ext uri="{0D108BD9-81ED-4DB2-BD59-A6C34878D82A}">
                    <a16:rowId xmlns:a16="http://schemas.microsoft.com/office/drawing/2014/main" val="10001"/>
                  </a:ext>
                </a:extLst>
              </a:tr>
              <a:tr h="365717">
                <a:tc>
                  <a:txBody>
                    <a:bodyPr/>
                    <a:lstStyle/>
                    <a:p>
                      <a:r>
                        <a:rPr lang="en-CA" sz="1800" dirty="0"/>
                        <a:t>Feb 1, 2023</a:t>
                      </a:r>
                      <a:endParaRPr lang="en-US" sz="1800" dirty="0"/>
                    </a:p>
                  </a:txBody>
                  <a:tcPr marT="45702" marB="45702"/>
                </a:tc>
                <a:tc>
                  <a:txBody>
                    <a:bodyPr/>
                    <a:lstStyle/>
                    <a:p>
                      <a:pPr algn="ctr"/>
                      <a:r>
                        <a:rPr lang="en-CA" sz="1800" dirty="0"/>
                        <a:t>  </a:t>
                      </a:r>
                      <a:r>
                        <a:rPr lang="en-US" sz="1800" dirty="0"/>
                        <a:t>−</a:t>
                      </a:r>
                      <a:r>
                        <a:rPr lang="en-CA" sz="1800" dirty="0"/>
                        <a:t>0.45</a:t>
                      </a:r>
                      <a:endParaRPr lang="en-US" sz="1800" dirty="0"/>
                    </a:p>
                  </a:txBody>
                  <a:tcPr marT="45702" marB="45702"/>
                </a:tc>
                <a:tc>
                  <a:txBody>
                    <a:bodyPr/>
                    <a:lstStyle/>
                    <a:p>
                      <a:pPr algn="ctr"/>
                      <a:r>
                        <a:rPr lang="en-US" sz="1800" dirty="0"/>
                        <a:t>  +0.40</a:t>
                      </a:r>
                    </a:p>
                  </a:txBody>
                  <a:tcPr marT="45702" marB="45702"/>
                </a:tc>
                <a:extLst>
                  <a:ext uri="{0D108BD9-81ED-4DB2-BD59-A6C34878D82A}">
                    <a16:rowId xmlns:a16="http://schemas.microsoft.com/office/drawing/2014/main" val="10002"/>
                  </a:ext>
                </a:extLst>
              </a:tr>
              <a:tr h="365717">
                <a:tc>
                  <a:txBody>
                    <a:bodyPr/>
                    <a:lstStyle/>
                    <a:p>
                      <a:r>
                        <a:rPr lang="en-CA" sz="1800" dirty="0"/>
                        <a:t>Feb 1, 2024</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  </a:t>
                      </a:r>
                      <a:r>
                        <a:rPr lang="en-US" sz="1800" dirty="0"/>
                        <a:t>−</a:t>
                      </a:r>
                      <a:r>
                        <a:rPr lang="en-CA" sz="1800" dirty="0"/>
                        <a:t>0.45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  +0.40</a:t>
                      </a:r>
                    </a:p>
                  </a:txBody>
                  <a:tcPr marT="45702" marB="45702"/>
                </a:tc>
                <a:extLst>
                  <a:ext uri="{0D108BD9-81ED-4DB2-BD59-A6C34878D82A}">
                    <a16:rowId xmlns:a16="http://schemas.microsoft.com/office/drawing/2014/main" val="10003"/>
                  </a:ext>
                </a:extLst>
              </a:tr>
              <a:tr h="365717">
                <a:tc>
                  <a:txBody>
                    <a:bodyPr/>
                    <a:lstStyle/>
                    <a:p>
                      <a:r>
                        <a:rPr lang="en-CA" sz="1800" dirty="0"/>
                        <a:t>Feb 1, 2025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  </a:t>
                      </a:r>
                      <a:r>
                        <a:rPr lang="en-US" sz="1800" dirty="0"/>
                        <a:t>−</a:t>
                      </a:r>
                      <a:r>
                        <a:rPr lang="en-CA" sz="1800" dirty="0"/>
                        <a:t>0.45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  +0.40</a:t>
                      </a:r>
                    </a:p>
                  </a:txBody>
                  <a:tcPr marT="45702" marB="45702"/>
                </a:tc>
                <a:extLst>
                  <a:ext uri="{0D108BD9-81ED-4DB2-BD59-A6C34878D82A}">
                    <a16:rowId xmlns:a16="http://schemas.microsoft.com/office/drawing/2014/main" val="10004"/>
                  </a:ext>
                </a:extLst>
              </a:tr>
              <a:tr h="365717">
                <a:tc>
                  <a:txBody>
                    <a:bodyPr/>
                    <a:lstStyle/>
                    <a:p>
                      <a:r>
                        <a:rPr lang="en-CA" sz="1800" dirty="0"/>
                        <a:t>Feb 1, 2026</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800" dirty="0"/>
                        <a:t>  </a:t>
                      </a:r>
                      <a:r>
                        <a:rPr lang="en-US" sz="1800" dirty="0"/>
                        <a:t>−</a:t>
                      </a:r>
                      <a:r>
                        <a:rPr lang="en-CA" sz="1800" dirty="0"/>
                        <a:t>0.45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  +0.40</a:t>
                      </a:r>
                    </a:p>
                  </a:txBody>
                  <a:tcPr marT="45702" marB="45702"/>
                </a:tc>
                <a:extLst>
                  <a:ext uri="{0D108BD9-81ED-4DB2-BD59-A6C34878D82A}">
                    <a16:rowId xmlns:a16="http://schemas.microsoft.com/office/drawing/2014/main" val="10005"/>
                  </a:ext>
                </a:extLst>
              </a:tr>
              <a:tr h="640031">
                <a:tc>
                  <a:txBody>
                    <a:bodyPr/>
                    <a:lstStyle/>
                    <a:p>
                      <a:r>
                        <a:rPr lang="en-CA" sz="1800" dirty="0"/>
                        <a:t>Feb 1</a:t>
                      </a:r>
                      <a:r>
                        <a:rPr lang="en-CA" sz="1800"/>
                        <a:t>, 2027</a:t>
                      </a:r>
                      <a:endParaRPr lang="en-US" sz="1800" dirty="0"/>
                    </a:p>
                  </a:txBody>
                  <a:tcPr marT="45702" marB="45702"/>
                </a:tc>
                <a:tc>
                  <a:txBody>
                    <a:bodyPr/>
                    <a:lstStyle/>
                    <a:p>
                      <a:pPr algn="ctr"/>
                      <a:r>
                        <a:rPr lang="en-US" sz="1800" dirty="0"/>
                        <a:t>−</a:t>
                      </a:r>
                      <a:r>
                        <a:rPr lang="en-CA" sz="1800" dirty="0"/>
                        <a:t>15.45</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+10.40</a:t>
                      </a:r>
                    </a:p>
                    <a:p>
                      <a:pPr algn="ctr"/>
                      <a:endParaRPr lang="en-US" sz="1800" dirty="0"/>
                    </a:p>
                  </a:txBody>
                  <a:tcPr marT="45702" marB="45702"/>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noFill/>
        </p:spPr>
        <p:txBody>
          <a:bodyPr lIns="92075" tIns="46038" rIns="92075" bIns="46038" anchor="ctr"/>
          <a:lstStyle/>
          <a:p>
            <a:pPr eaLnBrk="1" hangingPunct="1"/>
            <a:r>
              <a:rPr lang="en-US" altLang="en-US"/>
              <a:t>Typical Uses of a </a:t>
            </a:r>
            <a:br>
              <a:rPr lang="en-US" altLang="en-US"/>
            </a:br>
            <a:r>
              <a:rPr lang="en-US" altLang="en-US"/>
              <a:t>Currency Swap</a:t>
            </a:r>
          </a:p>
        </p:txBody>
      </p:sp>
      <p:sp>
        <p:nvSpPr>
          <p:cNvPr id="58372" name="Rectangle 3"/>
          <p:cNvSpPr>
            <a:spLocks noGrp="1" noChangeArrowheads="1"/>
          </p:cNvSpPr>
          <p:nvPr>
            <p:ph sz="half" idx="1"/>
          </p:nvPr>
        </p:nvSpPr>
        <p:spPr>
          <a:xfrm>
            <a:off x="975519" y="2636912"/>
            <a:ext cx="7192962" cy="2495550"/>
          </a:xfrm>
          <a:noFill/>
        </p:spPr>
        <p:txBody>
          <a:bodyPr lIns="92075" tIns="46038" rIns="92075" bIns="46038"/>
          <a:lstStyle/>
          <a:p>
            <a:pPr eaLnBrk="1" hangingPunct="1"/>
            <a:r>
              <a:rPr lang="en-US" altLang="en-US" dirty="0"/>
              <a:t>Conversion from a liability in one currency to a liability in another currency</a:t>
            </a:r>
          </a:p>
          <a:p>
            <a:pPr eaLnBrk="1" hangingPunct="1">
              <a:buFont typeface="Wingdings" panose="05000000000000000000" pitchFamily="2" charset="2"/>
              <a:buNone/>
            </a:pPr>
            <a:endParaRPr lang="en-US" altLang="en-US" dirty="0"/>
          </a:p>
          <a:p>
            <a:pPr eaLnBrk="1" hangingPunct="1"/>
            <a:r>
              <a:rPr lang="en-US" altLang="en-US" dirty="0"/>
              <a:t>Conversion from an investment in one currency to an investment in another currency</a:t>
            </a:r>
          </a:p>
          <a:p>
            <a:pPr eaLnBrk="1" hangingPunct="1"/>
            <a:endParaRPr lang="en-US" altLang="en-US" dirty="0"/>
          </a:p>
        </p:txBody>
      </p:sp>
      <p:sp>
        <p:nvSpPr>
          <p:cNvPr id="58370"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583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09D17D6-CFA5-4C6E-92B0-D74368F9CB28}" type="slidenum">
              <a:rPr lang="en-US" altLang="en-US" sz="1800"/>
              <a:pPr>
                <a:spcBef>
                  <a:spcPct val="0"/>
                </a:spcBef>
                <a:buClrTx/>
                <a:buSzTx/>
                <a:buFontTx/>
                <a:buNone/>
              </a:pPr>
              <a:t>16</a:t>
            </a:fld>
            <a:endParaRPr lang="en-US" altLang="en-US" sz="18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228600" y="1027907"/>
            <a:ext cx="7772400" cy="914400"/>
          </a:xfrm>
        </p:spPr>
        <p:txBody>
          <a:bodyPr/>
          <a:lstStyle/>
          <a:p>
            <a:pPr eaLnBrk="1" hangingPunct="1"/>
            <a:r>
              <a:rPr lang="en-CA" altLang="en-US" sz="4000" dirty="0"/>
              <a:t>Comparative Advantage May Be Real Because of Taxes</a:t>
            </a:r>
            <a:endParaRPr lang="en-US" altLang="en-US" sz="4000" dirty="0"/>
          </a:p>
        </p:txBody>
      </p:sp>
      <p:sp>
        <p:nvSpPr>
          <p:cNvPr id="41987" name="Content Placeholder 2"/>
          <p:cNvSpPr>
            <a:spLocks noGrp="1"/>
          </p:cNvSpPr>
          <p:nvPr>
            <p:ph idx="1"/>
          </p:nvPr>
        </p:nvSpPr>
        <p:spPr/>
        <p:txBody>
          <a:bodyPr/>
          <a:lstStyle/>
          <a:p>
            <a:pPr eaLnBrk="1" hangingPunct="1">
              <a:defRPr/>
            </a:pPr>
            <a:r>
              <a:rPr lang="en-CA" altLang="en-US" dirty="0">
                <a:cs typeface="Arial" panose="020B0604020202020204" pitchFamily="34" charset="0"/>
              </a:rPr>
              <a:t> General Electric wants to borrow AUD</a:t>
            </a:r>
          </a:p>
          <a:p>
            <a:pPr eaLnBrk="1" hangingPunct="1">
              <a:defRPr/>
            </a:pPr>
            <a:r>
              <a:rPr lang="en-CA" altLang="en-US" dirty="0">
                <a:cs typeface="Arial" panose="020B0604020202020204" pitchFamily="34" charset="0"/>
              </a:rPr>
              <a:t> </a:t>
            </a:r>
            <a:r>
              <a:rPr lang="en-CA" altLang="en-US" dirty="0" err="1">
                <a:cs typeface="Arial" panose="020B0604020202020204" pitchFamily="34" charset="0"/>
              </a:rPr>
              <a:t>Quantas</a:t>
            </a:r>
            <a:r>
              <a:rPr lang="en-CA" altLang="en-US" dirty="0">
                <a:cs typeface="Arial" panose="020B0604020202020204" pitchFamily="34" charset="0"/>
              </a:rPr>
              <a:t> wants to borrow USD</a:t>
            </a:r>
          </a:p>
          <a:p>
            <a:pPr marL="0" indent="0" eaLnBrk="1" hangingPunct="1">
              <a:buFont typeface="Wingdings" panose="05000000000000000000" pitchFamily="2" charset="2"/>
              <a:buNone/>
              <a:defRPr/>
            </a:pPr>
            <a:r>
              <a:rPr lang="en-CA" altLang="en-US" dirty="0">
                <a:cs typeface="Arial" panose="020B0604020202020204" pitchFamily="34" charset="0"/>
              </a:rPr>
              <a:t>Borrowing costs after adjusting for the differential impact of taxes could be:</a:t>
            </a:r>
            <a:endParaRPr lang="en-US" altLang="en-US" dirty="0">
              <a:cs typeface="Arial" panose="020B0604020202020204" pitchFamily="34" charset="0"/>
            </a:endParaRPr>
          </a:p>
        </p:txBody>
      </p:sp>
      <p:sp>
        <p:nvSpPr>
          <p:cNvPr id="6042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p>
        </p:txBody>
      </p:sp>
      <p:sp>
        <p:nvSpPr>
          <p:cNvPr id="6042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D98B258-C8B0-4767-832E-A8214173BBF4}" type="slidenum">
              <a:rPr lang="en-US" altLang="en-US" sz="1800"/>
              <a:pPr>
                <a:spcBef>
                  <a:spcPct val="0"/>
                </a:spcBef>
                <a:buClrTx/>
                <a:buSzTx/>
                <a:buFontTx/>
                <a:buNone/>
              </a:pPr>
              <a:t>17</a:t>
            </a:fld>
            <a:endParaRPr lang="en-US" altLang="en-US" sz="1800"/>
          </a:p>
        </p:txBody>
      </p:sp>
      <p:graphicFrame>
        <p:nvGraphicFramePr>
          <p:cNvPr id="6" name="Table 5"/>
          <p:cNvGraphicFramePr>
            <a:graphicFrameLocks noGrp="1"/>
          </p:cNvGraphicFramePr>
          <p:nvPr/>
        </p:nvGraphicFramePr>
        <p:xfrm>
          <a:off x="990600" y="4419600"/>
          <a:ext cx="6400800" cy="1417638"/>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472546">
                <a:tc>
                  <a:txBody>
                    <a:bodyPr/>
                    <a:lstStyle/>
                    <a:p>
                      <a:endParaRPr lang="en-US" sz="1800" dirty="0"/>
                    </a:p>
                  </a:txBody>
                  <a:tcPr marT="45730" marB="45730"/>
                </a:tc>
                <a:tc>
                  <a:txBody>
                    <a:bodyPr/>
                    <a:lstStyle/>
                    <a:p>
                      <a:pPr algn="ctr"/>
                      <a:r>
                        <a:rPr lang="en-CA" sz="1800" dirty="0"/>
                        <a:t>USD</a:t>
                      </a:r>
                      <a:endParaRPr lang="en-US" sz="1800" dirty="0"/>
                    </a:p>
                  </a:txBody>
                  <a:tcPr marT="45730" marB="45730"/>
                </a:tc>
                <a:tc>
                  <a:txBody>
                    <a:bodyPr/>
                    <a:lstStyle/>
                    <a:p>
                      <a:pPr algn="ctr"/>
                      <a:r>
                        <a:rPr lang="en-CA" sz="1800" dirty="0"/>
                        <a:t>AUD</a:t>
                      </a:r>
                      <a:endParaRPr lang="en-US" sz="1800" dirty="0"/>
                    </a:p>
                  </a:txBody>
                  <a:tcPr marT="45730" marB="45730"/>
                </a:tc>
                <a:extLst>
                  <a:ext uri="{0D108BD9-81ED-4DB2-BD59-A6C34878D82A}">
                    <a16:rowId xmlns:a16="http://schemas.microsoft.com/office/drawing/2014/main" val="10000"/>
                  </a:ext>
                </a:extLst>
              </a:tr>
              <a:tr h="472546">
                <a:tc>
                  <a:txBody>
                    <a:bodyPr/>
                    <a:lstStyle/>
                    <a:p>
                      <a:r>
                        <a:rPr lang="en-CA" sz="1800" dirty="0"/>
                        <a:t>General Electric</a:t>
                      </a:r>
                      <a:endParaRPr lang="en-US" sz="1800" dirty="0"/>
                    </a:p>
                  </a:txBody>
                  <a:tcPr marT="45730" marB="45730"/>
                </a:tc>
                <a:tc>
                  <a:txBody>
                    <a:bodyPr/>
                    <a:lstStyle/>
                    <a:p>
                      <a:pPr algn="ctr"/>
                      <a:r>
                        <a:rPr lang="en-CA" sz="1800" dirty="0"/>
                        <a:t>5.0%</a:t>
                      </a:r>
                      <a:endParaRPr lang="en-US" sz="1800" dirty="0"/>
                    </a:p>
                  </a:txBody>
                  <a:tcPr marT="45730" marB="45730"/>
                </a:tc>
                <a:tc>
                  <a:txBody>
                    <a:bodyPr/>
                    <a:lstStyle/>
                    <a:p>
                      <a:pPr algn="ctr"/>
                      <a:r>
                        <a:rPr lang="en-CA" sz="1800" dirty="0"/>
                        <a:t>7.6%</a:t>
                      </a:r>
                      <a:endParaRPr lang="en-US" sz="1800" dirty="0"/>
                    </a:p>
                  </a:txBody>
                  <a:tcPr marT="45730" marB="45730"/>
                </a:tc>
                <a:extLst>
                  <a:ext uri="{0D108BD9-81ED-4DB2-BD59-A6C34878D82A}">
                    <a16:rowId xmlns:a16="http://schemas.microsoft.com/office/drawing/2014/main" val="10001"/>
                  </a:ext>
                </a:extLst>
              </a:tr>
              <a:tr h="472546">
                <a:tc>
                  <a:txBody>
                    <a:bodyPr/>
                    <a:lstStyle/>
                    <a:p>
                      <a:r>
                        <a:rPr lang="en-CA" sz="1800" dirty="0" err="1"/>
                        <a:t>Quantas</a:t>
                      </a:r>
                      <a:endParaRPr lang="en-US" sz="1800" dirty="0"/>
                    </a:p>
                  </a:txBody>
                  <a:tcPr marT="45730" marB="45730"/>
                </a:tc>
                <a:tc>
                  <a:txBody>
                    <a:bodyPr/>
                    <a:lstStyle/>
                    <a:p>
                      <a:pPr algn="ctr"/>
                      <a:r>
                        <a:rPr lang="en-CA" sz="1800" dirty="0"/>
                        <a:t>7.0%</a:t>
                      </a:r>
                      <a:endParaRPr lang="en-US" sz="1800" dirty="0"/>
                    </a:p>
                  </a:txBody>
                  <a:tcPr marT="45730" marB="45730"/>
                </a:tc>
                <a:tc>
                  <a:txBody>
                    <a:bodyPr/>
                    <a:lstStyle/>
                    <a:p>
                      <a:pPr algn="ctr"/>
                      <a:r>
                        <a:rPr lang="en-CA" sz="1800" dirty="0"/>
                        <a:t>8.0%</a:t>
                      </a:r>
                      <a:endParaRPr lang="en-US" sz="1800" dirty="0"/>
                    </a:p>
                  </a:txBody>
                  <a:tcPr marT="45730" marB="45730"/>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a:noFill/>
        </p:spPr>
        <p:txBody>
          <a:bodyPr lIns="92075" tIns="46038" rIns="92075" bIns="46038" anchor="ctr"/>
          <a:lstStyle/>
          <a:p>
            <a:pPr eaLnBrk="1" hangingPunct="1"/>
            <a:r>
              <a:rPr lang="en-US" altLang="en-US"/>
              <a:t>Valuation</a:t>
            </a:r>
            <a:r>
              <a:rPr lang="en-US" altLang="en-US" i="1"/>
              <a:t> </a:t>
            </a:r>
            <a:r>
              <a:rPr lang="en-US" altLang="en-US"/>
              <a:t>of Fixed-for-Fixed Currency Swaps</a:t>
            </a:r>
          </a:p>
        </p:txBody>
      </p:sp>
      <p:sp>
        <p:nvSpPr>
          <p:cNvPr id="62468" name="Rectangle 3"/>
          <p:cNvSpPr>
            <a:spLocks noGrp="1" noChangeArrowheads="1"/>
          </p:cNvSpPr>
          <p:nvPr>
            <p:ph idx="1"/>
          </p:nvPr>
        </p:nvSpPr>
        <p:spPr>
          <a:xfrm>
            <a:off x="683568" y="2780928"/>
            <a:ext cx="7092950" cy="4411662"/>
          </a:xfrm>
          <a:noFill/>
        </p:spPr>
        <p:txBody>
          <a:bodyPr lIns="92075" tIns="46038" rIns="92075" bIns="46038"/>
          <a:lstStyle/>
          <a:p>
            <a:pPr eaLnBrk="1" hangingPunct="1">
              <a:buFont typeface="Wingdings" panose="05000000000000000000" pitchFamily="2" charset="2"/>
              <a:buNone/>
            </a:pPr>
            <a:r>
              <a:rPr lang="en-US" altLang="en-US" dirty="0"/>
              <a:t>	Fixed for fixed currency swaps can be valued either using forward rates or as the difference between 2 bonds</a:t>
            </a:r>
          </a:p>
        </p:txBody>
      </p:sp>
      <p:sp>
        <p:nvSpPr>
          <p:cNvPr id="624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624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F96C73F-3707-4E5F-95D0-4FED9E1377A6}" type="slidenum">
              <a:rPr lang="en-US" altLang="en-US" sz="1800"/>
              <a:pPr>
                <a:spcBef>
                  <a:spcPct val="0"/>
                </a:spcBef>
                <a:buClrTx/>
                <a:buSzTx/>
                <a:buFontTx/>
                <a:buNone/>
              </a:pPr>
              <a:t>18</a:t>
            </a:fld>
            <a:endParaRPr lang="en-US" altLang="en-US" sz="18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CA" altLang="en-US" dirty="0"/>
              <a:t>Currency Swap Example</a:t>
            </a:r>
            <a:endParaRPr lang="en-US" altLang="en-US" sz="2400" dirty="0"/>
          </a:p>
        </p:txBody>
      </p:sp>
      <p:sp>
        <p:nvSpPr>
          <p:cNvPr id="64515" name="Content Placeholder 2"/>
          <p:cNvSpPr>
            <a:spLocks noGrp="1"/>
          </p:cNvSpPr>
          <p:nvPr>
            <p:ph idx="1"/>
          </p:nvPr>
        </p:nvSpPr>
        <p:spPr/>
        <p:txBody>
          <a:bodyPr/>
          <a:lstStyle/>
          <a:p>
            <a:r>
              <a:rPr lang="en-CA" altLang="en-US" sz="2400" dirty="0"/>
              <a:t>All Japanese interest rates are 1.5% per annum (cont. comp.)</a:t>
            </a:r>
          </a:p>
          <a:p>
            <a:r>
              <a:rPr lang="en-CA" altLang="en-US" sz="2400" dirty="0"/>
              <a:t>All USD interest rates are 2.5% per annum (cont. comp.)</a:t>
            </a:r>
          </a:p>
          <a:p>
            <a:r>
              <a:rPr lang="en-CA" altLang="en-US" sz="2400" dirty="0"/>
              <a:t>3% is received in yen; 4% is paid in dollars. Payments are made annually</a:t>
            </a:r>
          </a:p>
          <a:p>
            <a:r>
              <a:rPr lang="en-CA" altLang="en-US" sz="2400" dirty="0"/>
              <a:t>Principals are $10 million and 1,200 million yen</a:t>
            </a:r>
          </a:p>
          <a:p>
            <a:r>
              <a:rPr lang="en-CA" altLang="en-US" sz="2400" dirty="0"/>
              <a:t>Swap will last for 3 more years</a:t>
            </a:r>
          </a:p>
          <a:p>
            <a:r>
              <a:rPr lang="en-CA" altLang="en-US" sz="2400" dirty="0"/>
              <a:t>Current exchange rate is 110 yen per dollar</a:t>
            </a:r>
          </a:p>
          <a:p>
            <a:endParaRPr lang="en-US" altLang="en-US" dirty="0"/>
          </a:p>
        </p:txBody>
      </p:sp>
      <p:sp>
        <p:nvSpPr>
          <p:cNvPr id="64516"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p>
        </p:txBody>
      </p:sp>
      <p:sp>
        <p:nvSpPr>
          <p:cNvPr id="6451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21D8928-F546-4D58-BFA4-1F4C2B682DDA}" type="slidenum">
              <a:rPr lang="en-US" altLang="en-US" sz="1800"/>
              <a:pPr>
                <a:spcBef>
                  <a:spcPct val="0"/>
                </a:spcBef>
                <a:buClrTx/>
                <a:buSzTx/>
                <a:buFontTx/>
                <a:buNone/>
              </a:pPr>
              <a:t>19</a:t>
            </a:fld>
            <a:endParaRPr lang="en-US"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CA" altLang="en-US" dirty="0"/>
              <a:t>Valuation in Terms of Forward Rates </a:t>
            </a:r>
            <a:r>
              <a:rPr lang="en-CA" altLang="en-US" sz="2400" dirty="0"/>
              <a:t>(Example 7.2)</a:t>
            </a:r>
            <a:endParaRPr lang="en-US" altLang="en-US" sz="24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681985786"/>
              </p:ext>
            </p:extLst>
          </p:nvPr>
        </p:nvGraphicFramePr>
        <p:xfrm>
          <a:off x="755576" y="2924168"/>
          <a:ext cx="7499350" cy="2397140"/>
        </p:xfrm>
        <a:graphic>
          <a:graphicData uri="http://schemas.openxmlformats.org/drawingml/2006/table">
            <a:tbl>
              <a:tblPr firstRow="1" bandRow="1">
                <a:tableStyleId>{5940675A-B579-460E-94D1-54222C63F5DA}</a:tableStyleId>
              </a:tblPr>
              <a:tblGrid>
                <a:gridCol w="687328">
                  <a:extLst>
                    <a:ext uri="{9D8B030D-6E8A-4147-A177-3AD203B41FA5}">
                      <a16:colId xmlns:a16="http://schemas.microsoft.com/office/drawing/2014/main" val="20000"/>
                    </a:ext>
                  </a:extLst>
                </a:gridCol>
                <a:gridCol w="866611">
                  <a:extLst>
                    <a:ext uri="{9D8B030D-6E8A-4147-A177-3AD203B41FA5}">
                      <a16:colId xmlns:a16="http://schemas.microsoft.com/office/drawing/2014/main" val="20001"/>
                    </a:ext>
                  </a:extLst>
                </a:gridCol>
                <a:gridCol w="916881">
                  <a:extLst>
                    <a:ext uri="{9D8B030D-6E8A-4147-A177-3AD203B41FA5}">
                      <a16:colId xmlns:a16="http://schemas.microsoft.com/office/drawing/2014/main" val="20002"/>
                    </a:ext>
                  </a:extLst>
                </a:gridCol>
                <a:gridCol w="1171351">
                  <a:extLst>
                    <a:ext uri="{9D8B030D-6E8A-4147-A177-3AD203B41FA5}">
                      <a16:colId xmlns:a16="http://schemas.microsoft.com/office/drawing/2014/main" val="20003"/>
                    </a:ext>
                  </a:extLst>
                </a:gridCol>
                <a:gridCol w="1512168">
                  <a:extLst>
                    <a:ext uri="{9D8B030D-6E8A-4147-A177-3AD203B41FA5}">
                      <a16:colId xmlns:a16="http://schemas.microsoft.com/office/drawing/2014/main" val="20004"/>
                    </a:ext>
                  </a:extLst>
                </a:gridCol>
                <a:gridCol w="1152128">
                  <a:extLst>
                    <a:ext uri="{9D8B030D-6E8A-4147-A177-3AD203B41FA5}">
                      <a16:colId xmlns:a16="http://schemas.microsoft.com/office/drawing/2014/main" val="20005"/>
                    </a:ext>
                  </a:extLst>
                </a:gridCol>
                <a:gridCol w="1192883">
                  <a:extLst>
                    <a:ext uri="{9D8B030D-6E8A-4147-A177-3AD203B41FA5}">
                      <a16:colId xmlns:a16="http://schemas.microsoft.com/office/drawing/2014/main" val="20006"/>
                    </a:ext>
                  </a:extLst>
                </a:gridCol>
              </a:tblGrid>
              <a:tr h="697943">
                <a:tc>
                  <a:txBody>
                    <a:bodyPr/>
                    <a:lstStyle/>
                    <a:p>
                      <a:pPr algn="ctr"/>
                      <a:r>
                        <a:rPr lang="en-CA" sz="1800" dirty="0"/>
                        <a:t>Time</a:t>
                      </a:r>
                      <a:endParaRPr lang="en-US" sz="1800" dirty="0"/>
                    </a:p>
                  </a:txBody>
                  <a:tcPr marT="45702" marB="45702"/>
                </a:tc>
                <a:tc>
                  <a:txBody>
                    <a:bodyPr/>
                    <a:lstStyle/>
                    <a:p>
                      <a:pPr algn="ctr"/>
                      <a:r>
                        <a:rPr lang="en-CA" sz="1800" dirty="0" err="1"/>
                        <a:t>DollarCash</a:t>
                      </a:r>
                      <a:r>
                        <a:rPr lang="en-CA" sz="1800" dirty="0"/>
                        <a:t> Flow</a:t>
                      </a:r>
                      <a:endParaRPr lang="en-US" sz="1800" dirty="0"/>
                    </a:p>
                  </a:txBody>
                  <a:tcPr marT="45702" marB="45702"/>
                </a:tc>
                <a:tc>
                  <a:txBody>
                    <a:bodyPr/>
                    <a:lstStyle/>
                    <a:p>
                      <a:pPr algn="ctr"/>
                      <a:r>
                        <a:rPr lang="en-US" sz="1800" dirty="0"/>
                        <a:t>Yen cash flow</a:t>
                      </a:r>
                    </a:p>
                  </a:txBody>
                  <a:tcPr marT="45702" marB="45702"/>
                </a:tc>
                <a:tc>
                  <a:txBody>
                    <a:bodyPr/>
                    <a:lstStyle/>
                    <a:p>
                      <a:pPr algn="ctr"/>
                      <a:r>
                        <a:rPr lang="en-CA" sz="1800" dirty="0"/>
                        <a:t>Forward rate</a:t>
                      </a:r>
                      <a:endParaRPr lang="en-US" sz="1800" dirty="0"/>
                    </a:p>
                  </a:txBody>
                  <a:tcPr marT="45702" marB="45702"/>
                </a:tc>
                <a:tc>
                  <a:txBody>
                    <a:bodyPr/>
                    <a:lstStyle/>
                    <a:p>
                      <a:pPr algn="ctr"/>
                      <a:r>
                        <a:rPr lang="en-CA" sz="1800" dirty="0"/>
                        <a:t>Dollar</a:t>
                      </a:r>
                      <a:r>
                        <a:rPr lang="en-CA" sz="1800" baseline="0" dirty="0"/>
                        <a:t> </a:t>
                      </a:r>
                      <a:r>
                        <a:rPr lang="en-CA" sz="1800" dirty="0"/>
                        <a:t>value of yen cash</a:t>
                      </a:r>
                      <a:r>
                        <a:rPr lang="en-CA" sz="1800" baseline="0" dirty="0"/>
                        <a:t> flow</a:t>
                      </a:r>
                      <a:endParaRPr lang="en-US" sz="1800" dirty="0"/>
                    </a:p>
                  </a:txBody>
                  <a:tcPr marT="45702" marB="45702"/>
                </a:tc>
                <a:tc>
                  <a:txBody>
                    <a:bodyPr/>
                    <a:lstStyle/>
                    <a:p>
                      <a:pPr algn="ctr"/>
                      <a:r>
                        <a:rPr lang="en-US" sz="1800" dirty="0"/>
                        <a:t>Net cash flow</a:t>
                      </a:r>
                    </a:p>
                  </a:txBody>
                  <a:tcPr marT="45702" marB="45702"/>
                </a:tc>
                <a:tc>
                  <a:txBody>
                    <a:bodyPr/>
                    <a:lstStyle/>
                    <a:p>
                      <a:pPr algn="ctr"/>
                      <a:r>
                        <a:rPr lang="en-CA" sz="1800" dirty="0"/>
                        <a:t>Present value</a:t>
                      </a:r>
                      <a:endParaRPr lang="en-US" sz="1800" dirty="0"/>
                    </a:p>
                  </a:txBody>
                  <a:tcPr marT="45702" marB="45702"/>
                </a:tc>
                <a:extLst>
                  <a:ext uri="{0D108BD9-81ED-4DB2-BD59-A6C34878D82A}">
                    <a16:rowId xmlns:a16="http://schemas.microsoft.com/office/drawing/2014/main" val="10000"/>
                  </a:ext>
                </a:extLst>
              </a:tr>
              <a:tr h="370694">
                <a:tc>
                  <a:txBody>
                    <a:bodyPr/>
                    <a:lstStyle/>
                    <a:p>
                      <a:pPr algn="ctr"/>
                      <a:r>
                        <a:rPr lang="en-CA" sz="1800" dirty="0"/>
                        <a:t>1</a:t>
                      </a:r>
                      <a:endParaRPr lang="en-US" sz="1800" dirty="0"/>
                    </a:p>
                  </a:txBody>
                  <a:tcPr marT="45702" marB="45702"/>
                </a:tc>
                <a:tc>
                  <a:txBody>
                    <a:bodyPr/>
                    <a:lstStyle/>
                    <a:p>
                      <a:pPr algn="ctr"/>
                      <a:r>
                        <a:rPr lang="en-US" altLang="en-US" sz="1800" dirty="0"/>
                        <a:t>  −0.4</a:t>
                      </a:r>
                      <a:endParaRPr lang="en-US" sz="1800" dirty="0"/>
                    </a:p>
                  </a:txBody>
                  <a:tcPr marT="45702" marB="45702"/>
                </a:tc>
                <a:tc>
                  <a:txBody>
                    <a:bodyPr/>
                    <a:lstStyle/>
                    <a:p>
                      <a:pPr algn="ctr"/>
                      <a:r>
                        <a:rPr lang="en-US" sz="1800" dirty="0"/>
                        <a:t>    +36</a:t>
                      </a:r>
                    </a:p>
                  </a:txBody>
                  <a:tcPr marT="45702" marB="45702"/>
                </a:tc>
                <a:tc>
                  <a:txBody>
                    <a:bodyPr/>
                    <a:lstStyle/>
                    <a:p>
                      <a:pPr algn="ctr"/>
                      <a:r>
                        <a:rPr lang="en-CA" sz="1800" dirty="0"/>
                        <a:t>0.009182</a:t>
                      </a:r>
                      <a:endParaRPr lang="en-US" sz="1800" dirty="0"/>
                    </a:p>
                  </a:txBody>
                  <a:tcPr marT="45702" marB="45702"/>
                </a:tc>
                <a:tc>
                  <a:txBody>
                    <a:bodyPr/>
                    <a:lstStyle/>
                    <a:p>
                      <a:pPr algn="ctr"/>
                      <a:r>
                        <a:rPr lang="en-CA" sz="1800" dirty="0"/>
                        <a:t>  0.3306</a:t>
                      </a:r>
                      <a:endParaRPr lang="en-US" sz="1800" dirty="0"/>
                    </a:p>
                  </a:txBody>
                  <a:tcPr marT="45702" marB="45702"/>
                </a:tc>
                <a:tc>
                  <a:txBody>
                    <a:bodyPr/>
                    <a:lstStyle/>
                    <a:p>
                      <a:pPr algn="ctr"/>
                      <a:r>
                        <a:rPr lang="en-US" sz="1800" dirty="0"/>
                        <a:t>−0.0694</a:t>
                      </a:r>
                    </a:p>
                  </a:txBody>
                  <a:tcPr marT="45702" marB="45702"/>
                </a:tc>
                <a:tc>
                  <a:txBody>
                    <a:bodyPr/>
                    <a:lstStyle/>
                    <a:p>
                      <a:pPr algn="ctr"/>
                      <a:r>
                        <a:rPr lang="en-US" sz="1800" dirty="0"/>
                        <a:t>−0.0677</a:t>
                      </a:r>
                    </a:p>
                  </a:txBody>
                  <a:tcPr marT="45702" marB="45702"/>
                </a:tc>
                <a:extLst>
                  <a:ext uri="{0D108BD9-81ED-4DB2-BD59-A6C34878D82A}">
                    <a16:rowId xmlns:a16="http://schemas.microsoft.com/office/drawing/2014/main" val="10001"/>
                  </a:ext>
                </a:extLst>
              </a:tr>
              <a:tr h="370694">
                <a:tc>
                  <a:txBody>
                    <a:bodyPr/>
                    <a:lstStyle/>
                    <a:p>
                      <a:pPr algn="ctr"/>
                      <a:r>
                        <a:rPr lang="en-CA" sz="1800" dirty="0"/>
                        <a:t>2</a:t>
                      </a:r>
                      <a:endParaRPr lang="en-US" sz="1800" dirty="0"/>
                    </a:p>
                  </a:txBody>
                  <a:tcPr marT="45702" marB="45702"/>
                </a:tc>
                <a:tc>
                  <a:txBody>
                    <a:bodyPr/>
                    <a:lstStyle/>
                    <a:p>
                      <a:pPr algn="ctr"/>
                      <a:r>
                        <a:rPr lang="en-US" altLang="en-US" sz="1800" dirty="0"/>
                        <a:t>  −0.4</a:t>
                      </a:r>
                      <a:endParaRPr lang="en-US" sz="1800" dirty="0"/>
                    </a:p>
                  </a:txBody>
                  <a:tcPr marT="45702" marB="45702"/>
                </a:tc>
                <a:tc>
                  <a:txBody>
                    <a:bodyPr/>
                    <a:lstStyle/>
                    <a:p>
                      <a:pPr algn="ctr"/>
                      <a:r>
                        <a:rPr lang="en-US" sz="1800" dirty="0"/>
                        <a:t>    +36</a:t>
                      </a:r>
                    </a:p>
                  </a:txBody>
                  <a:tcPr marT="45702" marB="45702"/>
                </a:tc>
                <a:tc>
                  <a:txBody>
                    <a:bodyPr/>
                    <a:lstStyle/>
                    <a:p>
                      <a:pPr algn="ctr"/>
                      <a:r>
                        <a:rPr lang="en-CA" sz="1800" dirty="0"/>
                        <a:t>0.009275</a:t>
                      </a:r>
                      <a:endParaRPr lang="en-US" sz="1800" dirty="0"/>
                    </a:p>
                  </a:txBody>
                  <a:tcPr marT="45702" marB="45702"/>
                </a:tc>
                <a:tc>
                  <a:txBody>
                    <a:bodyPr/>
                    <a:lstStyle/>
                    <a:p>
                      <a:pPr algn="ctr"/>
                      <a:r>
                        <a:rPr lang="en-CA" sz="1800" dirty="0"/>
                        <a:t>  0.3339</a:t>
                      </a:r>
                      <a:endParaRPr lang="en-US" sz="1800" dirty="0"/>
                    </a:p>
                  </a:txBody>
                  <a:tcPr marT="45702" marB="45702"/>
                </a:tc>
                <a:tc>
                  <a:txBody>
                    <a:bodyPr/>
                    <a:lstStyle/>
                    <a:p>
                      <a:pPr algn="ctr"/>
                      <a:r>
                        <a:rPr lang="en-US" sz="1800" dirty="0"/>
                        <a:t>−0.0661</a:t>
                      </a:r>
                    </a:p>
                  </a:txBody>
                  <a:tcPr marT="45702" marB="45702"/>
                </a:tc>
                <a:tc>
                  <a:txBody>
                    <a:bodyPr/>
                    <a:lstStyle/>
                    <a:p>
                      <a:pPr algn="ctr"/>
                      <a:r>
                        <a:rPr lang="en-US" sz="1800" dirty="0"/>
                        <a:t>−</a:t>
                      </a:r>
                      <a:r>
                        <a:rPr lang="en-CA" sz="1800" dirty="0"/>
                        <a:t>0.0629</a:t>
                      </a:r>
                      <a:endParaRPr lang="en-US" sz="1800" dirty="0"/>
                    </a:p>
                  </a:txBody>
                  <a:tcPr marT="45702" marB="45702"/>
                </a:tc>
                <a:extLst>
                  <a:ext uri="{0D108BD9-81ED-4DB2-BD59-A6C34878D82A}">
                    <a16:rowId xmlns:a16="http://schemas.microsoft.com/office/drawing/2014/main" val="10002"/>
                  </a:ext>
                </a:extLst>
              </a:tr>
              <a:tr h="370694">
                <a:tc>
                  <a:txBody>
                    <a:bodyPr/>
                    <a:lstStyle/>
                    <a:p>
                      <a:pPr algn="ctr"/>
                      <a:r>
                        <a:rPr lang="en-CA" sz="1800" dirty="0"/>
                        <a:t>3</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t>−10.4</a:t>
                      </a:r>
                      <a:endParaRPr lang="en-US" sz="1800" dirty="0"/>
                    </a:p>
                  </a:txBody>
                  <a:tcPr marT="45702" marB="4570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+1236</a:t>
                      </a:r>
                    </a:p>
                  </a:txBody>
                  <a:tcPr marT="45702" marB="45702"/>
                </a:tc>
                <a:tc>
                  <a:txBody>
                    <a:bodyPr/>
                    <a:lstStyle/>
                    <a:p>
                      <a:pPr algn="ctr"/>
                      <a:r>
                        <a:rPr lang="en-CA" sz="1800" dirty="0"/>
                        <a:t>0.009368</a:t>
                      </a:r>
                      <a:endParaRPr lang="en-US" sz="1800" dirty="0"/>
                    </a:p>
                  </a:txBody>
                  <a:tcPr marT="45702" marB="45702"/>
                </a:tc>
                <a:tc>
                  <a:txBody>
                    <a:bodyPr/>
                    <a:lstStyle/>
                    <a:p>
                      <a:pPr algn="ctr"/>
                      <a:r>
                        <a:rPr lang="en-CA" sz="1800" dirty="0"/>
                        <a:t>11.5786</a:t>
                      </a:r>
                      <a:endParaRPr lang="en-US" sz="1800" dirty="0"/>
                    </a:p>
                  </a:txBody>
                  <a:tcPr marT="45702" marB="45702"/>
                </a:tc>
                <a:tc>
                  <a:txBody>
                    <a:bodyPr/>
                    <a:lstStyle/>
                    <a:p>
                      <a:pPr algn="ctr"/>
                      <a:r>
                        <a:rPr lang="en-US" sz="1800" dirty="0"/>
                        <a:t>+1.1786</a:t>
                      </a:r>
                    </a:p>
                  </a:txBody>
                  <a:tcPr marT="45702" marB="45702"/>
                </a:tc>
                <a:tc>
                  <a:txBody>
                    <a:bodyPr/>
                    <a:lstStyle/>
                    <a:p>
                      <a:pPr algn="ctr"/>
                      <a:r>
                        <a:rPr lang="en-CA" sz="1800" dirty="0"/>
                        <a:t>+1.0934</a:t>
                      </a:r>
                      <a:endParaRPr lang="en-US" sz="1800" dirty="0"/>
                    </a:p>
                  </a:txBody>
                  <a:tcPr marT="45702" marB="45702"/>
                </a:tc>
                <a:extLst>
                  <a:ext uri="{0D108BD9-81ED-4DB2-BD59-A6C34878D82A}">
                    <a16:rowId xmlns:a16="http://schemas.microsoft.com/office/drawing/2014/main" val="10003"/>
                  </a:ext>
                </a:extLst>
              </a:tr>
              <a:tr h="370694">
                <a:tc>
                  <a:txBody>
                    <a:bodyPr/>
                    <a:lstStyle/>
                    <a:p>
                      <a:pPr algn="ctr"/>
                      <a:r>
                        <a:rPr lang="en-CA" sz="1800" dirty="0"/>
                        <a:t>Total</a:t>
                      </a: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endParaRPr lang="en-US" sz="1800" dirty="0"/>
                    </a:p>
                  </a:txBody>
                  <a:tcPr marT="45702" marB="45702"/>
                </a:tc>
                <a:tc>
                  <a:txBody>
                    <a:bodyPr/>
                    <a:lstStyle/>
                    <a:p>
                      <a:pPr algn="ctr"/>
                      <a:r>
                        <a:rPr lang="en-CA" sz="1800" dirty="0"/>
                        <a:t>+0.9629</a:t>
                      </a:r>
                      <a:endParaRPr lang="en-US" sz="1800" dirty="0"/>
                    </a:p>
                  </a:txBody>
                  <a:tcPr marT="45702" marB="45702"/>
                </a:tc>
                <a:extLst>
                  <a:ext uri="{0D108BD9-81ED-4DB2-BD59-A6C34878D82A}">
                    <a16:rowId xmlns:a16="http://schemas.microsoft.com/office/drawing/2014/main" val="10004"/>
                  </a:ext>
                </a:extLst>
              </a:tr>
            </a:tbl>
          </a:graphicData>
        </a:graphic>
      </p:graphicFrame>
      <p:sp>
        <p:nvSpPr>
          <p:cNvPr id="66613"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p>
        </p:txBody>
      </p:sp>
      <p:sp>
        <p:nvSpPr>
          <p:cNvPr id="6661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9439044-515C-4EC6-9B0B-577C13AE06E8}" type="slidenum">
              <a:rPr lang="en-US" altLang="en-US" sz="1800"/>
              <a:pPr>
                <a:spcBef>
                  <a:spcPct val="0"/>
                </a:spcBef>
                <a:buClrTx/>
                <a:buSzTx/>
                <a:buFontTx/>
                <a:buNone/>
              </a:pPr>
              <a:t>20</a:t>
            </a:fld>
            <a:endParaRPr lang="en-US" altLang="en-US"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785813" y="1052736"/>
            <a:ext cx="7143750" cy="1143000"/>
          </a:xfrm>
        </p:spPr>
        <p:txBody>
          <a:bodyPr/>
          <a:lstStyle/>
          <a:p>
            <a:r>
              <a:rPr lang="en-CA" altLang="en-US" dirty="0"/>
              <a:t>Valuation in Terms of Bonds  </a:t>
            </a:r>
            <a:r>
              <a:rPr lang="en-CA" altLang="en-US" sz="2400" dirty="0"/>
              <a:t>(Example 7.3)</a:t>
            </a:r>
            <a:endParaRPr lang="en-US" altLang="en-US" sz="2400" dirty="0"/>
          </a:p>
        </p:txBody>
      </p:sp>
      <p:sp>
        <p:nvSpPr>
          <p:cNvPr id="68611"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p>
        </p:txBody>
      </p:sp>
      <p:sp>
        <p:nvSpPr>
          <p:cNvPr id="686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EB6B380-BA21-41D8-8F83-A9B559C1389E}" type="slidenum">
              <a:rPr lang="en-US" altLang="en-US" sz="1800"/>
              <a:pPr>
                <a:spcBef>
                  <a:spcPct val="0"/>
                </a:spcBef>
                <a:buClrTx/>
                <a:buSzTx/>
                <a:buFontTx/>
                <a:buNone/>
              </a:pPr>
              <a:t>21</a:t>
            </a:fld>
            <a:endParaRPr lang="en-US" altLang="en-US" sz="1800"/>
          </a:p>
        </p:txBody>
      </p:sp>
      <p:graphicFrame>
        <p:nvGraphicFramePr>
          <p:cNvPr id="6" name="Content Placeholder 5"/>
          <p:cNvGraphicFramePr>
            <a:graphicFrameLocks/>
          </p:cNvGraphicFramePr>
          <p:nvPr>
            <p:extLst>
              <p:ext uri="{D42A27DB-BD31-4B8C-83A1-F6EECF244321}">
                <p14:modId xmlns:p14="http://schemas.microsoft.com/office/powerpoint/2010/main" val="284889188"/>
              </p:ext>
            </p:extLst>
          </p:nvPr>
        </p:nvGraphicFramePr>
        <p:xfrm>
          <a:off x="785813" y="2684551"/>
          <a:ext cx="7777163" cy="2273304"/>
        </p:xfrm>
        <a:graphic>
          <a:graphicData uri="http://schemas.openxmlformats.org/drawingml/2006/table">
            <a:tbl>
              <a:tblPr firstRow="1" bandRow="1">
                <a:tableStyleId>{5940675A-B579-460E-94D1-54222C63F5DA}</a:tableStyleId>
              </a:tblPr>
              <a:tblGrid>
                <a:gridCol w="1155744">
                  <a:extLst>
                    <a:ext uri="{9D8B030D-6E8A-4147-A177-3AD203B41FA5}">
                      <a16:colId xmlns:a16="http://schemas.microsoft.com/office/drawing/2014/main" val="20000"/>
                    </a:ext>
                  </a:extLst>
                </a:gridCol>
                <a:gridCol w="1724686">
                  <a:extLst>
                    <a:ext uri="{9D8B030D-6E8A-4147-A177-3AD203B41FA5}">
                      <a16:colId xmlns:a16="http://schemas.microsoft.com/office/drawing/2014/main" val="20001"/>
                    </a:ext>
                  </a:extLst>
                </a:gridCol>
                <a:gridCol w="1368205">
                  <a:extLst>
                    <a:ext uri="{9D8B030D-6E8A-4147-A177-3AD203B41FA5}">
                      <a16:colId xmlns:a16="http://schemas.microsoft.com/office/drawing/2014/main" val="20002"/>
                    </a:ext>
                  </a:extLst>
                </a:gridCol>
                <a:gridCol w="1872280">
                  <a:extLst>
                    <a:ext uri="{9D8B030D-6E8A-4147-A177-3AD203B41FA5}">
                      <a16:colId xmlns:a16="http://schemas.microsoft.com/office/drawing/2014/main" val="20003"/>
                    </a:ext>
                  </a:extLst>
                </a:gridCol>
                <a:gridCol w="1656248">
                  <a:extLst>
                    <a:ext uri="{9D8B030D-6E8A-4147-A177-3AD203B41FA5}">
                      <a16:colId xmlns:a16="http://schemas.microsoft.com/office/drawing/2014/main" val="20004"/>
                    </a:ext>
                  </a:extLst>
                </a:gridCol>
              </a:tblGrid>
              <a:tr h="640043">
                <a:tc>
                  <a:txBody>
                    <a:bodyPr/>
                    <a:lstStyle/>
                    <a:p>
                      <a:pPr algn="ctr"/>
                      <a:r>
                        <a:rPr lang="en-CA" sz="1800" dirty="0"/>
                        <a:t>Time</a:t>
                      </a:r>
                      <a:endParaRPr lang="en-US" sz="1800" dirty="0"/>
                    </a:p>
                  </a:txBody>
                  <a:tcPr marL="91444" marR="91444" marT="45704" marB="45704"/>
                </a:tc>
                <a:tc>
                  <a:txBody>
                    <a:bodyPr/>
                    <a:lstStyle/>
                    <a:p>
                      <a:pPr algn="ctr"/>
                      <a:r>
                        <a:rPr lang="en-CA" sz="1800" dirty="0"/>
                        <a:t>Cash Flows ($ millions)</a:t>
                      </a:r>
                      <a:endParaRPr lang="en-US" sz="1800" dirty="0"/>
                    </a:p>
                  </a:txBody>
                  <a:tcPr marL="91444" marR="91444" marT="45704" marB="45704"/>
                </a:tc>
                <a:tc>
                  <a:txBody>
                    <a:bodyPr/>
                    <a:lstStyle/>
                    <a:p>
                      <a:pPr algn="ctr"/>
                      <a:r>
                        <a:rPr lang="en-CA" sz="1800" dirty="0"/>
                        <a:t>PV</a:t>
                      </a:r>
                      <a:r>
                        <a:rPr lang="en-CA" sz="1800" baseline="0" dirty="0"/>
                        <a:t> </a:t>
                      </a:r>
                    </a:p>
                    <a:p>
                      <a:pPr algn="ctr"/>
                      <a:r>
                        <a:rPr lang="en-CA" sz="1800" baseline="0" dirty="0"/>
                        <a:t>($ millions)</a:t>
                      </a:r>
                      <a:endParaRPr lang="en-US" sz="1800" dirty="0"/>
                    </a:p>
                  </a:txBody>
                  <a:tcPr marL="91444" marR="91444" marT="45704" marB="45704"/>
                </a:tc>
                <a:tc>
                  <a:txBody>
                    <a:bodyPr/>
                    <a:lstStyle/>
                    <a:p>
                      <a:pPr algn="ctr"/>
                      <a:r>
                        <a:rPr lang="en-CA" sz="1800" dirty="0"/>
                        <a:t>Cash flows (millions</a:t>
                      </a:r>
                      <a:r>
                        <a:rPr lang="en-CA" sz="1800" baseline="0" dirty="0"/>
                        <a:t> </a:t>
                      </a:r>
                      <a:r>
                        <a:rPr lang="en-CA" sz="1800" dirty="0"/>
                        <a:t>of yen)</a:t>
                      </a:r>
                      <a:endParaRPr lang="en-US" sz="1800" dirty="0"/>
                    </a:p>
                  </a:txBody>
                  <a:tcPr marL="91444" marR="91444" marT="45704" marB="45704"/>
                </a:tc>
                <a:tc>
                  <a:txBody>
                    <a:bodyPr/>
                    <a:lstStyle/>
                    <a:p>
                      <a:pPr algn="ctr"/>
                      <a:r>
                        <a:rPr lang="en-CA" sz="1800" dirty="0"/>
                        <a:t>PV ( millions of</a:t>
                      </a:r>
                      <a:r>
                        <a:rPr lang="en-CA" sz="1800" baseline="0" dirty="0"/>
                        <a:t> </a:t>
                      </a:r>
                      <a:r>
                        <a:rPr lang="en-CA" sz="1800" dirty="0"/>
                        <a:t>yen)</a:t>
                      </a:r>
                      <a:endParaRPr lang="en-US" sz="1800" dirty="0"/>
                    </a:p>
                  </a:txBody>
                  <a:tcPr marL="91444" marR="91444" marT="45704" marB="45704"/>
                </a:tc>
                <a:extLst>
                  <a:ext uri="{0D108BD9-81ED-4DB2-BD59-A6C34878D82A}">
                    <a16:rowId xmlns:a16="http://schemas.microsoft.com/office/drawing/2014/main" val="10000"/>
                  </a:ext>
                </a:extLst>
              </a:tr>
              <a:tr h="408314">
                <a:tc>
                  <a:txBody>
                    <a:bodyPr/>
                    <a:lstStyle/>
                    <a:p>
                      <a:pPr algn="ctr"/>
                      <a:r>
                        <a:rPr lang="en-CA" sz="1800" dirty="0"/>
                        <a:t>1</a:t>
                      </a:r>
                      <a:endParaRPr lang="en-US" sz="1800" dirty="0"/>
                    </a:p>
                  </a:txBody>
                  <a:tcPr marL="91444" marR="91444" marT="45704" marB="45704"/>
                </a:tc>
                <a:tc>
                  <a:txBody>
                    <a:bodyPr/>
                    <a:lstStyle/>
                    <a:p>
                      <a:pPr algn="ctr"/>
                      <a:r>
                        <a:rPr lang="en-CA" sz="1800" dirty="0"/>
                        <a:t>0.4</a:t>
                      </a:r>
                      <a:endParaRPr lang="en-US" sz="1800" dirty="0"/>
                    </a:p>
                  </a:txBody>
                  <a:tcPr marL="91444" marR="91444" marT="45704" marB="45704"/>
                </a:tc>
                <a:tc>
                  <a:txBody>
                    <a:bodyPr/>
                    <a:lstStyle/>
                    <a:p>
                      <a:pPr algn="ctr"/>
                      <a:r>
                        <a:rPr lang="en-CA" sz="1800" dirty="0"/>
                        <a:t>0.3901</a:t>
                      </a:r>
                      <a:endParaRPr lang="en-US" sz="1800" dirty="0"/>
                    </a:p>
                  </a:txBody>
                  <a:tcPr marL="91444" marR="91444" marT="45704" marB="45704"/>
                </a:tc>
                <a:tc>
                  <a:txBody>
                    <a:bodyPr/>
                    <a:lstStyle/>
                    <a:p>
                      <a:pPr algn="ctr"/>
                      <a:r>
                        <a:rPr lang="en-CA" sz="1800" dirty="0"/>
                        <a:t>    36</a:t>
                      </a:r>
                      <a:endParaRPr lang="en-US" sz="1800" dirty="0"/>
                    </a:p>
                  </a:txBody>
                  <a:tcPr marL="91444" marR="91444" marT="45704" marB="45704"/>
                </a:tc>
                <a:tc>
                  <a:txBody>
                    <a:bodyPr/>
                    <a:lstStyle/>
                    <a:p>
                      <a:pPr algn="ctr"/>
                      <a:r>
                        <a:rPr lang="en-CA" sz="1800" dirty="0"/>
                        <a:t>   35.46</a:t>
                      </a:r>
                      <a:endParaRPr lang="en-US" sz="1800" dirty="0"/>
                    </a:p>
                  </a:txBody>
                  <a:tcPr marL="91444" marR="91444" marT="45704" marB="45704"/>
                </a:tc>
                <a:extLst>
                  <a:ext uri="{0D108BD9-81ED-4DB2-BD59-A6C34878D82A}">
                    <a16:rowId xmlns:a16="http://schemas.microsoft.com/office/drawing/2014/main" val="10001"/>
                  </a:ext>
                </a:extLst>
              </a:tr>
              <a:tr h="408314">
                <a:tc>
                  <a:txBody>
                    <a:bodyPr/>
                    <a:lstStyle/>
                    <a:p>
                      <a:pPr algn="ctr"/>
                      <a:r>
                        <a:rPr lang="en-CA" sz="1800" dirty="0"/>
                        <a:t>2</a:t>
                      </a:r>
                      <a:endParaRPr lang="en-US" sz="1800" dirty="0"/>
                    </a:p>
                  </a:txBody>
                  <a:tcPr marL="91444" marR="91444" marT="45704" marB="45704"/>
                </a:tc>
                <a:tc>
                  <a:txBody>
                    <a:bodyPr/>
                    <a:lstStyle/>
                    <a:p>
                      <a:pPr algn="ctr"/>
                      <a:r>
                        <a:rPr lang="en-CA" sz="1800" dirty="0"/>
                        <a:t>0.4</a:t>
                      </a:r>
                      <a:endParaRPr lang="en-US" sz="1800" dirty="0"/>
                    </a:p>
                  </a:txBody>
                  <a:tcPr marL="91444" marR="91444" marT="45704" marB="45704"/>
                </a:tc>
                <a:tc>
                  <a:txBody>
                    <a:bodyPr/>
                    <a:lstStyle/>
                    <a:p>
                      <a:pPr algn="ctr"/>
                      <a:r>
                        <a:rPr lang="en-CA" sz="1800" dirty="0"/>
                        <a:t>0.3805</a:t>
                      </a:r>
                      <a:endParaRPr lang="en-US" sz="1800" dirty="0"/>
                    </a:p>
                  </a:txBody>
                  <a:tcPr marL="91444" marR="91444" marT="45704" marB="45704"/>
                </a:tc>
                <a:tc>
                  <a:txBody>
                    <a:bodyPr/>
                    <a:lstStyle/>
                    <a:p>
                      <a:pPr algn="ctr"/>
                      <a:r>
                        <a:rPr lang="en-CA" sz="1800" dirty="0"/>
                        <a:t>    36</a:t>
                      </a:r>
                      <a:endParaRPr lang="en-US" sz="1800" dirty="0"/>
                    </a:p>
                  </a:txBody>
                  <a:tcPr marL="91444" marR="91444" marT="45704" marB="45704"/>
                </a:tc>
                <a:tc>
                  <a:txBody>
                    <a:bodyPr/>
                    <a:lstStyle/>
                    <a:p>
                      <a:pPr algn="ctr"/>
                      <a:r>
                        <a:rPr lang="en-CA" sz="1800" dirty="0"/>
                        <a:t>    34.94</a:t>
                      </a:r>
                      <a:endParaRPr lang="en-US" sz="1800" dirty="0"/>
                    </a:p>
                  </a:txBody>
                  <a:tcPr marL="91444" marR="91444" marT="45704" marB="45704"/>
                </a:tc>
                <a:extLst>
                  <a:ext uri="{0D108BD9-81ED-4DB2-BD59-A6C34878D82A}">
                    <a16:rowId xmlns:a16="http://schemas.microsoft.com/office/drawing/2014/main" val="10002"/>
                  </a:ext>
                </a:extLst>
              </a:tr>
              <a:tr h="408314">
                <a:tc>
                  <a:txBody>
                    <a:bodyPr/>
                    <a:lstStyle/>
                    <a:p>
                      <a:pPr algn="ctr"/>
                      <a:r>
                        <a:rPr lang="en-CA" sz="1800" dirty="0"/>
                        <a:t>3</a:t>
                      </a:r>
                      <a:endParaRPr lang="en-US" sz="1800" dirty="0"/>
                    </a:p>
                  </a:txBody>
                  <a:tcPr marL="91444" marR="91444" marT="45704" marB="45704"/>
                </a:tc>
                <a:tc>
                  <a:txBody>
                    <a:bodyPr/>
                    <a:lstStyle/>
                    <a:p>
                      <a:pPr algn="ctr"/>
                      <a:r>
                        <a:rPr lang="en-CA" sz="1800" dirty="0"/>
                        <a:t>10.4</a:t>
                      </a:r>
                      <a:endParaRPr lang="en-US" sz="1800" dirty="0"/>
                    </a:p>
                  </a:txBody>
                  <a:tcPr marL="91444" marR="91444" marT="45704" marB="45704"/>
                </a:tc>
                <a:tc>
                  <a:txBody>
                    <a:bodyPr/>
                    <a:lstStyle/>
                    <a:p>
                      <a:pPr algn="ctr"/>
                      <a:r>
                        <a:rPr lang="en-CA" sz="1800" dirty="0"/>
                        <a:t>9.6485</a:t>
                      </a:r>
                      <a:endParaRPr lang="en-US" sz="1800" dirty="0"/>
                    </a:p>
                  </a:txBody>
                  <a:tcPr marL="91444" marR="91444" marT="45704" marB="45704"/>
                </a:tc>
                <a:tc>
                  <a:txBody>
                    <a:bodyPr/>
                    <a:lstStyle/>
                    <a:p>
                      <a:pPr algn="ctr"/>
                      <a:r>
                        <a:rPr lang="en-CA" sz="1800" dirty="0"/>
                        <a:t>1,236</a:t>
                      </a:r>
                      <a:endParaRPr lang="en-US" sz="1800" dirty="0"/>
                    </a:p>
                  </a:txBody>
                  <a:tcPr marL="91444" marR="91444" marT="45704" marB="45704"/>
                </a:tc>
                <a:tc>
                  <a:txBody>
                    <a:bodyPr/>
                    <a:lstStyle/>
                    <a:p>
                      <a:pPr algn="ctr"/>
                      <a:r>
                        <a:rPr lang="en-CA" sz="1800" dirty="0"/>
                        <a:t>1,181.61</a:t>
                      </a:r>
                      <a:endParaRPr lang="en-US" sz="1800" dirty="0"/>
                    </a:p>
                  </a:txBody>
                  <a:tcPr marL="91444" marR="91444" marT="45704" marB="45704"/>
                </a:tc>
                <a:extLst>
                  <a:ext uri="{0D108BD9-81ED-4DB2-BD59-A6C34878D82A}">
                    <a16:rowId xmlns:a16="http://schemas.microsoft.com/office/drawing/2014/main" val="10003"/>
                  </a:ext>
                </a:extLst>
              </a:tr>
              <a:tr h="408314">
                <a:tc>
                  <a:txBody>
                    <a:bodyPr/>
                    <a:lstStyle/>
                    <a:p>
                      <a:pPr algn="ctr"/>
                      <a:r>
                        <a:rPr lang="en-CA" sz="1800" dirty="0"/>
                        <a:t>Total</a:t>
                      </a:r>
                      <a:endParaRPr lang="en-US" sz="1800" dirty="0"/>
                    </a:p>
                  </a:txBody>
                  <a:tcPr marL="91444" marR="91444" marT="45704" marB="45704"/>
                </a:tc>
                <a:tc>
                  <a:txBody>
                    <a:bodyPr/>
                    <a:lstStyle/>
                    <a:p>
                      <a:pPr algn="ctr"/>
                      <a:endParaRPr lang="en-US" sz="1800" dirty="0"/>
                    </a:p>
                  </a:txBody>
                  <a:tcPr marL="91444" marR="91444" marT="45704" marB="45704"/>
                </a:tc>
                <a:tc>
                  <a:txBody>
                    <a:bodyPr/>
                    <a:lstStyle/>
                    <a:p>
                      <a:pPr algn="ctr"/>
                      <a:r>
                        <a:rPr lang="en-CA" sz="1800" dirty="0"/>
                        <a:t>10.4191</a:t>
                      </a:r>
                      <a:endParaRPr lang="en-US" sz="1800" dirty="0"/>
                    </a:p>
                  </a:txBody>
                  <a:tcPr marL="91444" marR="91444" marT="45704" marB="45704"/>
                </a:tc>
                <a:tc>
                  <a:txBody>
                    <a:bodyPr/>
                    <a:lstStyle/>
                    <a:p>
                      <a:pPr algn="ctr"/>
                      <a:endParaRPr lang="en-US" sz="1800" dirty="0"/>
                    </a:p>
                  </a:txBody>
                  <a:tcPr marL="91444" marR="91444" marT="45704" marB="45704"/>
                </a:tc>
                <a:tc>
                  <a:txBody>
                    <a:bodyPr/>
                    <a:lstStyle/>
                    <a:p>
                      <a:pPr algn="ctr"/>
                      <a:r>
                        <a:rPr lang="en-CA" sz="1800" dirty="0"/>
                        <a:t>1,252.01</a:t>
                      </a:r>
                      <a:endParaRPr lang="en-US" sz="1800" dirty="0"/>
                    </a:p>
                  </a:txBody>
                  <a:tcPr marL="91444" marR="91444" marT="45704" marB="45704"/>
                </a:tc>
                <a:extLst>
                  <a:ext uri="{0D108BD9-81ED-4DB2-BD59-A6C34878D82A}">
                    <a16:rowId xmlns:a16="http://schemas.microsoft.com/office/drawing/2014/main" val="10004"/>
                  </a:ext>
                </a:extLst>
              </a:tr>
            </a:tbl>
          </a:graphicData>
        </a:graphic>
      </p:graphicFrame>
      <p:sp>
        <p:nvSpPr>
          <p:cNvPr id="68651" name="TextBox 1"/>
          <p:cNvSpPr txBox="1">
            <a:spLocks noChangeArrowheads="1"/>
          </p:cNvSpPr>
          <p:nvPr/>
        </p:nvSpPr>
        <p:spPr bwMode="auto">
          <a:xfrm>
            <a:off x="1112837" y="5229200"/>
            <a:ext cx="68421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CA" altLang="en-US" sz="2400" dirty="0"/>
              <a:t>Value = 1,252.01/110−10.4191 = +0.9629 millions of dollars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CA" altLang="en-US"/>
              <a:t>Other Currency Swaps</a:t>
            </a:r>
          </a:p>
        </p:txBody>
      </p:sp>
      <p:sp>
        <p:nvSpPr>
          <p:cNvPr id="70659" name="Content Placeholder 2"/>
          <p:cNvSpPr>
            <a:spLocks noGrp="1"/>
          </p:cNvSpPr>
          <p:nvPr>
            <p:ph idx="1"/>
          </p:nvPr>
        </p:nvSpPr>
        <p:spPr/>
        <p:txBody>
          <a:bodyPr/>
          <a:lstStyle/>
          <a:p>
            <a:r>
              <a:rPr lang="en-CA" altLang="en-US"/>
              <a:t>Fixed-for-floating: equivalent to a fixed-for-fixed currency swap plus a fixed for floating interest rate swap</a:t>
            </a:r>
          </a:p>
          <a:p>
            <a:r>
              <a:rPr lang="en-CA" altLang="en-US"/>
              <a:t>Floating-for-floating: equivalent to a fixed-for-fixed currency swap plus two floating interest rate swaps </a:t>
            </a:r>
          </a:p>
        </p:txBody>
      </p:sp>
      <p:sp>
        <p:nvSpPr>
          <p:cNvPr id="7066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706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9203DB3-DA2D-4CBF-951F-95C7D1658CAD}" type="slidenum">
              <a:rPr lang="en-US" altLang="en-US" sz="1800"/>
              <a:pPr>
                <a:spcBef>
                  <a:spcPct val="0"/>
                </a:spcBef>
                <a:buClrTx/>
                <a:buSzTx/>
                <a:buFontTx/>
                <a:buNone/>
              </a:pPr>
              <a:t>22</a:t>
            </a:fld>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228600" y="874063"/>
            <a:ext cx="7772400" cy="1143000"/>
          </a:xfrm>
        </p:spPr>
        <p:txBody>
          <a:bodyPr/>
          <a:lstStyle/>
          <a:p>
            <a:r>
              <a:rPr lang="en-CA" altLang="en-US" dirty="0"/>
              <a:t>Credit Default Swaps: A Quick First Look</a:t>
            </a:r>
          </a:p>
        </p:txBody>
      </p:sp>
      <p:sp>
        <p:nvSpPr>
          <p:cNvPr id="75779" name="Content Placeholder 2"/>
          <p:cNvSpPr>
            <a:spLocks noGrp="1"/>
          </p:cNvSpPr>
          <p:nvPr>
            <p:ph idx="1"/>
          </p:nvPr>
        </p:nvSpPr>
        <p:spPr>
          <a:xfrm>
            <a:off x="611560" y="2258598"/>
            <a:ext cx="8229600" cy="4411662"/>
          </a:xfrm>
        </p:spPr>
        <p:txBody>
          <a:bodyPr/>
          <a:lstStyle/>
          <a:p>
            <a:r>
              <a:rPr lang="en-CA" altLang="en-US" sz="2600" dirty="0"/>
              <a:t>Notional principal (e.g. $100 million) and maturity (e.g. 5 </a:t>
            </a:r>
            <a:r>
              <a:rPr lang="en-CA" altLang="en-US" sz="2600" dirty="0" err="1"/>
              <a:t>yrs</a:t>
            </a:r>
            <a:r>
              <a:rPr lang="en-CA" altLang="en-US" sz="2600" dirty="0"/>
              <a:t>) specified</a:t>
            </a:r>
          </a:p>
          <a:p>
            <a:r>
              <a:rPr lang="en-CA" altLang="en-US" sz="2600" dirty="0"/>
              <a:t>Protection buyer pays a fixed rate (e.g. 150 </a:t>
            </a:r>
            <a:r>
              <a:rPr lang="en-CA" altLang="en-US" sz="2600" dirty="0" err="1"/>
              <a:t>bp</a:t>
            </a:r>
            <a:r>
              <a:rPr lang="en-CA" altLang="en-US" sz="2600" dirty="0"/>
              <a:t>) on the notional principal (the CDS spread) </a:t>
            </a:r>
          </a:p>
          <a:p>
            <a:r>
              <a:rPr lang="en-CA" altLang="en-US" sz="2600" dirty="0"/>
              <a:t>If the reference entity (a country or company) defaults protection seller buys bonds issued by the reference entity for their face value and the spread payments stop. Total face value of bonds bought equals notional principal</a:t>
            </a:r>
          </a:p>
        </p:txBody>
      </p:sp>
      <p:sp>
        <p:nvSpPr>
          <p:cNvPr id="7578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757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EA0F4DA-CDA5-483E-A7E7-3E530210AB7A}" type="slidenum">
              <a:rPr lang="en-US" altLang="en-US" sz="1800"/>
              <a:pPr>
                <a:spcBef>
                  <a:spcPct val="0"/>
                </a:spcBef>
                <a:buClrTx/>
                <a:buSzTx/>
                <a:buFontTx/>
                <a:buNone/>
              </a:pPr>
              <a:t>23</a:t>
            </a:fld>
            <a:endParaRPr lang="en-US" altLang="en-US"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en-US" altLang="en-US"/>
              <a:t>Other Types of Swaps</a:t>
            </a:r>
          </a:p>
        </p:txBody>
      </p:sp>
      <p:sp>
        <p:nvSpPr>
          <p:cNvPr id="76804" name="Rectangle 3"/>
          <p:cNvSpPr>
            <a:spLocks noGrp="1" noChangeArrowheads="1"/>
          </p:cNvSpPr>
          <p:nvPr>
            <p:ph idx="1"/>
          </p:nvPr>
        </p:nvSpPr>
        <p:spPr/>
        <p:txBody>
          <a:bodyPr/>
          <a:lstStyle/>
          <a:p>
            <a:pPr eaLnBrk="1" hangingPunct="1"/>
            <a:r>
              <a:rPr lang="en-US" altLang="en-US" dirty="0"/>
              <a:t>Amortizing/ step up</a:t>
            </a:r>
          </a:p>
          <a:p>
            <a:pPr eaLnBrk="1" hangingPunct="1"/>
            <a:r>
              <a:rPr lang="en-US" altLang="en-US" dirty="0"/>
              <a:t>Compounding swap</a:t>
            </a:r>
          </a:p>
          <a:p>
            <a:pPr eaLnBrk="1" hangingPunct="1"/>
            <a:r>
              <a:rPr lang="en-US" altLang="en-US" dirty="0" err="1"/>
              <a:t>Quanto</a:t>
            </a:r>
            <a:r>
              <a:rPr lang="en-US" altLang="en-US" dirty="0"/>
              <a:t> (diff swap)</a:t>
            </a:r>
          </a:p>
          <a:p>
            <a:pPr eaLnBrk="1" hangingPunct="1"/>
            <a:r>
              <a:rPr lang="en-US" altLang="en-US" dirty="0"/>
              <a:t>Equity swap</a:t>
            </a:r>
          </a:p>
          <a:p>
            <a:pPr eaLnBrk="1" hangingPunct="1"/>
            <a:r>
              <a:rPr lang="en-US" altLang="en-US" dirty="0"/>
              <a:t>Extendible or puttable swap</a:t>
            </a:r>
          </a:p>
          <a:p>
            <a:pPr eaLnBrk="1" hangingPunct="1"/>
            <a:r>
              <a:rPr lang="en-US" altLang="en-US" dirty="0"/>
              <a:t>Commodity swap</a:t>
            </a:r>
          </a:p>
          <a:p>
            <a:pPr eaLnBrk="1" hangingPunct="1"/>
            <a:r>
              <a:rPr lang="en-US" altLang="en-US" dirty="0"/>
              <a:t>Volatility swap</a:t>
            </a:r>
          </a:p>
        </p:txBody>
      </p:sp>
      <p:sp>
        <p:nvSpPr>
          <p:cNvPr id="7680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Options, Futures, and Other Derivatives, 11th Edition, Copyright © John C. Hull 2021</a:t>
            </a:r>
            <a:endParaRPr lang="en-US" altLang="en-US" sz="1400" i="0"/>
          </a:p>
        </p:txBody>
      </p:sp>
      <p:sp>
        <p:nvSpPr>
          <p:cNvPr id="768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7C90792-3697-4278-9B27-D2C0DA0D5F74}" type="slidenum">
              <a:rPr lang="en-US" altLang="en-US" sz="1800"/>
              <a:pPr>
                <a:spcBef>
                  <a:spcPct val="0"/>
                </a:spcBef>
                <a:buClrTx/>
                <a:buSzTx/>
                <a:buFontTx/>
                <a:buNone/>
              </a:pPr>
              <a:t>24</a:t>
            </a:fld>
            <a:endParaRPr lang="en-US" altLang="en-US" sz="1800"/>
          </a:p>
        </p:txBody>
      </p:sp>
    </p:spTree>
  </p:cSld>
  <p:clrMapOvr>
    <a:masterClrMapping/>
  </p:clrMapOvr>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Ch01HullOFOD10thEdition</Template>
  <TotalTime>872</TotalTime>
  <Pages>26</Pages>
  <Words>1693</Words>
  <Application>Microsoft Office PowerPoint</Application>
  <PresentationFormat>Letter Paper (8.5x11 in)</PresentationFormat>
  <Paragraphs>344</Paragraphs>
  <Slides>24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Tahoma</vt:lpstr>
      <vt:lpstr>Times New Roman</vt:lpstr>
      <vt:lpstr>Wingdings</vt:lpstr>
      <vt:lpstr>Global</vt:lpstr>
      <vt:lpstr>PowerPoint Presentation</vt:lpstr>
      <vt:lpstr>Nature of Swaps</vt:lpstr>
      <vt:lpstr>An Example of a “Plain Vanilla” Overnight Indexed Swap</vt:lpstr>
      <vt:lpstr>Cash Flows to Apple for One Outcome (See Table 7.1)</vt:lpstr>
      <vt:lpstr>An Example of a “Plain Vanilla” LIBOR Indexed Swap</vt:lpstr>
      <vt:lpstr>Cash Flows to Apple for One Outcome (LIBOR on March 8, 2000 = 2%</vt:lpstr>
      <vt:lpstr>Typical Uses of an Interest Rate Swap</vt:lpstr>
      <vt:lpstr>Day Count</vt:lpstr>
      <vt:lpstr>The Comparative Advantage Argument (Table 7.5)</vt:lpstr>
      <vt:lpstr>A Swap where Companies Trade Directly with Each Other (Figure 7.7)</vt:lpstr>
      <vt:lpstr>The Swap when a Financial Institution (F.I.) is Involved  (Figure 7.8)</vt:lpstr>
      <vt:lpstr>Valuation of an Interest Rate Swap – Bond Pricing Method</vt:lpstr>
      <vt:lpstr>An Example of a Fixed-for-Fixed Currency Swap (Figure 7.10)</vt:lpstr>
      <vt:lpstr>Exchange of Principal</vt:lpstr>
      <vt:lpstr>The Cash Flows (Table 7.6)</vt:lpstr>
      <vt:lpstr>Typical Uses of a  Currency Swap</vt:lpstr>
      <vt:lpstr>Comparative Advantage May Be Real Because of Taxes</vt:lpstr>
      <vt:lpstr>Valuation of Fixed-for-Fixed Currency Swaps</vt:lpstr>
      <vt:lpstr>Currency Swap Example</vt:lpstr>
      <vt:lpstr>Valuation in Terms of Forward Rates (Example 7.2)</vt:lpstr>
      <vt:lpstr>Valuation in Terms of Bonds  (Example 7.3)</vt:lpstr>
      <vt:lpstr>Other Currency Swaps</vt:lpstr>
      <vt:lpstr>Credit Default Swaps: A Quick First Look</vt:lpstr>
      <vt:lpstr>Other Types of Swaps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Swaps</dc:title>
  <dc:subject>Options, Futures, and Other Derivatives, 11e</dc:subject>
  <dc:creator>John C. Hull</dc:creator>
  <cp:keywords>Chapter 7</cp:keywords>
  <dc:description>Copyright 2021 by John C. Hull.
All rights reserved. Published 2021.</dc:description>
  <cp:lastModifiedBy>Bihary  Zsolt</cp:lastModifiedBy>
  <cp:revision>110</cp:revision>
  <cp:lastPrinted>2001-05-03T11:40:36Z</cp:lastPrinted>
  <dcterms:created xsi:type="dcterms:W3CDTF">1996-10-24T09:26:34Z</dcterms:created>
  <dcterms:modified xsi:type="dcterms:W3CDTF">2023-11-19T19:36:40Z</dcterms:modified>
</cp:coreProperties>
</file>