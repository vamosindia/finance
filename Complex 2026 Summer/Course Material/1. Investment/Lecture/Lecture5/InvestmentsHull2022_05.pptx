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7" r:id="rId21"/>
    <p:sldId id="279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BCEE594-2C83-431D-A872-2896D5762431}" type="datetimeFigureOut">
              <a:rPr lang="en-US"/>
              <a:pPr>
                <a:defRPr/>
              </a:pPr>
              <a:t>12/4/2022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2A9D9D1-F96A-4F64-8658-6C0DF66C9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4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1903C28-00F6-4FD7-8A1D-FA8660DFE84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8BEC205-0208-4B3A-B148-B23810B9E8D1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19A0FA-8D7E-4E56-82A4-752003BBFE6A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662B0B0-E364-4D4A-BDE3-3A42285C0876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176F8D-37A6-49E6-998D-57768214DAE5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4B45E4-39B3-4D27-B52D-C064FC52B391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04E63C1-9D59-45DE-8B24-741B30D1984F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04892C5-5E7D-4096-9164-111CD635D853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B789241-03D2-4AB9-B9A8-CE7C49DB55B5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108B473-9CFE-4F9D-8B2C-66254436FA7E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4E04D02-4F8A-4F9C-A29A-C95027A9E597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5592A4-EAB7-4B28-8526-5E21C1F92FD8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E383DE-6FA1-4A2E-952B-B2F6D5EA0DEA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5DA0D9-21D8-4608-B6EE-E01CA5BA16A2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A60BA6-FB11-4CA1-A77C-9BC6E6A12CC5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4E87A8-B73B-4BFF-AA92-E3353A41D5B2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D358DE-5872-4171-872B-CA50AAF8D661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290B29-DB29-4CCC-A0AA-04E3663050B6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15E42E-723C-47DB-A7BF-695225D76515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480A80-A4C2-4B19-B83F-87F3E23780E0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E8FEA3-D98B-4A53-B1DA-D942681149E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E64E083-1B78-4B3C-B052-5ADB6419021D}" type="datetime1">
              <a:rPr lang="en-US" smtClean="0"/>
              <a:t>12/4/2022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324600"/>
            <a:ext cx="43434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E0569C-D72A-4383-953C-82D85D7B01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943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DB4A44F-62A2-4B28-98C3-8CBDE403510B}" type="datetime1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9B1EA6-6F8C-442B-8DAC-FB21A2111C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96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62F38-57ED-451B-81D9-EF28D2B1696F}" type="datetime1">
              <a:rPr lang="en-US" smtClean="0"/>
              <a:t>12/4/2022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393B19-30DA-4A97-8F8A-86EAB635A1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84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701281-E492-4CCF-9F25-37FEC50315E5}" type="datetime1">
              <a:rPr lang="en-US" smtClean="0"/>
              <a:t>12/4/2022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0EE47-022E-4C28-9B87-61A8B4E60D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058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0ADB34-E28F-4578-A5EC-F194C86BF4C6}" type="datetime1">
              <a:rPr lang="en-US" smtClean="0"/>
              <a:t>12/4/2022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1FAB8F-C8FC-459D-AD22-7888299756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23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1C63426-C965-4484-89C5-14153825B89C}" type="datetime1">
              <a:rPr lang="en-US" smtClean="0"/>
              <a:t>12/4/2022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1B7730-B061-4BD9-94E0-83E3241850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69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D1EA7E-61C1-4B8B-B5DA-6FB789183FCE}" type="datetime1">
              <a:rPr lang="en-US" smtClean="0"/>
              <a:t>12/4/2022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BAD52-D1D8-4BC9-B716-409C29C7A0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56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74535D-1FDC-4B3E-A2BA-A8FE9699136B}" type="datetime1">
              <a:rPr lang="en-US" smtClean="0"/>
              <a:t>12/4/2022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DADB7-0A15-4792-BB98-C3510E1E4E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31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A6913E-BB85-4642-8B98-499ABD2686F9}" type="datetime1">
              <a:rPr lang="en-US" smtClean="0"/>
              <a:t>12/4/2022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995103-388C-41D1-8639-253A8E0581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56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63D426-4F3F-4198-8EDB-85ECEEB37221}" type="datetime1">
              <a:rPr lang="en-US" smtClean="0"/>
              <a:t>12/4/2022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A0E0F6-0181-413F-83E4-B4269993A6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251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B46991-8003-4534-BE2C-F7CDD6847D32}" type="datetime1">
              <a:rPr lang="en-US" smtClean="0"/>
              <a:t>12/4/2022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B2492A-7B53-4385-B2A4-FB41200AE0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15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2F2982FB-8A51-466C-A446-9973F1052184}" type="datetime1">
              <a:rPr lang="en-US" smtClean="0"/>
              <a:t>12/4/2022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3246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/>
              <a:t>Options, Futures, and Other Derivatives, 11th Edition, Copyright © John C. Hull 2021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CD7B044-8B2E-4F80-9CAB-C7CAD1B6A2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899" r:id="rId3"/>
    <p:sldLayoutId id="2147483900" r:id="rId4"/>
    <p:sldLayoutId id="2147483901" r:id="rId5"/>
    <p:sldLayoutId id="2147483909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905000"/>
            <a:ext cx="6934200" cy="2362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>
                <a:solidFill>
                  <a:schemeClr val="tx2">
                    <a:satMod val="130000"/>
                  </a:schemeClr>
                </a:solidFill>
              </a:rPr>
              <a:t>Chapter 13</a:t>
            </a:r>
            <a:br>
              <a:rPr lang="en-CA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>
                <a:solidFill>
                  <a:schemeClr val="tx2">
                    <a:satMod val="130000"/>
                  </a:schemeClr>
                </a:solidFill>
              </a:rPr>
              <a:t>Binomial Trees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Arial" charset="0"/>
              </a:rPr>
              <a:t>Options, Futures, and Other Derivatives,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Arial" charset="0"/>
              </a:rPr>
              <a:t>11th Edition, Copyright © John C. Hull 2021</a:t>
            </a: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4DFECF7-E8D9-4969-BD37-C8003B2672F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A Simple Binomial Model</a:t>
            </a:r>
            <a:br>
              <a:rPr lang="en-US"/>
            </a:b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133600"/>
            <a:ext cx="7772400" cy="4114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A stock price is currently $20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In 3 months it will be either $22 or $18</a:t>
            </a:r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C326C3A-6097-4C36-B073-F6B7F524911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latin typeface="Arial" charset="0"/>
            </a:endParaRPr>
          </a:p>
        </p:txBody>
      </p:sp>
      <p:grpSp>
        <p:nvGrpSpPr>
          <p:cNvPr id="6150" name="Group 11"/>
          <p:cNvGrpSpPr>
            <a:grpSpLocks/>
          </p:cNvGrpSpPr>
          <p:nvPr/>
        </p:nvGrpSpPr>
        <p:grpSpPr bwMode="auto">
          <a:xfrm>
            <a:off x="609600" y="3733800"/>
            <a:ext cx="7515225" cy="1462088"/>
            <a:chOff x="219994" y="3719513"/>
            <a:chExt cx="8666831" cy="1795462"/>
          </a:xfrm>
        </p:grpSpPr>
        <p:sp>
          <p:nvSpPr>
            <p:cNvPr id="6151" name="Rectangle 7"/>
            <p:cNvSpPr>
              <a:spLocks noChangeArrowheads="1"/>
            </p:cNvSpPr>
            <p:nvPr/>
          </p:nvSpPr>
          <p:spPr bwMode="auto">
            <a:xfrm>
              <a:off x="5572125" y="5057775"/>
              <a:ext cx="33147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Stock Price = $18</a:t>
              </a:r>
            </a:p>
          </p:txBody>
        </p:sp>
        <p:grpSp>
          <p:nvGrpSpPr>
            <p:cNvPr id="6152" name="Group 10"/>
            <p:cNvGrpSpPr>
              <a:grpSpLocks/>
            </p:cNvGrpSpPr>
            <p:nvPr/>
          </p:nvGrpSpPr>
          <p:grpSpPr bwMode="auto">
            <a:xfrm>
              <a:off x="219994" y="3719513"/>
              <a:ext cx="8436156" cy="1524000"/>
              <a:chOff x="219994" y="3719513"/>
              <a:chExt cx="8436156" cy="1524000"/>
            </a:xfrm>
          </p:grpSpPr>
          <p:sp>
            <p:nvSpPr>
              <p:cNvPr id="6153" name="Line 4"/>
              <p:cNvSpPr>
                <a:spLocks noChangeShapeType="1"/>
              </p:cNvSpPr>
              <p:nvPr/>
            </p:nvSpPr>
            <p:spPr bwMode="auto">
              <a:xfrm flipV="1">
                <a:off x="3338513" y="4035425"/>
                <a:ext cx="2111375" cy="61595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4" name="Line 5"/>
              <p:cNvSpPr>
                <a:spLocks noChangeShapeType="1"/>
              </p:cNvSpPr>
              <p:nvPr/>
            </p:nvSpPr>
            <p:spPr bwMode="auto">
              <a:xfrm>
                <a:off x="3338513" y="4625975"/>
                <a:ext cx="2111375" cy="61753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5" name="Rectangle 6"/>
              <p:cNvSpPr>
                <a:spLocks noChangeArrowheads="1"/>
              </p:cNvSpPr>
              <p:nvPr/>
            </p:nvSpPr>
            <p:spPr bwMode="auto">
              <a:xfrm>
                <a:off x="5492592" y="3719513"/>
                <a:ext cx="3163558" cy="1021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Arial" charset="0"/>
                  </a:rPr>
                  <a:t>Stock Price = $22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Arial" charset="0"/>
                </a:endParaRPr>
              </a:p>
            </p:txBody>
          </p:sp>
          <p:sp>
            <p:nvSpPr>
              <p:cNvPr id="6156" name="Rectangle 8"/>
              <p:cNvSpPr>
                <a:spLocks noChangeArrowheads="1"/>
              </p:cNvSpPr>
              <p:nvPr/>
            </p:nvSpPr>
            <p:spPr bwMode="auto">
              <a:xfrm>
                <a:off x="219994" y="4392081"/>
                <a:ext cx="3201069" cy="567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Arial" charset="0"/>
                  </a:rPr>
                  <a:t>Stock price = $20</a:t>
                </a:r>
              </a:p>
            </p:txBody>
          </p:sp>
        </p:grp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A Call Option (</a:t>
            </a:r>
            <a:r>
              <a:rPr lang="en-US" altLang="en-US" sz="2200" dirty="0"/>
              <a:t>Figure 13.1)</a:t>
            </a:r>
          </a:p>
        </p:txBody>
      </p:sp>
      <p:sp>
        <p:nvSpPr>
          <p:cNvPr id="7171" name="Rectangle 8"/>
          <p:cNvSpPr>
            <a:spLocks noGrp="1" noChangeArrowheads="1"/>
          </p:cNvSpPr>
          <p:nvPr>
            <p:ph idx="1"/>
          </p:nvPr>
        </p:nvSpPr>
        <p:spPr>
          <a:xfrm>
            <a:off x="838200" y="2057400"/>
            <a:ext cx="7086600" cy="41148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	A 3-month call option on the stock has a strike price of 21.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	</a:t>
            </a:r>
          </a:p>
        </p:txBody>
      </p:sp>
      <p:sp>
        <p:nvSpPr>
          <p:cNvPr id="71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89E0BFB-0224-4944-94C3-8343E0EC6B4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7174" name="Rectangle 5"/>
          <p:cNvSpPr>
            <a:spLocks noChangeArrowheads="1"/>
          </p:cNvSpPr>
          <p:nvPr/>
        </p:nvSpPr>
        <p:spPr bwMode="auto">
          <a:xfrm>
            <a:off x="5943600" y="4479925"/>
            <a:ext cx="28956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Stock Price = $18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Option Payoff = $0</a:t>
            </a:r>
          </a:p>
        </p:txBody>
      </p:sp>
      <p:grpSp>
        <p:nvGrpSpPr>
          <p:cNvPr id="7175" name="Group 10"/>
          <p:cNvGrpSpPr>
            <a:grpSpLocks/>
          </p:cNvGrpSpPr>
          <p:nvPr/>
        </p:nvGrpSpPr>
        <p:grpSpPr bwMode="auto">
          <a:xfrm>
            <a:off x="1600200" y="3194050"/>
            <a:ext cx="6969125" cy="1703388"/>
            <a:chOff x="1015080" y="3194050"/>
            <a:chExt cx="7528845" cy="1997075"/>
          </a:xfrm>
        </p:grpSpPr>
        <p:sp>
          <p:nvSpPr>
            <p:cNvPr id="7176" name="Line 2"/>
            <p:cNvSpPr>
              <a:spLocks noChangeShapeType="1"/>
            </p:cNvSpPr>
            <p:nvPr/>
          </p:nvSpPr>
          <p:spPr bwMode="auto">
            <a:xfrm flipV="1">
              <a:off x="3338513" y="3595688"/>
              <a:ext cx="2111375" cy="8159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7" name="Line 3"/>
            <p:cNvSpPr>
              <a:spLocks noChangeShapeType="1"/>
            </p:cNvSpPr>
            <p:nvPr/>
          </p:nvSpPr>
          <p:spPr bwMode="auto">
            <a:xfrm>
              <a:off x="3338513" y="4375150"/>
              <a:ext cx="2111375" cy="8159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" name="Rectangle 4"/>
            <p:cNvSpPr>
              <a:spLocks noChangeArrowheads="1"/>
            </p:cNvSpPr>
            <p:nvPr/>
          </p:nvSpPr>
          <p:spPr bwMode="auto">
            <a:xfrm>
              <a:off x="5657850" y="3194050"/>
              <a:ext cx="2886075" cy="758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Arial" charset="0"/>
                </a:rPr>
                <a:t>Stock Price = $22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Arial" charset="0"/>
                </a:rPr>
                <a:t>Option Payoff = $1</a:t>
              </a:r>
            </a:p>
          </p:txBody>
        </p:sp>
        <p:sp>
          <p:nvSpPr>
            <p:cNvPr id="7179" name="Rectangle 6"/>
            <p:cNvSpPr>
              <a:spLocks noChangeArrowheads="1"/>
            </p:cNvSpPr>
            <p:nvPr/>
          </p:nvSpPr>
          <p:spPr bwMode="auto">
            <a:xfrm>
              <a:off x="1015080" y="4029075"/>
              <a:ext cx="2405983" cy="758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charset="0"/>
                </a:rPr>
                <a:t>Stock price = $20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charset="0"/>
                </a:rPr>
                <a:t>Option Price=?</a:t>
              </a:r>
            </a:p>
          </p:txBody>
        </p: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9" name="Rectangle 9"/>
          <p:cNvSpPr>
            <a:spLocks noGrp="1" noChangeArrowheads="1"/>
          </p:cNvSpPr>
          <p:nvPr>
            <p:ph type="title"/>
          </p:nvPr>
        </p:nvSpPr>
        <p:spPr>
          <a:xfrm>
            <a:off x="381000" y="838200"/>
            <a:ext cx="7239000" cy="7620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Setting Up a Riskless Portfolio</a:t>
            </a:r>
          </a:p>
        </p:txBody>
      </p:sp>
      <p:sp>
        <p:nvSpPr>
          <p:cNvPr id="8195" name="Rectangle 2"/>
          <p:cNvSpPr>
            <a:spLocks noGrp="1" noChangeArrowheads="1"/>
          </p:cNvSpPr>
          <p:nvPr>
            <p:ph idx="1"/>
          </p:nvPr>
        </p:nvSpPr>
        <p:spPr>
          <a:xfrm>
            <a:off x="838200" y="1828800"/>
            <a:ext cx="6858000" cy="255905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400">
                <a:latin typeface="Arial" charset="0"/>
                <a:cs typeface="Arial" charset="0"/>
              </a:rPr>
              <a:t>For a  portfolio that is long </a:t>
            </a:r>
            <a:r>
              <a:rPr lang="en-US" altLang="en-US" sz="2400">
                <a:latin typeface="Symbol" pitchFamily="18" charset="2"/>
                <a:cs typeface="Arial" charset="0"/>
              </a:rPr>
              <a:t>D</a:t>
            </a:r>
            <a:r>
              <a:rPr lang="en-US" altLang="en-US" sz="2400">
                <a:latin typeface="Arial" charset="0"/>
                <a:cs typeface="Arial" charset="0"/>
              </a:rPr>
              <a:t> shares and a short 1 call option values are																																							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latin typeface="Arial" charset="0"/>
                <a:cs typeface="Arial" charset="0"/>
              </a:rPr>
              <a:t>Portfolio is riskless when  22</a:t>
            </a:r>
            <a:r>
              <a:rPr lang="en-US" altLang="en-US">
                <a:latin typeface="Symbol" pitchFamily="18" charset="2"/>
                <a:cs typeface="Arial" charset="0"/>
              </a:rPr>
              <a:t>D </a:t>
            </a:r>
            <a:r>
              <a:rPr lang="en-US" altLang="en-US">
                <a:latin typeface="Arial" charset="0"/>
                <a:cs typeface="Arial" charset="0"/>
              </a:rPr>
              <a:t>– 1 = 18</a:t>
            </a:r>
            <a:r>
              <a:rPr lang="en-US" altLang="en-US">
                <a:latin typeface="Symbol" pitchFamily="18" charset="2"/>
                <a:cs typeface="Arial" charset="0"/>
              </a:rPr>
              <a:t>D</a:t>
            </a:r>
            <a:r>
              <a:rPr lang="en-US" altLang="en-US">
                <a:latin typeface="Arial" charset="0"/>
                <a:cs typeface="Arial" charset="0"/>
              </a:rPr>
              <a:t>  or  </a:t>
            </a:r>
            <a:r>
              <a:rPr lang="en-US" altLang="en-US">
                <a:latin typeface="Symbol" pitchFamily="18" charset="2"/>
                <a:cs typeface="Arial" charset="0"/>
              </a:rPr>
              <a:t>D</a:t>
            </a:r>
            <a:r>
              <a:rPr lang="en-US" altLang="en-US">
                <a:latin typeface="Arial" charset="0"/>
                <a:cs typeface="Arial" charset="0"/>
              </a:rPr>
              <a:t> = 0.25</a:t>
            </a:r>
          </a:p>
        </p:txBody>
      </p:sp>
      <p:sp>
        <p:nvSpPr>
          <p:cNvPr id="81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EE93A52-AF19-41A9-8115-5DC15362FCA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latin typeface="Arial" charset="0"/>
            </a:endParaRPr>
          </a:p>
        </p:txBody>
      </p:sp>
      <p:grpSp>
        <p:nvGrpSpPr>
          <p:cNvPr id="8198" name="Group 8"/>
          <p:cNvGrpSpPr>
            <a:grpSpLocks/>
          </p:cNvGrpSpPr>
          <p:nvPr/>
        </p:nvGrpSpPr>
        <p:grpSpPr bwMode="auto">
          <a:xfrm>
            <a:off x="2057400" y="2803525"/>
            <a:ext cx="4191000" cy="1654175"/>
            <a:chOff x="1563" y="1766"/>
            <a:chExt cx="2634" cy="1042"/>
          </a:xfrm>
        </p:grpSpPr>
        <p:sp>
          <p:nvSpPr>
            <p:cNvPr id="8199" name="Line 3"/>
            <p:cNvSpPr>
              <a:spLocks noChangeShapeType="1"/>
            </p:cNvSpPr>
            <p:nvPr/>
          </p:nvSpPr>
          <p:spPr bwMode="auto">
            <a:xfrm>
              <a:off x="2197" y="2240"/>
              <a:ext cx="1263" cy="4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0" name="Rectangle 4"/>
            <p:cNvSpPr>
              <a:spLocks noChangeArrowheads="1"/>
            </p:cNvSpPr>
            <p:nvPr/>
          </p:nvSpPr>
          <p:spPr bwMode="auto">
            <a:xfrm>
              <a:off x="3435" y="1766"/>
              <a:ext cx="76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2400">
                  <a:latin typeface="Arial" charset="0"/>
                </a:rPr>
                <a:t>22</a:t>
              </a:r>
              <a:r>
                <a:rPr lang="en-US" altLang="en-US" sz="2400">
                  <a:latin typeface="Symbol" pitchFamily="18" charset="2"/>
                </a:rPr>
                <a:t>D </a:t>
              </a:r>
              <a:r>
                <a:rPr lang="en-US" altLang="en-US" sz="2400">
                  <a:latin typeface="Arial" charset="0"/>
                </a:rPr>
                <a:t>– 1</a:t>
              </a:r>
            </a:p>
          </p:txBody>
        </p:sp>
        <p:sp>
          <p:nvSpPr>
            <p:cNvPr id="8201" name="Rectangle 5"/>
            <p:cNvSpPr>
              <a:spLocks noChangeArrowheads="1"/>
            </p:cNvSpPr>
            <p:nvPr/>
          </p:nvSpPr>
          <p:spPr bwMode="auto">
            <a:xfrm>
              <a:off x="3435" y="2520"/>
              <a:ext cx="44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2400">
                  <a:latin typeface="Arial" charset="0"/>
                </a:rPr>
                <a:t>18</a:t>
              </a:r>
              <a:r>
                <a:rPr lang="en-US" altLang="en-US" sz="2400">
                  <a:latin typeface="Symbol" pitchFamily="18" charset="2"/>
                </a:rPr>
                <a:t>D</a:t>
              </a:r>
            </a:p>
          </p:txBody>
        </p:sp>
        <p:sp>
          <p:nvSpPr>
            <p:cNvPr id="8202" name="Rectangle 6"/>
            <p:cNvSpPr>
              <a:spLocks noChangeArrowheads="1"/>
            </p:cNvSpPr>
            <p:nvPr/>
          </p:nvSpPr>
          <p:spPr bwMode="auto">
            <a:xfrm>
              <a:off x="1563" y="2136"/>
              <a:ext cx="73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8203" name="Line 7"/>
            <p:cNvSpPr>
              <a:spLocks noChangeShapeType="1"/>
            </p:cNvSpPr>
            <p:nvPr/>
          </p:nvSpPr>
          <p:spPr bwMode="auto">
            <a:xfrm flipV="1">
              <a:off x="2197" y="1837"/>
              <a:ext cx="1263" cy="4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Valuing the Portfolio</a:t>
            </a:r>
            <a:br>
              <a:rPr lang="en-US" dirty="0"/>
            </a:br>
            <a:r>
              <a:rPr lang="en-US" sz="3000" dirty="0"/>
              <a:t>(Risk-Free Rate is 4%)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209800"/>
            <a:ext cx="7818438" cy="3921125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z="2400" dirty="0">
                <a:latin typeface="Arial" charset="0"/>
                <a:cs typeface="Arial" charset="0"/>
              </a:rPr>
              <a:t>The riskless portfolio is: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>
                <a:latin typeface="Arial" charset="0"/>
                <a:cs typeface="Arial" charset="0"/>
              </a:rPr>
              <a:t>		long 0.25 shares				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>
                <a:latin typeface="Arial" charset="0"/>
                <a:cs typeface="Arial" charset="0"/>
              </a:rPr>
              <a:t>		short 1 call option</a:t>
            </a:r>
          </a:p>
          <a:p>
            <a:pPr eaLnBrk="1" hangingPunct="1">
              <a:defRPr/>
            </a:pPr>
            <a:r>
              <a:rPr lang="en-US" sz="2400" dirty="0">
                <a:latin typeface="Arial" charset="0"/>
                <a:cs typeface="Arial" charset="0"/>
              </a:rPr>
              <a:t>The value of the portfolio in 3 months is 	</a:t>
            </a:r>
          </a:p>
          <a:p>
            <a:pPr eaLnBrk="1" hangingPunct="1">
              <a:buFontTx/>
              <a:buNone/>
              <a:defRPr/>
            </a:pPr>
            <a:r>
              <a:rPr lang="en-US" sz="2400" dirty="0">
                <a:latin typeface="Arial" charset="0"/>
                <a:cs typeface="Arial" charset="0"/>
              </a:rPr>
              <a:t>		22 </a:t>
            </a:r>
            <a:r>
              <a:rPr lang="en-US" sz="2400" dirty="0">
                <a:latin typeface="Symbol" pitchFamily="18" charset="2"/>
                <a:cs typeface="Arial" charset="0"/>
              </a:rPr>
              <a:t>×</a:t>
            </a:r>
            <a:r>
              <a:rPr lang="en-US" sz="2400" dirty="0">
                <a:latin typeface="Arial" charset="0"/>
                <a:cs typeface="Arial" charset="0"/>
              </a:rPr>
              <a:t>0.25 – 1 = 4.50</a:t>
            </a:r>
          </a:p>
          <a:p>
            <a:pPr eaLnBrk="1" hangingPunct="1">
              <a:defRPr/>
            </a:pPr>
            <a:r>
              <a:rPr lang="en-US" sz="2400" dirty="0">
                <a:latin typeface="Arial" charset="0"/>
                <a:cs typeface="Arial" charset="0"/>
              </a:rPr>
              <a:t>The value of the portfolio today is 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400" dirty="0">
                <a:latin typeface="Arial" charset="0"/>
                <a:cs typeface="Arial" charset="0"/>
              </a:rPr>
              <a:t>		4.5</a:t>
            </a:r>
            <a:r>
              <a:rPr lang="en-US" sz="2400" i="1" dirty="0">
                <a:latin typeface="+mj-lt"/>
                <a:cs typeface="Arial" charset="0"/>
              </a:rPr>
              <a:t>e</a:t>
            </a:r>
            <a:r>
              <a:rPr lang="en-US" sz="2400" baseline="30000" dirty="0">
                <a:latin typeface="Arial" charset="0"/>
                <a:cs typeface="Arial" charset="0"/>
              </a:rPr>
              <a:t>–0.04</a:t>
            </a:r>
            <a:r>
              <a:rPr lang="en-US" sz="2400" baseline="30000" dirty="0">
                <a:latin typeface="Symbol" pitchFamily="18" charset="2"/>
                <a:cs typeface="Arial" charset="0"/>
              </a:rPr>
              <a:t>×</a:t>
            </a:r>
            <a:r>
              <a:rPr lang="en-US" sz="2400" baseline="30000" dirty="0">
                <a:latin typeface="Arial" charset="0"/>
                <a:cs typeface="Arial" charset="0"/>
              </a:rPr>
              <a:t>0.25 </a:t>
            </a:r>
            <a:r>
              <a:rPr lang="en-US" sz="2400" dirty="0">
                <a:latin typeface="Arial" charset="0"/>
                <a:cs typeface="Arial" charset="0"/>
              </a:rPr>
              <a:t>= 4.455</a:t>
            </a:r>
          </a:p>
        </p:txBody>
      </p:sp>
      <p:sp>
        <p:nvSpPr>
          <p:cNvPr id="92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E51D070-D1BB-45B7-AE22-577E8F39F80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0"/>
            <a:ext cx="8001000" cy="914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Valuing the Option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057400"/>
            <a:ext cx="7534275" cy="3962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400" dirty="0">
                <a:latin typeface="Arial" charset="0"/>
                <a:cs typeface="Arial" charset="0"/>
              </a:rPr>
              <a:t>The portfolio that is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i="1" dirty="0">
                <a:latin typeface="Arial" charset="0"/>
                <a:cs typeface="Arial" charset="0"/>
              </a:rPr>
              <a:t>		</a:t>
            </a:r>
            <a:r>
              <a:rPr lang="en-US" altLang="en-US" sz="2400" dirty="0">
                <a:latin typeface="Arial" charset="0"/>
                <a:cs typeface="Arial" charset="0"/>
              </a:rPr>
              <a:t>long  0.25 shares			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		short  1 option		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is worth 4.455</a:t>
            </a:r>
          </a:p>
          <a:p>
            <a:pPr eaLnBrk="1" hangingPunct="1"/>
            <a:r>
              <a:rPr lang="en-US" altLang="en-US" sz="2400" dirty="0">
                <a:latin typeface="Arial" charset="0"/>
                <a:cs typeface="Arial" charset="0"/>
              </a:rPr>
              <a:t>The value of the shares is  				5.000 (= 0.25 </a:t>
            </a:r>
            <a:r>
              <a:rPr lang="en-US" altLang="en-US" sz="2400" dirty="0">
                <a:latin typeface="Symbol" pitchFamily="18" charset="2"/>
                <a:cs typeface="Arial" charset="0"/>
              </a:rPr>
              <a:t>× </a:t>
            </a:r>
            <a:r>
              <a:rPr lang="en-US" altLang="en-US" sz="2400" dirty="0">
                <a:latin typeface="Arial" charset="0"/>
                <a:cs typeface="Arial" charset="0"/>
              </a:rPr>
              <a:t>20 )</a:t>
            </a:r>
          </a:p>
          <a:p>
            <a:pPr eaLnBrk="1" hangingPunct="1"/>
            <a:r>
              <a:rPr lang="en-US" altLang="en-US" sz="2400" dirty="0">
                <a:latin typeface="Arial" charset="0"/>
                <a:cs typeface="Arial" charset="0"/>
              </a:rPr>
              <a:t>The value of the option is therefore  		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		5.000 – 4.455 = 0.545</a:t>
            </a:r>
          </a:p>
        </p:txBody>
      </p:sp>
      <p:sp>
        <p:nvSpPr>
          <p:cNvPr id="102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B81EE35-92C4-48EC-82BF-0E8F2314F42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Generalization </a:t>
            </a:r>
            <a:r>
              <a:rPr lang="en-US" altLang="en-US" sz="2200" dirty="0"/>
              <a:t>(Figure 13.2)</a:t>
            </a:r>
            <a:endParaRPr lang="en-US" altLang="en-US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286000"/>
            <a:ext cx="7991475" cy="3844925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Arial" charset="0"/>
                <a:cs typeface="Arial" charset="0"/>
              </a:rPr>
              <a:t>	A derivative lasts for time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T</a:t>
            </a:r>
            <a:r>
              <a:rPr lang="en-US" altLang="en-US">
                <a:latin typeface="Arial" charset="0"/>
                <a:cs typeface="Arial" charset="0"/>
              </a:rPr>
              <a:t> and is dependent on a stock</a:t>
            </a:r>
          </a:p>
        </p:txBody>
      </p:sp>
      <p:sp>
        <p:nvSpPr>
          <p:cNvPr id="112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5FBD421-3D0D-460E-98BB-5E5B04ED1C0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latin typeface="Arial" charset="0"/>
            </a:endParaRPr>
          </a:p>
        </p:txBody>
      </p:sp>
      <p:grpSp>
        <p:nvGrpSpPr>
          <p:cNvPr id="11270" name="Group 9"/>
          <p:cNvGrpSpPr>
            <a:grpSpLocks/>
          </p:cNvGrpSpPr>
          <p:nvPr/>
        </p:nvGrpSpPr>
        <p:grpSpPr bwMode="auto">
          <a:xfrm>
            <a:off x="2667000" y="3276600"/>
            <a:ext cx="3086100" cy="2743200"/>
            <a:chOff x="2602" y="2285"/>
            <a:chExt cx="1944" cy="1584"/>
          </a:xfrm>
        </p:grpSpPr>
        <p:sp>
          <p:nvSpPr>
            <p:cNvPr id="11271" name="Line 4"/>
            <p:cNvSpPr>
              <a:spLocks noChangeShapeType="1"/>
            </p:cNvSpPr>
            <p:nvPr/>
          </p:nvSpPr>
          <p:spPr bwMode="auto">
            <a:xfrm flipV="1">
              <a:off x="2852" y="2612"/>
              <a:ext cx="1263" cy="4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2" name="Line 5"/>
            <p:cNvSpPr>
              <a:spLocks noChangeShapeType="1"/>
            </p:cNvSpPr>
            <p:nvPr/>
          </p:nvSpPr>
          <p:spPr bwMode="auto">
            <a:xfrm>
              <a:off x="2852" y="3072"/>
              <a:ext cx="1263" cy="4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3" name="Rectangle 6"/>
            <p:cNvSpPr>
              <a:spLocks noChangeArrowheads="1"/>
            </p:cNvSpPr>
            <p:nvPr/>
          </p:nvSpPr>
          <p:spPr bwMode="auto">
            <a:xfrm>
              <a:off x="4090" y="2285"/>
              <a:ext cx="456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S</a:t>
              </a:r>
              <a:r>
                <a:rPr lang="en-CA" altLang="en-US" baseline="-25000">
                  <a:latin typeface="Times New Roman" pitchFamily="18" charset="0"/>
                </a:rPr>
                <a:t>0</a:t>
              </a:r>
              <a:r>
                <a:rPr lang="en-US" altLang="en-US" i="1">
                  <a:latin typeface="Times New Roman" pitchFamily="18" charset="0"/>
                </a:rPr>
                <a:t>u</a:t>
              </a:r>
              <a:endParaRPr lang="en-US" altLang="en-US">
                <a:latin typeface="Times New Roman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itchFamily="18" charset="0"/>
                </a:rPr>
                <a:t> ƒ</a:t>
              </a:r>
              <a:r>
                <a:rPr lang="en-US" altLang="en-US" i="1" baseline="-25000">
                  <a:latin typeface="Times New Roman" pitchFamily="18" charset="0"/>
                </a:rPr>
                <a:t>u</a:t>
              </a:r>
              <a:endParaRPr lang="en-US" altLang="en-US" i="1" baseline="-25000">
                <a:latin typeface="Arial" charset="0"/>
              </a:endParaRPr>
            </a:p>
          </p:txBody>
        </p:sp>
        <p:sp>
          <p:nvSpPr>
            <p:cNvPr id="11274" name="Rectangle 7"/>
            <p:cNvSpPr>
              <a:spLocks noChangeArrowheads="1"/>
            </p:cNvSpPr>
            <p:nvPr/>
          </p:nvSpPr>
          <p:spPr bwMode="auto">
            <a:xfrm>
              <a:off x="4090" y="3197"/>
              <a:ext cx="456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S</a:t>
              </a:r>
              <a:r>
                <a:rPr lang="en-CA" altLang="en-US" baseline="-25000">
                  <a:latin typeface="Times New Roman" pitchFamily="18" charset="0"/>
                </a:rPr>
                <a:t>0</a:t>
              </a:r>
              <a:r>
                <a:rPr lang="en-US" altLang="en-US" i="1">
                  <a:latin typeface="Times New Roman" pitchFamily="18" charset="0"/>
                </a:rPr>
                <a:t>d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itchFamily="18" charset="0"/>
                </a:rPr>
                <a:t> ƒ</a:t>
              </a:r>
              <a:r>
                <a:rPr lang="en-US" altLang="en-US" i="1" baseline="-25000">
                  <a:latin typeface="Times New Roman" pitchFamily="18" charset="0"/>
                </a:rPr>
                <a:t>d</a:t>
              </a:r>
              <a:endParaRPr lang="en-US" altLang="en-US" i="1" baseline="-25000">
                <a:latin typeface="Arial" charset="0"/>
              </a:endParaRPr>
            </a:p>
          </p:txBody>
        </p:sp>
        <p:sp>
          <p:nvSpPr>
            <p:cNvPr id="11275" name="Rectangle 8"/>
            <p:cNvSpPr>
              <a:spLocks noChangeArrowheads="1"/>
            </p:cNvSpPr>
            <p:nvPr/>
          </p:nvSpPr>
          <p:spPr bwMode="auto">
            <a:xfrm>
              <a:off x="2602" y="2765"/>
              <a:ext cx="328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S</a:t>
              </a:r>
              <a:r>
                <a:rPr lang="en-CA" altLang="en-US" baseline="-25000">
                  <a:latin typeface="Times New Roman" pitchFamily="18" charset="0"/>
                </a:rPr>
                <a:t>0</a:t>
              </a:r>
              <a:endParaRPr lang="en-US" altLang="en-US">
                <a:latin typeface="Times New Roman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itchFamily="18" charset="0"/>
                </a:rPr>
                <a:t>ƒ</a:t>
              </a:r>
              <a:endParaRPr lang="en-US" altLang="en-US">
                <a:latin typeface="Arial" charset="0"/>
              </a:endParaRPr>
            </a:p>
          </p:txBody>
        </p: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772400" cy="10509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Generalization </a:t>
            </a:r>
            <a:r>
              <a:rPr lang="en-US" altLang="en-US" sz="2600"/>
              <a:t>(continued)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z="2400">
                <a:latin typeface="Arial" charset="0"/>
                <a:cs typeface="Arial" charset="0"/>
              </a:rPr>
              <a:t>Value of a portfolio that is long </a:t>
            </a:r>
            <a:r>
              <a:rPr lang="en-US" altLang="en-US" sz="2400">
                <a:latin typeface="Symbol" pitchFamily="18" charset="2"/>
                <a:cs typeface="Arial" charset="0"/>
              </a:rPr>
              <a:t>D</a:t>
            </a:r>
            <a:r>
              <a:rPr lang="en-US" altLang="en-US" sz="2400">
                <a:latin typeface="Arial" charset="0"/>
                <a:cs typeface="Arial" charset="0"/>
              </a:rPr>
              <a:t> shares and short 1 derivative:																							</a:t>
            </a:r>
          </a:p>
          <a:p>
            <a:pPr eaLnBrk="1" hangingPunct="1">
              <a:buFontTx/>
              <a:buNone/>
            </a:pPr>
            <a:endParaRPr lang="en-US" altLang="en-US" sz="2400">
              <a:latin typeface="Arial" charset="0"/>
              <a:cs typeface="Arial" charset="0"/>
            </a:endParaRPr>
          </a:p>
          <a:p>
            <a:pPr eaLnBrk="1" hangingPunct="1"/>
            <a:endParaRPr lang="en-US" altLang="en-US" sz="240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z="2400">
                <a:latin typeface="Arial" charset="0"/>
                <a:cs typeface="Arial" charset="0"/>
              </a:rPr>
              <a:t>The portfolio is riskless when 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S</a:t>
            </a:r>
            <a:r>
              <a:rPr lang="en-CA" altLang="en-US" sz="2400" baseline="-2500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u</a:t>
            </a:r>
            <a:r>
              <a:rPr lang="en-US" altLang="en-US" sz="2400">
                <a:latin typeface="Symbol" pitchFamily="18" charset="2"/>
                <a:cs typeface="Arial" charset="0"/>
              </a:rPr>
              <a:t>D </a:t>
            </a:r>
            <a:r>
              <a:rPr lang="en-US" altLang="en-US" sz="2400">
                <a:latin typeface="Arial" charset="0"/>
                <a:cs typeface="Arial" charset="0"/>
              </a:rPr>
              <a:t>– </a:t>
            </a:r>
            <a:r>
              <a:rPr lang="en-US" altLang="en-US" sz="2400">
                <a:latin typeface="Times New Roman" pitchFamily="18" charset="0"/>
                <a:cs typeface="Arial" charset="0"/>
              </a:rPr>
              <a:t>ƒ</a:t>
            </a:r>
            <a:r>
              <a:rPr lang="en-US" altLang="en-US" sz="2400" i="1" baseline="-25000">
                <a:latin typeface="Times New Roman" pitchFamily="18" charset="0"/>
                <a:cs typeface="Arial" charset="0"/>
              </a:rPr>
              <a:t>u </a:t>
            </a:r>
            <a:r>
              <a:rPr lang="en-US" altLang="en-US" sz="2400">
                <a:latin typeface="Arial" charset="0"/>
                <a:cs typeface="Arial" charset="0"/>
              </a:rPr>
              <a:t>= 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S</a:t>
            </a:r>
            <a:r>
              <a:rPr lang="en-CA" altLang="en-US" sz="2400" baseline="-2500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d</a:t>
            </a:r>
            <a:r>
              <a:rPr lang="en-US" altLang="en-US" sz="2400">
                <a:latin typeface="Symbol" pitchFamily="18" charset="2"/>
                <a:cs typeface="Arial" charset="0"/>
              </a:rPr>
              <a:t>D </a:t>
            </a:r>
            <a:r>
              <a:rPr lang="en-US" altLang="en-US" sz="2400">
                <a:latin typeface="Arial" charset="0"/>
                <a:cs typeface="Arial" charset="0"/>
              </a:rPr>
              <a:t>– </a:t>
            </a:r>
            <a:r>
              <a:rPr lang="en-US" altLang="en-US" sz="2400">
                <a:latin typeface="Times New Roman" pitchFamily="18" charset="0"/>
                <a:cs typeface="Arial" charset="0"/>
              </a:rPr>
              <a:t>ƒ</a:t>
            </a:r>
            <a:r>
              <a:rPr lang="en-US" altLang="en-US" sz="2400" i="1" baseline="-25000">
                <a:latin typeface="Times New Roman" pitchFamily="18" charset="0"/>
                <a:cs typeface="Arial" charset="0"/>
              </a:rPr>
              <a:t>d</a:t>
            </a:r>
            <a:r>
              <a:rPr lang="en-US" altLang="en-US" sz="2400">
                <a:latin typeface="Arial" charset="0"/>
                <a:cs typeface="Arial" charset="0"/>
              </a:rPr>
              <a:t>  or</a:t>
            </a:r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4C90DF0-63A0-4267-8280-87A0E4E0E9B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latin typeface="Arial" charset="0"/>
            </a:endParaRPr>
          </a:p>
        </p:txBody>
      </p:sp>
      <p:graphicFrame>
        <p:nvGraphicFramePr>
          <p:cNvPr id="12294" name="Object 0"/>
          <p:cNvGraphicFramePr>
            <a:graphicFrameLocks/>
          </p:cNvGraphicFramePr>
          <p:nvPr/>
        </p:nvGraphicFramePr>
        <p:xfrm>
          <a:off x="3389313" y="5105400"/>
          <a:ext cx="217328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01309" imgH="431613" progId="Equation.3">
                  <p:embed/>
                </p:oleObj>
              </mc:Choice>
              <mc:Fallback>
                <p:oleObj name="Equation" r:id="rId5" imgW="901309" imgH="431613" progId="Equation.3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9313" y="5105400"/>
                        <a:ext cx="2173287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Line 5"/>
          <p:cNvSpPr>
            <a:spLocks noChangeShapeType="1"/>
          </p:cNvSpPr>
          <p:nvPr/>
        </p:nvSpPr>
        <p:spPr bwMode="auto">
          <a:xfrm>
            <a:off x="2819400" y="3352800"/>
            <a:ext cx="2162175" cy="4476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Rectangle 6"/>
          <p:cNvSpPr>
            <a:spLocks noChangeArrowheads="1"/>
          </p:cNvSpPr>
          <p:nvPr/>
        </p:nvSpPr>
        <p:spPr bwMode="auto">
          <a:xfrm>
            <a:off x="5000625" y="2657475"/>
            <a:ext cx="167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S</a:t>
            </a:r>
            <a:r>
              <a:rPr lang="en-CA" altLang="en-US" sz="2400" baseline="-25000">
                <a:latin typeface="Times New Roman" pitchFamily="18" charset="0"/>
              </a:rPr>
              <a:t>0</a:t>
            </a:r>
            <a:r>
              <a:rPr lang="en-US" altLang="en-US" sz="2400" i="1">
                <a:latin typeface="Times New Roman" pitchFamily="18" charset="0"/>
              </a:rPr>
              <a:t>u</a:t>
            </a:r>
            <a:r>
              <a:rPr lang="en-US" altLang="en-US" sz="2400">
                <a:latin typeface="Symbol" pitchFamily="18" charset="2"/>
              </a:rPr>
              <a:t>D </a:t>
            </a:r>
            <a:r>
              <a:rPr lang="en-US" altLang="en-US" sz="2400">
                <a:latin typeface="Arial" charset="0"/>
              </a:rPr>
              <a:t>– </a:t>
            </a:r>
            <a:r>
              <a:rPr lang="en-US" altLang="en-US" sz="2400">
                <a:latin typeface="Times New Roman" pitchFamily="18" charset="0"/>
              </a:rPr>
              <a:t>ƒ</a:t>
            </a:r>
            <a:r>
              <a:rPr lang="en-US" altLang="en-US" sz="2400" i="1" baseline="-25000">
                <a:latin typeface="Times New Roman" pitchFamily="18" charset="0"/>
              </a:rPr>
              <a:t>u</a:t>
            </a:r>
          </a:p>
        </p:txBody>
      </p:sp>
      <p:sp>
        <p:nvSpPr>
          <p:cNvPr id="12297" name="Rectangle 7"/>
          <p:cNvSpPr>
            <a:spLocks noChangeArrowheads="1"/>
          </p:cNvSpPr>
          <p:nvPr/>
        </p:nvSpPr>
        <p:spPr bwMode="auto">
          <a:xfrm>
            <a:off x="4943475" y="3600450"/>
            <a:ext cx="1847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S</a:t>
            </a:r>
            <a:r>
              <a:rPr lang="en-CA" altLang="en-US" sz="2400" baseline="-25000">
                <a:latin typeface="Times New Roman" pitchFamily="18" charset="0"/>
              </a:rPr>
              <a:t>0</a:t>
            </a:r>
            <a:r>
              <a:rPr lang="en-US" altLang="en-US" sz="2400" i="1">
                <a:latin typeface="Times New Roman" pitchFamily="18" charset="0"/>
              </a:rPr>
              <a:t>d</a:t>
            </a:r>
            <a:r>
              <a:rPr lang="en-US" altLang="en-US" sz="2400">
                <a:latin typeface="Symbol" pitchFamily="18" charset="2"/>
              </a:rPr>
              <a:t>D </a:t>
            </a:r>
            <a:r>
              <a:rPr lang="en-US" altLang="en-US" sz="2400">
                <a:latin typeface="Arial" charset="0"/>
              </a:rPr>
              <a:t>– </a:t>
            </a:r>
            <a:r>
              <a:rPr lang="en-US" altLang="en-US" sz="2400">
                <a:latin typeface="Times New Roman" pitchFamily="18" charset="0"/>
              </a:rPr>
              <a:t>ƒ</a:t>
            </a:r>
            <a:r>
              <a:rPr lang="en-US" altLang="en-US" sz="2400" i="1" baseline="-25000">
                <a:latin typeface="Times New Roman" pitchFamily="18" charset="0"/>
              </a:rPr>
              <a:t>d</a:t>
            </a:r>
          </a:p>
        </p:txBody>
      </p:sp>
      <p:sp>
        <p:nvSpPr>
          <p:cNvPr id="12298" name="Rectangle 8"/>
          <p:cNvSpPr>
            <a:spLocks noChangeArrowheads="1"/>
          </p:cNvSpPr>
          <p:nvPr/>
        </p:nvSpPr>
        <p:spPr bwMode="auto">
          <a:xfrm>
            <a:off x="2292350" y="3371850"/>
            <a:ext cx="1158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2299" name="Line 9"/>
          <p:cNvSpPr>
            <a:spLocks noChangeShapeType="1"/>
          </p:cNvSpPr>
          <p:nvPr/>
        </p:nvSpPr>
        <p:spPr bwMode="auto">
          <a:xfrm flipV="1">
            <a:off x="2841625" y="2914650"/>
            <a:ext cx="2130425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0"/>
            <a:ext cx="8153400" cy="9112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Generalization  </a:t>
            </a:r>
            <a:r>
              <a:rPr lang="en-US" altLang="en-US" sz="2600"/>
              <a:t>(continued)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790700"/>
            <a:ext cx="7467600" cy="4368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Value of the portfolio at time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T</a:t>
            </a:r>
            <a:r>
              <a:rPr lang="en-US" altLang="en-US">
                <a:latin typeface="Times New Roman" pitchFamily="18" charset="0"/>
                <a:cs typeface="Arial" charset="0"/>
              </a:rPr>
              <a:t> </a:t>
            </a:r>
            <a:r>
              <a:rPr lang="en-US" altLang="en-US">
                <a:latin typeface="Arial" charset="0"/>
                <a:cs typeface="Arial" charset="0"/>
              </a:rPr>
              <a:t>is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S</a:t>
            </a:r>
            <a:r>
              <a:rPr lang="en-CA" altLang="en-US" baseline="-2500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>
                <a:latin typeface="Times New Roman" pitchFamily="18" charset="0"/>
                <a:cs typeface="Arial" charset="0"/>
              </a:rPr>
              <a:t>u</a:t>
            </a:r>
            <a:r>
              <a:rPr lang="en-US" altLang="en-US">
                <a:latin typeface="Symbol" pitchFamily="18" charset="2"/>
                <a:cs typeface="Arial" charset="0"/>
              </a:rPr>
              <a:t>D </a:t>
            </a:r>
            <a:r>
              <a:rPr lang="en-US" altLang="en-US">
                <a:latin typeface="Arial" charset="0"/>
                <a:cs typeface="Arial" charset="0"/>
              </a:rPr>
              <a:t>– </a:t>
            </a:r>
            <a:r>
              <a:rPr lang="en-US" altLang="en-US">
                <a:latin typeface="Times New Roman" pitchFamily="18" charset="0"/>
                <a:cs typeface="Arial" charset="0"/>
              </a:rPr>
              <a:t>ƒ</a:t>
            </a:r>
            <a:r>
              <a:rPr lang="en-US" altLang="en-US" i="1" baseline="-25000">
                <a:latin typeface="Times New Roman" pitchFamily="18" charset="0"/>
                <a:cs typeface="Arial" charset="0"/>
              </a:rPr>
              <a:t>u</a:t>
            </a:r>
            <a:endParaRPr lang="en-US" altLang="en-US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Value of the portfolio today is </a:t>
            </a:r>
            <a:r>
              <a:rPr lang="en-US" altLang="en-US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>
                <a:latin typeface="Times New Roman" pitchFamily="18" charset="0"/>
                <a:cs typeface="Arial" charset="0"/>
              </a:rPr>
              <a:t>S</a:t>
            </a:r>
            <a:r>
              <a:rPr lang="en-CA" altLang="en-US" baseline="-2500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>
                <a:latin typeface="Times New Roman" pitchFamily="18" charset="0"/>
                <a:cs typeface="Arial" charset="0"/>
              </a:rPr>
              <a:t>u</a:t>
            </a:r>
            <a:r>
              <a:rPr lang="en-US" altLang="en-US">
                <a:latin typeface="Symbol" pitchFamily="18" charset="2"/>
                <a:cs typeface="Arial" charset="0"/>
              </a:rPr>
              <a:t>D</a:t>
            </a:r>
            <a:r>
              <a:rPr lang="en-US" altLang="en-US">
                <a:latin typeface="Times New Roman" pitchFamily="18" charset="0"/>
                <a:cs typeface="Arial" charset="0"/>
              </a:rPr>
              <a:t> – ƒ</a:t>
            </a:r>
            <a:r>
              <a:rPr lang="en-US" altLang="en-US" i="1" baseline="-25000">
                <a:latin typeface="Times New Roman" pitchFamily="18" charset="0"/>
                <a:cs typeface="Arial" charset="0"/>
              </a:rPr>
              <a:t>u</a:t>
            </a:r>
            <a:r>
              <a:rPr lang="en-US" altLang="en-US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>
                <a:latin typeface="Times New Roman" pitchFamily="18" charset="0"/>
                <a:cs typeface="Arial" charset="0"/>
              </a:rPr>
              <a:t>e</a:t>
            </a:r>
            <a:r>
              <a:rPr lang="en-US" altLang="en-US" baseline="30000">
                <a:latin typeface="Times New Roman" pitchFamily="18" charset="0"/>
                <a:cs typeface="Arial" charset="0"/>
              </a:rPr>
              <a:t>–</a:t>
            </a:r>
            <a:r>
              <a:rPr lang="en-US" altLang="en-US" i="1" baseline="30000">
                <a:latin typeface="Times New Roman" pitchFamily="18" charset="0"/>
                <a:cs typeface="Arial" charset="0"/>
              </a:rPr>
              <a:t>rT</a:t>
            </a:r>
            <a:endParaRPr lang="en-US" altLang="en-US">
              <a:latin typeface="Times New Roman" pitchFamily="18" charset="0"/>
              <a:cs typeface="Arial" charset="0"/>
            </a:endParaRP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Another expression for the portfolio value today is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S</a:t>
            </a:r>
            <a:r>
              <a:rPr lang="en-CA" altLang="en-US" baseline="-25000">
                <a:latin typeface="Times New Roman" pitchFamily="18" charset="0"/>
                <a:cs typeface="Arial" charset="0"/>
              </a:rPr>
              <a:t>0</a:t>
            </a:r>
            <a:r>
              <a:rPr lang="en-US" altLang="en-US">
                <a:latin typeface="Symbol" pitchFamily="18" charset="2"/>
                <a:cs typeface="Arial" charset="0"/>
              </a:rPr>
              <a:t>D </a:t>
            </a:r>
            <a:r>
              <a:rPr lang="en-US" altLang="en-US">
                <a:latin typeface="Arial" charset="0"/>
                <a:cs typeface="Arial" charset="0"/>
              </a:rPr>
              <a:t>–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f</a:t>
            </a:r>
            <a:endParaRPr lang="en-US" altLang="en-US">
              <a:latin typeface="Symbol" pitchFamily="18" charset="2"/>
              <a:cs typeface="Arial" charset="0"/>
            </a:endParaRP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Hence 	</a:t>
            </a:r>
          </a:p>
          <a:p>
            <a:pPr eaLnBrk="1" hangingPunct="1">
              <a:buFontTx/>
              <a:buNone/>
            </a:pPr>
            <a:r>
              <a:rPr lang="en-US" altLang="en-US">
                <a:latin typeface="Times New Roman" pitchFamily="18" charset="0"/>
                <a:cs typeface="Arial" charset="0"/>
              </a:rPr>
              <a:t>			ƒ =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S</a:t>
            </a:r>
            <a:r>
              <a:rPr lang="en-CA" altLang="en-US" baseline="-25000">
                <a:latin typeface="Times New Roman" pitchFamily="18" charset="0"/>
                <a:cs typeface="Arial" charset="0"/>
              </a:rPr>
              <a:t>0</a:t>
            </a:r>
            <a:r>
              <a:rPr lang="en-US" altLang="en-US">
                <a:latin typeface="Symbol" pitchFamily="18" charset="2"/>
                <a:cs typeface="Arial" charset="0"/>
              </a:rPr>
              <a:t>D </a:t>
            </a:r>
            <a:r>
              <a:rPr lang="en-US" altLang="en-US">
                <a:latin typeface="Arial" charset="0"/>
                <a:cs typeface="Arial" charset="0"/>
              </a:rPr>
              <a:t>– (</a:t>
            </a:r>
            <a:r>
              <a:rPr lang="en-US" altLang="en-US" i="1">
                <a:latin typeface="Times New Roman" pitchFamily="18" charset="0"/>
                <a:cs typeface="Arial" charset="0"/>
              </a:rPr>
              <a:t>S</a:t>
            </a:r>
            <a:r>
              <a:rPr lang="en-CA" altLang="en-US" baseline="-2500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>
                <a:latin typeface="Times New Roman" pitchFamily="18" charset="0"/>
                <a:cs typeface="Arial" charset="0"/>
              </a:rPr>
              <a:t>u</a:t>
            </a:r>
            <a:r>
              <a:rPr lang="en-US" altLang="en-US">
                <a:latin typeface="Symbol" pitchFamily="18" charset="2"/>
                <a:cs typeface="Arial" charset="0"/>
              </a:rPr>
              <a:t>D </a:t>
            </a:r>
            <a:r>
              <a:rPr lang="en-US" altLang="en-US">
                <a:latin typeface="Arial" charset="0"/>
                <a:cs typeface="Arial" charset="0"/>
              </a:rPr>
              <a:t>– </a:t>
            </a:r>
            <a:r>
              <a:rPr lang="en-US" altLang="en-US">
                <a:latin typeface="Times New Roman" pitchFamily="18" charset="0"/>
                <a:cs typeface="Arial" charset="0"/>
              </a:rPr>
              <a:t>ƒ</a:t>
            </a:r>
            <a:r>
              <a:rPr lang="en-US" altLang="en-US" i="1" baseline="-25000">
                <a:latin typeface="Times New Roman" pitchFamily="18" charset="0"/>
                <a:cs typeface="Arial" charset="0"/>
              </a:rPr>
              <a:t>u</a:t>
            </a:r>
            <a:r>
              <a:rPr lang="en-US" altLang="en-US" i="1">
                <a:latin typeface="Times New Roman" pitchFamily="18" charset="0"/>
                <a:cs typeface="Arial" charset="0"/>
              </a:rPr>
              <a:t> </a:t>
            </a:r>
            <a:r>
              <a:rPr lang="en-US" altLang="en-US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>
                <a:latin typeface="Times New Roman" pitchFamily="18" charset="0"/>
                <a:cs typeface="Arial" charset="0"/>
              </a:rPr>
              <a:t>e</a:t>
            </a:r>
            <a:r>
              <a:rPr lang="en-US" altLang="en-US" baseline="30000">
                <a:latin typeface="Times New Roman" pitchFamily="18" charset="0"/>
                <a:cs typeface="Arial" charset="0"/>
              </a:rPr>
              <a:t>–</a:t>
            </a:r>
            <a:r>
              <a:rPr lang="en-US" altLang="en-US" i="1" baseline="30000">
                <a:latin typeface="Times New Roman" pitchFamily="18" charset="0"/>
                <a:cs typeface="Arial" charset="0"/>
              </a:rPr>
              <a:t>rT</a:t>
            </a:r>
            <a:r>
              <a:rPr lang="en-US" altLang="en-US" i="1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33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2F33292-1C00-4585-A9C1-231F030A1EA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Generalization </a:t>
            </a:r>
            <a:r>
              <a:rPr lang="en-US" sz="2600" dirty="0"/>
              <a:t>continued</a:t>
            </a:r>
            <a:r>
              <a:rPr lang="en-US" sz="2800" dirty="0"/>
              <a:t> (equation 13.2 and 13.3)</a:t>
            </a:r>
            <a:endParaRPr lang="en-US" sz="26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246063" y="2059420"/>
            <a:ext cx="10469563" cy="4086225"/>
          </a:xfrm>
        </p:spPr>
        <p:txBody>
          <a:bodyPr lIns="92075" tIns="46038" rIns="92075" bIns="46038"/>
          <a:lstStyle/>
          <a:p>
            <a:pPr eaLnBrk="1" hangingPunct="1"/>
            <a:endParaRPr lang="en-US" altLang="en-US" dirty="0">
              <a:latin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Substituting for </a:t>
            </a:r>
            <a:r>
              <a:rPr lang="en-US" altLang="en-US" dirty="0">
                <a:latin typeface="Symbol" pitchFamily="18" charset="2"/>
                <a:cs typeface="Arial" charset="0"/>
              </a:rPr>
              <a:t>D</a:t>
            </a:r>
            <a:r>
              <a:rPr lang="en-US" altLang="en-US" dirty="0">
                <a:latin typeface="Arial" charset="0"/>
                <a:cs typeface="Arial" charset="0"/>
              </a:rPr>
              <a:t> we obtain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>
                <a:latin typeface="Times New Roman" pitchFamily="18" charset="0"/>
                <a:cs typeface="Arial" charset="0"/>
              </a:rPr>
              <a:t>                ƒ = [ </a:t>
            </a:r>
            <a:r>
              <a:rPr lang="en-US" altLang="en-US" i="1" dirty="0" err="1">
                <a:latin typeface="Times New Roman" pitchFamily="18" charset="0"/>
                <a:cs typeface="Arial" charset="0"/>
              </a:rPr>
              <a:t>p</a:t>
            </a:r>
            <a:r>
              <a:rPr lang="en-US" altLang="en-US" dirty="0" err="1">
                <a:latin typeface="Times New Roman" pitchFamily="18" charset="0"/>
                <a:cs typeface="Arial" charset="0"/>
              </a:rPr>
              <a:t>ƒ</a:t>
            </a:r>
            <a:r>
              <a:rPr lang="en-US" altLang="en-US" i="1" baseline="-25000" dirty="0" err="1">
                <a:latin typeface="Times New Roman" pitchFamily="18" charset="0"/>
                <a:cs typeface="Arial" charset="0"/>
              </a:rPr>
              <a:t>u</a:t>
            </a:r>
            <a:r>
              <a:rPr lang="en-US" altLang="en-US" dirty="0">
                <a:latin typeface="Times New Roman" pitchFamily="18" charset="0"/>
                <a:cs typeface="Arial" charset="0"/>
              </a:rPr>
              <a:t> + (1 – 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p</a:t>
            </a:r>
            <a:r>
              <a:rPr lang="en-US" altLang="en-US" dirty="0">
                <a:latin typeface="Times New Roman" pitchFamily="18" charset="0"/>
                <a:cs typeface="Arial" charset="0"/>
              </a:rPr>
              <a:t>)</a:t>
            </a:r>
            <a:r>
              <a:rPr lang="en-US" altLang="en-US" dirty="0" err="1">
                <a:latin typeface="Times New Roman" pitchFamily="18" charset="0"/>
                <a:cs typeface="Arial" charset="0"/>
              </a:rPr>
              <a:t>ƒ</a:t>
            </a:r>
            <a:r>
              <a:rPr lang="en-US" altLang="en-US" i="1" baseline="-25000" dirty="0" err="1">
                <a:latin typeface="Times New Roman" pitchFamily="18" charset="0"/>
                <a:cs typeface="Arial" charset="0"/>
              </a:rPr>
              <a:t>d</a:t>
            </a:r>
            <a:r>
              <a:rPr lang="en-US" altLang="en-US" dirty="0">
                <a:latin typeface="Times New Roman" pitchFamily="18" charset="0"/>
                <a:cs typeface="Arial" charset="0"/>
              </a:rPr>
              <a:t> ]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e</a:t>
            </a:r>
            <a:r>
              <a:rPr lang="en-US" altLang="en-US" baseline="30000" dirty="0">
                <a:latin typeface="Times New Roman" pitchFamily="18" charset="0"/>
                <a:cs typeface="Arial" charset="0"/>
              </a:rPr>
              <a:t>–</a:t>
            </a:r>
            <a:r>
              <a:rPr lang="en-US" altLang="en-US" i="1" baseline="30000" dirty="0" err="1">
                <a:latin typeface="Times New Roman" pitchFamily="18" charset="0"/>
                <a:cs typeface="Arial" charset="0"/>
              </a:rPr>
              <a:t>rT</a:t>
            </a:r>
            <a:r>
              <a:rPr lang="en-US" altLang="en-US" dirty="0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    where   </a:t>
            </a: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5E9D463-3FD5-4494-89C4-699473C531E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latin typeface="Arial" charset="0"/>
            </a:endParaRPr>
          </a:p>
        </p:txBody>
      </p:sp>
      <p:graphicFrame>
        <p:nvGraphicFramePr>
          <p:cNvPr id="14342" name="Object 5"/>
          <p:cNvGraphicFramePr>
            <a:graphicFrameLocks noChangeAspect="1"/>
          </p:cNvGraphicFramePr>
          <p:nvPr/>
        </p:nvGraphicFramePr>
        <p:xfrm>
          <a:off x="2743200" y="4419600"/>
          <a:ext cx="20669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36600" imgH="419100" progId="Equation.2">
                  <p:embed/>
                </p:oleObj>
              </mc:Choice>
              <mc:Fallback>
                <p:oleObj name="Equation" r:id="rId5" imgW="736600" imgH="419100" progId="Equation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419600"/>
                        <a:ext cx="206692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1295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p as a Probability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752600"/>
            <a:ext cx="7848600" cy="3452813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400">
                <a:latin typeface="Arial" charset="0"/>
                <a:cs typeface="Arial" charset="0"/>
              </a:rPr>
              <a:t>It is natural to interpret 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2400">
                <a:latin typeface="Arial" charset="0"/>
                <a:cs typeface="Arial" charset="0"/>
              </a:rPr>
              <a:t> and 1-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2400">
                <a:latin typeface="Arial" charset="0"/>
                <a:cs typeface="Arial" charset="0"/>
              </a:rPr>
              <a:t> as probabilities of up and down movements</a:t>
            </a:r>
            <a:r>
              <a:rPr lang="en-US" altLang="en-US" sz="2400">
                <a:latin typeface="Times New Roman" pitchFamily="18" charset="0"/>
                <a:cs typeface="Arial" charset="0"/>
              </a:rPr>
              <a:t>	</a:t>
            </a:r>
          </a:p>
          <a:p>
            <a:pPr eaLnBrk="1" hangingPunct="1"/>
            <a:r>
              <a:rPr lang="en-US" altLang="en-US" sz="2400">
                <a:latin typeface="Arial" charset="0"/>
                <a:cs typeface="Arial" charset="0"/>
              </a:rPr>
              <a:t>The value of a derivative is then its expected payoff in a risk-neutral world discounted at the risk-free rate</a:t>
            </a: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1FF7770-9B71-4445-BE1C-404938ABA9C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latin typeface="Arial" charset="0"/>
            </a:endParaRPr>
          </a:p>
        </p:txBody>
      </p:sp>
      <p:grpSp>
        <p:nvGrpSpPr>
          <p:cNvPr id="15366" name="Group 13"/>
          <p:cNvGrpSpPr>
            <a:grpSpLocks/>
          </p:cNvGrpSpPr>
          <p:nvPr/>
        </p:nvGrpSpPr>
        <p:grpSpPr bwMode="auto">
          <a:xfrm>
            <a:off x="2971800" y="3352800"/>
            <a:ext cx="3027363" cy="2533650"/>
            <a:chOff x="3402014" y="3716339"/>
            <a:chExt cx="3027363" cy="2322513"/>
          </a:xfrm>
        </p:grpSpPr>
        <p:grpSp>
          <p:nvGrpSpPr>
            <p:cNvPr id="15367" name="Group 9"/>
            <p:cNvGrpSpPr>
              <a:grpSpLocks/>
            </p:cNvGrpSpPr>
            <p:nvPr/>
          </p:nvGrpSpPr>
          <p:grpSpPr bwMode="auto">
            <a:xfrm>
              <a:off x="3402014" y="3716339"/>
              <a:ext cx="3027363" cy="2322513"/>
              <a:chOff x="2143" y="2341"/>
              <a:chExt cx="1907" cy="1463"/>
            </a:xfrm>
          </p:grpSpPr>
          <p:sp>
            <p:nvSpPr>
              <p:cNvPr id="15370" name="Line 4"/>
              <p:cNvSpPr>
                <a:spLocks noChangeShapeType="1"/>
              </p:cNvSpPr>
              <p:nvPr/>
            </p:nvSpPr>
            <p:spPr bwMode="auto">
              <a:xfrm flipV="1">
                <a:off x="2393" y="2668"/>
                <a:ext cx="1263" cy="4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71" name="Line 5"/>
              <p:cNvSpPr>
                <a:spLocks noChangeShapeType="1"/>
              </p:cNvSpPr>
              <p:nvPr/>
            </p:nvSpPr>
            <p:spPr bwMode="auto">
              <a:xfrm>
                <a:off x="2393" y="3128"/>
                <a:ext cx="1263" cy="4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72" name="Rectangle 6"/>
              <p:cNvSpPr>
                <a:spLocks noChangeArrowheads="1"/>
              </p:cNvSpPr>
              <p:nvPr/>
            </p:nvSpPr>
            <p:spPr bwMode="auto">
              <a:xfrm>
                <a:off x="3631" y="2341"/>
                <a:ext cx="419" cy="5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 i="1">
                    <a:latin typeface="Times New Roman" pitchFamily="18" charset="0"/>
                  </a:rPr>
                  <a:t>S</a:t>
                </a:r>
                <a:r>
                  <a:rPr lang="en-CA" altLang="en-US" sz="2800" baseline="-25000">
                    <a:latin typeface="Times New Roman" pitchFamily="18" charset="0"/>
                  </a:rPr>
                  <a:t>0</a:t>
                </a:r>
                <a:r>
                  <a:rPr lang="en-US" altLang="en-US" sz="2800" i="1">
                    <a:latin typeface="Times New Roman" pitchFamily="18" charset="0"/>
                  </a:rPr>
                  <a:t>u</a:t>
                </a:r>
                <a:endParaRPr lang="en-US" altLang="en-US" sz="2800">
                  <a:latin typeface="Arial" charset="0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>
                    <a:latin typeface="Arial" charset="0"/>
                  </a:rPr>
                  <a:t> </a:t>
                </a:r>
                <a:r>
                  <a:rPr lang="en-US" altLang="en-US" sz="2800">
                    <a:latin typeface="Times New Roman" pitchFamily="18" charset="0"/>
                  </a:rPr>
                  <a:t>ƒ</a:t>
                </a:r>
                <a:r>
                  <a:rPr lang="en-US" altLang="en-US" sz="2800" i="1" baseline="-25000">
                    <a:latin typeface="Times New Roman" pitchFamily="18" charset="0"/>
                  </a:rPr>
                  <a:t>u</a:t>
                </a:r>
              </a:p>
            </p:txBody>
          </p:sp>
          <p:sp>
            <p:nvSpPr>
              <p:cNvPr id="15373" name="Rectangle 7"/>
              <p:cNvSpPr>
                <a:spLocks noChangeArrowheads="1"/>
              </p:cNvSpPr>
              <p:nvPr/>
            </p:nvSpPr>
            <p:spPr bwMode="auto">
              <a:xfrm>
                <a:off x="3631" y="3253"/>
                <a:ext cx="419" cy="5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 i="1">
                    <a:latin typeface="Times New Roman" pitchFamily="18" charset="0"/>
                  </a:rPr>
                  <a:t>S</a:t>
                </a:r>
                <a:r>
                  <a:rPr lang="en-CA" altLang="en-US" sz="2800" baseline="-25000">
                    <a:latin typeface="Times New Roman" pitchFamily="18" charset="0"/>
                  </a:rPr>
                  <a:t>0</a:t>
                </a:r>
                <a:r>
                  <a:rPr lang="en-US" altLang="en-US" sz="2800" i="1">
                    <a:latin typeface="Times New Roman" pitchFamily="18" charset="0"/>
                  </a:rPr>
                  <a:t>d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>
                    <a:latin typeface="Arial" charset="0"/>
                  </a:rPr>
                  <a:t> </a:t>
                </a:r>
                <a:r>
                  <a:rPr lang="en-US" altLang="en-US" sz="2800">
                    <a:latin typeface="Times New Roman" pitchFamily="18" charset="0"/>
                  </a:rPr>
                  <a:t>ƒ</a:t>
                </a:r>
                <a:r>
                  <a:rPr lang="en-US" altLang="en-US" sz="2800" i="1" baseline="-25000">
                    <a:latin typeface="Times New Roman" pitchFamily="18" charset="0"/>
                  </a:rPr>
                  <a:t>d</a:t>
                </a:r>
              </a:p>
            </p:txBody>
          </p:sp>
          <p:sp>
            <p:nvSpPr>
              <p:cNvPr id="15374" name="Rectangle 8"/>
              <p:cNvSpPr>
                <a:spLocks noChangeArrowheads="1"/>
              </p:cNvSpPr>
              <p:nvPr/>
            </p:nvSpPr>
            <p:spPr bwMode="auto">
              <a:xfrm>
                <a:off x="2143" y="2821"/>
                <a:ext cx="306" cy="5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 i="1">
                    <a:latin typeface="Times New Roman" pitchFamily="18" charset="0"/>
                  </a:rPr>
                  <a:t>S</a:t>
                </a:r>
                <a:r>
                  <a:rPr lang="en-CA" altLang="en-US" sz="2800" baseline="-25000">
                    <a:latin typeface="Times New Roman" pitchFamily="18" charset="0"/>
                  </a:rPr>
                  <a:t>0</a:t>
                </a:r>
                <a:endParaRPr lang="en-US" altLang="en-US" sz="2800">
                  <a:latin typeface="Arial" charset="0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>
                    <a:latin typeface="Times New Roman" pitchFamily="18" charset="0"/>
                  </a:rPr>
                  <a:t>ƒ</a:t>
                </a:r>
              </a:p>
            </p:txBody>
          </p:sp>
        </p:grpSp>
        <p:sp>
          <p:nvSpPr>
            <p:cNvPr id="15368" name="Rectangle 10"/>
            <p:cNvSpPr>
              <a:spLocks noChangeArrowheads="1"/>
            </p:cNvSpPr>
            <p:nvPr/>
          </p:nvSpPr>
          <p:spPr bwMode="auto">
            <a:xfrm rot="-1200000">
              <a:off x="4530545" y="4112026"/>
              <a:ext cx="365485" cy="480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2800" i="1">
                  <a:latin typeface="Times New Roman" pitchFamily="18" charset="0"/>
                </a:rPr>
                <a:t>p</a:t>
              </a:r>
            </a:p>
          </p:txBody>
        </p:sp>
        <p:sp>
          <p:nvSpPr>
            <p:cNvPr id="15369" name="Rectangle 11"/>
            <p:cNvSpPr>
              <a:spLocks noChangeArrowheads="1"/>
            </p:cNvSpPr>
            <p:nvPr/>
          </p:nvSpPr>
          <p:spPr bwMode="auto">
            <a:xfrm rot="1140000">
              <a:off x="4078218" y="5424091"/>
              <a:ext cx="1297671" cy="480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2800">
                  <a:latin typeface="Arial" charset="0"/>
                </a:rPr>
                <a:t>(1</a:t>
              </a:r>
              <a:r>
                <a:rPr lang="en-US" altLang="en-US" sz="2800">
                  <a:latin typeface="Symbol" pitchFamily="18" charset="2"/>
                </a:rPr>
                <a:t> </a:t>
              </a:r>
              <a:r>
                <a:rPr lang="en-US" altLang="en-US" sz="2800">
                  <a:latin typeface="Arial" charset="0"/>
                </a:rPr>
                <a:t>– </a:t>
              </a:r>
              <a:r>
                <a:rPr lang="en-US" altLang="en-US" sz="2800" i="1">
                  <a:latin typeface="Times New Roman" pitchFamily="18" charset="0"/>
                </a:rPr>
                <a:t>p</a:t>
              </a:r>
              <a:r>
                <a:rPr lang="en-US" altLang="en-US" sz="2800">
                  <a:latin typeface="Times New Roman" pitchFamily="18" charset="0"/>
                </a:rPr>
                <a:t> )</a:t>
              </a:r>
            </a:p>
          </p:txBody>
        </p:sp>
      </p:grp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Risk-Neutral Valuation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>
                <a:latin typeface="Arial" charset="0"/>
                <a:cs typeface="Arial" charset="0"/>
              </a:rPr>
              <a:t>When the probability of an up and down movements are 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2400">
                <a:latin typeface="Arial" charset="0"/>
                <a:cs typeface="Arial" charset="0"/>
              </a:rPr>
              <a:t> and 1-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2400">
                <a:latin typeface="Arial" charset="0"/>
                <a:cs typeface="Arial" charset="0"/>
              </a:rPr>
              <a:t> the expected stock price at time 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400">
                <a:latin typeface="Arial" charset="0"/>
                <a:cs typeface="Arial" charset="0"/>
              </a:rPr>
              <a:t> is 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i="1">
                <a:latin typeface="Times New Roman" pitchFamily="18" charset="0"/>
                <a:cs typeface="Arial" charset="0"/>
              </a:rPr>
              <a:t>e</a:t>
            </a:r>
            <a:r>
              <a:rPr lang="en-US" altLang="en-US" sz="2400" i="1" baseline="30000">
                <a:latin typeface="Times New Roman" pitchFamily="18" charset="0"/>
                <a:cs typeface="Arial" charset="0"/>
              </a:rPr>
              <a:t>rT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latin typeface="Arial" charset="0"/>
                <a:cs typeface="Arial" charset="0"/>
              </a:rPr>
              <a:t>This shows that the stock price earns the risk-free rate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latin typeface="Arial" charset="0"/>
                <a:cs typeface="Arial" charset="0"/>
              </a:rPr>
              <a:t>Binomial trees illustrate the general result that to value a derivative we can assume that the expected return on the underlying asset is the risk-free rate and discount at the risk-free rate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latin typeface="Arial" charset="0"/>
                <a:cs typeface="Arial" charset="0"/>
              </a:rPr>
              <a:t>This is known as using risk-neutral valuation</a:t>
            </a: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C522C27-501C-4386-8FB5-76F7DED8552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85800"/>
            <a:ext cx="8077200" cy="1143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Original Example Revisited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447800"/>
            <a:ext cx="7681913" cy="3889375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dirty="0">
                <a:latin typeface="Arial" charset="0"/>
                <a:cs typeface="Arial" charset="0"/>
              </a:rPr>
              <a:t>																					</a:t>
            </a:r>
          </a:p>
          <a:p>
            <a:pPr eaLnBrk="1" hangingPunct="1">
              <a:lnSpc>
                <a:spcPct val="90000"/>
              </a:lnSpc>
              <a:buFontTx/>
              <a:buChar char="•"/>
              <a:defRPr/>
            </a:pPr>
            <a:endParaRPr lang="en-CA" sz="2000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sz="2000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sz="2000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Char char="•"/>
              <a:defRPr/>
            </a:pPr>
            <a:endParaRPr lang="en-US" sz="2000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i="1" dirty="0">
                <a:latin typeface="+mj-lt"/>
                <a:cs typeface="Arial" charset="0"/>
              </a:rPr>
              <a:t>	p</a:t>
            </a:r>
            <a:r>
              <a:rPr lang="en-US" sz="2000" dirty="0">
                <a:latin typeface="Arial" charset="0"/>
                <a:cs typeface="Arial" charset="0"/>
              </a:rPr>
              <a:t> is </a:t>
            </a:r>
            <a:r>
              <a:rPr lang="en-CA" sz="2000" dirty="0">
                <a:latin typeface="Arial" charset="0"/>
                <a:cs typeface="Arial" charset="0"/>
              </a:rPr>
              <a:t>the probability that gives a return on the stock equal to the risk-free rate: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CA" sz="2000" dirty="0">
                <a:latin typeface="Arial" charset="0"/>
                <a:cs typeface="Arial" charset="0"/>
              </a:rPr>
              <a:t>	</a:t>
            </a:r>
            <a:r>
              <a:rPr lang="en-US" sz="2000" dirty="0">
                <a:latin typeface="Arial" charset="0"/>
                <a:cs typeface="Arial" charset="0"/>
              </a:rPr>
              <a:t>20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e </a:t>
            </a:r>
            <a:r>
              <a:rPr lang="en-US" sz="2000" baseline="30000" dirty="0">
                <a:latin typeface="Arial" charset="0"/>
                <a:cs typeface="Arial" charset="0"/>
              </a:rPr>
              <a:t>0.04 </a:t>
            </a:r>
            <a:r>
              <a:rPr lang="en-US" sz="2000" baseline="30000" dirty="0">
                <a:latin typeface="Symbol" pitchFamily="18" charset="2"/>
                <a:cs typeface="Arial" charset="0"/>
              </a:rPr>
              <a:t>×</a:t>
            </a:r>
            <a:r>
              <a:rPr lang="en-US" sz="2000" baseline="30000" dirty="0">
                <a:latin typeface="Arial" charset="0"/>
                <a:cs typeface="Arial" charset="0"/>
              </a:rPr>
              <a:t>0.25 </a:t>
            </a:r>
            <a:r>
              <a:rPr lang="en-US" sz="2000" dirty="0">
                <a:latin typeface="Arial" charset="0"/>
                <a:cs typeface="Arial" charset="0"/>
              </a:rPr>
              <a:t>= </a:t>
            </a:r>
            <a:r>
              <a:rPr lang="en-US" sz="2000" dirty="0">
                <a:latin typeface="Times New Roman" pitchFamily="18" charset="0"/>
                <a:cs typeface="Arial" charset="0"/>
              </a:rPr>
              <a:t>22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p</a:t>
            </a:r>
            <a:r>
              <a:rPr lang="en-US" sz="2000" dirty="0">
                <a:latin typeface="Times New Roman" pitchFamily="18" charset="0"/>
                <a:cs typeface="Arial" charset="0"/>
              </a:rPr>
              <a:t> + 18(1 –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p</a:t>
            </a:r>
            <a:r>
              <a:rPr lang="en-US" sz="2000" dirty="0">
                <a:latin typeface="Times New Roman" pitchFamily="18" charset="0"/>
                <a:cs typeface="Arial" charset="0"/>
              </a:rPr>
              <a:t> ) so that  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p</a:t>
            </a:r>
            <a:r>
              <a:rPr lang="en-US" sz="2000" dirty="0">
                <a:latin typeface="Arial" charset="0"/>
                <a:cs typeface="Arial" charset="0"/>
              </a:rPr>
              <a:t> = 0.5503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>
                <a:latin typeface="Arial" charset="0"/>
                <a:cs typeface="Arial" charset="0"/>
              </a:rPr>
              <a:t>	Alternatively: </a:t>
            </a:r>
          </a:p>
        </p:txBody>
      </p:sp>
      <p:sp>
        <p:nvSpPr>
          <p:cNvPr id="174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6E03D51-CBAE-4226-AD47-D75F68831CB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latin typeface="Arial" charset="0"/>
            </a:endParaRPr>
          </a:p>
        </p:txBody>
      </p:sp>
      <p:graphicFrame>
        <p:nvGraphicFramePr>
          <p:cNvPr id="17414" name="Object 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2905023"/>
              </p:ext>
            </p:extLst>
          </p:nvPr>
        </p:nvGraphicFramePr>
        <p:xfrm>
          <a:off x="2578100" y="4932363"/>
          <a:ext cx="45212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47840" imgH="609480" progId="Equation.DSMT4">
                  <p:embed/>
                </p:oleObj>
              </mc:Choice>
              <mc:Fallback>
                <p:oleObj name="Equation" r:id="rId5" imgW="2247840" imgH="609480" progId="Equation.DSMT4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4932363"/>
                        <a:ext cx="452120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15" name="Group 13"/>
          <p:cNvGrpSpPr>
            <a:grpSpLocks/>
          </p:cNvGrpSpPr>
          <p:nvPr/>
        </p:nvGrpSpPr>
        <p:grpSpPr bwMode="auto">
          <a:xfrm>
            <a:off x="1295400" y="1752600"/>
            <a:ext cx="3962400" cy="1927225"/>
            <a:chOff x="3170145" y="1225550"/>
            <a:chExt cx="4545105" cy="2362776"/>
          </a:xfrm>
        </p:grpSpPr>
        <p:sp>
          <p:nvSpPr>
            <p:cNvPr id="17416" name="Line 5"/>
            <p:cNvSpPr>
              <a:spLocks noChangeShapeType="1"/>
            </p:cNvSpPr>
            <p:nvPr/>
          </p:nvSpPr>
          <p:spPr bwMode="auto">
            <a:xfrm flipV="1">
              <a:off x="3962400" y="1676400"/>
              <a:ext cx="2005013" cy="7302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7" name="Line 6"/>
            <p:cNvSpPr>
              <a:spLocks noChangeShapeType="1"/>
            </p:cNvSpPr>
            <p:nvPr/>
          </p:nvSpPr>
          <p:spPr bwMode="auto">
            <a:xfrm>
              <a:off x="3959225" y="2384425"/>
              <a:ext cx="2005013" cy="7302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8" name="Rectangle 7"/>
            <p:cNvSpPr>
              <a:spLocks noChangeArrowheads="1"/>
            </p:cNvSpPr>
            <p:nvPr/>
          </p:nvSpPr>
          <p:spPr bwMode="auto">
            <a:xfrm>
              <a:off x="5924550" y="1225550"/>
              <a:ext cx="1000274" cy="708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S</a:t>
              </a:r>
              <a:r>
                <a:rPr lang="en-CA" altLang="en-US" sz="2000" baseline="-25000">
                  <a:latin typeface="Times New Roman" pitchFamily="18" charset="0"/>
                </a:rPr>
                <a:t>0</a:t>
              </a:r>
              <a:r>
                <a:rPr lang="en-US" altLang="en-US" sz="2000" i="1">
                  <a:latin typeface="Times New Roman" pitchFamily="18" charset="0"/>
                </a:rPr>
                <a:t>u</a:t>
              </a:r>
              <a:r>
                <a:rPr lang="en-US" altLang="en-US" sz="2000">
                  <a:latin typeface="Arial" charset="0"/>
                </a:rPr>
                <a:t> = 22</a:t>
              </a:r>
              <a:endParaRPr lang="en-US" altLang="en-US" sz="2000" i="1">
                <a:latin typeface="Arial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 </a:t>
              </a:r>
              <a:r>
                <a:rPr lang="en-US" altLang="en-US" sz="2000">
                  <a:latin typeface="Times New Roman" pitchFamily="18" charset="0"/>
                </a:rPr>
                <a:t>ƒ</a:t>
              </a:r>
              <a:r>
                <a:rPr lang="en-US" altLang="en-US" sz="2000" i="1" baseline="-25000">
                  <a:latin typeface="Times New Roman" pitchFamily="18" charset="0"/>
                </a:rPr>
                <a:t>u</a:t>
              </a:r>
              <a:r>
                <a:rPr lang="en-US" altLang="en-US" sz="2000">
                  <a:latin typeface="Arial" charset="0"/>
                </a:rPr>
                <a:t> = 1</a:t>
              </a:r>
            </a:p>
          </p:txBody>
        </p:sp>
        <p:sp>
          <p:nvSpPr>
            <p:cNvPr id="17419" name="Rectangle 8"/>
            <p:cNvSpPr>
              <a:spLocks noChangeArrowheads="1"/>
            </p:cNvSpPr>
            <p:nvPr/>
          </p:nvSpPr>
          <p:spPr bwMode="auto">
            <a:xfrm>
              <a:off x="6029325" y="2719898"/>
              <a:ext cx="1685925" cy="868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S</a:t>
              </a:r>
              <a:r>
                <a:rPr lang="en-CA" altLang="en-US" sz="2000" baseline="-25000">
                  <a:latin typeface="Times New Roman" pitchFamily="18" charset="0"/>
                </a:rPr>
                <a:t>0</a:t>
              </a:r>
              <a:r>
                <a:rPr lang="en-US" altLang="en-US" sz="2000" i="1">
                  <a:latin typeface="Times New Roman" pitchFamily="18" charset="0"/>
                </a:rPr>
                <a:t>d</a:t>
              </a:r>
              <a:r>
                <a:rPr lang="en-US" altLang="en-US" sz="2000">
                  <a:latin typeface="Arial" charset="0"/>
                </a:rPr>
                <a:t> = 18</a:t>
              </a:r>
              <a:endParaRPr lang="en-US" altLang="en-US" sz="2000" i="1">
                <a:latin typeface="Arial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 </a:t>
              </a:r>
              <a:r>
                <a:rPr lang="en-US" altLang="en-US" sz="2000">
                  <a:latin typeface="Times New Roman" pitchFamily="18" charset="0"/>
                </a:rPr>
                <a:t>ƒ</a:t>
              </a:r>
              <a:r>
                <a:rPr lang="en-US" altLang="en-US" sz="2000" i="1" baseline="-25000">
                  <a:latin typeface="Times New Roman" pitchFamily="18" charset="0"/>
                </a:rPr>
                <a:t>d</a:t>
              </a:r>
              <a:r>
                <a:rPr lang="en-US" altLang="en-US" sz="2000">
                  <a:latin typeface="Arial" charset="0"/>
                </a:rPr>
                <a:t> = 0</a:t>
              </a:r>
            </a:p>
          </p:txBody>
        </p:sp>
        <p:sp>
          <p:nvSpPr>
            <p:cNvPr id="17420" name="Rectangle 9"/>
            <p:cNvSpPr>
              <a:spLocks noChangeArrowheads="1"/>
            </p:cNvSpPr>
            <p:nvPr/>
          </p:nvSpPr>
          <p:spPr bwMode="auto">
            <a:xfrm>
              <a:off x="3170145" y="1987550"/>
              <a:ext cx="1136277" cy="868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S</a:t>
              </a:r>
              <a:r>
                <a:rPr lang="en-CA" altLang="en-US" sz="2000" baseline="-25000">
                  <a:latin typeface="Times New Roman" pitchFamily="18" charset="0"/>
                </a:rPr>
                <a:t>0</a:t>
              </a:r>
              <a:r>
                <a:rPr lang="en-CA" altLang="en-US" sz="2000">
                  <a:latin typeface="Times New Roman" pitchFamily="18" charset="0"/>
                </a:rPr>
                <a:t>=20</a:t>
              </a:r>
              <a:endParaRPr lang="en-US" altLang="en-US" sz="2000">
                <a:latin typeface="Arial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   </a:t>
              </a:r>
              <a:r>
                <a:rPr lang="en-US" altLang="en-US" sz="2000">
                  <a:latin typeface="Times New Roman" pitchFamily="18" charset="0"/>
                </a:rPr>
                <a:t>ƒ</a:t>
              </a:r>
            </a:p>
          </p:txBody>
        </p:sp>
        <p:sp>
          <p:nvSpPr>
            <p:cNvPr id="17421" name="Rectangle 10"/>
            <p:cNvSpPr>
              <a:spLocks noChangeArrowheads="1"/>
            </p:cNvSpPr>
            <p:nvPr/>
          </p:nvSpPr>
          <p:spPr bwMode="auto">
            <a:xfrm rot="-1200000">
              <a:off x="4732731" y="1599849"/>
              <a:ext cx="284962" cy="400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p</a:t>
              </a:r>
            </a:p>
          </p:txBody>
        </p:sp>
        <p:sp>
          <p:nvSpPr>
            <p:cNvPr id="17422" name="Rectangle 11"/>
            <p:cNvSpPr>
              <a:spLocks noChangeArrowheads="1"/>
            </p:cNvSpPr>
            <p:nvPr/>
          </p:nvSpPr>
          <p:spPr bwMode="auto">
            <a:xfrm rot="1140000">
              <a:off x="4248150" y="2786528"/>
              <a:ext cx="1123950" cy="491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2000">
                  <a:latin typeface="Arial" charset="0"/>
                </a:rPr>
                <a:t>(1</a:t>
              </a:r>
              <a:r>
                <a:rPr lang="en-US" altLang="en-US" sz="2000">
                  <a:latin typeface="Symbol" pitchFamily="18" charset="2"/>
                </a:rPr>
                <a:t> </a:t>
              </a:r>
              <a:r>
                <a:rPr lang="en-US" altLang="en-US" sz="2000">
                  <a:latin typeface="Arial" charset="0"/>
                </a:rPr>
                <a:t>– 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Arial" charset="0"/>
                </a:rPr>
                <a:t> )</a:t>
              </a:r>
            </a:p>
          </p:txBody>
        </p:sp>
      </p:grp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z="3600"/>
              <a:t>Valuing the Option Using Risk-Neutral Valuation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752600"/>
            <a:ext cx="6778625" cy="4411663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																				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The value of the option is 	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i="1" dirty="0">
                <a:latin typeface="Times New Roman" pitchFamily="18" charset="0"/>
                <a:cs typeface="Arial" charset="0"/>
              </a:rPr>
              <a:t>e</a:t>
            </a:r>
            <a:r>
              <a:rPr lang="en-US" altLang="en-US" sz="2400" baseline="30000" dirty="0">
                <a:latin typeface="Arial" charset="0"/>
                <a:cs typeface="Arial" charset="0"/>
              </a:rPr>
              <a:t>–0.04</a:t>
            </a:r>
            <a:r>
              <a:rPr lang="en-US" altLang="en-US" sz="2400" baseline="30000" dirty="0">
                <a:latin typeface="Symbol" pitchFamily="18" charset="2"/>
                <a:cs typeface="Arial" charset="0"/>
              </a:rPr>
              <a:t>×</a:t>
            </a:r>
            <a:r>
              <a:rPr lang="en-US" altLang="en-US" sz="2400" baseline="30000" dirty="0">
                <a:latin typeface="Arial" charset="0"/>
                <a:cs typeface="Arial" charset="0"/>
              </a:rPr>
              <a:t>0.25 </a:t>
            </a:r>
            <a:r>
              <a:rPr lang="en-CA" altLang="en-US" sz="2400" dirty="0">
                <a:latin typeface="Arial" charset="0"/>
                <a:cs typeface="Arial" charset="0"/>
              </a:rPr>
              <a:t>(</a:t>
            </a:r>
            <a:r>
              <a:rPr lang="en-US" altLang="en-US" sz="2400">
                <a:latin typeface="Arial" charset="0"/>
                <a:cs typeface="Arial" charset="0"/>
              </a:rPr>
              <a:t>0.5503 </a:t>
            </a:r>
            <a:r>
              <a:rPr lang="en-US" altLang="en-US" sz="2400" dirty="0">
                <a:latin typeface="Symbol" pitchFamily="18" charset="2"/>
                <a:cs typeface="Arial" charset="0"/>
              </a:rPr>
              <a:t>×</a:t>
            </a:r>
            <a:r>
              <a:rPr lang="en-US" altLang="en-US" sz="2400" dirty="0">
                <a:latin typeface="Arial" charset="0"/>
                <a:cs typeface="Arial" charset="0"/>
              </a:rPr>
              <a:t>1 + 0.4497</a:t>
            </a:r>
            <a:r>
              <a:rPr lang="en-US" altLang="en-US" sz="2400" dirty="0">
                <a:latin typeface="Symbol" pitchFamily="18" charset="2"/>
                <a:cs typeface="Arial" charset="0"/>
              </a:rPr>
              <a:t>×</a:t>
            </a:r>
            <a:r>
              <a:rPr lang="en-US" altLang="en-US" sz="2400" dirty="0">
                <a:latin typeface="Arial" charset="0"/>
                <a:cs typeface="Arial" charset="0"/>
              </a:rPr>
              <a:t>0</a:t>
            </a:r>
            <a:r>
              <a:rPr lang="en-CA" altLang="en-US" sz="2400" dirty="0">
                <a:latin typeface="Arial" charset="0"/>
                <a:cs typeface="Arial" charset="0"/>
              </a:rPr>
              <a:t>)</a:t>
            </a: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= 0.545</a:t>
            </a: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3602176-8674-4C28-9C33-4F20F8BFCF6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latin typeface="Arial" charset="0"/>
            </a:endParaRPr>
          </a:p>
        </p:txBody>
      </p:sp>
      <p:grpSp>
        <p:nvGrpSpPr>
          <p:cNvPr id="18438" name="Group 11"/>
          <p:cNvGrpSpPr>
            <a:grpSpLocks/>
          </p:cNvGrpSpPr>
          <p:nvPr/>
        </p:nvGrpSpPr>
        <p:grpSpPr bwMode="auto">
          <a:xfrm>
            <a:off x="1600200" y="2209800"/>
            <a:ext cx="4114800" cy="1866900"/>
            <a:chOff x="1935" y="1210"/>
            <a:chExt cx="2456" cy="1358"/>
          </a:xfrm>
        </p:grpSpPr>
        <p:sp>
          <p:nvSpPr>
            <p:cNvPr id="18439" name="Line 4"/>
            <p:cNvSpPr>
              <a:spLocks noChangeShapeType="1"/>
            </p:cNvSpPr>
            <p:nvPr/>
          </p:nvSpPr>
          <p:spPr bwMode="auto">
            <a:xfrm flipV="1">
              <a:off x="2458" y="1480"/>
              <a:ext cx="1263" cy="4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0" name="Line 5"/>
            <p:cNvSpPr>
              <a:spLocks noChangeShapeType="1"/>
            </p:cNvSpPr>
            <p:nvPr/>
          </p:nvSpPr>
          <p:spPr bwMode="auto">
            <a:xfrm>
              <a:off x="2458" y="1940"/>
              <a:ext cx="1263" cy="4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1" name="Rectangle 6"/>
            <p:cNvSpPr>
              <a:spLocks noChangeArrowheads="1"/>
            </p:cNvSpPr>
            <p:nvPr/>
          </p:nvSpPr>
          <p:spPr bwMode="auto">
            <a:xfrm>
              <a:off x="3696" y="1210"/>
              <a:ext cx="695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S</a:t>
              </a:r>
              <a:r>
                <a:rPr lang="en-CA" altLang="en-US" sz="2000" baseline="-25000">
                  <a:latin typeface="Times New Roman" pitchFamily="18" charset="0"/>
                </a:rPr>
                <a:t>0</a:t>
              </a:r>
              <a:r>
                <a:rPr lang="en-US" altLang="en-US" sz="2000" i="1">
                  <a:latin typeface="Times New Roman" pitchFamily="18" charset="0"/>
                </a:rPr>
                <a:t>u</a:t>
              </a:r>
              <a:r>
                <a:rPr lang="en-US" altLang="en-US" sz="2000">
                  <a:latin typeface="Arial" charset="0"/>
                </a:rPr>
                <a:t> = 22</a:t>
              </a:r>
              <a:endParaRPr lang="en-US" altLang="en-US" sz="2000" i="1">
                <a:latin typeface="Arial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 </a:t>
              </a:r>
              <a:r>
                <a:rPr lang="en-US" altLang="en-US" sz="2000">
                  <a:latin typeface="Times New Roman" pitchFamily="18" charset="0"/>
                </a:rPr>
                <a:t>ƒ</a:t>
              </a:r>
              <a:r>
                <a:rPr lang="en-US" altLang="en-US" sz="2000" i="1" baseline="-25000">
                  <a:latin typeface="Times New Roman" pitchFamily="18" charset="0"/>
                </a:rPr>
                <a:t>u</a:t>
              </a:r>
              <a:r>
                <a:rPr lang="en-US" altLang="en-US" sz="2000">
                  <a:latin typeface="Arial" charset="0"/>
                </a:rPr>
                <a:t> = 1</a:t>
              </a:r>
            </a:p>
          </p:txBody>
        </p:sp>
        <p:sp>
          <p:nvSpPr>
            <p:cNvPr id="18442" name="Rectangle 7"/>
            <p:cNvSpPr>
              <a:spLocks noChangeArrowheads="1"/>
            </p:cNvSpPr>
            <p:nvPr/>
          </p:nvSpPr>
          <p:spPr bwMode="auto">
            <a:xfrm>
              <a:off x="3696" y="2122"/>
              <a:ext cx="695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S</a:t>
              </a:r>
              <a:r>
                <a:rPr lang="en-CA" altLang="en-US" sz="2000" baseline="-25000">
                  <a:latin typeface="Times New Roman" pitchFamily="18" charset="0"/>
                </a:rPr>
                <a:t>0</a:t>
              </a:r>
              <a:r>
                <a:rPr lang="en-US" altLang="en-US" sz="2000" i="1">
                  <a:latin typeface="Times New Roman" pitchFamily="18" charset="0"/>
                </a:rPr>
                <a:t>d</a:t>
              </a:r>
              <a:r>
                <a:rPr lang="en-US" altLang="en-US" sz="2000">
                  <a:latin typeface="Arial" charset="0"/>
                </a:rPr>
                <a:t> = 18</a:t>
              </a:r>
              <a:endParaRPr lang="en-US" altLang="en-US" sz="2000" i="1">
                <a:latin typeface="Arial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 </a:t>
              </a:r>
              <a:r>
                <a:rPr lang="en-US" altLang="en-US" sz="2000">
                  <a:latin typeface="Times New Roman" pitchFamily="18" charset="0"/>
                </a:rPr>
                <a:t>ƒ</a:t>
              </a:r>
              <a:r>
                <a:rPr lang="en-US" altLang="en-US" sz="2000" i="1" baseline="-25000">
                  <a:latin typeface="Times New Roman" pitchFamily="18" charset="0"/>
                </a:rPr>
                <a:t>d</a:t>
              </a:r>
              <a:r>
                <a:rPr lang="en-US" altLang="en-US" sz="2000">
                  <a:latin typeface="Arial" charset="0"/>
                </a:rPr>
                <a:t> = 0</a:t>
              </a:r>
            </a:p>
          </p:txBody>
        </p:sp>
        <p:sp>
          <p:nvSpPr>
            <p:cNvPr id="18443" name="Rectangle 8"/>
            <p:cNvSpPr>
              <a:spLocks noChangeArrowheads="1"/>
            </p:cNvSpPr>
            <p:nvPr/>
          </p:nvSpPr>
          <p:spPr bwMode="auto">
            <a:xfrm>
              <a:off x="1935" y="1690"/>
              <a:ext cx="591" cy="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S</a:t>
              </a:r>
              <a:r>
                <a:rPr lang="en-CA" altLang="en-US" sz="2000" baseline="-25000">
                  <a:latin typeface="Times New Roman" pitchFamily="18" charset="0"/>
                </a:rPr>
                <a:t>0</a:t>
              </a:r>
              <a:r>
                <a:rPr lang="en-CA" altLang="en-US" sz="2000">
                  <a:latin typeface="Times New Roman" pitchFamily="18" charset="0"/>
                </a:rPr>
                <a:t>=</a:t>
              </a:r>
              <a:r>
                <a:rPr lang="en-CA" altLang="en-US" sz="2000">
                  <a:latin typeface="Arial" charset="0"/>
                  <a:cs typeface="Arial" charset="0"/>
                </a:rPr>
                <a:t>20</a:t>
              </a:r>
              <a:endParaRPr lang="en-US" altLang="en-US" sz="2000">
                <a:latin typeface="Arial" charset="0"/>
                <a:cs typeface="Arial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ƒ</a:t>
              </a:r>
            </a:p>
          </p:txBody>
        </p:sp>
        <p:sp>
          <p:nvSpPr>
            <p:cNvPr id="18444" name="Rectangle 9"/>
            <p:cNvSpPr>
              <a:spLocks noChangeArrowheads="1"/>
            </p:cNvSpPr>
            <p:nvPr/>
          </p:nvSpPr>
          <p:spPr bwMode="auto">
            <a:xfrm rot="-949198">
              <a:off x="2676" y="1401"/>
              <a:ext cx="60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2000" dirty="0">
                  <a:latin typeface="Arial" charset="0"/>
                </a:rPr>
                <a:t>0.5503</a:t>
              </a:r>
            </a:p>
          </p:txBody>
        </p:sp>
        <p:sp>
          <p:nvSpPr>
            <p:cNvPr id="18445" name="Rectangle 10"/>
            <p:cNvSpPr>
              <a:spLocks noChangeArrowheads="1"/>
            </p:cNvSpPr>
            <p:nvPr/>
          </p:nvSpPr>
          <p:spPr bwMode="auto">
            <a:xfrm rot="1140000">
              <a:off x="2719" y="2219"/>
              <a:ext cx="71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2000" dirty="0">
                  <a:latin typeface="Arial" charset="0"/>
                </a:rPr>
                <a:t>0.4497</a:t>
              </a:r>
            </a:p>
          </p:txBody>
        </p:sp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Irrelevance of Stock’s Expected Return</a:t>
            </a:r>
          </a:p>
        </p:txBody>
      </p:sp>
      <p:sp>
        <p:nvSpPr>
          <p:cNvPr id="1945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94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B893C1B-6386-4425-B23C-B13E31A17DF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19461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en-US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z="2400">
                <a:latin typeface="Arial" charset="0"/>
                <a:cs typeface="Arial" charset="0"/>
              </a:rPr>
              <a:t>When we are valuing an option in terms of the price of the underlying asset, the probability of up and down movements in the real world are irrelevant</a:t>
            </a:r>
          </a:p>
          <a:p>
            <a:pPr eaLnBrk="1" hangingPunct="1"/>
            <a:r>
              <a:rPr lang="en-US" altLang="en-US" sz="2400">
                <a:latin typeface="Arial" charset="0"/>
                <a:cs typeface="Arial" charset="0"/>
              </a:rPr>
              <a:t>This is an example of a more general result stating that the expected return on the underlying asset in the real world is irrelevant </a:t>
            </a:r>
          </a:p>
          <a:p>
            <a:pPr eaLnBrk="1" hangingPunct="1"/>
            <a:endParaRPr lang="en-US" altLang="en-US">
              <a:latin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endParaRPr lang="en-US" alt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57200"/>
            <a:ext cx="7620000" cy="1828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A Two-Step Example</a:t>
            </a:r>
            <a:br>
              <a:rPr lang="en-US" altLang="en-US" dirty="0"/>
            </a:br>
            <a:r>
              <a:rPr lang="en-US" altLang="en-US" sz="2200" dirty="0"/>
              <a:t>Figure 13.3</a:t>
            </a:r>
            <a:endParaRPr lang="en-US" altLang="en-US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290637"/>
            <a:ext cx="6561138" cy="4995863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																											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 eaLnBrk="1" hangingPunct="1"/>
            <a:endParaRPr lang="en-US" altLang="en-US" i="1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altLang="en-US" i="1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en-US" sz="24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en-US" sz="2400" dirty="0">
                <a:latin typeface="Arial" charset="0"/>
                <a:cs typeface="Arial" charset="0"/>
              </a:rPr>
              <a:t>=21, </a:t>
            </a:r>
            <a:r>
              <a:rPr lang="en-US" altLang="en-US" sz="2400" i="1" dirty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altLang="en-US" sz="2400" dirty="0">
                <a:latin typeface="Arial" charset="0"/>
                <a:cs typeface="Arial" charset="0"/>
              </a:rPr>
              <a:t>= 4%</a:t>
            </a:r>
          </a:p>
          <a:p>
            <a:pPr eaLnBrk="1" hangingPunct="1"/>
            <a:r>
              <a:rPr lang="en-CA" altLang="en-US" sz="2400" dirty="0">
                <a:latin typeface="Arial" charset="0"/>
                <a:cs typeface="Arial" charset="0"/>
              </a:rPr>
              <a:t>Each time step is 3 months</a:t>
            </a:r>
            <a:endParaRPr lang="en-US" altLang="en-US" sz="2400" dirty="0">
              <a:latin typeface="Arial" charset="0"/>
              <a:cs typeface="Arial" charset="0"/>
            </a:endParaRPr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79D2DE4-C04F-4934-82BF-17892D7D6DE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>
              <a:latin typeface="Arial" charset="0"/>
            </a:endParaRPr>
          </a:p>
        </p:txBody>
      </p:sp>
      <p:grpSp>
        <p:nvGrpSpPr>
          <p:cNvPr id="20486" name="Group 20"/>
          <p:cNvGrpSpPr>
            <a:grpSpLocks/>
          </p:cNvGrpSpPr>
          <p:nvPr/>
        </p:nvGrpSpPr>
        <p:grpSpPr bwMode="auto">
          <a:xfrm>
            <a:off x="1752600" y="2133600"/>
            <a:ext cx="3810000" cy="2590800"/>
            <a:chOff x="1425" y="724"/>
            <a:chExt cx="3235" cy="2073"/>
          </a:xfrm>
        </p:grpSpPr>
        <p:sp>
          <p:nvSpPr>
            <p:cNvPr id="20487" name="Rectangle 4"/>
            <p:cNvSpPr>
              <a:spLocks noChangeArrowheads="1"/>
            </p:cNvSpPr>
            <p:nvPr/>
          </p:nvSpPr>
          <p:spPr bwMode="auto">
            <a:xfrm>
              <a:off x="1425" y="1625"/>
              <a:ext cx="33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20</a:t>
              </a:r>
            </a:p>
          </p:txBody>
        </p:sp>
        <p:grpSp>
          <p:nvGrpSpPr>
            <p:cNvPr id="20488" name="Group 14"/>
            <p:cNvGrpSpPr>
              <a:grpSpLocks/>
            </p:cNvGrpSpPr>
            <p:nvPr/>
          </p:nvGrpSpPr>
          <p:grpSpPr bwMode="auto">
            <a:xfrm>
              <a:off x="1735" y="881"/>
              <a:ext cx="2507" cy="1820"/>
              <a:chOff x="1735" y="881"/>
              <a:chExt cx="2507" cy="1820"/>
            </a:xfrm>
          </p:grpSpPr>
          <p:grpSp>
            <p:nvGrpSpPr>
              <p:cNvPr id="20494" name="Group 7"/>
              <p:cNvGrpSpPr>
                <a:grpSpLocks/>
              </p:cNvGrpSpPr>
              <p:nvPr/>
            </p:nvGrpSpPr>
            <p:grpSpPr bwMode="auto">
              <a:xfrm>
                <a:off x="1735" y="1331"/>
                <a:ext cx="1263" cy="920"/>
                <a:chOff x="1735" y="1331"/>
                <a:chExt cx="1263" cy="920"/>
              </a:xfrm>
            </p:grpSpPr>
            <p:sp>
              <p:nvSpPr>
                <p:cNvPr id="20501" name="Line 5"/>
                <p:cNvSpPr>
                  <a:spLocks noChangeShapeType="1"/>
                </p:cNvSpPr>
                <p:nvPr/>
              </p:nvSpPr>
              <p:spPr bwMode="auto">
                <a:xfrm flipV="1">
                  <a:off x="1735" y="1331"/>
                  <a:ext cx="1263" cy="4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502" name="Line 6"/>
                <p:cNvSpPr>
                  <a:spLocks noChangeShapeType="1"/>
                </p:cNvSpPr>
                <p:nvPr/>
              </p:nvSpPr>
              <p:spPr bwMode="auto">
                <a:xfrm>
                  <a:off x="1735" y="1791"/>
                  <a:ext cx="1263" cy="4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495" name="Group 10"/>
              <p:cNvGrpSpPr>
                <a:grpSpLocks/>
              </p:cNvGrpSpPr>
              <p:nvPr/>
            </p:nvGrpSpPr>
            <p:grpSpPr bwMode="auto">
              <a:xfrm>
                <a:off x="2979" y="881"/>
                <a:ext cx="1263" cy="920"/>
                <a:chOff x="2979" y="881"/>
                <a:chExt cx="1263" cy="920"/>
              </a:xfrm>
            </p:grpSpPr>
            <p:sp>
              <p:nvSpPr>
                <p:cNvPr id="20499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2979" y="881"/>
                  <a:ext cx="1263" cy="4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500" name="Line 9"/>
                <p:cNvSpPr>
                  <a:spLocks noChangeShapeType="1"/>
                </p:cNvSpPr>
                <p:nvPr/>
              </p:nvSpPr>
              <p:spPr bwMode="auto">
                <a:xfrm>
                  <a:off x="2979" y="1341"/>
                  <a:ext cx="1263" cy="4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496" name="Group 13"/>
              <p:cNvGrpSpPr>
                <a:grpSpLocks/>
              </p:cNvGrpSpPr>
              <p:nvPr/>
            </p:nvGrpSpPr>
            <p:grpSpPr bwMode="auto">
              <a:xfrm>
                <a:off x="2973" y="1781"/>
                <a:ext cx="1263" cy="920"/>
                <a:chOff x="2973" y="1781"/>
                <a:chExt cx="1263" cy="920"/>
              </a:xfrm>
            </p:grpSpPr>
            <p:sp>
              <p:nvSpPr>
                <p:cNvPr id="20497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2973" y="1781"/>
                  <a:ext cx="1263" cy="4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498" name="Line 12"/>
                <p:cNvSpPr>
                  <a:spLocks noChangeShapeType="1"/>
                </p:cNvSpPr>
                <p:nvPr/>
              </p:nvSpPr>
              <p:spPr bwMode="auto">
                <a:xfrm>
                  <a:off x="2973" y="2241"/>
                  <a:ext cx="1263" cy="4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20489" name="Rectangle 15"/>
            <p:cNvSpPr>
              <a:spLocks noChangeArrowheads="1"/>
            </p:cNvSpPr>
            <p:nvPr/>
          </p:nvSpPr>
          <p:spPr bwMode="auto">
            <a:xfrm>
              <a:off x="2716" y="1039"/>
              <a:ext cx="33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22</a:t>
              </a:r>
            </a:p>
          </p:txBody>
        </p:sp>
        <p:sp>
          <p:nvSpPr>
            <p:cNvPr id="20490" name="Rectangle 16"/>
            <p:cNvSpPr>
              <a:spLocks noChangeArrowheads="1"/>
            </p:cNvSpPr>
            <p:nvPr/>
          </p:nvSpPr>
          <p:spPr bwMode="auto">
            <a:xfrm>
              <a:off x="2725" y="2227"/>
              <a:ext cx="33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18</a:t>
              </a:r>
            </a:p>
          </p:txBody>
        </p:sp>
        <p:sp>
          <p:nvSpPr>
            <p:cNvPr id="20491" name="Rectangle 17"/>
            <p:cNvSpPr>
              <a:spLocks noChangeArrowheads="1"/>
            </p:cNvSpPr>
            <p:nvPr/>
          </p:nvSpPr>
          <p:spPr bwMode="auto">
            <a:xfrm>
              <a:off x="4165" y="724"/>
              <a:ext cx="49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24.2</a:t>
              </a:r>
            </a:p>
          </p:txBody>
        </p:sp>
        <p:sp>
          <p:nvSpPr>
            <p:cNvPr id="20492" name="Rectangle 18"/>
            <p:cNvSpPr>
              <a:spLocks noChangeArrowheads="1"/>
            </p:cNvSpPr>
            <p:nvPr/>
          </p:nvSpPr>
          <p:spPr bwMode="auto">
            <a:xfrm>
              <a:off x="4165" y="1615"/>
              <a:ext cx="49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19.8</a:t>
              </a:r>
            </a:p>
          </p:txBody>
        </p:sp>
        <p:sp>
          <p:nvSpPr>
            <p:cNvPr id="20493" name="Rectangle 19"/>
            <p:cNvSpPr>
              <a:spLocks noChangeArrowheads="1"/>
            </p:cNvSpPr>
            <p:nvPr/>
          </p:nvSpPr>
          <p:spPr bwMode="auto">
            <a:xfrm>
              <a:off x="4165" y="2506"/>
              <a:ext cx="49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16.2</a:t>
              </a:r>
            </a:p>
          </p:txBody>
        </p:sp>
      </p:grp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696913"/>
            <a:ext cx="6932613" cy="1143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Valuing a Call Option</a:t>
            </a:r>
            <a:br>
              <a:rPr lang="en-US" altLang="en-US" dirty="0"/>
            </a:br>
            <a:r>
              <a:rPr lang="en-US" altLang="en-US" sz="2200" dirty="0"/>
              <a:t>Figure 13.4</a:t>
            </a:r>
            <a:endParaRPr lang="en-US" alt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768927" y="1371600"/>
            <a:ext cx="7689273" cy="5882167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																																	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endParaRPr lang="en-US" altLang="en-US" sz="2200" dirty="0">
              <a:latin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r>
              <a:rPr lang="en-US" altLang="en-US" sz="2200" dirty="0">
                <a:latin typeface="Arial" charset="0"/>
                <a:cs typeface="Arial" charset="0"/>
              </a:rPr>
              <a:t>Value at node B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sz="2200" dirty="0">
                <a:latin typeface="Arial" charset="0"/>
                <a:cs typeface="Arial" charset="0"/>
              </a:rPr>
              <a:t> = </a:t>
            </a:r>
            <a:r>
              <a:rPr lang="en-US" altLang="en-US" sz="2200" i="1" dirty="0">
                <a:latin typeface="Times New Roman" pitchFamily="18" charset="0"/>
                <a:cs typeface="Arial" charset="0"/>
              </a:rPr>
              <a:t>e</a:t>
            </a:r>
            <a:r>
              <a:rPr lang="en-US" altLang="en-US" sz="2200" baseline="30000" dirty="0">
                <a:latin typeface="Arial" charset="0"/>
                <a:cs typeface="Arial" charset="0"/>
              </a:rPr>
              <a:t>–0.04</a:t>
            </a:r>
            <a:r>
              <a:rPr lang="en-US" altLang="en-US" sz="2200" baseline="30000" dirty="0">
                <a:latin typeface="Symbol" pitchFamily="18" charset="2"/>
                <a:cs typeface="Arial" charset="0"/>
              </a:rPr>
              <a:t>×</a:t>
            </a:r>
            <a:r>
              <a:rPr lang="en-US" altLang="en-US" sz="2200" baseline="30000" dirty="0">
                <a:latin typeface="Arial" charset="0"/>
                <a:cs typeface="Arial" charset="0"/>
              </a:rPr>
              <a:t>0.25</a:t>
            </a:r>
            <a:r>
              <a:rPr lang="en-US" altLang="en-US" sz="2200" dirty="0">
                <a:latin typeface="Arial" charset="0"/>
                <a:cs typeface="Arial" charset="0"/>
              </a:rPr>
              <a:t>(0.5503</a:t>
            </a:r>
            <a:r>
              <a:rPr lang="en-US" altLang="en-US" sz="2200" dirty="0">
                <a:latin typeface="Symbol" pitchFamily="18" charset="2"/>
                <a:cs typeface="Arial" charset="0"/>
              </a:rPr>
              <a:t>×</a:t>
            </a:r>
            <a:r>
              <a:rPr lang="en-US" altLang="en-US" sz="2200" dirty="0">
                <a:latin typeface="Arial" charset="0"/>
                <a:cs typeface="Arial" charset="0"/>
              </a:rPr>
              <a:t>3.2 + 0.4497</a:t>
            </a:r>
            <a:r>
              <a:rPr lang="en-US" altLang="en-US" sz="2200" dirty="0">
                <a:latin typeface="Symbol" pitchFamily="18" charset="2"/>
                <a:cs typeface="Arial" charset="0"/>
              </a:rPr>
              <a:t>×</a:t>
            </a:r>
            <a:r>
              <a:rPr lang="en-US" altLang="en-US" sz="2200" dirty="0">
                <a:latin typeface="Arial" charset="0"/>
                <a:cs typeface="Arial" charset="0"/>
              </a:rPr>
              <a:t>0) = 1.7433</a:t>
            </a:r>
          </a:p>
          <a:p>
            <a:pPr eaLnBrk="1" hangingPunct="1">
              <a:buFontTx/>
              <a:buNone/>
            </a:pPr>
            <a:r>
              <a:rPr lang="en-US" altLang="en-US" sz="2200" dirty="0">
                <a:latin typeface="Arial" charset="0"/>
                <a:cs typeface="Arial" charset="0"/>
              </a:rPr>
              <a:t>Value at node A 			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sz="2200" i="1" dirty="0">
                <a:latin typeface="Times New Roman" pitchFamily="18" charset="0"/>
                <a:cs typeface="Arial" charset="0"/>
              </a:rPr>
              <a:t>= e</a:t>
            </a:r>
            <a:r>
              <a:rPr lang="en-US" altLang="en-US" sz="2200" baseline="30000" dirty="0">
                <a:latin typeface="Arial" charset="0"/>
                <a:cs typeface="Arial" charset="0"/>
              </a:rPr>
              <a:t>–0.04</a:t>
            </a:r>
            <a:r>
              <a:rPr lang="en-US" altLang="en-US" sz="2200" baseline="30000" dirty="0">
                <a:latin typeface="Symbol" pitchFamily="18" charset="2"/>
                <a:cs typeface="Arial" charset="0"/>
              </a:rPr>
              <a:t>×</a:t>
            </a:r>
            <a:r>
              <a:rPr lang="en-US" altLang="en-US" sz="2200" baseline="30000" dirty="0">
                <a:latin typeface="Arial" charset="0"/>
                <a:cs typeface="Arial" charset="0"/>
              </a:rPr>
              <a:t>0.25</a:t>
            </a:r>
            <a:r>
              <a:rPr lang="en-US" altLang="en-US" sz="2200" dirty="0">
                <a:latin typeface="Arial" charset="0"/>
                <a:cs typeface="Arial" charset="0"/>
              </a:rPr>
              <a:t>(0.5503</a:t>
            </a:r>
            <a:r>
              <a:rPr lang="en-US" altLang="en-US" sz="2200" dirty="0">
                <a:latin typeface="Symbol" pitchFamily="18" charset="2"/>
                <a:cs typeface="Arial" charset="0"/>
              </a:rPr>
              <a:t>×</a:t>
            </a:r>
            <a:r>
              <a:rPr lang="en-US" altLang="en-US" sz="2200" dirty="0">
                <a:latin typeface="Arial" charset="0"/>
                <a:cs typeface="Arial" charset="0"/>
              </a:rPr>
              <a:t>1.7433 + 0.4497</a:t>
            </a:r>
            <a:r>
              <a:rPr lang="en-US" altLang="en-US" sz="2200" dirty="0">
                <a:latin typeface="Symbol" pitchFamily="18" charset="2"/>
                <a:cs typeface="Arial" charset="0"/>
              </a:rPr>
              <a:t>×</a:t>
            </a:r>
            <a:r>
              <a:rPr lang="en-US" altLang="en-US" sz="2200" dirty="0">
                <a:latin typeface="Arial" charset="0"/>
                <a:cs typeface="Arial" charset="0"/>
              </a:rPr>
              <a:t>0) = 0.9497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en-US" sz="2200" dirty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z="2200" dirty="0">
              <a:latin typeface="Arial" charset="0"/>
              <a:cs typeface="Arial" charset="0"/>
            </a:endParaRPr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FF8104D-86AC-4025-B331-7C3FE7E4344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>
              <a:latin typeface="Arial" charset="0"/>
            </a:endParaRPr>
          </a:p>
        </p:txBody>
      </p:sp>
      <p:grpSp>
        <p:nvGrpSpPr>
          <p:cNvPr id="21510" name="Group 30"/>
          <p:cNvGrpSpPr>
            <a:grpSpLocks/>
          </p:cNvGrpSpPr>
          <p:nvPr/>
        </p:nvGrpSpPr>
        <p:grpSpPr bwMode="auto">
          <a:xfrm>
            <a:off x="762000" y="1524000"/>
            <a:ext cx="5491163" cy="2949575"/>
            <a:chOff x="2133601" y="1143000"/>
            <a:chExt cx="5491162" cy="2950078"/>
          </a:xfrm>
        </p:grpSpPr>
        <p:sp>
          <p:nvSpPr>
            <p:cNvPr id="21511" name="Rectangle 19"/>
            <p:cNvSpPr>
              <a:spLocks noChangeArrowheads="1"/>
            </p:cNvSpPr>
            <p:nvPr/>
          </p:nvSpPr>
          <p:spPr bwMode="auto">
            <a:xfrm>
              <a:off x="6940281" y="3384550"/>
              <a:ext cx="684482" cy="708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16.2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0.0</a:t>
              </a:r>
            </a:p>
          </p:txBody>
        </p:sp>
        <p:grpSp>
          <p:nvGrpSpPr>
            <p:cNvPr id="21512" name="Group 29"/>
            <p:cNvGrpSpPr>
              <a:grpSpLocks/>
            </p:cNvGrpSpPr>
            <p:nvPr/>
          </p:nvGrpSpPr>
          <p:grpSpPr bwMode="auto">
            <a:xfrm>
              <a:off x="2133601" y="1143000"/>
              <a:ext cx="5491162" cy="2660650"/>
              <a:chOff x="2133601" y="1143000"/>
              <a:chExt cx="5491162" cy="2660650"/>
            </a:xfrm>
          </p:grpSpPr>
          <p:sp>
            <p:nvSpPr>
              <p:cNvPr id="21513" name="Rectangle 4"/>
              <p:cNvSpPr>
                <a:spLocks noChangeArrowheads="1"/>
              </p:cNvSpPr>
              <p:nvPr/>
            </p:nvSpPr>
            <p:spPr bwMode="auto">
              <a:xfrm>
                <a:off x="2133601" y="2290763"/>
                <a:ext cx="990600" cy="7085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000" dirty="0">
                    <a:latin typeface="Arial" charset="0"/>
                  </a:rPr>
                  <a:t>20</a:t>
                </a: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000" dirty="0">
                    <a:latin typeface="Arial" charset="0"/>
                  </a:rPr>
                  <a:t>0.9497</a:t>
                </a:r>
              </a:p>
            </p:txBody>
          </p:sp>
          <p:grpSp>
            <p:nvGrpSpPr>
              <p:cNvPr id="21514" name="Group 14"/>
              <p:cNvGrpSpPr>
                <a:grpSpLocks/>
              </p:cNvGrpSpPr>
              <p:nvPr/>
            </p:nvGrpSpPr>
            <p:grpSpPr bwMode="auto">
              <a:xfrm>
                <a:off x="3044825" y="1590675"/>
                <a:ext cx="3979863" cy="2212975"/>
                <a:chOff x="1934" y="986"/>
                <a:chExt cx="2507" cy="1394"/>
              </a:xfrm>
            </p:grpSpPr>
            <p:grpSp>
              <p:nvGrpSpPr>
                <p:cNvPr id="21523" name="Group 7"/>
                <p:cNvGrpSpPr>
                  <a:grpSpLocks/>
                </p:cNvGrpSpPr>
                <p:nvPr/>
              </p:nvGrpSpPr>
              <p:grpSpPr bwMode="auto">
                <a:xfrm>
                  <a:off x="1934" y="1331"/>
                  <a:ext cx="1263" cy="705"/>
                  <a:chOff x="1934" y="1331"/>
                  <a:chExt cx="1263" cy="705"/>
                </a:xfrm>
              </p:grpSpPr>
              <p:sp>
                <p:nvSpPr>
                  <p:cNvPr id="21530" name="Line 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34" y="1331"/>
                    <a:ext cx="1263" cy="352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1531" name="Line 6"/>
                  <p:cNvSpPr>
                    <a:spLocks noChangeShapeType="1"/>
                  </p:cNvSpPr>
                  <p:nvPr/>
                </p:nvSpPr>
                <p:spPr bwMode="auto">
                  <a:xfrm>
                    <a:off x="1934" y="1683"/>
                    <a:ext cx="1263" cy="353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1524" name="Group 10"/>
                <p:cNvGrpSpPr>
                  <a:grpSpLocks/>
                </p:cNvGrpSpPr>
                <p:nvPr/>
              </p:nvGrpSpPr>
              <p:grpSpPr bwMode="auto">
                <a:xfrm>
                  <a:off x="3178" y="986"/>
                  <a:ext cx="1263" cy="705"/>
                  <a:chOff x="3178" y="986"/>
                  <a:chExt cx="1263" cy="705"/>
                </a:xfrm>
              </p:grpSpPr>
              <p:sp>
                <p:nvSpPr>
                  <p:cNvPr id="21528" name="Line 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78" y="986"/>
                    <a:ext cx="1263" cy="353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1529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3178" y="1339"/>
                    <a:ext cx="1263" cy="352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1525" name="Group 13"/>
                <p:cNvGrpSpPr>
                  <a:grpSpLocks/>
                </p:cNvGrpSpPr>
                <p:nvPr/>
              </p:nvGrpSpPr>
              <p:grpSpPr bwMode="auto">
                <a:xfrm>
                  <a:off x="3172" y="1675"/>
                  <a:ext cx="1263" cy="705"/>
                  <a:chOff x="3172" y="1675"/>
                  <a:chExt cx="1263" cy="705"/>
                </a:xfrm>
              </p:grpSpPr>
              <p:sp>
                <p:nvSpPr>
                  <p:cNvPr id="21526" name="Line 1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72" y="1675"/>
                    <a:ext cx="1263" cy="353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1527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3172" y="2028"/>
                    <a:ext cx="1263" cy="352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21515" name="Rectangle 15"/>
              <p:cNvSpPr>
                <a:spLocks noChangeArrowheads="1"/>
              </p:cNvSpPr>
              <p:nvPr/>
            </p:nvSpPr>
            <p:spPr bwMode="auto">
              <a:xfrm>
                <a:off x="4729163" y="1714500"/>
                <a:ext cx="471283" cy="400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Arial" charset="0"/>
                  </a:rPr>
                  <a:t>22</a:t>
                </a:r>
              </a:p>
            </p:txBody>
          </p:sp>
          <p:sp>
            <p:nvSpPr>
              <p:cNvPr id="21516" name="Rectangle 16"/>
              <p:cNvSpPr>
                <a:spLocks noChangeArrowheads="1"/>
              </p:cNvSpPr>
              <p:nvPr/>
            </p:nvSpPr>
            <p:spPr bwMode="auto">
              <a:xfrm>
                <a:off x="4829175" y="2822575"/>
                <a:ext cx="471283" cy="400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Arial" charset="0"/>
                  </a:rPr>
                  <a:t>18</a:t>
                </a:r>
              </a:p>
            </p:txBody>
          </p:sp>
          <p:sp>
            <p:nvSpPr>
              <p:cNvPr id="21517" name="Rectangle 17"/>
              <p:cNvSpPr>
                <a:spLocks noChangeArrowheads="1"/>
              </p:cNvSpPr>
              <p:nvPr/>
            </p:nvSpPr>
            <p:spPr bwMode="auto">
              <a:xfrm>
                <a:off x="6940281" y="1143000"/>
                <a:ext cx="684482" cy="7085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Arial" charset="0"/>
                  </a:rPr>
                  <a:t>24.2</a:t>
                </a:r>
              </a:p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Arial" charset="0"/>
                  </a:rPr>
                  <a:t>3.2</a:t>
                </a:r>
              </a:p>
            </p:txBody>
          </p:sp>
          <p:sp>
            <p:nvSpPr>
              <p:cNvPr id="21518" name="Rectangle 18"/>
              <p:cNvSpPr>
                <a:spLocks noChangeArrowheads="1"/>
              </p:cNvSpPr>
              <p:nvPr/>
            </p:nvSpPr>
            <p:spPr bwMode="auto">
              <a:xfrm>
                <a:off x="6940281" y="2246313"/>
                <a:ext cx="684482" cy="7085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Arial" charset="0"/>
                  </a:rPr>
                  <a:t>19.8</a:t>
                </a:r>
              </a:p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Arial" charset="0"/>
                  </a:rPr>
                  <a:t>0.0</a:t>
                </a:r>
              </a:p>
            </p:txBody>
          </p:sp>
          <p:sp>
            <p:nvSpPr>
              <p:cNvPr id="21519" name="Rectangle 20"/>
              <p:cNvSpPr>
                <a:spLocks noChangeArrowheads="1"/>
              </p:cNvSpPr>
              <p:nvPr/>
            </p:nvSpPr>
            <p:spPr bwMode="auto">
              <a:xfrm>
                <a:off x="4473575" y="2209800"/>
                <a:ext cx="969817" cy="400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 dirty="0">
                    <a:latin typeface="Arial" charset="0"/>
                  </a:rPr>
                  <a:t>1.7433</a:t>
                </a:r>
              </a:p>
            </p:txBody>
          </p:sp>
          <p:sp>
            <p:nvSpPr>
              <p:cNvPr id="21520" name="Rectangle 21"/>
              <p:cNvSpPr>
                <a:spLocks noChangeArrowheads="1"/>
              </p:cNvSpPr>
              <p:nvPr/>
            </p:nvSpPr>
            <p:spPr bwMode="auto">
              <a:xfrm>
                <a:off x="4791075" y="3332163"/>
                <a:ext cx="541815" cy="400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Arial" charset="0"/>
                  </a:rPr>
                  <a:t>0.0</a:t>
                </a:r>
              </a:p>
            </p:txBody>
          </p:sp>
          <p:sp>
            <p:nvSpPr>
              <p:cNvPr id="21521" name="Rectangle 22"/>
              <p:cNvSpPr>
                <a:spLocks noChangeArrowheads="1"/>
              </p:cNvSpPr>
              <p:nvPr/>
            </p:nvSpPr>
            <p:spPr bwMode="auto">
              <a:xfrm>
                <a:off x="3375025" y="2506663"/>
                <a:ext cx="354013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Arial" charset="0"/>
                  </a:rPr>
                  <a:t>A</a:t>
                </a:r>
              </a:p>
            </p:txBody>
          </p:sp>
          <p:sp>
            <p:nvSpPr>
              <p:cNvPr id="21522" name="Rectangle 23"/>
              <p:cNvSpPr>
                <a:spLocks noChangeArrowheads="1"/>
              </p:cNvSpPr>
              <p:nvPr/>
            </p:nvSpPr>
            <p:spPr bwMode="auto">
              <a:xfrm>
                <a:off x="5410200" y="1981200"/>
                <a:ext cx="304800" cy="400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Arial" charset="0"/>
                  </a:rPr>
                  <a:t>B</a:t>
                </a:r>
              </a:p>
            </p:txBody>
          </p:sp>
        </p:grpSp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z="4000" dirty="0"/>
              <a:t>A Put Option Example</a:t>
            </a:r>
            <a:br>
              <a:rPr lang="en-US" altLang="en-US" dirty="0"/>
            </a:br>
            <a:r>
              <a:rPr lang="en-US" altLang="en-US" sz="2200" dirty="0"/>
              <a:t>Figure 13.7</a:t>
            </a:r>
            <a:endParaRPr lang="en-US" alt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4724400"/>
            <a:ext cx="6172200" cy="12192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sz="2400" i="1" dirty="0">
                <a:latin typeface="Times New Roman" pitchFamily="18" charset="0"/>
                <a:cs typeface="Arial" charset="0"/>
              </a:rPr>
              <a:t>K </a:t>
            </a:r>
            <a:r>
              <a:rPr lang="en-US" sz="2400" dirty="0">
                <a:latin typeface="Arial" charset="0"/>
                <a:cs typeface="Arial" charset="0"/>
              </a:rPr>
              <a:t>= 52, time step</a:t>
            </a:r>
            <a:r>
              <a:rPr lang="en-US" sz="24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=1yr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i="1" dirty="0">
                <a:latin typeface="Times New Roman" pitchFamily="18" charset="0"/>
                <a:cs typeface="Arial" charset="0"/>
              </a:rPr>
              <a:t>r </a:t>
            </a:r>
            <a:r>
              <a:rPr lang="en-US" sz="2400" dirty="0">
                <a:latin typeface="Arial" charset="0"/>
                <a:cs typeface="Arial" charset="0"/>
              </a:rPr>
              <a:t>= 5%, </a:t>
            </a:r>
            <a:r>
              <a:rPr lang="en-US" sz="2400" i="1" dirty="0">
                <a:latin typeface="+mj-lt"/>
                <a:cs typeface="Arial" charset="0"/>
              </a:rPr>
              <a:t>u </a:t>
            </a:r>
            <a:r>
              <a:rPr lang="en-US" sz="2400" dirty="0">
                <a:latin typeface="Arial" charset="0"/>
                <a:cs typeface="Arial" charset="0"/>
              </a:rPr>
              <a:t>=1.2, </a:t>
            </a:r>
            <a:r>
              <a:rPr lang="en-US" sz="2400" i="1" dirty="0">
                <a:latin typeface="+mj-lt"/>
                <a:cs typeface="Arial" charset="0"/>
              </a:rPr>
              <a:t>d </a:t>
            </a:r>
            <a:r>
              <a:rPr lang="en-US" sz="2400" dirty="0">
                <a:latin typeface="Arial" charset="0"/>
                <a:cs typeface="Arial" charset="0"/>
              </a:rPr>
              <a:t>= 0.8, </a:t>
            </a:r>
            <a:r>
              <a:rPr lang="en-US" sz="2400" i="1" dirty="0">
                <a:latin typeface="+mj-lt"/>
                <a:cs typeface="Arial" charset="0"/>
              </a:rPr>
              <a:t>p </a:t>
            </a:r>
            <a:r>
              <a:rPr lang="en-US" sz="2400" dirty="0">
                <a:latin typeface="Arial" charset="0"/>
                <a:cs typeface="Arial" charset="0"/>
              </a:rPr>
              <a:t>= 0.6282</a:t>
            </a:r>
            <a:r>
              <a:rPr lang="en-US" dirty="0">
                <a:latin typeface="Arial" charset="0"/>
                <a:cs typeface="Arial" charset="0"/>
              </a:rPr>
              <a:t>							</a:t>
            </a:r>
          </a:p>
        </p:txBody>
      </p:sp>
      <p:sp>
        <p:nvSpPr>
          <p:cNvPr id="2253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D269E2A-C039-4492-8FEE-FCCFD0A7A46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>
              <a:latin typeface="Arial" charset="0"/>
            </a:endParaRPr>
          </a:p>
        </p:txBody>
      </p:sp>
      <p:grpSp>
        <p:nvGrpSpPr>
          <p:cNvPr id="22534" name="Group 28"/>
          <p:cNvGrpSpPr>
            <a:grpSpLocks/>
          </p:cNvGrpSpPr>
          <p:nvPr/>
        </p:nvGrpSpPr>
        <p:grpSpPr bwMode="auto">
          <a:xfrm>
            <a:off x="1524000" y="1905000"/>
            <a:ext cx="4618038" cy="2384425"/>
            <a:chOff x="1620" y="1426"/>
            <a:chExt cx="3271" cy="1858"/>
          </a:xfrm>
        </p:grpSpPr>
        <p:sp>
          <p:nvSpPr>
            <p:cNvPr id="22535" name="Rectangle 4"/>
            <p:cNvSpPr>
              <a:spLocks noChangeArrowheads="1"/>
            </p:cNvSpPr>
            <p:nvPr/>
          </p:nvSpPr>
          <p:spPr bwMode="auto">
            <a:xfrm>
              <a:off x="1620" y="2149"/>
              <a:ext cx="687" cy="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50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4.1923</a:t>
              </a:r>
            </a:p>
          </p:txBody>
        </p:sp>
        <p:grpSp>
          <p:nvGrpSpPr>
            <p:cNvPr id="22536" name="Group 14"/>
            <p:cNvGrpSpPr>
              <a:grpSpLocks/>
            </p:cNvGrpSpPr>
            <p:nvPr/>
          </p:nvGrpSpPr>
          <p:grpSpPr bwMode="auto">
            <a:xfrm>
              <a:off x="2140" y="1708"/>
              <a:ext cx="2507" cy="1394"/>
              <a:chOff x="2140" y="1708"/>
              <a:chExt cx="2507" cy="1394"/>
            </a:xfrm>
          </p:grpSpPr>
          <p:grpSp>
            <p:nvGrpSpPr>
              <p:cNvPr id="22544" name="Group 7"/>
              <p:cNvGrpSpPr>
                <a:grpSpLocks/>
              </p:cNvGrpSpPr>
              <p:nvPr/>
            </p:nvGrpSpPr>
            <p:grpSpPr bwMode="auto">
              <a:xfrm>
                <a:off x="2140" y="2053"/>
                <a:ext cx="1263" cy="705"/>
                <a:chOff x="2140" y="2053"/>
                <a:chExt cx="1263" cy="705"/>
              </a:xfrm>
            </p:grpSpPr>
            <p:sp>
              <p:nvSpPr>
                <p:cNvPr id="22551" name="Line 5"/>
                <p:cNvSpPr>
                  <a:spLocks noChangeShapeType="1"/>
                </p:cNvSpPr>
                <p:nvPr/>
              </p:nvSpPr>
              <p:spPr bwMode="auto">
                <a:xfrm flipV="1">
                  <a:off x="2140" y="2053"/>
                  <a:ext cx="1263" cy="35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52" name="Line 6"/>
                <p:cNvSpPr>
                  <a:spLocks noChangeShapeType="1"/>
                </p:cNvSpPr>
                <p:nvPr/>
              </p:nvSpPr>
              <p:spPr bwMode="auto">
                <a:xfrm>
                  <a:off x="2140" y="2405"/>
                  <a:ext cx="1263" cy="35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2545" name="Group 10"/>
              <p:cNvGrpSpPr>
                <a:grpSpLocks/>
              </p:cNvGrpSpPr>
              <p:nvPr/>
            </p:nvGrpSpPr>
            <p:grpSpPr bwMode="auto">
              <a:xfrm>
                <a:off x="3384" y="1708"/>
                <a:ext cx="1263" cy="705"/>
                <a:chOff x="3384" y="1708"/>
                <a:chExt cx="1263" cy="705"/>
              </a:xfrm>
            </p:grpSpPr>
            <p:sp>
              <p:nvSpPr>
                <p:cNvPr id="22549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3384" y="1708"/>
                  <a:ext cx="1263" cy="35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50" name="Line 9"/>
                <p:cNvSpPr>
                  <a:spLocks noChangeShapeType="1"/>
                </p:cNvSpPr>
                <p:nvPr/>
              </p:nvSpPr>
              <p:spPr bwMode="auto">
                <a:xfrm>
                  <a:off x="3384" y="2061"/>
                  <a:ext cx="1263" cy="35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2546" name="Group 13"/>
              <p:cNvGrpSpPr>
                <a:grpSpLocks/>
              </p:cNvGrpSpPr>
              <p:nvPr/>
            </p:nvGrpSpPr>
            <p:grpSpPr bwMode="auto">
              <a:xfrm>
                <a:off x="3378" y="2397"/>
                <a:ext cx="1263" cy="705"/>
                <a:chOff x="3378" y="2397"/>
                <a:chExt cx="1263" cy="705"/>
              </a:xfrm>
            </p:grpSpPr>
            <p:sp>
              <p:nvSpPr>
                <p:cNvPr id="22547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3378" y="2397"/>
                  <a:ext cx="1263" cy="35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48" name="Line 12"/>
                <p:cNvSpPr>
                  <a:spLocks noChangeShapeType="1"/>
                </p:cNvSpPr>
                <p:nvPr/>
              </p:nvSpPr>
              <p:spPr bwMode="auto">
                <a:xfrm>
                  <a:off x="3378" y="2750"/>
                  <a:ext cx="1263" cy="35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22537" name="Rectangle 15"/>
            <p:cNvSpPr>
              <a:spLocks noChangeArrowheads="1"/>
            </p:cNvSpPr>
            <p:nvPr/>
          </p:nvSpPr>
          <p:spPr bwMode="auto">
            <a:xfrm>
              <a:off x="3201" y="1786"/>
              <a:ext cx="2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60</a:t>
              </a:r>
            </a:p>
          </p:txBody>
        </p:sp>
        <p:sp>
          <p:nvSpPr>
            <p:cNvPr id="22538" name="Rectangle 16"/>
            <p:cNvSpPr>
              <a:spLocks noChangeArrowheads="1"/>
            </p:cNvSpPr>
            <p:nvPr/>
          </p:nvSpPr>
          <p:spPr bwMode="auto">
            <a:xfrm>
              <a:off x="3264" y="2484"/>
              <a:ext cx="2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40</a:t>
              </a:r>
            </a:p>
          </p:txBody>
        </p:sp>
        <p:sp>
          <p:nvSpPr>
            <p:cNvPr id="22539" name="Rectangle 17"/>
            <p:cNvSpPr>
              <a:spLocks noChangeArrowheads="1"/>
            </p:cNvSpPr>
            <p:nvPr/>
          </p:nvSpPr>
          <p:spPr bwMode="auto">
            <a:xfrm>
              <a:off x="4594" y="1426"/>
              <a:ext cx="297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72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0</a:t>
              </a:r>
            </a:p>
          </p:txBody>
        </p:sp>
        <p:sp>
          <p:nvSpPr>
            <p:cNvPr id="22540" name="Rectangle 18"/>
            <p:cNvSpPr>
              <a:spLocks noChangeArrowheads="1"/>
            </p:cNvSpPr>
            <p:nvPr/>
          </p:nvSpPr>
          <p:spPr bwMode="auto">
            <a:xfrm>
              <a:off x="4594" y="2121"/>
              <a:ext cx="297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48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4</a:t>
              </a:r>
            </a:p>
          </p:txBody>
        </p:sp>
        <p:sp>
          <p:nvSpPr>
            <p:cNvPr id="22541" name="Rectangle 19"/>
            <p:cNvSpPr>
              <a:spLocks noChangeArrowheads="1"/>
            </p:cNvSpPr>
            <p:nvPr/>
          </p:nvSpPr>
          <p:spPr bwMode="auto">
            <a:xfrm>
              <a:off x="4594" y="2838"/>
              <a:ext cx="297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32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20</a:t>
              </a:r>
            </a:p>
          </p:txBody>
        </p:sp>
        <p:sp>
          <p:nvSpPr>
            <p:cNvPr id="22542" name="Rectangle 20"/>
            <p:cNvSpPr>
              <a:spLocks noChangeArrowheads="1"/>
            </p:cNvSpPr>
            <p:nvPr/>
          </p:nvSpPr>
          <p:spPr bwMode="auto">
            <a:xfrm>
              <a:off x="3040" y="2079"/>
              <a:ext cx="685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1.4147</a:t>
              </a:r>
            </a:p>
          </p:txBody>
        </p:sp>
        <p:sp>
          <p:nvSpPr>
            <p:cNvPr id="22543" name="Rectangle 21"/>
            <p:cNvSpPr>
              <a:spLocks noChangeArrowheads="1"/>
            </p:cNvSpPr>
            <p:nvPr/>
          </p:nvSpPr>
          <p:spPr bwMode="auto">
            <a:xfrm>
              <a:off x="3067" y="2792"/>
              <a:ext cx="766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9.4636</a:t>
              </a:r>
            </a:p>
          </p:txBody>
        </p:sp>
      </p:grp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Delta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1092200" y="2286000"/>
            <a:ext cx="6959600" cy="38449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Delta (</a:t>
            </a:r>
            <a:r>
              <a:rPr lang="en-US" altLang="en-US">
                <a:latin typeface="Symbol" pitchFamily="18" charset="2"/>
                <a:cs typeface="Arial" charset="0"/>
              </a:rPr>
              <a:t>D</a:t>
            </a:r>
            <a:r>
              <a:rPr lang="en-US" altLang="en-US">
                <a:latin typeface="Arial" charset="0"/>
                <a:cs typeface="Arial" charset="0"/>
              </a:rPr>
              <a:t>) is the ratio of the change in the price of a stock option to the change in the price of the underlying stock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The value of </a:t>
            </a:r>
            <a:r>
              <a:rPr lang="en-US" altLang="en-US">
                <a:latin typeface="Symbol" pitchFamily="18" charset="2"/>
                <a:cs typeface="Arial" charset="0"/>
              </a:rPr>
              <a:t>D</a:t>
            </a:r>
            <a:r>
              <a:rPr lang="en-US" altLang="en-US">
                <a:latin typeface="Arial" charset="0"/>
                <a:cs typeface="Arial" charset="0"/>
              </a:rPr>
              <a:t> varies from node to node</a:t>
            </a: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0658C77-4103-471C-94A7-E7F2200ED63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2" y="930275"/>
            <a:ext cx="8212137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Choosing u and d </a:t>
            </a:r>
            <a:r>
              <a:rPr lang="en-US" altLang="en-US" sz="2400" dirty="0"/>
              <a:t>(equations 13.15 and 13.16)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Arial" charset="0"/>
                <a:cs typeface="Arial" charset="0"/>
              </a:rPr>
              <a:t>	One way of matching the volatility is to set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Arial" charset="0"/>
                <a:cs typeface="Arial" charset="0"/>
              </a:rPr>
              <a:t>	where </a:t>
            </a:r>
            <a:r>
              <a:rPr lang="en-US" altLang="en-US">
                <a:latin typeface="Symbol" pitchFamily="18" charset="2"/>
                <a:cs typeface="Arial" charset="0"/>
              </a:rPr>
              <a:t>s</a:t>
            </a:r>
            <a:r>
              <a:rPr lang="en-US" altLang="en-US">
                <a:latin typeface="Arial" charset="0"/>
                <a:cs typeface="Arial" charset="0"/>
              </a:rPr>
              <a:t> is the volatility and</a:t>
            </a:r>
            <a:r>
              <a:rPr lang="en-US" altLang="en-US">
                <a:latin typeface="Symbol" pitchFamily="18" charset="2"/>
                <a:cs typeface="Arial" charset="0"/>
              </a:rPr>
              <a:t> D</a:t>
            </a:r>
            <a:r>
              <a:rPr lang="en-US" altLang="en-US" i="1">
                <a:latin typeface="Times New Roman" pitchFamily="18" charset="0"/>
                <a:cs typeface="Arial" charset="0"/>
              </a:rPr>
              <a:t>t</a:t>
            </a:r>
            <a:r>
              <a:rPr lang="en-US" altLang="en-US">
                <a:latin typeface="Arial" charset="0"/>
                <a:cs typeface="Arial" charset="0"/>
              </a:rPr>
              <a:t> is the length of the time step. This is the approach used by Cox, Ross, and Rubinstein</a:t>
            </a:r>
          </a:p>
        </p:txBody>
      </p:sp>
      <p:sp>
        <p:nvSpPr>
          <p:cNvPr id="2560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9BD50F6-7555-42CC-890E-5F8B4EA20CD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>
              <a:latin typeface="Arial" charset="0"/>
            </a:endParaRPr>
          </a:p>
        </p:txBody>
      </p:sp>
      <p:graphicFrame>
        <p:nvGraphicFramePr>
          <p:cNvPr id="25606" name="Object 1024"/>
          <p:cNvGraphicFramePr>
            <a:graphicFrameLocks noChangeAspect="1"/>
          </p:cNvGraphicFramePr>
          <p:nvPr/>
        </p:nvGraphicFramePr>
        <p:xfrm>
          <a:off x="2895600" y="2895600"/>
          <a:ext cx="3106738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77900" imgH="508000" progId="Equation.3">
                  <p:embed/>
                </p:oleObj>
              </mc:Choice>
              <mc:Fallback>
                <p:oleObj name="Equation" r:id="rId5" imgW="977900" imgH="5080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895600"/>
                        <a:ext cx="3106738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Girsanov’s Theorem</a:t>
            </a:r>
            <a:endParaRPr lang="en-US" altLang="en-US"/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latin typeface="Arial" charset="0"/>
                <a:cs typeface="Arial" charset="0"/>
              </a:rPr>
              <a:t>Volatility is the same in the real world and the risk-neutral world</a:t>
            </a:r>
          </a:p>
          <a:p>
            <a:pPr eaLnBrk="1" hangingPunct="1"/>
            <a:r>
              <a:rPr lang="en-CA" altLang="en-US" dirty="0">
                <a:latin typeface="Arial" charset="0"/>
                <a:cs typeface="Arial" charset="0"/>
              </a:rPr>
              <a:t>We can therefore measure volatility in the real world and use it to build a tree for the an asset in the risk-neutral world</a:t>
            </a:r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2662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5AF6A11-7CE9-438F-B781-BEDA139913E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Ch11HullOFOD8thlEdition</Template>
  <TotalTime>510</TotalTime>
  <Words>1580</Words>
  <Application>Microsoft Office PowerPoint</Application>
  <PresentationFormat>On-screen Show (4:3)</PresentationFormat>
  <Paragraphs>244</Paragraphs>
  <Slides>21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Symbol</vt:lpstr>
      <vt:lpstr>Tahoma</vt:lpstr>
      <vt:lpstr>Times New Roman</vt:lpstr>
      <vt:lpstr>Wingdings</vt:lpstr>
      <vt:lpstr>Wingdings 2</vt:lpstr>
      <vt:lpstr>Global</vt:lpstr>
      <vt:lpstr>Equation</vt:lpstr>
      <vt:lpstr>Chapter 13 Binomial Trees</vt:lpstr>
      <vt:lpstr>A Simple Binomial Model </vt:lpstr>
      <vt:lpstr>A Call Option (Figure 13.1)</vt:lpstr>
      <vt:lpstr>Setting Up a Riskless Portfolio</vt:lpstr>
      <vt:lpstr>Valuing the Portfolio (Risk-Free Rate is 4%)</vt:lpstr>
      <vt:lpstr>Valuing the Option</vt:lpstr>
      <vt:lpstr>Generalization (Figure 13.2)</vt:lpstr>
      <vt:lpstr>Generalization (continued)</vt:lpstr>
      <vt:lpstr>Generalization  (continued)</vt:lpstr>
      <vt:lpstr>Generalization continued (equation 13.2 and 13.3)</vt:lpstr>
      <vt:lpstr>p as a Probability</vt:lpstr>
      <vt:lpstr>Risk-Neutral Valuation</vt:lpstr>
      <vt:lpstr>Original Example Revisited</vt:lpstr>
      <vt:lpstr>Valuing the Option Using Risk-Neutral Valuation</vt:lpstr>
      <vt:lpstr>Irrelevance of Stock’s Expected Return</vt:lpstr>
      <vt:lpstr>A Two-Step Example Figure 13.3</vt:lpstr>
      <vt:lpstr>Valuing a Call Option Figure 13.4</vt:lpstr>
      <vt:lpstr>A Put Option Example Figure 13.7</vt:lpstr>
      <vt:lpstr>Delta</vt:lpstr>
      <vt:lpstr>Choosing u and d (equations 13.15 and 13.16)</vt:lpstr>
      <vt:lpstr>Girsanov’s Theorem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Binomial Trees</dc:title>
  <dc:subject>Options, Futures, and Other Derivatives, 11e</dc:subject>
  <dc:creator>John C. Hull</dc:creator>
  <cp:keywords>Chapter 13</cp:keywords>
  <dc:description>Copyright 2021 by John C. Hull. All Rights Reserved. Published 2021</dc:description>
  <cp:lastModifiedBy>Bihary  Zsolt</cp:lastModifiedBy>
  <cp:revision>55</cp:revision>
  <dcterms:created xsi:type="dcterms:W3CDTF">2008-05-29T16:38:10Z</dcterms:created>
  <dcterms:modified xsi:type="dcterms:W3CDTF">2022-12-04T21:34:01Z</dcterms:modified>
</cp:coreProperties>
</file>