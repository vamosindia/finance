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charts/chart1.xml" ContentType="application/vnd.openxmlformats-officedocument.drawingml.chart+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9"/>
  </p:notesMasterIdLst>
  <p:sldIdLst>
    <p:sldId id="257" r:id="rId2"/>
    <p:sldId id="318" r:id="rId3"/>
    <p:sldId id="386" r:id="rId4"/>
    <p:sldId id="387" r:id="rId5"/>
    <p:sldId id="277" r:id="rId6"/>
    <p:sldId id="3357" r:id="rId7"/>
    <p:sldId id="3356" r:id="rId8"/>
    <p:sldId id="399" r:id="rId9"/>
    <p:sldId id="260" r:id="rId10"/>
    <p:sldId id="265" r:id="rId11"/>
    <p:sldId id="278" r:id="rId12"/>
    <p:sldId id="279" r:id="rId13"/>
    <p:sldId id="280" r:id="rId14"/>
    <p:sldId id="281" r:id="rId15"/>
    <p:sldId id="282" r:id="rId16"/>
    <p:sldId id="388" r:id="rId17"/>
    <p:sldId id="357" r:id="rId18"/>
    <p:sldId id="389" r:id="rId19"/>
    <p:sldId id="303" r:id="rId20"/>
    <p:sldId id="274" r:id="rId21"/>
    <p:sldId id="304" r:id="rId22"/>
    <p:sldId id="3358" r:id="rId23"/>
    <p:sldId id="3359" r:id="rId24"/>
    <p:sldId id="3462" r:id="rId25"/>
    <p:sldId id="3463" r:id="rId26"/>
    <p:sldId id="3464" r:id="rId27"/>
    <p:sldId id="3465" r:id="rId28"/>
    <p:sldId id="3466" r:id="rId29"/>
    <p:sldId id="309" r:id="rId30"/>
    <p:sldId id="310" r:id="rId31"/>
    <p:sldId id="264" r:id="rId32"/>
    <p:sldId id="382" r:id="rId33"/>
    <p:sldId id="266" r:id="rId34"/>
    <p:sldId id="268" r:id="rId35"/>
    <p:sldId id="271" r:id="rId36"/>
    <p:sldId id="272" r:id="rId37"/>
    <p:sldId id="273" r:id="rId38"/>
    <p:sldId id="6035" r:id="rId39"/>
    <p:sldId id="400" r:id="rId40"/>
    <p:sldId id="262" r:id="rId41"/>
    <p:sldId id="311" r:id="rId42"/>
    <p:sldId id="394" r:id="rId43"/>
    <p:sldId id="385" r:id="rId44"/>
    <p:sldId id="356" r:id="rId45"/>
    <p:sldId id="317" r:id="rId46"/>
    <p:sldId id="397" r:id="rId47"/>
    <p:sldId id="395" r:id="rId48"/>
    <p:sldId id="396" r:id="rId49"/>
    <p:sldId id="444" r:id="rId50"/>
    <p:sldId id="3353" r:id="rId51"/>
    <p:sldId id="3477" r:id="rId52"/>
    <p:sldId id="3476" r:id="rId53"/>
    <p:sldId id="3367" r:id="rId54"/>
    <p:sldId id="3392" r:id="rId55"/>
    <p:sldId id="3354" r:id="rId56"/>
    <p:sldId id="3355" r:id="rId57"/>
    <p:sldId id="3467" r:id="rId58"/>
    <p:sldId id="3468" r:id="rId59"/>
    <p:sldId id="3469" r:id="rId60"/>
    <p:sldId id="3361" r:id="rId61"/>
    <p:sldId id="3363" r:id="rId62"/>
    <p:sldId id="445" r:id="rId63"/>
    <p:sldId id="3390" r:id="rId64"/>
    <p:sldId id="381" r:id="rId65"/>
    <p:sldId id="3478" r:id="rId66"/>
    <p:sldId id="3369" r:id="rId67"/>
    <p:sldId id="3370" r:id="rId68"/>
    <p:sldId id="3371" r:id="rId69"/>
    <p:sldId id="3368" r:id="rId70"/>
    <p:sldId id="379" r:id="rId71"/>
    <p:sldId id="372" r:id="rId72"/>
    <p:sldId id="408" r:id="rId73"/>
    <p:sldId id="384" r:id="rId74"/>
    <p:sldId id="6037" r:id="rId75"/>
    <p:sldId id="6038" r:id="rId76"/>
    <p:sldId id="3374" r:id="rId77"/>
    <p:sldId id="3383" r:id="rId78"/>
    <p:sldId id="3375" r:id="rId79"/>
    <p:sldId id="3364" r:id="rId80"/>
    <p:sldId id="3373" r:id="rId81"/>
    <p:sldId id="3377" r:id="rId82"/>
    <p:sldId id="3379" r:id="rId83"/>
    <p:sldId id="3378" r:id="rId84"/>
    <p:sldId id="3380" r:id="rId85"/>
    <p:sldId id="3384" r:id="rId86"/>
    <p:sldId id="3385" r:id="rId87"/>
    <p:sldId id="639" r:id="rId88"/>
    <p:sldId id="932" r:id="rId89"/>
    <p:sldId id="1435" r:id="rId90"/>
    <p:sldId id="1361" r:id="rId91"/>
    <p:sldId id="1427" r:id="rId92"/>
    <p:sldId id="6031" r:id="rId93"/>
    <p:sldId id="1363" r:id="rId94"/>
    <p:sldId id="866" r:id="rId95"/>
    <p:sldId id="6034" r:id="rId96"/>
    <p:sldId id="1362" r:id="rId97"/>
    <p:sldId id="1367" r:id="rId98"/>
  </p:sldIdLst>
  <p:sldSz cx="12192000" cy="6858000"/>
  <p:notesSz cx="6858000" cy="9144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8FE14C9-E414-9BCB-D725-10FCD1DF5D39}" name="Dörnyei, Szilvia" initials="DS" userId="S::Szilvia.Dornyei@kpmg.hu::0f15c7ab-b87e-49fe-9d70-d51a8b08f4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19" autoAdjust="0"/>
    <p:restoredTop sz="95226" autoAdjust="0"/>
  </p:normalViewPr>
  <p:slideViewPr>
    <p:cSldViewPr snapToGrid="0">
      <p:cViewPr varScale="1">
        <p:scale>
          <a:sx n="111" d="100"/>
          <a:sy n="111" d="100"/>
        </p:scale>
        <p:origin x="1026" y="108"/>
      </p:cViewPr>
      <p:guideLst/>
    </p:cSldViewPr>
  </p:slideViewPr>
  <p:notesTextViewPr>
    <p:cViewPr>
      <p:scale>
        <a:sx n="1" d="1"/>
        <a:sy n="1" d="1"/>
      </p:scale>
      <p:origin x="0" y="0"/>
    </p:cViewPr>
  </p:notesTextViewPr>
  <p:sorterViewPr>
    <p:cViewPr varScale="1">
      <p:scale>
        <a:sx n="1" d="1"/>
        <a:sy n="1" d="1"/>
      </p:scale>
      <p:origin x="0" y="-2097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microsoft.com/office/2018/10/relationships/authors" Targe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oleObject" Target="file:///D:\Knowledge\0.%20Basel%20II\03.%20Assets\4.%20Calculator\Documentation\Basel%20formula%20decoded%20120730%20with%20Vasicek%20UL.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lang="en-US" sz="1200" b="1" i="0" u="none" strike="noStrike" baseline="0">
                <a:solidFill>
                  <a:srgbClr val="000000"/>
                </a:solidFill>
                <a:latin typeface="Arial"/>
                <a:ea typeface="Arial"/>
                <a:cs typeface="Arial"/>
              </a:defRPr>
            </a:pPr>
            <a:r>
              <a:rPr lang="en-GB"/>
              <a:t>Expected and Unexpected Losses on PD</a:t>
            </a:r>
          </a:p>
        </c:rich>
      </c:tx>
      <c:layout>
        <c:manualLayout>
          <c:xMode val="edge"/>
          <c:yMode val="edge"/>
          <c:x val="0.15544227543773723"/>
          <c:y val="7.9691256468900559E-2"/>
        </c:manualLayout>
      </c:layout>
      <c:overlay val="0"/>
      <c:spPr>
        <a:noFill/>
        <a:ln w="25400">
          <a:noFill/>
        </a:ln>
      </c:spPr>
    </c:title>
    <c:autoTitleDeleted val="0"/>
    <c:plotArea>
      <c:layout>
        <c:manualLayout>
          <c:layoutTarget val="inner"/>
          <c:xMode val="edge"/>
          <c:yMode val="edge"/>
          <c:x val="0.12500020345085197"/>
          <c:y val="0.18421052631578938"/>
          <c:w val="0.81500132649955626"/>
          <c:h val="0.6263157894736846"/>
        </c:manualLayout>
      </c:layout>
      <c:lineChart>
        <c:grouping val="standard"/>
        <c:varyColors val="0"/>
        <c:ser>
          <c:idx val="1"/>
          <c:order val="0"/>
          <c:tx>
            <c:strRef>
              <c:f>PD!$P$5</c:f>
              <c:strCache>
                <c:ptCount val="1"/>
                <c:pt idx="0">
                  <c:v>UL</c:v>
                </c:pt>
              </c:strCache>
            </c:strRef>
          </c:tx>
          <c:spPr>
            <a:ln w="38100">
              <a:solidFill>
                <a:schemeClr val="accent4">
                  <a:lumMod val="75000"/>
                </a:schemeClr>
              </a:solidFill>
              <a:prstDash val="solid"/>
            </a:ln>
          </c:spPr>
          <c:marker>
            <c:symbol val="none"/>
          </c:marker>
          <c:cat>
            <c:numRef>
              <c:f>PD!$J$6:$J$106</c:f>
              <c:numCache>
                <c:formatCode>0.00</c:formatCode>
                <c:ptCount val="101"/>
                <c:pt idx="0" formatCode="0.0000">
                  <c:v>3.0000000000000068E-4</c:v>
                </c:pt>
                <c:pt idx="1">
                  <c:v>1.0000000000000012E-2</c:v>
                </c:pt>
                <c:pt idx="2">
                  <c:v>2.0000000000000025E-2</c:v>
                </c:pt>
                <c:pt idx="3">
                  <c:v>3.0000000000000027E-2</c:v>
                </c:pt>
                <c:pt idx="4">
                  <c:v>4.0000000000000049E-2</c:v>
                </c:pt>
                <c:pt idx="5">
                  <c:v>5.0000000000000044E-2</c:v>
                </c:pt>
                <c:pt idx="6">
                  <c:v>6.0000000000000081E-2</c:v>
                </c:pt>
                <c:pt idx="7">
                  <c:v>7.0000000000000034E-2</c:v>
                </c:pt>
                <c:pt idx="8">
                  <c:v>8.0000000000000099E-2</c:v>
                </c:pt>
                <c:pt idx="9">
                  <c:v>9.0000000000000066E-2</c:v>
                </c:pt>
                <c:pt idx="10">
                  <c:v>0.1</c:v>
                </c:pt>
                <c:pt idx="11">
                  <c:v>0.11000000000000006</c:v>
                </c:pt>
                <c:pt idx="12">
                  <c:v>0.12000000000000002</c:v>
                </c:pt>
                <c:pt idx="13">
                  <c:v>0.13</c:v>
                </c:pt>
                <c:pt idx="14">
                  <c:v>0.14000000000000001</c:v>
                </c:pt>
                <c:pt idx="15">
                  <c:v>0.15000000000000024</c:v>
                </c:pt>
                <c:pt idx="16">
                  <c:v>0.16000000000000011</c:v>
                </c:pt>
                <c:pt idx="17">
                  <c:v>0.17</c:v>
                </c:pt>
                <c:pt idx="18">
                  <c:v>0.18000000000000024</c:v>
                </c:pt>
                <c:pt idx="19">
                  <c:v>0.19000000000000011</c:v>
                </c:pt>
                <c:pt idx="20">
                  <c:v>0.2</c:v>
                </c:pt>
                <c:pt idx="21">
                  <c:v>0.21000000000000021</c:v>
                </c:pt>
                <c:pt idx="22">
                  <c:v>0.22000000000000011</c:v>
                </c:pt>
                <c:pt idx="23">
                  <c:v>0.23</c:v>
                </c:pt>
                <c:pt idx="24">
                  <c:v>0.24000000000000021</c:v>
                </c:pt>
                <c:pt idx="25">
                  <c:v>0.25</c:v>
                </c:pt>
                <c:pt idx="26">
                  <c:v>0.26</c:v>
                </c:pt>
                <c:pt idx="27">
                  <c:v>0.27</c:v>
                </c:pt>
                <c:pt idx="28">
                  <c:v>0.28000000000000008</c:v>
                </c:pt>
                <c:pt idx="29">
                  <c:v>0.29000000000000031</c:v>
                </c:pt>
                <c:pt idx="30">
                  <c:v>0.30000000000000032</c:v>
                </c:pt>
                <c:pt idx="31">
                  <c:v>0.3100000000000005</c:v>
                </c:pt>
                <c:pt idx="32">
                  <c:v>0.32000000000000056</c:v>
                </c:pt>
                <c:pt idx="33">
                  <c:v>0.33000000000000063</c:v>
                </c:pt>
                <c:pt idx="34">
                  <c:v>0.34000000000000036</c:v>
                </c:pt>
                <c:pt idx="35">
                  <c:v>0.35000000000000031</c:v>
                </c:pt>
                <c:pt idx="36">
                  <c:v>0.36000000000000032</c:v>
                </c:pt>
                <c:pt idx="37">
                  <c:v>0.37000000000000038</c:v>
                </c:pt>
                <c:pt idx="38">
                  <c:v>0.38000000000000056</c:v>
                </c:pt>
                <c:pt idx="39">
                  <c:v>0.39000000000000057</c:v>
                </c:pt>
                <c:pt idx="40">
                  <c:v>0.4</c:v>
                </c:pt>
                <c:pt idx="41">
                  <c:v>0.41000000000000031</c:v>
                </c:pt>
                <c:pt idx="42">
                  <c:v>0.42000000000000032</c:v>
                </c:pt>
                <c:pt idx="43">
                  <c:v>0.43000000000000038</c:v>
                </c:pt>
                <c:pt idx="44">
                  <c:v>0.44000000000000022</c:v>
                </c:pt>
                <c:pt idx="45">
                  <c:v>0.45</c:v>
                </c:pt>
                <c:pt idx="46">
                  <c:v>0.46</c:v>
                </c:pt>
                <c:pt idx="47">
                  <c:v>0.47000000000000008</c:v>
                </c:pt>
                <c:pt idx="48">
                  <c:v>0.48000000000000032</c:v>
                </c:pt>
                <c:pt idx="49">
                  <c:v>0.49000000000000032</c:v>
                </c:pt>
                <c:pt idx="50">
                  <c:v>0.5</c:v>
                </c:pt>
                <c:pt idx="51">
                  <c:v>0.51</c:v>
                </c:pt>
                <c:pt idx="52">
                  <c:v>0.52</c:v>
                </c:pt>
                <c:pt idx="53">
                  <c:v>0.53</c:v>
                </c:pt>
                <c:pt idx="54">
                  <c:v>0.54</c:v>
                </c:pt>
                <c:pt idx="55">
                  <c:v>0.55000000000000004</c:v>
                </c:pt>
                <c:pt idx="56">
                  <c:v>0.56000000000000005</c:v>
                </c:pt>
                <c:pt idx="57">
                  <c:v>0.56999999999999995</c:v>
                </c:pt>
                <c:pt idx="58">
                  <c:v>0.58000000000000052</c:v>
                </c:pt>
                <c:pt idx="59">
                  <c:v>0.59000000000000041</c:v>
                </c:pt>
                <c:pt idx="60">
                  <c:v>0.60000000000000064</c:v>
                </c:pt>
                <c:pt idx="61">
                  <c:v>0.61000000000000065</c:v>
                </c:pt>
                <c:pt idx="62">
                  <c:v>0.62000000000000099</c:v>
                </c:pt>
                <c:pt idx="63">
                  <c:v>0.63000000000000111</c:v>
                </c:pt>
                <c:pt idx="64">
                  <c:v>0.64000000000000112</c:v>
                </c:pt>
                <c:pt idx="65">
                  <c:v>0.65000000000000124</c:v>
                </c:pt>
                <c:pt idx="66">
                  <c:v>0.66000000000000125</c:v>
                </c:pt>
                <c:pt idx="67">
                  <c:v>0.67000000000000126</c:v>
                </c:pt>
                <c:pt idx="68">
                  <c:v>0.68000000000000083</c:v>
                </c:pt>
                <c:pt idx="69">
                  <c:v>0.69000000000000095</c:v>
                </c:pt>
                <c:pt idx="70">
                  <c:v>0.70000000000000062</c:v>
                </c:pt>
                <c:pt idx="71">
                  <c:v>0.71000000000000063</c:v>
                </c:pt>
                <c:pt idx="72">
                  <c:v>0.72000000000000064</c:v>
                </c:pt>
                <c:pt idx="73">
                  <c:v>0.73000000000000065</c:v>
                </c:pt>
                <c:pt idx="74">
                  <c:v>0.74000000000000099</c:v>
                </c:pt>
                <c:pt idx="75">
                  <c:v>0.75000000000000111</c:v>
                </c:pt>
                <c:pt idx="76">
                  <c:v>0.76000000000000112</c:v>
                </c:pt>
                <c:pt idx="77">
                  <c:v>0.77000000000000079</c:v>
                </c:pt>
                <c:pt idx="78">
                  <c:v>0.78</c:v>
                </c:pt>
                <c:pt idx="79">
                  <c:v>0.79</c:v>
                </c:pt>
                <c:pt idx="80">
                  <c:v>0.8</c:v>
                </c:pt>
                <c:pt idx="81">
                  <c:v>0.81</c:v>
                </c:pt>
                <c:pt idx="82">
                  <c:v>0.82000000000000062</c:v>
                </c:pt>
                <c:pt idx="83">
                  <c:v>0.83000000000000063</c:v>
                </c:pt>
                <c:pt idx="84">
                  <c:v>0.84000000000000064</c:v>
                </c:pt>
                <c:pt idx="85">
                  <c:v>0.85000000000000064</c:v>
                </c:pt>
                <c:pt idx="86">
                  <c:v>0.86000000000000065</c:v>
                </c:pt>
                <c:pt idx="87">
                  <c:v>0.87000000000000099</c:v>
                </c:pt>
                <c:pt idx="88">
                  <c:v>0.88000000000000045</c:v>
                </c:pt>
                <c:pt idx="89">
                  <c:v>0.89000000000000046</c:v>
                </c:pt>
                <c:pt idx="90">
                  <c:v>0.9</c:v>
                </c:pt>
                <c:pt idx="91">
                  <c:v>0.91</c:v>
                </c:pt>
                <c:pt idx="92">
                  <c:v>0.92</c:v>
                </c:pt>
                <c:pt idx="93">
                  <c:v>0.93</c:v>
                </c:pt>
                <c:pt idx="94">
                  <c:v>0.94000000000000061</c:v>
                </c:pt>
                <c:pt idx="95">
                  <c:v>0.95000000000000062</c:v>
                </c:pt>
                <c:pt idx="96">
                  <c:v>0.96000000000000063</c:v>
                </c:pt>
                <c:pt idx="97">
                  <c:v>0.97000000000000053</c:v>
                </c:pt>
                <c:pt idx="98">
                  <c:v>0.98</c:v>
                </c:pt>
                <c:pt idx="99">
                  <c:v>0.99</c:v>
                </c:pt>
                <c:pt idx="100">
                  <c:v>1</c:v>
                </c:pt>
              </c:numCache>
            </c:numRef>
          </c:cat>
          <c:val>
            <c:numRef>
              <c:f>PD!$P$7:$P$106</c:f>
              <c:numCache>
                <c:formatCode>0.000000000</c:formatCode>
                <c:ptCount val="100"/>
                <c:pt idx="0">
                  <c:v>5.8622705305429915E-2</c:v>
                </c:pt>
                <c:pt idx="1">
                  <c:v>7.6616559421874383E-2</c:v>
                </c:pt>
                <c:pt idx="2">
                  <c:v>8.7880481127145929E-2</c:v>
                </c:pt>
                <c:pt idx="3">
                  <c:v>9.7101103494107138E-2</c:v>
                </c:pt>
                <c:pt idx="4">
                  <c:v>0.10551951867899885</c:v>
                </c:pt>
                <c:pt idx="5">
                  <c:v>0.11345338531678546</c:v>
                </c:pt>
                <c:pt idx="6">
                  <c:v>0.12094853725832586</c:v>
                </c:pt>
                <c:pt idx="7">
                  <c:v>0.12798415494447071</c:v>
                </c:pt>
                <c:pt idx="8">
                  <c:v>0.13453755513399021</c:v>
                </c:pt>
                <c:pt idx="9">
                  <c:v>0.14060054734472552</c:v>
                </c:pt>
                <c:pt idx="10">
                  <c:v>0.14617963036355067</c:v>
                </c:pt>
                <c:pt idx="11">
                  <c:v>0.15129186237759504</c:v>
                </c:pt>
                <c:pt idx="12">
                  <c:v>0.15596053380330019</c:v>
                </c:pt>
                <c:pt idx="13">
                  <c:v>0.16021182229442568</c:v>
                </c:pt>
                <c:pt idx="14">
                  <c:v>0.16407254154032103</c:v>
                </c:pt>
                <c:pt idx="15">
                  <c:v>0.16756877124966391</c:v>
                </c:pt>
                <c:pt idx="16">
                  <c:v>0.17072510913528496</c:v>
                </c:pt>
                <c:pt idx="17">
                  <c:v>0.17356432810668793</c:v>
                </c:pt>
                <c:pt idx="18">
                  <c:v>0.17610728094915409</c:v>
                </c:pt>
                <c:pt idx="19">
                  <c:v>0.17837294624671768</c:v>
                </c:pt>
                <c:pt idx="20">
                  <c:v>0.18037854772649276</c:v>
                </c:pt>
                <c:pt idx="21">
                  <c:v>0.18213970567594226</c:v>
                </c:pt>
                <c:pt idx="22">
                  <c:v>0.18367059641485117</c:v>
                </c:pt>
                <c:pt idx="23">
                  <c:v>0.18498410671322046</c:v>
                </c:pt>
                <c:pt idx="24">
                  <c:v>0.18609197667723346</c:v>
                </c:pt>
                <c:pt idx="25">
                  <c:v>0.18700492850895772</c:v>
                </c:pt>
                <c:pt idx="26">
                  <c:v>0.1877327807170438</c:v>
                </c:pt>
                <c:pt idx="27">
                  <c:v>0.18828454849002851</c:v>
                </c:pt>
                <c:pt idx="28">
                  <c:v>0.18866853146821341</c:v>
                </c:pt>
                <c:pt idx="29">
                  <c:v>0.18889239032858721</c:v>
                </c:pt>
                <c:pt idx="30">
                  <c:v>0.18896321358961096</c:v>
                </c:pt>
                <c:pt idx="31">
                  <c:v>0.1888875759427934</c:v>
                </c:pt>
                <c:pt idx="32">
                  <c:v>0.18867158927974728</c:v>
                </c:pt>
                <c:pt idx="33">
                  <c:v>0.18832094743622327</c:v>
                </c:pt>
                <c:pt idx="34">
                  <c:v>0.18784096553373303</c:v>
                </c:pt>
                <c:pt idx="35">
                  <c:v>0.1872366146717194</c:v>
                </c:pt>
                <c:pt idx="36">
                  <c:v>0.18651255261114971</c:v>
                </c:pt>
                <c:pt idx="37">
                  <c:v>0.18567315099396522</c:v>
                </c:pt>
                <c:pt idx="38">
                  <c:v>0.18472251956074706</c:v>
                </c:pt>
                <c:pt idx="39">
                  <c:v>0.18366452775960238</c:v>
                </c:pt>
                <c:pt idx="40">
                  <c:v>0.1825028240809359</c:v>
                </c:pt>
                <c:pt idx="41">
                  <c:v>0.18124085340371021</c:v>
                </c:pt>
                <c:pt idx="42">
                  <c:v>0.17988187259759789</c:v>
                </c:pt>
                <c:pt idx="43">
                  <c:v>0.17842896459073837</c:v>
                </c:pt>
                <c:pt idx="44">
                  <c:v>0.17688505108360847</c:v>
                </c:pt>
                <c:pt idx="45">
                  <c:v>0.17525290406481131</c:v>
                </c:pt>
                <c:pt idx="46">
                  <c:v>0.17353515626368085</c:v>
                </c:pt>
                <c:pt idx="47">
                  <c:v>0.17173431065683759</c:v>
                </c:pt>
                <c:pt idx="48">
                  <c:v>0.16985274913067841</c:v>
                </c:pt>
                <c:pt idx="49">
                  <c:v>0.16789274038885271</c:v>
                </c:pt>
                <c:pt idx="50">
                  <c:v>0.16585644718265888</c:v>
                </c:pt>
                <c:pt idx="51">
                  <c:v>0.16374593293276188</c:v>
                </c:pt>
                <c:pt idx="52">
                  <c:v>0.16156316780237365</c:v>
                </c:pt>
                <c:pt idx="53">
                  <c:v>0.15931003427490673</c:v>
                </c:pt>
                <c:pt idx="54">
                  <c:v>0.15698833228289735</c:v>
                </c:pt>
                <c:pt idx="55">
                  <c:v>0.15459978392959275</c:v>
                </c:pt>
                <c:pt idx="56">
                  <c:v>0.15214603783986264</c:v>
                </c:pt>
                <c:pt idx="57">
                  <c:v>0.14962867317292194</c:v>
                </c:pt>
                <c:pt idx="58">
                  <c:v>0.14704920332570848</c:v>
                </c:pt>
                <c:pt idx="59">
                  <c:v>0.14440907935248143</c:v>
                </c:pt>
                <c:pt idx="60">
                  <c:v>0.14170969312333417</c:v>
                </c:pt>
                <c:pt idx="61">
                  <c:v>0.13895238024170756</c:v>
                </c:pt>
                <c:pt idx="62">
                  <c:v>0.13613842273864912</c:v>
                </c:pt>
                <c:pt idx="63">
                  <c:v>0.13326905155944427</c:v>
                </c:pt>
                <c:pt idx="64">
                  <c:v>0.13034544885626931</c:v>
                </c:pt>
                <c:pt idx="65">
                  <c:v>0.12736875009871462</c:v>
                </c:pt>
                <c:pt idx="66">
                  <c:v>0.12434004601228697</c:v>
                </c:pt>
                <c:pt idx="67">
                  <c:v>0.12126038435335058</c:v>
                </c:pt>
                <c:pt idx="68">
                  <c:v>0.1181307715273547</c:v>
                </c:pt>
                <c:pt idx="69">
                  <c:v>0.11495217405554779</c:v>
                </c:pt>
                <c:pt idx="70">
                  <c:v>0.1117255198937156</c:v>
                </c:pt>
                <c:pt idx="71">
                  <c:v>0.10845169960469007</c:v>
                </c:pt>
                <c:pt idx="72">
                  <c:v>0.10513156738445092</c:v>
                </c:pt>
                <c:pt idx="73">
                  <c:v>0.10176594193945959</c:v>
                </c:pt>
                <c:pt idx="74">
                  <c:v>9.8355607210378046E-2</c:v>
                </c:pt>
                <c:pt idx="75">
                  <c:v>9.4901312934370055E-2</c:v>
                </c:pt>
                <c:pt idx="76">
                  <c:v>9.1403775034603993E-2</c:v>
                </c:pt>
                <c:pt idx="77">
                  <c:v>8.7863675821200513E-2</c:v>
                </c:pt>
                <c:pt idx="78">
                  <c:v>8.428166398227796E-2</c:v>
                </c:pt>
                <c:pt idx="79">
                  <c:v>8.0658354336667196E-2</c:v>
                </c:pt>
                <c:pt idx="80">
                  <c:v>7.6994327310539346E-2</c:v>
                </c:pt>
                <c:pt idx="81">
                  <c:v>7.3290128087860951E-2</c:v>
                </c:pt>
                <c:pt idx="82">
                  <c:v>6.9546265367895044E-2</c:v>
                </c:pt>
                <c:pt idx="83">
                  <c:v>6.57632096400355E-2</c:v>
                </c:pt>
                <c:pt idx="84">
                  <c:v>6.1941390854115777E-2</c:v>
                </c:pt>
                <c:pt idx="85">
                  <c:v>5.8081195318407892E-2</c:v>
                </c:pt>
                <c:pt idx="86">
                  <c:v>5.4182961590422477E-2</c:v>
                </c:pt>
                <c:pt idx="87">
                  <c:v>5.0246975025177221E-2</c:v>
                </c:pt>
                <c:pt idx="88">
                  <c:v>4.6273460491084675E-2</c:v>
                </c:pt>
                <c:pt idx="89">
                  <c:v>4.2262572518277093E-2</c:v>
                </c:pt>
                <c:pt idx="90">
                  <c:v>3.8214381740419211E-2</c:v>
                </c:pt>
                <c:pt idx="91">
                  <c:v>3.4128855797516955E-2</c:v>
                </c:pt>
                <c:pt idx="92">
                  <c:v>3.0005831614040523E-2</c:v>
                </c:pt>
                <c:pt idx="93">
                  <c:v>2.5844973557691411E-2</c:v>
                </c:pt>
                <c:pt idx="94">
                  <c:v>2.164570698137171E-2</c:v>
                </c:pt>
                <c:pt idx="95">
                  <c:v>1.7407105170384372E-2</c:v>
                </c:pt>
                <c:pt idx="96">
                  <c:v>1.3127677550972223E-2</c:v>
                </c:pt>
                <c:pt idx="97">
                  <c:v>8.8049104174426594E-3</c:v>
                </c:pt>
                <c:pt idx="98">
                  <c:v>4.4339800066860464E-3</c:v>
                </c:pt>
                <c:pt idx="99">
                  <c:v>0</c:v>
                </c:pt>
              </c:numCache>
            </c:numRef>
          </c:val>
          <c:smooth val="0"/>
          <c:extLst>
            <c:ext xmlns:c16="http://schemas.microsoft.com/office/drawing/2014/chart" uri="{C3380CC4-5D6E-409C-BE32-E72D297353CC}">
              <c16:uniqueId val="{00000000-7472-4B30-ACD7-7F649CA3DFA3}"/>
            </c:ext>
          </c:extLst>
        </c:ser>
        <c:ser>
          <c:idx val="0"/>
          <c:order val="1"/>
          <c:tx>
            <c:strRef>
              <c:f>PD!$O$5</c:f>
              <c:strCache>
                <c:ptCount val="1"/>
                <c:pt idx="0">
                  <c:v>UL + EL</c:v>
                </c:pt>
              </c:strCache>
            </c:strRef>
          </c:tx>
          <c:spPr>
            <a:ln w="12700">
              <a:solidFill>
                <a:schemeClr val="accent6">
                  <a:lumMod val="60000"/>
                  <a:lumOff val="40000"/>
                </a:schemeClr>
              </a:solidFill>
              <a:prstDash val="solid"/>
            </a:ln>
          </c:spPr>
          <c:marker>
            <c:symbol val="none"/>
          </c:marker>
          <c:cat>
            <c:numRef>
              <c:f>PD!$J$6:$J$106</c:f>
              <c:numCache>
                <c:formatCode>0.00</c:formatCode>
                <c:ptCount val="101"/>
                <c:pt idx="0" formatCode="0.0000">
                  <c:v>3.0000000000000068E-4</c:v>
                </c:pt>
                <c:pt idx="1">
                  <c:v>1.0000000000000012E-2</c:v>
                </c:pt>
                <c:pt idx="2">
                  <c:v>2.0000000000000025E-2</c:v>
                </c:pt>
                <c:pt idx="3">
                  <c:v>3.0000000000000027E-2</c:v>
                </c:pt>
                <c:pt idx="4">
                  <c:v>4.0000000000000049E-2</c:v>
                </c:pt>
                <c:pt idx="5">
                  <c:v>5.0000000000000044E-2</c:v>
                </c:pt>
                <c:pt idx="6">
                  <c:v>6.0000000000000081E-2</c:v>
                </c:pt>
                <c:pt idx="7">
                  <c:v>7.0000000000000034E-2</c:v>
                </c:pt>
                <c:pt idx="8">
                  <c:v>8.0000000000000099E-2</c:v>
                </c:pt>
                <c:pt idx="9">
                  <c:v>9.0000000000000066E-2</c:v>
                </c:pt>
                <c:pt idx="10">
                  <c:v>0.1</c:v>
                </c:pt>
                <c:pt idx="11">
                  <c:v>0.11000000000000006</c:v>
                </c:pt>
                <c:pt idx="12">
                  <c:v>0.12000000000000002</c:v>
                </c:pt>
                <c:pt idx="13">
                  <c:v>0.13</c:v>
                </c:pt>
                <c:pt idx="14">
                  <c:v>0.14000000000000001</c:v>
                </c:pt>
                <c:pt idx="15">
                  <c:v>0.15000000000000024</c:v>
                </c:pt>
                <c:pt idx="16">
                  <c:v>0.16000000000000011</c:v>
                </c:pt>
                <c:pt idx="17">
                  <c:v>0.17</c:v>
                </c:pt>
                <c:pt idx="18">
                  <c:v>0.18000000000000024</c:v>
                </c:pt>
                <c:pt idx="19">
                  <c:v>0.19000000000000011</c:v>
                </c:pt>
                <c:pt idx="20">
                  <c:v>0.2</c:v>
                </c:pt>
                <c:pt idx="21">
                  <c:v>0.21000000000000021</c:v>
                </c:pt>
                <c:pt idx="22">
                  <c:v>0.22000000000000011</c:v>
                </c:pt>
                <c:pt idx="23">
                  <c:v>0.23</c:v>
                </c:pt>
                <c:pt idx="24">
                  <c:v>0.24000000000000021</c:v>
                </c:pt>
                <c:pt idx="25">
                  <c:v>0.25</c:v>
                </c:pt>
                <c:pt idx="26">
                  <c:v>0.26</c:v>
                </c:pt>
                <c:pt idx="27">
                  <c:v>0.27</c:v>
                </c:pt>
                <c:pt idx="28">
                  <c:v>0.28000000000000008</c:v>
                </c:pt>
                <c:pt idx="29">
                  <c:v>0.29000000000000031</c:v>
                </c:pt>
                <c:pt idx="30">
                  <c:v>0.30000000000000032</c:v>
                </c:pt>
                <c:pt idx="31">
                  <c:v>0.3100000000000005</c:v>
                </c:pt>
                <c:pt idx="32">
                  <c:v>0.32000000000000056</c:v>
                </c:pt>
                <c:pt idx="33">
                  <c:v>0.33000000000000063</c:v>
                </c:pt>
                <c:pt idx="34">
                  <c:v>0.34000000000000036</c:v>
                </c:pt>
                <c:pt idx="35">
                  <c:v>0.35000000000000031</c:v>
                </c:pt>
                <c:pt idx="36">
                  <c:v>0.36000000000000032</c:v>
                </c:pt>
                <c:pt idx="37">
                  <c:v>0.37000000000000038</c:v>
                </c:pt>
                <c:pt idx="38">
                  <c:v>0.38000000000000056</c:v>
                </c:pt>
                <c:pt idx="39">
                  <c:v>0.39000000000000057</c:v>
                </c:pt>
                <c:pt idx="40">
                  <c:v>0.4</c:v>
                </c:pt>
                <c:pt idx="41">
                  <c:v>0.41000000000000031</c:v>
                </c:pt>
                <c:pt idx="42">
                  <c:v>0.42000000000000032</c:v>
                </c:pt>
                <c:pt idx="43">
                  <c:v>0.43000000000000038</c:v>
                </c:pt>
                <c:pt idx="44">
                  <c:v>0.44000000000000022</c:v>
                </c:pt>
                <c:pt idx="45">
                  <c:v>0.45</c:v>
                </c:pt>
                <c:pt idx="46">
                  <c:v>0.46</c:v>
                </c:pt>
                <c:pt idx="47">
                  <c:v>0.47000000000000008</c:v>
                </c:pt>
                <c:pt idx="48">
                  <c:v>0.48000000000000032</c:v>
                </c:pt>
                <c:pt idx="49">
                  <c:v>0.49000000000000032</c:v>
                </c:pt>
                <c:pt idx="50">
                  <c:v>0.5</c:v>
                </c:pt>
                <c:pt idx="51">
                  <c:v>0.51</c:v>
                </c:pt>
                <c:pt idx="52">
                  <c:v>0.52</c:v>
                </c:pt>
                <c:pt idx="53">
                  <c:v>0.53</c:v>
                </c:pt>
                <c:pt idx="54">
                  <c:v>0.54</c:v>
                </c:pt>
                <c:pt idx="55">
                  <c:v>0.55000000000000004</c:v>
                </c:pt>
                <c:pt idx="56">
                  <c:v>0.56000000000000005</c:v>
                </c:pt>
                <c:pt idx="57">
                  <c:v>0.56999999999999995</c:v>
                </c:pt>
                <c:pt idx="58">
                  <c:v>0.58000000000000052</c:v>
                </c:pt>
                <c:pt idx="59">
                  <c:v>0.59000000000000041</c:v>
                </c:pt>
                <c:pt idx="60">
                  <c:v>0.60000000000000064</c:v>
                </c:pt>
                <c:pt idx="61">
                  <c:v>0.61000000000000065</c:v>
                </c:pt>
                <c:pt idx="62">
                  <c:v>0.62000000000000099</c:v>
                </c:pt>
                <c:pt idx="63">
                  <c:v>0.63000000000000111</c:v>
                </c:pt>
                <c:pt idx="64">
                  <c:v>0.64000000000000112</c:v>
                </c:pt>
                <c:pt idx="65">
                  <c:v>0.65000000000000124</c:v>
                </c:pt>
                <c:pt idx="66">
                  <c:v>0.66000000000000125</c:v>
                </c:pt>
                <c:pt idx="67">
                  <c:v>0.67000000000000126</c:v>
                </c:pt>
                <c:pt idx="68">
                  <c:v>0.68000000000000083</c:v>
                </c:pt>
                <c:pt idx="69">
                  <c:v>0.69000000000000095</c:v>
                </c:pt>
                <c:pt idx="70">
                  <c:v>0.70000000000000062</c:v>
                </c:pt>
                <c:pt idx="71">
                  <c:v>0.71000000000000063</c:v>
                </c:pt>
                <c:pt idx="72">
                  <c:v>0.72000000000000064</c:v>
                </c:pt>
                <c:pt idx="73">
                  <c:v>0.73000000000000065</c:v>
                </c:pt>
                <c:pt idx="74">
                  <c:v>0.74000000000000099</c:v>
                </c:pt>
                <c:pt idx="75">
                  <c:v>0.75000000000000111</c:v>
                </c:pt>
                <c:pt idx="76">
                  <c:v>0.76000000000000112</c:v>
                </c:pt>
                <c:pt idx="77">
                  <c:v>0.77000000000000079</c:v>
                </c:pt>
                <c:pt idx="78">
                  <c:v>0.78</c:v>
                </c:pt>
                <c:pt idx="79">
                  <c:v>0.79</c:v>
                </c:pt>
                <c:pt idx="80">
                  <c:v>0.8</c:v>
                </c:pt>
                <c:pt idx="81">
                  <c:v>0.81</c:v>
                </c:pt>
                <c:pt idx="82">
                  <c:v>0.82000000000000062</c:v>
                </c:pt>
                <c:pt idx="83">
                  <c:v>0.83000000000000063</c:v>
                </c:pt>
                <c:pt idx="84">
                  <c:v>0.84000000000000064</c:v>
                </c:pt>
                <c:pt idx="85">
                  <c:v>0.85000000000000064</c:v>
                </c:pt>
                <c:pt idx="86">
                  <c:v>0.86000000000000065</c:v>
                </c:pt>
                <c:pt idx="87">
                  <c:v>0.87000000000000099</c:v>
                </c:pt>
                <c:pt idx="88">
                  <c:v>0.88000000000000045</c:v>
                </c:pt>
                <c:pt idx="89">
                  <c:v>0.89000000000000046</c:v>
                </c:pt>
                <c:pt idx="90">
                  <c:v>0.9</c:v>
                </c:pt>
                <c:pt idx="91">
                  <c:v>0.91</c:v>
                </c:pt>
                <c:pt idx="92">
                  <c:v>0.92</c:v>
                </c:pt>
                <c:pt idx="93">
                  <c:v>0.93</c:v>
                </c:pt>
                <c:pt idx="94">
                  <c:v>0.94000000000000061</c:v>
                </c:pt>
                <c:pt idx="95">
                  <c:v>0.95000000000000062</c:v>
                </c:pt>
                <c:pt idx="96">
                  <c:v>0.96000000000000063</c:v>
                </c:pt>
                <c:pt idx="97">
                  <c:v>0.97000000000000053</c:v>
                </c:pt>
                <c:pt idx="98">
                  <c:v>0.98</c:v>
                </c:pt>
                <c:pt idx="99">
                  <c:v>0.99</c:v>
                </c:pt>
                <c:pt idx="100">
                  <c:v>1</c:v>
                </c:pt>
              </c:numCache>
            </c:numRef>
          </c:cat>
          <c:val>
            <c:numRef>
              <c:f>PD!$O$7:$O$106</c:f>
              <c:numCache>
                <c:formatCode>0.000000000</c:formatCode>
                <c:ptCount val="100"/>
                <c:pt idx="0">
                  <c:v>6.3122705305429919E-2</c:v>
                </c:pt>
                <c:pt idx="1">
                  <c:v>8.5616559421874433E-2</c:v>
                </c:pt>
                <c:pt idx="2">
                  <c:v>0.10138048112714584</c:v>
                </c:pt>
                <c:pt idx="3">
                  <c:v>0.1151011034941072</c:v>
                </c:pt>
                <c:pt idx="4">
                  <c:v>0.12801951867899886</c:v>
                </c:pt>
                <c:pt idx="5">
                  <c:v>0.14045338531678572</c:v>
                </c:pt>
                <c:pt idx="6">
                  <c:v>0.15244853725832627</c:v>
                </c:pt>
                <c:pt idx="7">
                  <c:v>0.16398415494447088</c:v>
                </c:pt>
                <c:pt idx="8">
                  <c:v>0.17503755513399036</c:v>
                </c:pt>
                <c:pt idx="9">
                  <c:v>0.18560054734472553</c:v>
                </c:pt>
                <c:pt idx="10">
                  <c:v>0.19567963036355052</c:v>
                </c:pt>
                <c:pt idx="11">
                  <c:v>0.20529186237759497</c:v>
                </c:pt>
                <c:pt idx="12">
                  <c:v>0.21446053380330007</c:v>
                </c:pt>
                <c:pt idx="13">
                  <c:v>0.22321182229442568</c:v>
                </c:pt>
                <c:pt idx="14">
                  <c:v>0.23157254154032095</c:v>
                </c:pt>
                <c:pt idx="15">
                  <c:v>0.239568771249664</c:v>
                </c:pt>
                <c:pt idx="16">
                  <c:v>0.24722510913528525</c:v>
                </c:pt>
                <c:pt idx="17">
                  <c:v>0.25456432810668794</c:v>
                </c:pt>
                <c:pt idx="18">
                  <c:v>0.26160728094915431</c:v>
                </c:pt>
                <c:pt idx="19">
                  <c:v>0.26837294624671781</c:v>
                </c:pt>
                <c:pt idx="20">
                  <c:v>0.27487854772649301</c:v>
                </c:pt>
                <c:pt idx="21">
                  <c:v>0.28113970567594232</c:v>
                </c:pt>
                <c:pt idx="22">
                  <c:v>0.28717059641485215</c:v>
                </c:pt>
                <c:pt idx="23">
                  <c:v>0.29298410671322056</c:v>
                </c:pt>
                <c:pt idx="24">
                  <c:v>0.29859197667723308</c:v>
                </c:pt>
                <c:pt idx="25">
                  <c:v>0.30400492850895788</c:v>
                </c:pt>
                <c:pt idx="26">
                  <c:v>0.30923278071704396</c:v>
                </c:pt>
                <c:pt idx="27">
                  <c:v>0.31428454849002835</c:v>
                </c:pt>
                <c:pt idx="28">
                  <c:v>0.31916853146821367</c:v>
                </c:pt>
                <c:pt idx="29">
                  <c:v>0.32389239032858785</c:v>
                </c:pt>
                <c:pt idx="30">
                  <c:v>0.32846321358961156</c:v>
                </c:pt>
                <c:pt idx="31">
                  <c:v>0.33288757594279489</c:v>
                </c:pt>
                <c:pt idx="32">
                  <c:v>0.337171589279749</c:v>
                </c:pt>
                <c:pt idx="33">
                  <c:v>0.34132094743622354</c:v>
                </c:pt>
                <c:pt idx="34">
                  <c:v>0.3453409655337335</c:v>
                </c:pt>
                <c:pt idx="35">
                  <c:v>0.34923661467171935</c:v>
                </c:pt>
                <c:pt idx="36">
                  <c:v>0.35301255261114955</c:v>
                </c:pt>
                <c:pt idx="37">
                  <c:v>0.35667315099396535</c:v>
                </c:pt>
                <c:pt idx="38">
                  <c:v>0.36022251956074774</c:v>
                </c:pt>
                <c:pt idx="39">
                  <c:v>0.36366452775960351</c:v>
                </c:pt>
                <c:pt idx="40">
                  <c:v>0.36700282408093582</c:v>
                </c:pt>
                <c:pt idx="41">
                  <c:v>0.37024085340371016</c:v>
                </c:pt>
                <c:pt idx="42">
                  <c:v>0.37338187259759842</c:v>
                </c:pt>
                <c:pt idx="43">
                  <c:v>0.37642896459073893</c:v>
                </c:pt>
                <c:pt idx="44">
                  <c:v>0.37938505108360937</c:v>
                </c:pt>
                <c:pt idx="45">
                  <c:v>0.38225290406481227</c:v>
                </c:pt>
                <c:pt idx="46">
                  <c:v>0.38503515626368084</c:v>
                </c:pt>
                <c:pt idx="47">
                  <c:v>0.38773431065683733</c:v>
                </c:pt>
                <c:pt idx="48">
                  <c:v>0.39035274913067941</c:v>
                </c:pt>
                <c:pt idx="49">
                  <c:v>0.3928927403888538</c:v>
                </c:pt>
                <c:pt idx="50">
                  <c:v>0.39535644718266016</c:v>
                </c:pt>
                <c:pt idx="51">
                  <c:v>0.39774593293276195</c:v>
                </c:pt>
                <c:pt idx="52">
                  <c:v>0.40006316780237378</c:v>
                </c:pt>
                <c:pt idx="53">
                  <c:v>0.40231003427490714</c:v>
                </c:pt>
                <c:pt idx="54">
                  <c:v>0.40448833228289754</c:v>
                </c:pt>
                <c:pt idx="55">
                  <c:v>0.40659978392959306</c:v>
                </c:pt>
                <c:pt idx="56">
                  <c:v>0.40864603783986292</c:v>
                </c:pt>
                <c:pt idx="57">
                  <c:v>0.41062867317292295</c:v>
                </c:pt>
                <c:pt idx="58">
                  <c:v>0.41254920332570832</c:v>
                </c:pt>
                <c:pt idx="59">
                  <c:v>0.41440907935248206</c:v>
                </c:pt>
                <c:pt idx="60">
                  <c:v>0.41620969312333389</c:v>
                </c:pt>
                <c:pt idx="61">
                  <c:v>0.41795238024170783</c:v>
                </c:pt>
                <c:pt idx="62">
                  <c:v>0.41963842273864932</c:v>
                </c:pt>
                <c:pt idx="63">
                  <c:v>0.42126905155944444</c:v>
                </c:pt>
                <c:pt idx="64">
                  <c:v>0.42284544885626885</c:v>
                </c:pt>
                <c:pt idx="65">
                  <c:v>0.42436875009871516</c:v>
                </c:pt>
                <c:pt idx="66">
                  <c:v>0.42584004601228687</c:v>
                </c:pt>
                <c:pt idx="67">
                  <c:v>0.42726038435335106</c:v>
                </c:pt>
                <c:pt idx="68">
                  <c:v>0.42863077152735513</c:v>
                </c:pt>
                <c:pt idx="69">
                  <c:v>0.42995217405554848</c:v>
                </c:pt>
                <c:pt idx="70">
                  <c:v>0.43122551989371588</c:v>
                </c:pt>
                <c:pt idx="71">
                  <c:v>0.43245169960469104</c:v>
                </c:pt>
                <c:pt idx="72">
                  <c:v>0.43363156738445197</c:v>
                </c:pt>
                <c:pt idx="73">
                  <c:v>0.43476594193946028</c:v>
                </c:pt>
                <c:pt idx="74">
                  <c:v>0.43585560721037886</c:v>
                </c:pt>
                <c:pt idx="75">
                  <c:v>0.4369013129343704</c:v>
                </c:pt>
                <c:pt idx="76">
                  <c:v>0.43790377503460554</c:v>
                </c:pt>
                <c:pt idx="77">
                  <c:v>0.43886367582120162</c:v>
                </c:pt>
                <c:pt idx="78">
                  <c:v>0.43978166398227897</c:v>
                </c:pt>
                <c:pt idx="79">
                  <c:v>0.44065835433666711</c:v>
                </c:pt>
                <c:pt idx="80">
                  <c:v>0.4414943273105395</c:v>
                </c:pt>
                <c:pt idx="81">
                  <c:v>0.44229012808786117</c:v>
                </c:pt>
                <c:pt idx="82">
                  <c:v>0.44304626536789615</c:v>
                </c:pt>
                <c:pt idx="83">
                  <c:v>0.44376320964003535</c:v>
                </c:pt>
                <c:pt idx="84">
                  <c:v>0.44444139085411588</c:v>
                </c:pt>
                <c:pt idx="85">
                  <c:v>0.44508119531840867</c:v>
                </c:pt>
                <c:pt idx="86">
                  <c:v>0.44568296159042325</c:v>
                </c:pt>
                <c:pt idx="87">
                  <c:v>0.44624697502517757</c:v>
                </c:pt>
                <c:pt idx="88">
                  <c:v>0.4467734604910848</c:v>
                </c:pt>
                <c:pt idx="89">
                  <c:v>0.44726257251827733</c:v>
                </c:pt>
                <c:pt idx="90">
                  <c:v>0.44771438174041994</c:v>
                </c:pt>
                <c:pt idx="91">
                  <c:v>0.44812885579751754</c:v>
                </c:pt>
                <c:pt idx="92">
                  <c:v>0.44850583161404128</c:v>
                </c:pt>
                <c:pt idx="93">
                  <c:v>0.44884497355769226</c:v>
                </c:pt>
                <c:pt idx="94">
                  <c:v>0.44914570698137168</c:v>
                </c:pt>
                <c:pt idx="95">
                  <c:v>0.44940710517038457</c:v>
                </c:pt>
                <c:pt idx="96">
                  <c:v>0.44962767755097283</c:v>
                </c:pt>
                <c:pt idx="97">
                  <c:v>0.44980491041744353</c:v>
                </c:pt>
                <c:pt idx="98">
                  <c:v>0.44993398000668627</c:v>
                </c:pt>
                <c:pt idx="99">
                  <c:v>0</c:v>
                </c:pt>
              </c:numCache>
            </c:numRef>
          </c:val>
          <c:smooth val="0"/>
          <c:extLst>
            <c:ext xmlns:c16="http://schemas.microsoft.com/office/drawing/2014/chart" uri="{C3380CC4-5D6E-409C-BE32-E72D297353CC}">
              <c16:uniqueId val="{00000001-7472-4B30-ACD7-7F649CA3DFA3}"/>
            </c:ext>
          </c:extLst>
        </c:ser>
        <c:ser>
          <c:idx val="2"/>
          <c:order val="2"/>
          <c:tx>
            <c:strRef>
              <c:f>PD!$N$5</c:f>
              <c:strCache>
                <c:ptCount val="1"/>
                <c:pt idx="0">
                  <c:v>EL</c:v>
                </c:pt>
              </c:strCache>
            </c:strRef>
          </c:tx>
          <c:spPr>
            <a:ln w="25400">
              <a:solidFill>
                <a:schemeClr val="accent2">
                  <a:lumMod val="75000"/>
                </a:schemeClr>
              </a:solidFill>
              <a:prstDash val="lgDash"/>
            </a:ln>
          </c:spPr>
          <c:marker>
            <c:symbol val="none"/>
          </c:marker>
          <c:cat>
            <c:numRef>
              <c:f>PD!$J$6:$J$106</c:f>
              <c:numCache>
                <c:formatCode>0.00</c:formatCode>
                <c:ptCount val="101"/>
                <c:pt idx="0" formatCode="0.0000">
                  <c:v>3.0000000000000068E-4</c:v>
                </c:pt>
                <c:pt idx="1">
                  <c:v>1.0000000000000012E-2</c:v>
                </c:pt>
                <c:pt idx="2">
                  <c:v>2.0000000000000025E-2</c:v>
                </c:pt>
                <c:pt idx="3">
                  <c:v>3.0000000000000027E-2</c:v>
                </c:pt>
                <c:pt idx="4">
                  <c:v>4.0000000000000049E-2</c:v>
                </c:pt>
                <c:pt idx="5">
                  <c:v>5.0000000000000044E-2</c:v>
                </c:pt>
                <c:pt idx="6">
                  <c:v>6.0000000000000081E-2</c:v>
                </c:pt>
                <c:pt idx="7">
                  <c:v>7.0000000000000034E-2</c:v>
                </c:pt>
                <c:pt idx="8">
                  <c:v>8.0000000000000099E-2</c:v>
                </c:pt>
                <c:pt idx="9">
                  <c:v>9.0000000000000066E-2</c:v>
                </c:pt>
                <c:pt idx="10">
                  <c:v>0.1</c:v>
                </c:pt>
                <c:pt idx="11">
                  <c:v>0.11000000000000006</c:v>
                </c:pt>
                <c:pt idx="12">
                  <c:v>0.12000000000000002</c:v>
                </c:pt>
                <c:pt idx="13">
                  <c:v>0.13</c:v>
                </c:pt>
                <c:pt idx="14">
                  <c:v>0.14000000000000001</c:v>
                </c:pt>
                <c:pt idx="15">
                  <c:v>0.15000000000000024</c:v>
                </c:pt>
                <c:pt idx="16">
                  <c:v>0.16000000000000011</c:v>
                </c:pt>
                <c:pt idx="17">
                  <c:v>0.17</c:v>
                </c:pt>
                <c:pt idx="18">
                  <c:v>0.18000000000000024</c:v>
                </c:pt>
                <c:pt idx="19">
                  <c:v>0.19000000000000011</c:v>
                </c:pt>
                <c:pt idx="20">
                  <c:v>0.2</c:v>
                </c:pt>
                <c:pt idx="21">
                  <c:v>0.21000000000000021</c:v>
                </c:pt>
                <c:pt idx="22">
                  <c:v>0.22000000000000011</c:v>
                </c:pt>
                <c:pt idx="23">
                  <c:v>0.23</c:v>
                </c:pt>
                <c:pt idx="24">
                  <c:v>0.24000000000000021</c:v>
                </c:pt>
                <c:pt idx="25">
                  <c:v>0.25</c:v>
                </c:pt>
                <c:pt idx="26">
                  <c:v>0.26</c:v>
                </c:pt>
                <c:pt idx="27">
                  <c:v>0.27</c:v>
                </c:pt>
                <c:pt idx="28">
                  <c:v>0.28000000000000008</c:v>
                </c:pt>
                <c:pt idx="29">
                  <c:v>0.29000000000000031</c:v>
                </c:pt>
                <c:pt idx="30">
                  <c:v>0.30000000000000032</c:v>
                </c:pt>
                <c:pt idx="31">
                  <c:v>0.3100000000000005</c:v>
                </c:pt>
                <c:pt idx="32">
                  <c:v>0.32000000000000056</c:v>
                </c:pt>
                <c:pt idx="33">
                  <c:v>0.33000000000000063</c:v>
                </c:pt>
                <c:pt idx="34">
                  <c:v>0.34000000000000036</c:v>
                </c:pt>
                <c:pt idx="35">
                  <c:v>0.35000000000000031</c:v>
                </c:pt>
                <c:pt idx="36">
                  <c:v>0.36000000000000032</c:v>
                </c:pt>
                <c:pt idx="37">
                  <c:v>0.37000000000000038</c:v>
                </c:pt>
                <c:pt idx="38">
                  <c:v>0.38000000000000056</c:v>
                </c:pt>
                <c:pt idx="39">
                  <c:v>0.39000000000000057</c:v>
                </c:pt>
                <c:pt idx="40">
                  <c:v>0.4</c:v>
                </c:pt>
                <c:pt idx="41">
                  <c:v>0.41000000000000031</c:v>
                </c:pt>
                <c:pt idx="42">
                  <c:v>0.42000000000000032</c:v>
                </c:pt>
                <c:pt idx="43">
                  <c:v>0.43000000000000038</c:v>
                </c:pt>
                <c:pt idx="44">
                  <c:v>0.44000000000000022</c:v>
                </c:pt>
                <c:pt idx="45">
                  <c:v>0.45</c:v>
                </c:pt>
                <c:pt idx="46">
                  <c:v>0.46</c:v>
                </c:pt>
                <c:pt idx="47">
                  <c:v>0.47000000000000008</c:v>
                </c:pt>
                <c:pt idx="48">
                  <c:v>0.48000000000000032</c:v>
                </c:pt>
                <c:pt idx="49">
                  <c:v>0.49000000000000032</c:v>
                </c:pt>
                <c:pt idx="50">
                  <c:v>0.5</c:v>
                </c:pt>
                <c:pt idx="51">
                  <c:v>0.51</c:v>
                </c:pt>
                <c:pt idx="52">
                  <c:v>0.52</c:v>
                </c:pt>
                <c:pt idx="53">
                  <c:v>0.53</c:v>
                </c:pt>
                <c:pt idx="54">
                  <c:v>0.54</c:v>
                </c:pt>
                <c:pt idx="55">
                  <c:v>0.55000000000000004</c:v>
                </c:pt>
                <c:pt idx="56">
                  <c:v>0.56000000000000005</c:v>
                </c:pt>
                <c:pt idx="57">
                  <c:v>0.56999999999999995</c:v>
                </c:pt>
                <c:pt idx="58">
                  <c:v>0.58000000000000052</c:v>
                </c:pt>
                <c:pt idx="59">
                  <c:v>0.59000000000000041</c:v>
                </c:pt>
                <c:pt idx="60">
                  <c:v>0.60000000000000064</c:v>
                </c:pt>
                <c:pt idx="61">
                  <c:v>0.61000000000000065</c:v>
                </c:pt>
                <c:pt idx="62">
                  <c:v>0.62000000000000099</c:v>
                </c:pt>
                <c:pt idx="63">
                  <c:v>0.63000000000000111</c:v>
                </c:pt>
                <c:pt idx="64">
                  <c:v>0.64000000000000112</c:v>
                </c:pt>
                <c:pt idx="65">
                  <c:v>0.65000000000000124</c:v>
                </c:pt>
                <c:pt idx="66">
                  <c:v>0.66000000000000125</c:v>
                </c:pt>
                <c:pt idx="67">
                  <c:v>0.67000000000000126</c:v>
                </c:pt>
                <c:pt idx="68">
                  <c:v>0.68000000000000083</c:v>
                </c:pt>
                <c:pt idx="69">
                  <c:v>0.69000000000000095</c:v>
                </c:pt>
                <c:pt idx="70">
                  <c:v>0.70000000000000062</c:v>
                </c:pt>
                <c:pt idx="71">
                  <c:v>0.71000000000000063</c:v>
                </c:pt>
                <c:pt idx="72">
                  <c:v>0.72000000000000064</c:v>
                </c:pt>
                <c:pt idx="73">
                  <c:v>0.73000000000000065</c:v>
                </c:pt>
                <c:pt idx="74">
                  <c:v>0.74000000000000099</c:v>
                </c:pt>
                <c:pt idx="75">
                  <c:v>0.75000000000000111</c:v>
                </c:pt>
                <c:pt idx="76">
                  <c:v>0.76000000000000112</c:v>
                </c:pt>
                <c:pt idx="77">
                  <c:v>0.77000000000000079</c:v>
                </c:pt>
                <c:pt idx="78">
                  <c:v>0.78</c:v>
                </c:pt>
                <c:pt idx="79">
                  <c:v>0.79</c:v>
                </c:pt>
                <c:pt idx="80">
                  <c:v>0.8</c:v>
                </c:pt>
                <c:pt idx="81">
                  <c:v>0.81</c:v>
                </c:pt>
                <c:pt idx="82">
                  <c:v>0.82000000000000062</c:v>
                </c:pt>
                <c:pt idx="83">
                  <c:v>0.83000000000000063</c:v>
                </c:pt>
                <c:pt idx="84">
                  <c:v>0.84000000000000064</c:v>
                </c:pt>
                <c:pt idx="85">
                  <c:v>0.85000000000000064</c:v>
                </c:pt>
                <c:pt idx="86">
                  <c:v>0.86000000000000065</c:v>
                </c:pt>
                <c:pt idx="87">
                  <c:v>0.87000000000000099</c:v>
                </c:pt>
                <c:pt idx="88">
                  <c:v>0.88000000000000045</c:v>
                </c:pt>
                <c:pt idx="89">
                  <c:v>0.89000000000000046</c:v>
                </c:pt>
                <c:pt idx="90">
                  <c:v>0.9</c:v>
                </c:pt>
                <c:pt idx="91">
                  <c:v>0.91</c:v>
                </c:pt>
                <c:pt idx="92">
                  <c:v>0.92</c:v>
                </c:pt>
                <c:pt idx="93">
                  <c:v>0.93</c:v>
                </c:pt>
                <c:pt idx="94">
                  <c:v>0.94000000000000061</c:v>
                </c:pt>
                <c:pt idx="95">
                  <c:v>0.95000000000000062</c:v>
                </c:pt>
                <c:pt idx="96">
                  <c:v>0.96000000000000063</c:v>
                </c:pt>
                <c:pt idx="97">
                  <c:v>0.97000000000000053</c:v>
                </c:pt>
                <c:pt idx="98">
                  <c:v>0.98</c:v>
                </c:pt>
                <c:pt idx="99">
                  <c:v>0.99</c:v>
                </c:pt>
                <c:pt idx="100">
                  <c:v>1</c:v>
                </c:pt>
              </c:numCache>
            </c:numRef>
          </c:cat>
          <c:val>
            <c:numRef>
              <c:f>PD!$N$7:$N$106</c:f>
              <c:numCache>
                <c:formatCode>0.000000000</c:formatCode>
                <c:ptCount val="100"/>
                <c:pt idx="0">
                  <c:v>4.5000000000000057E-3</c:v>
                </c:pt>
                <c:pt idx="1">
                  <c:v>9.0000000000000115E-3</c:v>
                </c:pt>
                <c:pt idx="2">
                  <c:v>1.3500000000000028E-2</c:v>
                </c:pt>
                <c:pt idx="3">
                  <c:v>1.8000000000000033E-2</c:v>
                </c:pt>
                <c:pt idx="4">
                  <c:v>2.250000000000003E-2</c:v>
                </c:pt>
                <c:pt idx="5">
                  <c:v>2.7000000000000055E-2</c:v>
                </c:pt>
                <c:pt idx="6">
                  <c:v>3.1500000000000042E-2</c:v>
                </c:pt>
                <c:pt idx="7">
                  <c:v>3.6000000000000046E-2</c:v>
                </c:pt>
                <c:pt idx="8">
                  <c:v>4.0500000000000022E-2</c:v>
                </c:pt>
                <c:pt idx="9">
                  <c:v>4.5000000000000033E-2</c:v>
                </c:pt>
                <c:pt idx="10">
                  <c:v>4.9500000000000072E-2</c:v>
                </c:pt>
                <c:pt idx="11">
                  <c:v>5.4000000000000062E-2</c:v>
                </c:pt>
                <c:pt idx="12">
                  <c:v>5.8500000000000024E-2</c:v>
                </c:pt>
                <c:pt idx="13">
                  <c:v>6.3000000000000014E-2</c:v>
                </c:pt>
                <c:pt idx="14">
                  <c:v>6.7500000000000074E-2</c:v>
                </c:pt>
                <c:pt idx="15">
                  <c:v>7.2000000000000092E-2</c:v>
                </c:pt>
                <c:pt idx="16">
                  <c:v>7.6500000000000012E-2</c:v>
                </c:pt>
                <c:pt idx="17">
                  <c:v>8.1000000000000044E-2</c:v>
                </c:pt>
                <c:pt idx="18">
                  <c:v>8.5500000000000145E-2</c:v>
                </c:pt>
                <c:pt idx="19">
                  <c:v>9.0000000000000066E-2</c:v>
                </c:pt>
                <c:pt idx="20">
                  <c:v>9.4500000000000223E-2</c:v>
                </c:pt>
                <c:pt idx="21">
                  <c:v>9.9000000000000143E-2</c:v>
                </c:pt>
                <c:pt idx="22">
                  <c:v>0.10350000000000002</c:v>
                </c:pt>
                <c:pt idx="23">
                  <c:v>0.10800000000000012</c:v>
                </c:pt>
                <c:pt idx="24">
                  <c:v>0.11250000000000006</c:v>
                </c:pt>
                <c:pt idx="25">
                  <c:v>0.1170000000000001</c:v>
                </c:pt>
                <c:pt idx="26">
                  <c:v>0.12150000000000002</c:v>
                </c:pt>
                <c:pt idx="27">
                  <c:v>0.12600000000000003</c:v>
                </c:pt>
                <c:pt idx="28">
                  <c:v>0.1305</c:v>
                </c:pt>
                <c:pt idx="29">
                  <c:v>0.13500000000000001</c:v>
                </c:pt>
                <c:pt idx="30">
                  <c:v>0.13950000000000001</c:v>
                </c:pt>
                <c:pt idx="31">
                  <c:v>0.14400000000000004</c:v>
                </c:pt>
                <c:pt idx="32">
                  <c:v>0.14850000000000024</c:v>
                </c:pt>
                <c:pt idx="33">
                  <c:v>0.15300000000000027</c:v>
                </c:pt>
                <c:pt idx="34">
                  <c:v>0.15750000000000028</c:v>
                </c:pt>
                <c:pt idx="35">
                  <c:v>0.16200000000000012</c:v>
                </c:pt>
                <c:pt idx="36">
                  <c:v>0.16650000000000012</c:v>
                </c:pt>
                <c:pt idx="37">
                  <c:v>0.17100000000000001</c:v>
                </c:pt>
                <c:pt idx="38">
                  <c:v>0.17550000000000004</c:v>
                </c:pt>
                <c:pt idx="39">
                  <c:v>0.18000000000000024</c:v>
                </c:pt>
                <c:pt idx="40">
                  <c:v>0.18450000000000025</c:v>
                </c:pt>
                <c:pt idx="41">
                  <c:v>0.18900000000000028</c:v>
                </c:pt>
                <c:pt idx="42">
                  <c:v>0.19350000000000012</c:v>
                </c:pt>
                <c:pt idx="43">
                  <c:v>0.19800000000000012</c:v>
                </c:pt>
                <c:pt idx="44">
                  <c:v>0.20250000000000001</c:v>
                </c:pt>
                <c:pt idx="45">
                  <c:v>0.20700000000000021</c:v>
                </c:pt>
                <c:pt idx="46">
                  <c:v>0.21150000000000024</c:v>
                </c:pt>
                <c:pt idx="47">
                  <c:v>0.21600000000000025</c:v>
                </c:pt>
                <c:pt idx="48">
                  <c:v>0.22050000000000011</c:v>
                </c:pt>
                <c:pt idx="49">
                  <c:v>0.22500000000000012</c:v>
                </c:pt>
                <c:pt idx="50">
                  <c:v>0.22950000000000018</c:v>
                </c:pt>
                <c:pt idx="51">
                  <c:v>0.23400000000000001</c:v>
                </c:pt>
                <c:pt idx="52">
                  <c:v>0.23850000000000021</c:v>
                </c:pt>
                <c:pt idx="53">
                  <c:v>0.24300000000000024</c:v>
                </c:pt>
                <c:pt idx="54">
                  <c:v>0.24750000000000028</c:v>
                </c:pt>
                <c:pt idx="55">
                  <c:v>0.25200000000000006</c:v>
                </c:pt>
                <c:pt idx="56">
                  <c:v>0.25650000000000001</c:v>
                </c:pt>
                <c:pt idx="57">
                  <c:v>0.26100000000000001</c:v>
                </c:pt>
                <c:pt idx="58">
                  <c:v>0.26550000000000001</c:v>
                </c:pt>
                <c:pt idx="59">
                  <c:v>0.27</c:v>
                </c:pt>
                <c:pt idx="60">
                  <c:v>0.27450000000000002</c:v>
                </c:pt>
                <c:pt idx="61">
                  <c:v>0.27900000000000008</c:v>
                </c:pt>
                <c:pt idx="62">
                  <c:v>0.28350000000000031</c:v>
                </c:pt>
                <c:pt idx="63">
                  <c:v>0.28800000000000031</c:v>
                </c:pt>
                <c:pt idx="64">
                  <c:v>0.29250000000000032</c:v>
                </c:pt>
                <c:pt idx="65">
                  <c:v>0.29700000000000032</c:v>
                </c:pt>
                <c:pt idx="66">
                  <c:v>0.30150000000000032</c:v>
                </c:pt>
                <c:pt idx="67">
                  <c:v>0.30600000000000038</c:v>
                </c:pt>
                <c:pt idx="68">
                  <c:v>0.3105000000000005</c:v>
                </c:pt>
                <c:pt idx="69">
                  <c:v>0.3150000000000005</c:v>
                </c:pt>
                <c:pt idx="70">
                  <c:v>0.31950000000000056</c:v>
                </c:pt>
                <c:pt idx="71">
                  <c:v>0.32400000000000057</c:v>
                </c:pt>
                <c:pt idx="72">
                  <c:v>0.32850000000000062</c:v>
                </c:pt>
                <c:pt idx="73">
                  <c:v>0.33300000000000063</c:v>
                </c:pt>
                <c:pt idx="74">
                  <c:v>0.33750000000000063</c:v>
                </c:pt>
                <c:pt idx="75">
                  <c:v>0.34200000000000041</c:v>
                </c:pt>
                <c:pt idx="76">
                  <c:v>0.34650000000000053</c:v>
                </c:pt>
                <c:pt idx="77">
                  <c:v>0.35100000000000031</c:v>
                </c:pt>
                <c:pt idx="78">
                  <c:v>0.35550000000000032</c:v>
                </c:pt>
                <c:pt idx="79">
                  <c:v>0.36000000000000032</c:v>
                </c:pt>
                <c:pt idx="80">
                  <c:v>0.36450000000000032</c:v>
                </c:pt>
                <c:pt idx="81">
                  <c:v>0.36900000000000038</c:v>
                </c:pt>
                <c:pt idx="82">
                  <c:v>0.3735000000000005</c:v>
                </c:pt>
                <c:pt idx="83">
                  <c:v>0.3780000000000005</c:v>
                </c:pt>
                <c:pt idx="84">
                  <c:v>0.38250000000000056</c:v>
                </c:pt>
                <c:pt idx="85">
                  <c:v>0.38700000000000057</c:v>
                </c:pt>
                <c:pt idx="86">
                  <c:v>0.39150000000000063</c:v>
                </c:pt>
                <c:pt idx="87">
                  <c:v>0.39600000000000063</c:v>
                </c:pt>
                <c:pt idx="88">
                  <c:v>0.40050000000000002</c:v>
                </c:pt>
                <c:pt idx="89">
                  <c:v>0.40500000000000008</c:v>
                </c:pt>
                <c:pt idx="90">
                  <c:v>0.40950000000000031</c:v>
                </c:pt>
                <c:pt idx="91">
                  <c:v>0.41400000000000031</c:v>
                </c:pt>
                <c:pt idx="92">
                  <c:v>0.41850000000000032</c:v>
                </c:pt>
                <c:pt idx="93">
                  <c:v>0.42300000000000032</c:v>
                </c:pt>
                <c:pt idx="94">
                  <c:v>0.42750000000000032</c:v>
                </c:pt>
                <c:pt idx="95">
                  <c:v>0.43200000000000038</c:v>
                </c:pt>
                <c:pt idx="96">
                  <c:v>0.4365000000000005</c:v>
                </c:pt>
                <c:pt idx="97">
                  <c:v>0.44100000000000023</c:v>
                </c:pt>
                <c:pt idx="98">
                  <c:v>0.44550000000000023</c:v>
                </c:pt>
                <c:pt idx="99">
                  <c:v>0.45</c:v>
                </c:pt>
              </c:numCache>
            </c:numRef>
          </c:val>
          <c:smooth val="0"/>
          <c:extLst>
            <c:ext xmlns:c16="http://schemas.microsoft.com/office/drawing/2014/chart" uri="{C3380CC4-5D6E-409C-BE32-E72D297353CC}">
              <c16:uniqueId val="{00000002-7472-4B30-ACD7-7F649CA3DFA3}"/>
            </c:ext>
          </c:extLst>
        </c:ser>
        <c:dLbls>
          <c:showLegendKey val="0"/>
          <c:showVal val="0"/>
          <c:showCatName val="0"/>
          <c:showSerName val="0"/>
          <c:showPercent val="0"/>
          <c:showBubbleSize val="0"/>
        </c:dLbls>
        <c:smooth val="0"/>
        <c:axId val="227178424"/>
        <c:axId val="227179208"/>
      </c:lineChart>
      <c:catAx>
        <c:axId val="227178424"/>
        <c:scaling>
          <c:orientation val="minMax"/>
        </c:scaling>
        <c:delete val="0"/>
        <c:axPos val="b"/>
        <c:title>
          <c:tx>
            <c:rich>
              <a:bodyPr/>
              <a:lstStyle/>
              <a:p>
                <a:pPr>
                  <a:defRPr lang="en-US" sz="1000" b="1" i="0" u="none" strike="noStrike" baseline="0">
                    <a:solidFill>
                      <a:srgbClr val="000000"/>
                    </a:solidFill>
                    <a:latin typeface="Arial"/>
                    <a:ea typeface="Arial"/>
                    <a:cs typeface="Arial"/>
                  </a:defRPr>
                </a:pPr>
                <a:r>
                  <a:rPr lang="en-GB"/>
                  <a:t>PD</a:t>
                </a:r>
              </a:p>
            </c:rich>
          </c:tx>
          <c:layout>
            <c:manualLayout>
              <c:xMode val="edge"/>
              <c:yMode val="edge"/>
              <c:x val="0.91333481988089171"/>
              <c:y val="0.83684210526315794"/>
            </c:manualLayout>
          </c:layout>
          <c:overlay val="0"/>
          <c:spPr>
            <a:noFill/>
            <a:ln w="25400">
              <a:noFill/>
            </a:ln>
          </c:spPr>
        </c:title>
        <c:numFmt formatCode="0%" sourceLinked="0"/>
        <c:majorTickMark val="out"/>
        <c:minorTickMark val="none"/>
        <c:tickLblPos val="nextTo"/>
        <c:spPr>
          <a:ln w="3175">
            <a:solidFill>
              <a:srgbClr val="000000"/>
            </a:solidFill>
            <a:prstDash val="solid"/>
          </a:ln>
        </c:spPr>
        <c:txPr>
          <a:bodyPr rot="0" vert="horz"/>
          <a:lstStyle/>
          <a:p>
            <a:pPr>
              <a:defRPr lang="en-US" sz="800" b="0" i="0" u="none" strike="noStrike" baseline="0">
                <a:solidFill>
                  <a:srgbClr val="000000"/>
                </a:solidFill>
                <a:latin typeface="+mj-lt"/>
                <a:ea typeface="Arial"/>
                <a:cs typeface="Arial"/>
              </a:defRPr>
            </a:pPr>
            <a:endParaRPr lang="en-US"/>
          </a:p>
        </c:txPr>
        <c:crossAx val="227179208"/>
        <c:crosses val="autoZero"/>
        <c:auto val="1"/>
        <c:lblAlgn val="ctr"/>
        <c:lblOffset val="100"/>
        <c:tickLblSkip val="10"/>
        <c:tickMarkSkip val="1"/>
        <c:noMultiLvlLbl val="0"/>
      </c:catAx>
      <c:valAx>
        <c:axId val="227179208"/>
        <c:scaling>
          <c:orientation val="minMax"/>
        </c:scaling>
        <c:delete val="0"/>
        <c:axPos val="l"/>
        <c:majorGridlines>
          <c:spPr>
            <a:ln w="3175">
              <a:solidFill>
                <a:srgbClr val="000000"/>
              </a:solidFill>
              <a:prstDash val="solid"/>
            </a:ln>
          </c:spPr>
        </c:majorGridlines>
        <c:title>
          <c:tx>
            <c:rich>
              <a:bodyPr rot="0" vert="horz"/>
              <a:lstStyle/>
              <a:p>
                <a:pPr algn="ctr">
                  <a:defRPr lang="en-US" sz="1000" b="1" i="0" u="none" strike="noStrike" baseline="0">
                    <a:solidFill>
                      <a:srgbClr val="000000"/>
                    </a:solidFill>
                    <a:latin typeface="Arial"/>
                    <a:ea typeface="Arial"/>
                    <a:cs typeface="Arial"/>
                  </a:defRPr>
                </a:pPr>
                <a:r>
                  <a:rPr lang="en-GB"/>
                  <a:t>K</a:t>
                </a:r>
              </a:p>
            </c:rich>
          </c:tx>
          <c:layout>
            <c:manualLayout>
              <c:xMode val="edge"/>
              <c:yMode val="edge"/>
              <c:x val="8.1592492046138731E-3"/>
              <c:y val="0.1630753293722445"/>
            </c:manualLayout>
          </c:layout>
          <c:overlay val="0"/>
          <c:spPr>
            <a:noFill/>
            <a:ln w="25400">
              <a:noFill/>
            </a:ln>
          </c:spPr>
        </c:title>
        <c:numFmt formatCode="0%" sourceLinked="0"/>
        <c:majorTickMark val="out"/>
        <c:minorTickMark val="none"/>
        <c:tickLblPos val="nextTo"/>
        <c:spPr>
          <a:ln w="3175">
            <a:solidFill>
              <a:srgbClr val="000000"/>
            </a:solidFill>
            <a:prstDash val="solid"/>
          </a:ln>
        </c:spPr>
        <c:txPr>
          <a:bodyPr rot="0" vert="horz"/>
          <a:lstStyle/>
          <a:p>
            <a:pPr>
              <a:defRPr lang="en-US" sz="800" b="0" i="0" u="none" strike="noStrike" baseline="0">
                <a:solidFill>
                  <a:srgbClr val="000000"/>
                </a:solidFill>
                <a:latin typeface="+mj-lt"/>
                <a:ea typeface="Arial"/>
                <a:cs typeface="Arial"/>
              </a:defRPr>
            </a:pPr>
            <a:endParaRPr lang="en-US"/>
          </a:p>
        </c:txPr>
        <c:crossAx val="227178424"/>
        <c:crosses val="autoZero"/>
        <c:crossBetween val="midCat"/>
      </c:valAx>
      <c:spPr>
        <a:noFill/>
        <a:ln w="12700">
          <a:solidFill>
            <a:srgbClr val="808080"/>
          </a:solidFill>
          <a:prstDash val="solid"/>
        </a:ln>
      </c:spPr>
    </c:plotArea>
    <c:legend>
      <c:legendPos val="r"/>
      <c:layout>
        <c:manualLayout>
          <c:xMode val="edge"/>
          <c:yMode val="edge"/>
          <c:x val="0.10399425110862717"/>
          <c:y val="0.91842105263158169"/>
          <c:w val="0.82604321495694488"/>
          <c:h val="6.3157894736842121E-2"/>
        </c:manualLayout>
      </c:layout>
      <c:overlay val="0"/>
      <c:spPr>
        <a:solidFill>
          <a:srgbClr val="FFFFFF"/>
        </a:solidFill>
        <a:ln w="3175">
          <a:noFill/>
          <a:prstDash val="solid"/>
        </a:ln>
      </c:spPr>
      <c:txPr>
        <a:bodyPr/>
        <a:lstStyle/>
        <a:p>
          <a:pPr>
            <a:defRPr lang="en-US" sz="920" b="0" i="0" u="none" strike="noStrike" baseline="0">
              <a:solidFill>
                <a:srgbClr val="000000"/>
              </a:solidFill>
              <a:latin typeface="Arial"/>
              <a:ea typeface="Arial"/>
              <a:cs typeface="Arial"/>
            </a:defRPr>
          </a:pPr>
          <a:endParaRPr lang="en-US"/>
        </a:p>
      </c:txPr>
    </c:legend>
    <c:plotVisOnly val="1"/>
    <c:dispBlanksAs val="gap"/>
    <c:showDLblsOverMax val="0"/>
  </c:chart>
  <c:spPr>
    <a:solidFill>
      <a:srgbClr val="FFFFFF"/>
    </a:solidFill>
    <a:ln w="3175">
      <a:noFill/>
      <a:prstDash val="solid"/>
    </a:ln>
    <a:effectLst>
      <a:outerShdw blurRad="50800" dist="38100" dir="2700000" algn="tl" rotWithShape="0">
        <a:prstClr val="black">
          <a:alpha val="40000"/>
        </a:prstClr>
      </a:outerShdw>
    </a:effectLst>
  </c:spPr>
  <c:txPr>
    <a:bodyPr/>
    <a:lstStyle/>
    <a:p>
      <a:pPr>
        <a:defRPr sz="1000" b="0" i="0" u="none" strike="noStrike" baseline="0">
          <a:solidFill>
            <a:srgbClr val="000000"/>
          </a:solidFill>
          <a:latin typeface="Arial"/>
          <a:ea typeface="Arial"/>
          <a:cs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459E52-8F0A-49AE-81A2-D0D1AC96CF50}" type="datetimeFigureOut">
              <a:rPr lang="hu-HU" smtClean="0"/>
              <a:t>2024. 03. 25.</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50AB30-E149-4D2C-9BB7-22F4FD37310B}" type="slidenum">
              <a:rPr lang="hu-HU" smtClean="0"/>
              <a:t>‹#›</a:t>
            </a:fld>
            <a:endParaRPr lang="hu-HU"/>
          </a:p>
        </p:txBody>
      </p:sp>
    </p:spTree>
    <p:extLst>
      <p:ext uri="{BB962C8B-B14F-4D97-AF65-F5344CB8AC3E}">
        <p14:creationId xmlns:p14="http://schemas.microsoft.com/office/powerpoint/2010/main" val="1351934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DD7D06C-5983-4009-BBE2-322A912E77D9}" type="slidenum">
              <a:rPr kumimoji="0" lang="en-US" altLang="hu-HU"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hu-HU"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3" name="Rectangle 2"/>
          <p:cNvSpPr>
            <a:spLocks noGrp="1" noRot="1" noChangeAspect="1" noChangeArrowheads="1" noTextEdit="1"/>
          </p:cNvSpPr>
          <p:nvPr>
            <p:ph type="sldImg"/>
          </p:nvPr>
        </p:nvSpPr>
        <p:spPr>
          <a:xfrm>
            <a:off x="581025" y="796925"/>
            <a:ext cx="5695950" cy="3205163"/>
          </a:xfrm>
          <a:ln w="12700" cap="flat">
            <a:solidFill>
              <a:schemeClr val="tx1"/>
            </a:solidFill>
          </a:ln>
        </p:spPr>
      </p:sp>
      <p:sp>
        <p:nvSpPr>
          <p:cNvPr id="5124" name="Rectangle 3"/>
          <p:cNvSpPr>
            <a:spLocks noGrp="1" noChangeArrowheads="1"/>
          </p:cNvSpPr>
          <p:nvPr>
            <p:ph type="body" idx="1"/>
          </p:nvPr>
        </p:nvSpPr>
        <p:spPr>
          <a:xfrm>
            <a:off x="914400" y="4346575"/>
            <a:ext cx="5029200" cy="3849688"/>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eaLnBrk="1" hangingPunct="1"/>
            <a:endParaRPr lang="hu-HU" altLang="hu-HU" dirty="0"/>
          </a:p>
        </p:txBody>
      </p:sp>
    </p:spTree>
    <p:extLst>
      <p:ext uri="{BB962C8B-B14F-4D97-AF65-F5344CB8AC3E}">
        <p14:creationId xmlns:p14="http://schemas.microsoft.com/office/powerpoint/2010/main" val="3195030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16700" cy="3722687"/>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BE6F8CD8-8959-4C89-A1A7-503F4BA9FA5C}" type="slidenum">
              <a:rPr lang="de-DE" smtClean="0"/>
              <a:pPr>
                <a:defRPr/>
              </a:pPr>
              <a:t>6</a:t>
            </a:fld>
            <a:endParaRPr lang="de-D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16700" cy="3722687"/>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BE6F8CD8-8959-4C89-A1A7-503F4BA9FA5C}" type="slidenum">
              <a:rPr lang="de-DE" smtClean="0"/>
              <a:pPr>
                <a:defRPr/>
              </a:pPr>
              <a:t>7</a:t>
            </a:fld>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E72552A-52CA-41AC-A788-981ECC943143}" type="slidenum">
              <a:rPr kumimoji="0" lang="en-US" altLang="hu-HU"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hu-HU"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p:spPr>
        <p:txBody>
          <a:bodyPr/>
          <a:lstStyle/>
          <a:p>
            <a:pPr eaLnBrk="1" hangingPunct="1"/>
            <a:endParaRPr lang="hu-HU" altLang="hu-HU"/>
          </a:p>
        </p:txBody>
      </p:sp>
    </p:spTree>
    <p:extLst>
      <p:ext uri="{BB962C8B-B14F-4D97-AF65-F5344CB8AC3E}">
        <p14:creationId xmlns:p14="http://schemas.microsoft.com/office/powerpoint/2010/main" val="2057326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16700" cy="3722687"/>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BE6F8CD8-8959-4C89-A1A7-503F4BA9FA5C}" type="slidenum">
              <a:rPr lang="de-DE" smtClean="0"/>
              <a:pPr>
                <a:defRPr/>
              </a:pPr>
              <a:t>22</a:t>
            </a:fld>
            <a:endParaRPr 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16700" cy="3722687"/>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BE6F8CD8-8959-4C89-A1A7-503F4BA9FA5C}" type="slidenum">
              <a:rPr lang="de-DE" smtClean="0"/>
              <a:pPr>
                <a:defRPr/>
              </a:pPr>
              <a:t>23</a:t>
            </a:fld>
            <a:endParaRPr lang="de-D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16700" cy="3722687"/>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BE6F8CD8-8959-4C89-A1A7-503F4BA9FA5C}" type="slidenum">
              <a:rPr lang="de-DE" smtClean="0"/>
              <a:pPr>
                <a:defRPr/>
              </a:pPr>
              <a:t>24</a:t>
            </a:fld>
            <a:endParaRPr lang="de-D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16700" cy="3722687"/>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BE6F8CD8-8959-4C89-A1A7-503F4BA9FA5C}" type="slidenum">
              <a:rPr lang="de-DE" smtClean="0"/>
              <a:pPr>
                <a:defRPr/>
              </a:pPr>
              <a:t>25</a:t>
            </a:fld>
            <a:endParaRPr lang="de-D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16700" cy="3722687"/>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BE6F8CD8-8959-4C89-A1A7-503F4BA9FA5C}" type="slidenum">
              <a:rPr lang="de-DE" smtClean="0"/>
              <a:pPr>
                <a:defRPr/>
              </a:pPr>
              <a:t>26</a:t>
            </a:fld>
            <a:endParaRPr lang="de-D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16700" cy="3722687"/>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BE6F8CD8-8959-4C89-A1A7-503F4BA9FA5C}" type="slidenum">
              <a:rPr lang="de-DE" smtClean="0"/>
              <a:pPr>
                <a:defRPr/>
              </a:pPr>
              <a:t>27</a:t>
            </a:fld>
            <a:endParaRPr lang="de-D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8900" y="744538"/>
            <a:ext cx="6616700" cy="3722687"/>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BE6F8CD8-8959-4C89-A1A7-503F4BA9FA5C}" type="slidenum">
              <a:rPr lang="de-DE" smtClean="0"/>
              <a:pPr>
                <a:defRPr/>
              </a:pPr>
              <a:t>28</a:t>
            </a:fld>
            <a:endParaRPr lang="de-D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386121F-8C0C-4F02-BC20-BFACBD1111C4}" type="slidenum">
              <a:rPr lang="en-US" altLang="hu-HU"/>
              <a:pPr/>
              <a:t>34</a:t>
            </a:fld>
            <a:endParaRPr lang="en-US" altLang="hu-HU"/>
          </a:p>
        </p:txBody>
      </p:sp>
      <p:sp>
        <p:nvSpPr>
          <p:cNvPr id="15363"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4"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hu-HU" altLang="hu-HU"/>
          </a:p>
        </p:txBody>
      </p:sp>
      <p:sp>
        <p:nvSpPr>
          <p:cNvPr id="15365" name="Dia számának helye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A94ECC4-C6C5-42DF-9704-53B45AEA0D9D}" type="slidenum">
              <a:rPr lang="hu-HU" altLang="hu-HU" sz="1200">
                <a:latin typeface="Calibri" panose="020F0502020204030204" pitchFamily="34" charset="0"/>
              </a:rPr>
              <a:pPr algn="r" eaLnBrk="1" hangingPunct="1"/>
              <a:t>34</a:t>
            </a:fld>
            <a:endParaRPr lang="hu-HU" altLang="hu-HU" sz="1200">
              <a:latin typeface="Calibri" panose="020F0502020204030204" pitchFamily="34" charset="0"/>
            </a:endParaRPr>
          </a:p>
        </p:txBody>
      </p:sp>
    </p:spTree>
    <p:extLst>
      <p:ext uri="{BB962C8B-B14F-4D97-AF65-F5344CB8AC3E}">
        <p14:creationId xmlns:p14="http://schemas.microsoft.com/office/powerpoint/2010/main" val="2503979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AEB0B12-395F-4684-83AF-FCE638C5E575}" type="slidenum">
              <a:rPr lang="en-US" altLang="hu-HU"/>
              <a:pPr/>
              <a:t>36</a:t>
            </a:fld>
            <a:endParaRPr lang="en-US" altLang="hu-HU"/>
          </a:p>
        </p:txBody>
      </p:sp>
      <p:sp>
        <p:nvSpPr>
          <p:cNvPr id="22531"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2"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hu-HU" altLang="hu-HU"/>
          </a:p>
        </p:txBody>
      </p:sp>
      <p:sp>
        <p:nvSpPr>
          <p:cNvPr id="22533" name="Dia számának helye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2E12D6E-81E1-41B8-B8EB-7B879A1EFA75}" type="slidenum">
              <a:rPr lang="hu-HU" altLang="hu-HU" sz="1200">
                <a:latin typeface="Calibri" panose="020F0502020204030204" pitchFamily="34" charset="0"/>
              </a:rPr>
              <a:pPr algn="r" eaLnBrk="1" hangingPunct="1"/>
              <a:t>36</a:t>
            </a:fld>
            <a:endParaRPr lang="hu-HU" altLang="hu-HU" sz="1200">
              <a:latin typeface="Calibri" panose="020F0502020204030204" pitchFamily="34" charset="0"/>
            </a:endParaRPr>
          </a:p>
        </p:txBody>
      </p:sp>
    </p:spTree>
    <p:extLst>
      <p:ext uri="{BB962C8B-B14F-4D97-AF65-F5344CB8AC3E}">
        <p14:creationId xmlns:p14="http://schemas.microsoft.com/office/powerpoint/2010/main" val="40107848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8C517D4-185F-4F8E-BC72-D737C264A6EC}" type="slidenum">
              <a:rPr lang="en-US" altLang="hu-HU"/>
              <a:pPr/>
              <a:t>37</a:t>
            </a:fld>
            <a:endParaRPr lang="en-US" altLang="hu-HU"/>
          </a:p>
        </p:txBody>
      </p:sp>
      <p:sp>
        <p:nvSpPr>
          <p:cNvPr id="24579" name="Diakép helye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0" name="Jegyzetek hely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hu-HU" altLang="hu-HU"/>
          </a:p>
        </p:txBody>
      </p:sp>
      <p:sp>
        <p:nvSpPr>
          <p:cNvPr id="24581" name="Dia számának helye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DBCC899-54FA-4C96-A2B1-6A4AFB0502E6}" type="slidenum">
              <a:rPr lang="hu-HU" altLang="hu-HU" sz="1200">
                <a:latin typeface="Calibri" panose="020F0502020204030204" pitchFamily="34" charset="0"/>
              </a:rPr>
              <a:pPr algn="r" eaLnBrk="1" hangingPunct="1"/>
              <a:t>37</a:t>
            </a:fld>
            <a:endParaRPr lang="hu-HU" altLang="hu-HU" sz="1200">
              <a:latin typeface="Calibri" panose="020F0502020204030204" pitchFamily="34" charset="0"/>
            </a:endParaRPr>
          </a:p>
        </p:txBody>
      </p:sp>
    </p:spTree>
    <p:extLst>
      <p:ext uri="{BB962C8B-B14F-4D97-AF65-F5344CB8AC3E}">
        <p14:creationId xmlns:p14="http://schemas.microsoft.com/office/powerpoint/2010/main" val="26797469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D6425EFB-E4AE-20D2-B23A-CB92F79F1368}"/>
              </a:ext>
            </a:extLst>
          </p:cNvPr>
          <p:cNvSpPr>
            <a:spLocks noGrp="1" noRot="1" noChangeAspect="1" noChangeArrowheads="1" noTextEdit="1"/>
          </p:cNvSpPr>
          <p:nvPr>
            <p:ph type="sldImg"/>
          </p:nvPr>
        </p:nvSpPr>
        <p:spPr>
          <a:ln/>
        </p:spPr>
      </p:sp>
      <p:sp>
        <p:nvSpPr>
          <p:cNvPr id="48131" name="Notes Placeholder 2">
            <a:extLst>
              <a:ext uri="{FF2B5EF4-FFF2-40B4-BE49-F238E27FC236}">
                <a16:creationId xmlns:a16="http://schemas.microsoft.com/office/drawing/2014/main" id="{C7A1CF9C-3710-016C-2412-33C00E370B2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pPr eaLnBrk="1" hangingPunct="1">
              <a:spcBef>
                <a:spcPct val="0"/>
              </a:spcBef>
            </a:pPr>
            <a:r>
              <a:rPr lang="en-US" altLang="en-US"/>
              <a:t>Pre financial crisis 1</a:t>
            </a:r>
            <a:r>
              <a:rPr lang="en-US" altLang="en-US" baseline="30000"/>
              <a:t>st</a:t>
            </a:r>
            <a:r>
              <a:rPr lang="en-US" altLang="en-US"/>
              <a:t> line: Treasury owns Planning, Execution and Monitoring</a:t>
            </a:r>
          </a:p>
          <a:p>
            <a:endParaRPr lang="en-US" altLang="en-US"/>
          </a:p>
          <a:p>
            <a:r>
              <a:rPr lang="en-US" altLang="en-US"/>
              <a:t>worked in both models (model A at  previous employer and now at CS migrating to Model Type B), chaired industry working group, spoke to risk manager who operate in Model Type A, discussed model type with FINMA, FED and PRA </a:t>
            </a:r>
          </a:p>
        </p:txBody>
      </p:sp>
      <p:sp>
        <p:nvSpPr>
          <p:cNvPr id="48132" name="Slide Number Placeholder 3">
            <a:extLst>
              <a:ext uri="{FF2B5EF4-FFF2-40B4-BE49-F238E27FC236}">
                <a16:creationId xmlns:a16="http://schemas.microsoft.com/office/drawing/2014/main" id="{551C637C-E277-C00D-EE68-405EE87848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fld id="{8E784FC7-9E0D-4AC3-81BD-8F31F99D2928}" type="slidenum">
              <a:rPr lang="en-US" altLang="en-US" sz="1200" b="0" smtClean="0">
                <a:latin typeface="Times New Roman" panose="02020603050405020304" pitchFamily="18" charset="0"/>
              </a:rPr>
              <a:pPr/>
              <a:t>89</a:t>
            </a:fld>
            <a:endParaRPr lang="en-US" altLang="en-US" sz="1200" b="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FF0894B3-500A-CDF6-DCF9-4FFF3D4C4F77}"/>
              </a:ext>
            </a:extLst>
          </p:cNvPr>
          <p:cNvSpPr>
            <a:spLocks noGrp="1" noRot="1" noChangeAspect="1" noChangeArrowheads="1" noTextEdit="1"/>
          </p:cNvSpPr>
          <p:nvPr>
            <p:ph type="sldImg"/>
          </p:nvPr>
        </p:nvSpPr>
        <p:spPr>
          <a:xfrm>
            <a:off x="382588" y="685800"/>
            <a:ext cx="6094412" cy="3429000"/>
          </a:xfrm>
          <a:ln/>
        </p:spPr>
      </p:sp>
      <p:sp>
        <p:nvSpPr>
          <p:cNvPr id="45059" name="Notes Placeholder 2">
            <a:extLst>
              <a:ext uri="{FF2B5EF4-FFF2-40B4-BE49-F238E27FC236}">
                <a16:creationId xmlns:a16="http://schemas.microsoft.com/office/drawing/2014/main" id="{32B0A9DB-4CE9-2A3F-BB79-458F09B28DA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5060" name="Slide Number Placeholder 3">
            <a:extLst>
              <a:ext uri="{FF2B5EF4-FFF2-40B4-BE49-F238E27FC236}">
                <a16:creationId xmlns:a16="http://schemas.microsoft.com/office/drawing/2014/main" id="{939A2BFE-8005-E988-A800-268E1CEE2D5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fld id="{42DF125C-B06F-4FD4-9527-32DF8EDF68EC}" type="slidenum">
              <a:rPr lang="en-US" altLang="en-US" sz="1200" b="0" smtClean="0">
                <a:latin typeface="Times New Roman" panose="02020603050405020304" pitchFamily="18" charset="0"/>
              </a:rPr>
              <a:pPr/>
              <a:t>90</a:t>
            </a:fld>
            <a:endParaRPr lang="en-US" altLang="en-US" sz="1200" b="0">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547A79F5-7A6B-DA42-A424-2C2C96CE1CC0}"/>
              </a:ext>
            </a:extLst>
          </p:cNvPr>
          <p:cNvSpPr>
            <a:spLocks noGrp="1" noRot="1" noChangeAspect="1" noChangeArrowheads="1" noTextEdit="1"/>
          </p:cNvSpPr>
          <p:nvPr>
            <p:ph type="sldImg"/>
          </p:nvPr>
        </p:nvSpPr>
        <p:spPr>
          <a:xfrm>
            <a:off x="82550" y="742950"/>
            <a:ext cx="6604000" cy="3714750"/>
          </a:xfrm>
          <a:ln/>
        </p:spPr>
      </p:sp>
      <p:sp>
        <p:nvSpPr>
          <p:cNvPr id="65539" name="Notes Placeholder 2">
            <a:extLst>
              <a:ext uri="{FF2B5EF4-FFF2-40B4-BE49-F238E27FC236}">
                <a16:creationId xmlns:a16="http://schemas.microsoft.com/office/drawing/2014/main" id="{36430B2F-CF2F-0ABE-1EB0-0E18EC0E730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5540" name="Slide Number Placeholder 3">
            <a:extLst>
              <a:ext uri="{FF2B5EF4-FFF2-40B4-BE49-F238E27FC236}">
                <a16:creationId xmlns:a16="http://schemas.microsoft.com/office/drawing/2014/main" id="{30A3D0F9-56DC-E7BF-25B4-448722D3F54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fld id="{6178492F-013A-4D1F-87F1-296E128DCC74}" type="slidenum">
              <a:rPr lang="en-US" altLang="en-US" sz="1200" b="0" smtClean="0">
                <a:latin typeface="Times New Roman" panose="02020603050405020304" pitchFamily="18" charset="0"/>
              </a:rPr>
              <a:pPr/>
              <a:t>92</a:t>
            </a:fld>
            <a:endParaRPr lang="en-US" altLang="en-US" sz="1200" b="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5B5808AF-863F-D880-2A16-C10931EE57F0}"/>
              </a:ext>
            </a:extLst>
          </p:cNvPr>
          <p:cNvSpPr>
            <a:spLocks noGrp="1" noRot="1" noChangeAspect="1" noChangeArrowheads="1" noTextEdit="1"/>
          </p:cNvSpPr>
          <p:nvPr>
            <p:ph type="sldImg"/>
          </p:nvPr>
        </p:nvSpPr>
        <p:spPr>
          <a:xfrm>
            <a:off x="381000" y="685800"/>
            <a:ext cx="6096000" cy="3429000"/>
          </a:xfrm>
          <a:ln/>
        </p:spPr>
      </p:sp>
      <p:sp>
        <p:nvSpPr>
          <p:cNvPr id="74755" name="Notes Placeholder 2">
            <a:extLst>
              <a:ext uri="{FF2B5EF4-FFF2-40B4-BE49-F238E27FC236}">
                <a16:creationId xmlns:a16="http://schemas.microsoft.com/office/drawing/2014/main" id="{B785B41D-E287-BB9D-4159-E44B6FAE5EA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10000"/>
              </a:lnSpc>
            </a:pPr>
            <a:endParaRPr lang="de-DE" altLang="en-US">
              <a:latin typeface="Arial" panose="020B0604020202020204" pitchFamily="34" charset="0"/>
            </a:endParaRPr>
          </a:p>
          <a:p>
            <a:pPr>
              <a:lnSpc>
                <a:spcPct val="110000"/>
              </a:lnSpc>
            </a:pPr>
            <a:r>
              <a:rPr lang="de-DE" altLang="en-US">
                <a:latin typeface="Arial" panose="020B0604020202020204" pitchFamily="34" charset="0"/>
              </a:rPr>
              <a:t>Asset Liability Management = Management of assets and liabilities under consideration of alternative rates, liquidit and client behaviours with the objective to optimise the overall position with regard to the risk return profile.</a:t>
            </a:r>
          </a:p>
          <a:p>
            <a:pPr>
              <a:lnSpc>
                <a:spcPct val="110000"/>
              </a:lnSpc>
            </a:pPr>
            <a:r>
              <a:rPr lang="de-DE" altLang="en-US">
                <a:latin typeface="Arial" panose="020B0604020202020204" pitchFamily="34" charset="0"/>
              </a:rPr>
              <a:t>Welche Folgen wären bei unterschiedlich langen Laufzeiten zwischen den Bilanzseiten denkbar (Stw. Risiko)?</a:t>
            </a:r>
          </a:p>
          <a:p>
            <a:pPr>
              <a:lnSpc>
                <a:spcPct val="110000"/>
              </a:lnSpc>
            </a:pPr>
            <a:r>
              <a:rPr lang="de-DE" altLang="en-US">
                <a:latin typeface="Arial" panose="020B0604020202020204" pitchFamily="34" charset="0"/>
              </a:rPr>
              <a:t>Eine geeignete Bewertung der „Bilanz“ muss helfen, das </a:t>
            </a:r>
            <a:r>
              <a:rPr lang="de-DE" altLang="en-US" b="1">
                <a:latin typeface="Arial" panose="020B0604020202020204" pitchFamily="34" charset="0"/>
              </a:rPr>
              <a:t>Zinsänderungsrisiko</a:t>
            </a:r>
            <a:r>
              <a:rPr lang="de-DE" altLang="en-US">
                <a:latin typeface="Arial" panose="020B0604020202020204" pitchFamily="34" charset="0"/>
              </a:rPr>
              <a:t> aggregiert auf Gesamtbankebene zu ermitteln.</a:t>
            </a:r>
          </a:p>
          <a:p>
            <a:pPr>
              <a:lnSpc>
                <a:spcPct val="110000"/>
              </a:lnSpc>
            </a:pPr>
            <a:r>
              <a:rPr lang="de-DE" altLang="en-US">
                <a:latin typeface="Arial" panose="020B0604020202020204" pitchFamily="34" charset="0"/>
              </a:rPr>
              <a:t>Die zunächst trivial anmutende Aufgabe erweist sich in der Praxis als durchaus anspruchsvoll, da </a:t>
            </a:r>
            <a:r>
              <a:rPr lang="de-DE" altLang="en-US" u="sng">
                <a:latin typeface="Arial" panose="020B0604020202020204" pitchFamily="34" charset="0"/>
              </a:rPr>
              <a:t>unterschiedliche Finanzprodukte</a:t>
            </a:r>
            <a:r>
              <a:rPr lang="de-DE" altLang="en-US">
                <a:latin typeface="Arial" panose="020B0604020202020204" pitchFamily="34" charset="0"/>
              </a:rPr>
              <a:t> isoliert bewertet und anschließend korrekt zusammengefasst werden müssen.</a:t>
            </a:r>
          </a:p>
          <a:p>
            <a:pPr>
              <a:lnSpc>
                <a:spcPct val="110000"/>
              </a:lnSpc>
            </a:pPr>
            <a:r>
              <a:rPr lang="de-DE" altLang="en-US">
                <a:latin typeface="Arial" panose="020B0604020202020204" pitchFamily="34" charset="0"/>
              </a:rPr>
              <a:t>In einer Art Inventur muss die gesamte Bilanz und das ausserbilanzielle Geschäft derart </a:t>
            </a:r>
          </a:p>
          <a:p>
            <a:pPr>
              <a:lnSpc>
                <a:spcPct val="110000"/>
              </a:lnSpc>
            </a:pPr>
            <a:r>
              <a:rPr lang="de-DE" altLang="en-US">
                <a:latin typeface="Arial" panose="020B0604020202020204" pitchFamily="34" charset="0"/>
              </a:rPr>
              <a:t>aufgelistet sein, dass unmittelbar die Zinsposition erkennbar ist</a:t>
            </a:r>
          </a:p>
          <a:p>
            <a:endParaRPr lang="en-US" altLang="en-US"/>
          </a:p>
        </p:txBody>
      </p:sp>
      <p:sp>
        <p:nvSpPr>
          <p:cNvPr id="74756" name="Slide Number Placeholder 3">
            <a:extLst>
              <a:ext uri="{FF2B5EF4-FFF2-40B4-BE49-F238E27FC236}">
                <a16:creationId xmlns:a16="http://schemas.microsoft.com/office/drawing/2014/main" id="{36E7D1EE-1025-08C9-C365-5743EC1AA81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fld id="{B854F409-7B05-4B6F-A679-49A15BE28A66}" type="slidenum">
              <a:rPr lang="en-US" altLang="en-US" sz="1200" b="0" smtClean="0">
                <a:latin typeface="Times New Roman" panose="02020603050405020304" pitchFamily="18" charset="0"/>
              </a:rPr>
              <a:pPr/>
              <a:t>93</a:t>
            </a:fld>
            <a:endParaRPr lang="en-US" altLang="en-US" sz="1200" b="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2484E9F-6D1E-F713-7D3F-3AD27EAC43CB}"/>
              </a:ext>
            </a:extLst>
          </p:cNvPr>
          <p:cNvSpPr>
            <a:spLocks noGrp="1"/>
          </p:cNvSpPr>
          <p:nvPr>
            <p:ph type="ctrTitle"/>
          </p:nvPr>
        </p:nvSpPr>
        <p:spPr>
          <a:xfrm>
            <a:off x="1524000" y="1122363"/>
            <a:ext cx="9144000" cy="2387600"/>
          </a:xfrm>
        </p:spPr>
        <p:txBody>
          <a:bodyPr anchor="b"/>
          <a:lstStyle>
            <a:lvl1pPr algn="ctr">
              <a:defRPr sz="6000"/>
            </a:lvl1pPr>
          </a:lstStyle>
          <a:p>
            <a:r>
              <a:rPr lang="hu-HU"/>
              <a:t>Mintacím szerkesztése</a:t>
            </a:r>
          </a:p>
        </p:txBody>
      </p:sp>
      <p:sp>
        <p:nvSpPr>
          <p:cNvPr id="3" name="Alcím 2">
            <a:extLst>
              <a:ext uri="{FF2B5EF4-FFF2-40B4-BE49-F238E27FC236}">
                <a16:creationId xmlns:a16="http://schemas.microsoft.com/office/drawing/2014/main" id="{92B83467-F9E4-CAE3-3799-56F896BD03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a:t>Kattintson ide az alcím mintájának szerkesztéséhez</a:t>
            </a:r>
          </a:p>
        </p:txBody>
      </p:sp>
      <p:sp>
        <p:nvSpPr>
          <p:cNvPr id="4" name="Dátum helye 3">
            <a:extLst>
              <a:ext uri="{FF2B5EF4-FFF2-40B4-BE49-F238E27FC236}">
                <a16:creationId xmlns:a16="http://schemas.microsoft.com/office/drawing/2014/main" id="{850C02E4-B033-73CD-5CFF-442EF60F60F6}"/>
              </a:ext>
            </a:extLst>
          </p:cNvPr>
          <p:cNvSpPr>
            <a:spLocks noGrp="1"/>
          </p:cNvSpPr>
          <p:nvPr>
            <p:ph type="dt" sz="half" idx="10"/>
          </p:nvPr>
        </p:nvSpPr>
        <p:spPr/>
        <p:txBody>
          <a:bodyPr/>
          <a:lstStyle/>
          <a:p>
            <a:fld id="{A6631490-0F1C-421B-8BA3-ADB68CEBA1D2}" type="datetimeFigureOut">
              <a:rPr lang="hu-HU" smtClean="0"/>
              <a:t>2024. 03. 25.</a:t>
            </a:fld>
            <a:endParaRPr lang="hu-HU"/>
          </a:p>
        </p:txBody>
      </p:sp>
      <p:sp>
        <p:nvSpPr>
          <p:cNvPr id="5" name="Élőláb helye 4">
            <a:extLst>
              <a:ext uri="{FF2B5EF4-FFF2-40B4-BE49-F238E27FC236}">
                <a16:creationId xmlns:a16="http://schemas.microsoft.com/office/drawing/2014/main" id="{72451EB3-4061-96AC-BF72-BF1EAC005085}"/>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5164E959-14EF-54DD-11F8-F65CF439F1D4}"/>
              </a:ext>
            </a:extLst>
          </p:cNvPr>
          <p:cNvSpPr>
            <a:spLocks noGrp="1"/>
          </p:cNvSpPr>
          <p:nvPr>
            <p:ph type="sldNum" sz="quarter" idx="12"/>
          </p:nvPr>
        </p:nvSpPr>
        <p:spPr/>
        <p:txBody>
          <a:bodyPr/>
          <a:lstStyle/>
          <a:p>
            <a:fld id="{4A01B1D9-FFEE-44AC-AE52-6B30CE696C8D}" type="slidenum">
              <a:rPr lang="hu-HU" smtClean="0"/>
              <a:t>‹#›</a:t>
            </a:fld>
            <a:endParaRPr lang="hu-HU"/>
          </a:p>
        </p:txBody>
      </p:sp>
    </p:spTree>
    <p:extLst>
      <p:ext uri="{BB962C8B-B14F-4D97-AF65-F5344CB8AC3E}">
        <p14:creationId xmlns:p14="http://schemas.microsoft.com/office/powerpoint/2010/main" val="1940296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F4A32F7-2DAD-9A1A-9CF1-00FDE612D02E}"/>
              </a:ext>
            </a:extLst>
          </p:cNvPr>
          <p:cNvSpPr>
            <a:spLocks noGrp="1"/>
          </p:cNvSpPr>
          <p:nvPr>
            <p:ph type="title"/>
          </p:nvPr>
        </p:nvSpPr>
        <p:spPr/>
        <p:txBody>
          <a:bodyPr/>
          <a:lstStyle/>
          <a:p>
            <a:r>
              <a:rPr lang="hu-HU"/>
              <a:t>Mintacím szerkesztése</a:t>
            </a:r>
          </a:p>
        </p:txBody>
      </p:sp>
      <p:sp>
        <p:nvSpPr>
          <p:cNvPr id="3" name="Tartalom helye 2">
            <a:extLst>
              <a:ext uri="{FF2B5EF4-FFF2-40B4-BE49-F238E27FC236}">
                <a16:creationId xmlns:a16="http://schemas.microsoft.com/office/drawing/2014/main" id="{7DDA9E95-ED24-2574-35C7-48FA8CBE45E1}"/>
              </a:ext>
            </a:extLst>
          </p:cNvPr>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9AE10843-AA86-C970-43F0-1C0B650D1B85}"/>
              </a:ext>
            </a:extLst>
          </p:cNvPr>
          <p:cNvSpPr>
            <a:spLocks noGrp="1"/>
          </p:cNvSpPr>
          <p:nvPr>
            <p:ph type="dt" sz="half" idx="10"/>
          </p:nvPr>
        </p:nvSpPr>
        <p:spPr/>
        <p:txBody>
          <a:bodyPr/>
          <a:lstStyle/>
          <a:p>
            <a:fld id="{A6631490-0F1C-421B-8BA3-ADB68CEBA1D2}" type="datetimeFigureOut">
              <a:rPr lang="hu-HU" smtClean="0"/>
              <a:t>2024. 03. 25.</a:t>
            </a:fld>
            <a:endParaRPr lang="hu-HU"/>
          </a:p>
        </p:txBody>
      </p:sp>
      <p:sp>
        <p:nvSpPr>
          <p:cNvPr id="5" name="Élőláb helye 4">
            <a:extLst>
              <a:ext uri="{FF2B5EF4-FFF2-40B4-BE49-F238E27FC236}">
                <a16:creationId xmlns:a16="http://schemas.microsoft.com/office/drawing/2014/main" id="{EB111365-5C39-65C5-1AF8-DD31C43413ED}"/>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192EC605-C5E3-B454-2C0C-0A4152B82BBC}"/>
              </a:ext>
            </a:extLst>
          </p:cNvPr>
          <p:cNvSpPr>
            <a:spLocks noGrp="1"/>
          </p:cNvSpPr>
          <p:nvPr>
            <p:ph type="sldNum" sz="quarter" idx="12"/>
          </p:nvPr>
        </p:nvSpPr>
        <p:spPr/>
        <p:txBody>
          <a:bodyPr/>
          <a:lstStyle/>
          <a:p>
            <a:fld id="{4A01B1D9-FFEE-44AC-AE52-6B30CE696C8D}" type="slidenum">
              <a:rPr lang="hu-HU" smtClean="0"/>
              <a:t>‹#›</a:t>
            </a:fld>
            <a:endParaRPr lang="hu-HU"/>
          </a:p>
        </p:txBody>
      </p:sp>
    </p:spTree>
    <p:extLst>
      <p:ext uri="{BB962C8B-B14F-4D97-AF65-F5344CB8AC3E}">
        <p14:creationId xmlns:p14="http://schemas.microsoft.com/office/powerpoint/2010/main" val="2432859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0FFACBA-6575-8CCA-C192-162B2C445B31}"/>
              </a:ext>
            </a:extLst>
          </p:cNvPr>
          <p:cNvSpPr>
            <a:spLocks noGrp="1"/>
          </p:cNvSpPr>
          <p:nvPr>
            <p:ph type="title"/>
          </p:nvPr>
        </p:nvSpPr>
        <p:spPr>
          <a:xfrm>
            <a:off x="831850" y="1709738"/>
            <a:ext cx="10515600" cy="2852737"/>
          </a:xfrm>
        </p:spPr>
        <p:txBody>
          <a:bodyPr anchor="b"/>
          <a:lstStyle>
            <a:lvl1pPr>
              <a:defRPr sz="6000"/>
            </a:lvl1pPr>
          </a:lstStyle>
          <a:p>
            <a:r>
              <a:rPr lang="hu-HU"/>
              <a:t>Mintacím szerkesztése</a:t>
            </a:r>
          </a:p>
        </p:txBody>
      </p:sp>
      <p:sp>
        <p:nvSpPr>
          <p:cNvPr id="3" name="Szöveg helye 2">
            <a:extLst>
              <a:ext uri="{FF2B5EF4-FFF2-40B4-BE49-F238E27FC236}">
                <a16:creationId xmlns:a16="http://schemas.microsoft.com/office/drawing/2014/main" id="{9D187419-D915-E869-76E3-6F9D315741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u-HU"/>
              <a:t>Mintaszöveg szerkesztése</a:t>
            </a:r>
          </a:p>
        </p:txBody>
      </p:sp>
      <p:sp>
        <p:nvSpPr>
          <p:cNvPr id="4" name="Dátum helye 3">
            <a:extLst>
              <a:ext uri="{FF2B5EF4-FFF2-40B4-BE49-F238E27FC236}">
                <a16:creationId xmlns:a16="http://schemas.microsoft.com/office/drawing/2014/main" id="{EA5D1663-4FFB-0E62-5912-E1AD93DDF5F2}"/>
              </a:ext>
            </a:extLst>
          </p:cNvPr>
          <p:cNvSpPr>
            <a:spLocks noGrp="1"/>
          </p:cNvSpPr>
          <p:nvPr>
            <p:ph type="dt" sz="half" idx="10"/>
          </p:nvPr>
        </p:nvSpPr>
        <p:spPr/>
        <p:txBody>
          <a:bodyPr/>
          <a:lstStyle/>
          <a:p>
            <a:fld id="{A6631490-0F1C-421B-8BA3-ADB68CEBA1D2}" type="datetimeFigureOut">
              <a:rPr lang="hu-HU" smtClean="0"/>
              <a:t>2024. 03. 25.</a:t>
            </a:fld>
            <a:endParaRPr lang="hu-HU"/>
          </a:p>
        </p:txBody>
      </p:sp>
      <p:sp>
        <p:nvSpPr>
          <p:cNvPr id="5" name="Élőláb helye 4">
            <a:extLst>
              <a:ext uri="{FF2B5EF4-FFF2-40B4-BE49-F238E27FC236}">
                <a16:creationId xmlns:a16="http://schemas.microsoft.com/office/drawing/2014/main" id="{0C586AA6-1C91-2787-11B8-4204AAA77F96}"/>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46DABB9A-BDF7-08EA-5305-6B98958D1760}"/>
              </a:ext>
            </a:extLst>
          </p:cNvPr>
          <p:cNvSpPr>
            <a:spLocks noGrp="1"/>
          </p:cNvSpPr>
          <p:nvPr>
            <p:ph type="sldNum" sz="quarter" idx="12"/>
          </p:nvPr>
        </p:nvSpPr>
        <p:spPr/>
        <p:txBody>
          <a:bodyPr/>
          <a:lstStyle/>
          <a:p>
            <a:fld id="{4A01B1D9-FFEE-44AC-AE52-6B30CE696C8D}" type="slidenum">
              <a:rPr lang="hu-HU" smtClean="0"/>
              <a:t>‹#›</a:t>
            </a:fld>
            <a:endParaRPr lang="hu-HU"/>
          </a:p>
        </p:txBody>
      </p:sp>
    </p:spTree>
    <p:extLst>
      <p:ext uri="{BB962C8B-B14F-4D97-AF65-F5344CB8AC3E}">
        <p14:creationId xmlns:p14="http://schemas.microsoft.com/office/powerpoint/2010/main" val="288227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39EC5B6-8775-B24A-CC76-2E284ADFA0FF}"/>
              </a:ext>
            </a:extLst>
          </p:cNvPr>
          <p:cNvSpPr>
            <a:spLocks noGrp="1"/>
          </p:cNvSpPr>
          <p:nvPr>
            <p:ph type="title"/>
          </p:nvPr>
        </p:nvSpPr>
        <p:spPr/>
        <p:txBody>
          <a:bodyPr/>
          <a:lstStyle/>
          <a:p>
            <a:r>
              <a:rPr lang="hu-HU"/>
              <a:t>Mintacím szerkesztése</a:t>
            </a:r>
          </a:p>
        </p:txBody>
      </p:sp>
      <p:sp>
        <p:nvSpPr>
          <p:cNvPr id="3" name="Tartalom helye 2">
            <a:extLst>
              <a:ext uri="{FF2B5EF4-FFF2-40B4-BE49-F238E27FC236}">
                <a16:creationId xmlns:a16="http://schemas.microsoft.com/office/drawing/2014/main" id="{852578BA-9FC3-5FED-15A1-348002F47880}"/>
              </a:ext>
            </a:extLst>
          </p:cNvPr>
          <p:cNvSpPr>
            <a:spLocks noGrp="1"/>
          </p:cNvSpPr>
          <p:nvPr>
            <p:ph sz="half" idx="1"/>
          </p:nvPr>
        </p:nvSpPr>
        <p:spPr>
          <a:xfrm>
            <a:off x="838200" y="1307592"/>
            <a:ext cx="5181600" cy="4873752"/>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Tartalom helye 3">
            <a:extLst>
              <a:ext uri="{FF2B5EF4-FFF2-40B4-BE49-F238E27FC236}">
                <a16:creationId xmlns:a16="http://schemas.microsoft.com/office/drawing/2014/main" id="{28B2A9BE-C8F6-5368-B720-5F07A9A239DB}"/>
              </a:ext>
            </a:extLst>
          </p:cNvPr>
          <p:cNvSpPr>
            <a:spLocks noGrp="1"/>
          </p:cNvSpPr>
          <p:nvPr>
            <p:ph sz="half" idx="2"/>
          </p:nvPr>
        </p:nvSpPr>
        <p:spPr>
          <a:xfrm>
            <a:off x="6172200" y="1307592"/>
            <a:ext cx="5181600" cy="4873752"/>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Dátum helye 4">
            <a:extLst>
              <a:ext uri="{FF2B5EF4-FFF2-40B4-BE49-F238E27FC236}">
                <a16:creationId xmlns:a16="http://schemas.microsoft.com/office/drawing/2014/main" id="{B573E6D4-C7B5-8EF3-FD3C-0C63EF093F5A}"/>
              </a:ext>
            </a:extLst>
          </p:cNvPr>
          <p:cNvSpPr>
            <a:spLocks noGrp="1"/>
          </p:cNvSpPr>
          <p:nvPr>
            <p:ph type="dt" sz="half" idx="10"/>
          </p:nvPr>
        </p:nvSpPr>
        <p:spPr/>
        <p:txBody>
          <a:bodyPr/>
          <a:lstStyle/>
          <a:p>
            <a:fld id="{A6631490-0F1C-421B-8BA3-ADB68CEBA1D2}" type="datetimeFigureOut">
              <a:rPr lang="hu-HU" smtClean="0"/>
              <a:t>2024. 03. 25.</a:t>
            </a:fld>
            <a:endParaRPr lang="hu-HU"/>
          </a:p>
        </p:txBody>
      </p:sp>
      <p:sp>
        <p:nvSpPr>
          <p:cNvPr id="6" name="Élőláb helye 5">
            <a:extLst>
              <a:ext uri="{FF2B5EF4-FFF2-40B4-BE49-F238E27FC236}">
                <a16:creationId xmlns:a16="http://schemas.microsoft.com/office/drawing/2014/main" id="{B57540B1-9CB9-72C3-8AC0-9736F43E68D1}"/>
              </a:ext>
            </a:extLst>
          </p:cNvPr>
          <p:cNvSpPr>
            <a:spLocks noGrp="1"/>
          </p:cNvSpPr>
          <p:nvPr>
            <p:ph type="ftr" sz="quarter" idx="11"/>
          </p:nvPr>
        </p:nvSpPr>
        <p:spPr/>
        <p:txBody>
          <a:bodyPr/>
          <a:lstStyle/>
          <a:p>
            <a:endParaRPr lang="hu-HU"/>
          </a:p>
        </p:txBody>
      </p:sp>
      <p:sp>
        <p:nvSpPr>
          <p:cNvPr id="7" name="Dia számának helye 6">
            <a:extLst>
              <a:ext uri="{FF2B5EF4-FFF2-40B4-BE49-F238E27FC236}">
                <a16:creationId xmlns:a16="http://schemas.microsoft.com/office/drawing/2014/main" id="{F96659F5-6DC6-6624-6BC4-8C71109DE3DE}"/>
              </a:ext>
            </a:extLst>
          </p:cNvPr>
          <p:cNvSpPr>
            <a:spLocks noGrp="1"/>
          </p:cNvSpPr>
          <p:nvPr>
            <p:ph type="sldNum" sz="quarter" idx="12"/>
          </p:nvPr>
        </p:nvSpPr>
        <p:spPr/>
        <p:txBody>
          <a:bodyPr/>
          <a:lstStyle/>
          <a:p>
            <a:fld id="{4A01B1D9-FFEE-44AC-AE52-6B30CE696C8D}" type="slidenum">
              <a:rPr lang="hu-HU" smtClean="0"/>
              <a:t>‹#›</a:t>
            </a:fld>
            <a:endParaRPr lang="hu-HU"/>
          </a:p>
        </p:txBody>
      </p:sp>
    </p:spTree>
    <p:extLst>
      <p:ext uri="{BB962C8B-B14F-4D97-AF65-F5344CB8AC3E}">
        <p14:creationId xmlns:p14="http://schemas.microsoft.com/office/powerpoint/2010/main" val="3091202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CB79C8EE-4604-2AD5-7D02-3F32B2D94831}"/>
              </a:ext>
            </a:extLst>
          </p:cNvPr>
          <p:cNvSpPr>
            <a:spLocks noGrp="1"/>
          </p:cNvSpPr>
          <p:nvPr>
            <p:ph type="title"/>
          </p:nvPr>
        </p:nvSpPr>
        <p:spPr>
          <a:xfrm>
            <a:off x="839788" y="365126"/>
            <a:ext cx="10515600" cy="813816"/>
          </a:xfrm>
        </p:spPr>
        <p:txBody>
          <a:bodyPr/>
          <a:lstStyle/>
          <a:p>
            <a:r>
              <a:rPr lang="hu-HU"/>
              <a:t>Mintacím szerkesztése</a:t>
            </a:r>
          </a:p>
        </p:txBody>
      </p:sp>
      <p:sp>
        <p:nvSpPr>
          <p:cNvPr id="3" name="Szöveg helye 2">
            <a:extLst>
              <a:ext uri="{FF2B5EF4-FFF2-40B4-BE49-F238E27FC236}">
                <a16:creationId xmlns:a16="http://schemas.microsoft.com/office/drawing/2014/main" id="{E6CB6168-AC63-08A8-CCEB-EB7996ADF2D7}"/>
              </a:ext>
            </a:extLst>
          </p:cNvPr>
          <p:cNvSpPr>
            <a:spLocks noGrp="1"/>
          </p:cNvSpPr>
          <p:nvPr>
            <p:ph type="body" idx="1"/>
          </p:nvPr>
        </p:nvSpPr>
        <p:spPr>
          <a:xfrm>
            <a:off x="839788" y="1307592"/>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Tartalom helye 3">
            <a:extLst>
              <a:ext uri="{FF2B5EF4-FFF2-40B4-BE49-F238E27FC236}">
                <a16:creationId xmlns:a16="http://schemas.microsoft.com/office/drawing/2014/main" id="{23D80963-BE45-4921-125F-D41306A8F3D1}"/>
              </a:ext>
            </a:extLst>
          </p:cNvPr>
          <p:cNvSpPr>
            <a:spLocks noGrp="1"/>
          </p:cNvSpPr>
          <p:nvPr>
            <p:ph sz="half" idx="2"/>
          </p:nvPr>
        </p:nvSpPr>
        <p:spPr>
          <a:xfrm>
            <a:off x="839788" y="2260154"/>
            <a:ext cx="5157787" cy="3929509"/>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Szöveg helye 4">
            <a:extLst>
              <a:ext uri="{FF2B5EF4-FFF2-40B4-BE49-F238E27FC236}">
                <a16:creationId xmlns:a16="http://schemas.microsoft.com/office/drawing/2014/main" id="{CA24DE04-7BD1-E018-2838-9734C3549A1B}"/>
              </a:ext>
            </a:extLst>
          </p:cNvPr>
          <p:cNvSpPr>
            <a:spLocks noGrp="1"/>
          </p:cNvSpPr>
          <p:nvPr>
            <p:ph type="body" sz="quarter" idx="3"/>
          </p:nvPr>
        </p:nvSpPr>
        <p:spPr>
          <a:xfrm>
            <a:off x="6172200" y="1307592"/>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Tartalom helye 5">
            <a:extLst>
              <a:ext uri="{FF2B5EF4-FFF2-40B4-BE49-F238E27FC236}">
                <a16:creationId xmlns:a16="http://schemas.microsoft.com/office/drawing/2014/main" id="{82B6CDEB-5703-D23A-1890-A4D5D52446AE}"/>
              </a:ext>
            </a:extLst>
          </p:cNvPr>
          <p:cNvSpPr>
            <a:spLocks noGrp="1"/>
          </p:cNvSpPr>
          <p:nvPr>
            <p:ph sz="quarter" idx="4"/>
          </p:nvPr>
        </p:nvSpPr>
        <p:spPr>
          <a:xfrm>
            <a:off x="6172200" y="2260154"/>
            <a:ext cx="5183188" cy="3929509"/>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7" name="Dátum helye 6">
            <a:extLst>
              <a:ext uri="{FF2B5EF4-FFF2-40B4-BE49-F238E27FC236}">
                <a16:creationId xmlns:a16="http://schemas.microsoft.com/office/drawing/2014/main" id="{63DAB66B-8ACB-07A0-302D-70FC5EDD1495}"/>
              </a:ext>
            </a:extLst>
          </p:cNvPr>
          <p:cNvSpPr>
            <a:spLocks noGrp="1"/>
          </p:cNvSpPr>
          <p:nvPr>
            <p:ph type="dt" sz="half" idx="10"/>
          </p:nvPr>
        </p:nvSpPr>
        <p:spPr/>
        <p:txBody>
          <a:bodyPr/>
          <a:lstStyle/>
          <a:p>
            <a:fld id="{A6631490-0F1C-421B-8BA3-ADB68CEBA1D2}" type="datetimeFigureOut">
              <a:rPr lang="hu-HU" smtClean="0"/>
              <a:t>2024. 03. 25.</a:t>
            </a:fld>
            <a:endParaRPr lang="hu-HU"/>
          </a:p>
        </p:txBody>
      </p:sp>
      <p:sp>
        <p:nvSpPr>
          <p:cNvPr id="8" name="Élőláb helye 7">
            <a:extLst>
              <a:ext uri="{FF2B5EF4-FFF2-40B4-BE49-F238E27FC236}">
                <a16:creationId xmlns:a16="http://schemas.microsoft.com/office/drawing/2014/main" id="{0E2EF76C-08B4-606C-12C2-90735D8DE528}"/>
              </a:ext>
            </a:extLst>
          </p:cNvPr>
          <p:cNvSpPr>
            <a:spLocks noGrp="1"/>
          </p:cNvSpPr>
          <p:nvPr>
            <p:ph type="ftr" sz="quarter" idx="11"/>
          </p:nvPr>
        </p:nvSpPr>
        <p:spPr/>
        <p:txBody>
          <a:bodyPr/>
          <a:lstStyle/>
          <a:p>
            <a:endParaRPr lang="hu-HU"/>
          </a:p>
        </p:txBody>
      </p:sp>
      <p:sp>
        <p:nvSpPr>
          <p:cNvPr id="9" name="Dia számának helye 8">
            <a:extLst>
              <a:ext uri="{FF2B5EF4-FFF2-40B4-BE49-F238E27FC236}">
                <a16:creationId xmlns:a16="http://schemas.microsoft.com/office/drawing/2014/main" id="{3D9BC528-BBEF-0028-9049-22BB4DDA12B6}"/>
              </a:ext>
            </a:extLst>
          </p:cNvPr>
          <p:cNvSpPr>
            <a:spLocks noGrp="1"/>
          </p:cNvSpPr>
          <p:nvPr>
            <p:ph type="sldNum" sz="quarter" idx="12"/>
          </p:nvPr>
        </p:nvSpPr>
        <p:spPr/>
        <p:txBody>
          <a:bodyPr/>
          <a:lstStyle/>
          <a:p>
            <a:fld id="{4A01B1D9-FFEE-44AC-AE52-6B30CE696C8D}" type="slidenum">
              <a:rPr lang="hu-HU" smtClean="0"/>
              <a:t>‹#›</a:t>
            </a:fld>
            <a:endParaRPr lang="hu-HU"/>
          </a:p>
        </p:txBody>
      </p:sp>
    </p:spTree>
    <p:extLst>
      <p:ext uri="{BB962C8B-B14F-4D97-AF65-F5344CB8AC3E}">
        <p14:creationId xmlns:p14="http://schemas.microsoft.com/office/powerpoint/2010/main" val="138298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E68E49E-34DB-C17F-0BEA-95FB5B232CC3}"/>
              </a:ext>
            </a:extLst>
          </p:cNvPr>
          <p:cNvSpPr>
            <a:spLocks noGrp="1"/>
          </p:cNvSpPr>
          <p:nvPr>
            <p:ph type="title"/>
          </p:nvPr>
        </p:nvSpPr>
        <p:spPr/>
        <p:txBody>
          <a:bodyPr/>
          <a:lstStyle/>
          <a:p>
            <a:r>
              <a:rPr lang="hu-HU"/>
              <a:t>Mintacím szerkesztése</a:t>
            </a:r>
          </a:p>
        </p:txBody>
      </p:sp>
      <p:sp>
        <p:nvSpPr>
          <p:cNvPr id="3" name="Dátum helye 2">
            <a:extLst>
              <a:ext uri="{FF2B5EF4-FFF2-40B4-BE49-F238E27FC236}">
                <a16:creationId xmlns:a16="http://schemas.microsoft.com/office/drawing/2014/main" id="{0B06A5C8-D4AF-D2D4-8A24-2CB922132202}"/>
              </a:ext>
            </a:extLst>
          </p:cNvPr>
          <p:cNvSpPr>
            <a:spLocks noGrp="1"/>
          </p:cNvSpPr>
          <p:nvPr>
            <p:ph type="dt" sz="half" idx="10"/>
          </p:nvPr>
        </p:nvSpPr>
        <p:spPr/>
        <p:txBody>
          <a:bodyPr/>
          <a:lstStyle/>
          <a:p>
            <a:fld id="{A6631490-0F1C-421B-8BA3-ADB68CEBA1D2}" type="datetimeFigureOut">
              <a:rPr lang="hu-HU" smtClean="0"/>
              <a:t>2024. 03. 25.</a:t>
            </a:fld>
            <a:endParaRPr lang="hu-HU"/>
          </a:p>
        </p:txBody>
      </p:sp>
      <p:sp>
        <p:nvSpPr>
          <p:cNvPr id="4" name="Élőláb helye 3">
            <a:extLst>
              <a:ext uri="{FF2B5EF4-FFF2-40B4-BE49-F238E27FC236}">
                <a16:creationId xmlns:a16="http://schemas.microsoft.com/office/drawing/2014/main" id="{274F4DEA-9EB4-0FE8-8474-4F00B37254BC}"/>
              </a:ext>
            </a:extLst>
          </p:cNvPr>
          <p:cNvSpPr>
            <a:spLocks noGrp="1"/>
          </p:cNvSpPr>
          <p:nvPr>
            <p:ph type="ftr" sz="quarter" idx="11"/>
          </p:nvPr>
        </p:nvSpPr>
        <p:spPr/>
        <p:txBody>
          <a:bodyPr/>
          <a:lstStyle/>
          <a:p>
            <a:endParaRPr lang="hu-HU"/>
          </a:p>
        </p:txBody>
      </p:sp>
      <p:sp>
        <p:nvSpPr>
          <p:cNvPr id="5" name="Dia számának helye 4">
            <a:extLst>
              <a:ext uri="{FF2B5EF4-FFF2-40B4-BE49-F238E27FC236}">
                <a16:creationId xmlns:a16="http://schemas.microsoft.com/office/drawing/2014/main" id="{75532A6A-9441-7A2D-C466-837014B94D7C}"/>
              </a:ext>
            </a:extLst>
          </p:cNvPr>
          <p:cNvSpPr>
            <a:spLocks noGrp="1"/>
          </p:cNvSpPr>
          <p:nvPr>
            <p:ph type="sldNum" sz="quarter" idx="12"/>
          </p:nvPr>
        </p:nvSpPr>
        <p:spPr/>
        <p:txBody>
          <a:bodyPr/>
          <a:lstStyle/>
          <a:p>
            <a:fld id="{4A01B1D9-FFEE-44AC-AE52-6B30CE696C8D}" type="slidenum">
              <a:rPr lang="hu-HU" smtClean="0"/>
              <a:t>‹#›</a:t>
            </a:fld>
            <a:endParaRPr lang="hu-HU"/>
          </a:p>
        </p:txBody>
      </p:sp>
    </p:spTree>
    <p:extLst>
      <p:ext uri="{BB962C8B-B14F-4D97-AF65-F5344CB8AC3E}">
        <p14:creationId xmlns:p14="http://schemas.microsoft.com/office/powerpoint/2010/main" val="1870451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átum helye 1">
            <a:extLst>
              <a:ext uri="{FF2B5EF4-FFF2-40B4-BE49-F238E27FC236}">
                <a16:creationId xmlns:a16="http://schemas.microsoft.com/office/drawing/2014/main" id="{F33ED341-EFEE-24C0-EC3A-10B6509DC9C6}"/>
              </a:ext>
            </a:extLst>
          </p:cNvPr>
          <p:cNvSpPr>
            <a:spLocks noGrp="1"/>
          </p:cNvSpPr>
          <p:nvPr>
            <p:ph type="dt" sz="half" idx="10"/>
          </p:nvPr>
        </p:nvSpPr>
        <p:spPr/>
        <p:txBody>
          <a:bodyPr/>
          <a:lstStyle/>
          <a:p>
            <a:fld id="{A6631490-0F1C-421B-8BA3-ADB68CEBA1D2}" type="datetimeFigureOut">
              <a:rPr lang="hu-HU" smtClean="0"/>
              <a:t>2024. 03. 25.</a:t>
            </a:fld>
            <a:endParaRPr lang="hu-HU"/>
          </a:p>
        </p:txBody>
      </p:sp>
      <p:sp>
        <p:nvSpPr>
          <p:cNvPr id="3" name="Élőláb helye 2">
            <a:extLst>
              <a:ext uri="{FF2B5EF4-FFF2-40B4-BE49-F238E27FC236}">
                <a16:creationId xmlns:a16="http://schemas.microsoft.com/office/drawing/2014/main" id="{5D0AD3EC-1D12-FD89-8D02-B45C14692508}"/>
              </a:ext>
            </a:extLst>
          </p:cNvPr>
          <p:cNvSpPr>
            <a:spLocks noGrp="1"/>
          </p:cNvSpPr>
          <p:nvPr>
            <p:ph type="ftr" sz="quarter" idx="11"/>
          </p:nvPr>
        </p:nvSpPr>
        <p:spPr/>
        <p:txBody>
          <a:bodyPr/>
          <a:lstStyle/>
          <a:p>
            <a:endParaRPr lang="hu-HU"/>
          </a:p>
        </p:txBody>
      </p:sp>
      <p:sp>
        <p:nvSpPr>
          <p:cNvPr id="4" name="Dia számának helye 3">
            <a:extLst>
              <a:ext uri="{FF2B5EF4-FFF2-40B4-BE49-F238E27FC236}">
                <a16:creationId xmlns:a16="http://schemas.microsoft.com/office/drawing/2014/main" id="{83C6F55F-3DE8-63D5-385F-6CB7E3771C8C}"/>
              </a:ext>
            </a:extLst>
          </p:cNvPr>
          <p:cNvSpPr>
            <a:spLocks noGrp="1"/>
          </p:cNvSpPr>
          <p:nvPr>
            <p:ph type="sldNum" sz="quarter" idx="12"/>
          </p:nvPr>
        </p:nvSpPr>
        <p:spPr/>
        <p:txBody>
          <a:bodyPr/>
          <a:lstStyle/>
          <a:p>
            <a:fld id="{4A01B1D9-FFEE-44AC-AE52-6B30CE696C8D}" type="slidenum">
              <a:rPr lang="hu-HU" smtClean="0"/>
              <a:t>‹#›</a:t>
            </a:fld>
            <a:endParaRPr lang="hu-HU"/>
          </a:p>
        </p:txBody>
      </p:sp>
    </p:spTree>
    <p:extLst>
      <p:ext uri="{BB962C8B-B14F-4D97-AF65-F5344CB8AC3E}">
        <p14:creationId xmlns:p14="http://schemas.microsoft.com/office/powerpoint/2010/main" val="3845776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35913A03-11FC-0EFB-588E-6328CAA96207}"/>
              </a:ext>
            </a:extLst>
          </p:cNvPr>
          <p:cNvSpPr>
            <a:spLocks noGrp="1"/>
          </p:cNvSpPr>
          <p:nvPr>
            <p:ph type="title"/>
          </p:nvPr>
        </p:nvSpPr>
        <p:spPr>
          <a:xfrm>
            <a:off x="839788" y="457200"/>
            <a:ext cx="3932237" cy="1600200"/>
          </a:xfrm>
        </p:spPr>
        <p:txBody>
          <a:bodyPr anchor="b"/>
          <a:lstStyle>
            <a:lvl1pPr>
              <a:defRPr sz="3200"/>
            </a:lvl1pPr>
          </a:lstStyle>
          <a:p>
            <a:r>
              <a:rPr lang="hu-HU"/>
              <a:t>Mintacím szerkesztése</a:t>
            </a:r>
          </a:p>
        </p:txBody>
      </p:sp>
      <p:sp>
        <p:nvSpPr>
          <p:cNvPr id="3" name="Tartalom helye 2">
            <a:extLst>
              <a:ext uri="{FF2B5EF4-FFF2-40B4-BE49-F238E27FC236}">
                <a16:creationId xmlns:a16="http://schemas.microsoft.com/office/drawing/2014/main" id="{0E593400-E5A7-E768-68DE-BFF0FDB0BF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Szöveg helye 3">
            <a:extLst>
              <a:ext uri="{FF2B5EF4-FFF2-40B4-BE49-F238E27FC236}">
                <a16:creationId xmlns:a16="http://schemas.microsoft.com/office/drawing/2014/main" id="{9815BFA4-245C-4BFA-C5B5-707C4A7470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a:extLst>
              <a:ext uri="{FF2B5EF4-FFF2-40B4-BE49-F238E27FC236}">
                <a16:creationId xmlns:a16="http://schemas.microsoft.com/office/drawing/2014/main" id="{4A4B747A-002C-2452-717D-43BAA51C2391}"/>
              </a:ext>
            </a:extLst>
          </p:cNvPr>
          <p:cNvSpPr>
            <a:spLocks noGrp="1"/>
          </p:cNvSpPr>
          <p:nvPr>
            <p:ph type="dt" sz="half" idx="10"/>
          </p:nvPr>
        </p:nvSpPr>
        <p:spPr/>
        <p:txBody>
          <a:bodyPr/>
          <a:lstStyle/>
          <a:p>
            <a:fld id="{A6631490-0F1C-421B-8BA3-ADB68CEBA1D2}" type="datetimeFigureOut">
              <a:rPr lang="hu-HU" smtClean="0"/>
              <a:t>2024. 03. 25.</a:t>
            </a:fld>
            <a:endParaRPr lang="hu-HU"/>
          </a:p>
        </p:txBody>
      </p:sp>
      <p:sp>
        <p:nvSpPr>
          <p:cNvPr id="6" name="Élőláb helye 5">
            <a:extLst>
              <a:ext uri="{FF2B5EF4-FFF2-40B4-BE49-F238E27FC236}">
                <a16:creationId xmlns:a16="http://schemas.microsoft.com/office/drawing/2014/main" id="{DE37C501-0B72-BD62-FE6C-7B66089D98F5}"/>
              </a:ext>
            </a:extLst>
          </p:cNvPr>
          <p:cNvSpPr>
            <a:spLocks noGrp="1"/>
          </p:cNvSpPr>
          <p:nvPr>
            <p:ph type="ftr" sz="quarter" idx="11"/>
          </p:nvPr>
        </p:nvSpPr>
        <p:spPr/>
        <p:txBody>
          <a:bodyPr/>
          <a:lstStyle/>
          <a:p>
            <a:endParaRPr lang="hu-HU"/>
          </a:p>
        </p:txBody>
      </p:sp>
      <p:sp>
        <p:nvSpPr>
          <p:cNvPr id="7" name="Dia számának helye 6">
            <a:extLst>
              <a:ext uri="{FF2B5EF4-FFF2-40B4-BE49-F238E27FC236}">
                <a16:creationId xmlns:a16="http://schemas.microsoft.com/office/drawing/2014/main" id="{6E3729EC-EEDC-DEE3-59A7-9C57EFDA737D}"/>
              </a:ext>
            </a:extLst>
          </p:cNvPr>
          <p:cNvSpPr>
            <a:spLocks noGrp="1"/>
          </p:cNvSpPr>
          <p:nvPr>
            <p:ph type="sldNum" sz="quarter" idx="12"/>
          </p:nvPr>
        </p:nvSpPr>
        <p:spPr/>
        <p:txBody>
          <a:bodyPr/>
          <a:lstStyle/>
          <a:p>
            <a:fld id="{4A01B1D9-FFEE-44AC-AE52-6B30CE696C8D}" type="slidenum">
              <a:rPr lang="hu-HU" smtClean="0"/>
              <a:t>‹#›</a:t>
            </a:fld>
            <a:endParaRPr lang="hu-HU"/>
          </a:p>
        </p:txBody>
      </p:sp>
    </p:spTree>
    <p:extLst>
      <p:ext uri="{BB962C8B-B14F-4D97-AF65-F5344CB8AC3E}">
        <p14:creationId xmlns:p14="http://schemas.microsoft.com/office/powerpoint/2010/main" val="2743574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6CA42AC-CD50-CADF-227A-FDA33D4F7365}"/>
              </a:ext>
            </a:extLst>
          </p:cNvPr>
          <p:cNvSpPr>
            <a:spLocks noGrp="1"/>
          </p:cNvSpPr>
          <p:nvPr>
            <p:ph type="title"/>
          </p:nvPr>
        </p:nvSpPr>
        <p:spPr>
          <a:xfrm>
            <a:off x="839788" y="457200"/>
            <a:ext cx="3932237" cy="1600200"/>
          </a:xfrm>
        </p:spPr>
        <p:txBody>
          <a:bodyPr anchor="b"/>
          <a:lstStyle>
            <a:lvl1pPr>
              <a:defRPr sz="3200"/>
            </a:lvl1pPr>
          </a:lstStyle>
          <a:p>
            <a:r>
              <a:rPr lang="hu-HU"/>
              <a:t>Mintacím szerkesztése</a:t>
            </a:r>
          </a:p>
        </p:txBody>
      </p:sp>
      <p:sp>
        <p:nvSpPr>
          <p:cNvPr id="3" name="Kép helye 2">
            <a:extLst>
              <a:ext uri="{FF2B5EF4-FFF2-40B4-BE49-F238E27FC236}">
                <a16:creationId xmlns:a16="http://schemas.microsoft.com/office/drawing/2014/main" id="{0DFB29D8-A967-EA50-7560-6ED30FD218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4" name="Szöveg helye 3">
            <a:extLst>
              <a:ext uri="{FF2B5EF4-FFF2-40B4-BE49-F238E27FC236}">
                <a16:creationId xmlns:a16="http://schemas.microsoft.com/office/drawing/2014/main" id="{C31A40D4-65A4-A39F-E865-E2D20173FB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a:extLst>
              <a:ext uri="{FF2B5EF4-FFF2-40B4-BE49-F238E27FC236}">
                <a16:creationId xmlns:a16="http://schemas.microsoft.com/office/drawing/2014/main" id="{172EF08B-243E-117B-0F23-F4C6CF9FD128}"/>
              </a:ext>
            </a:extLst>
          </p:cNvPr>
          <p:cNvSpPr>
            <a:spLocks noGrp="1"/>
          </p:cNvSpPr>
          <p:nvPr>
            <p:ph type="dt" sz="half" idx="10"/>
          </p:nvPr>
        </p:nvSpPr>
        <p:spPr/>
        <p:txBody>
          <a:bodyPr/>
          <a:lstStyle/>
          <a:p>
            <a:fld id="{A6631490-0F1C-421B-8BA3-ADB68CEBA1D2}" type="datetimeFigureOut">
              <a:rPr lang="hu-HU" smtClean="0"/>
              <a:t>2024. 03. 25.</a:t>
            </a:fld>
            <a:endParaRPr lang="hu-HU"/>
          </a:p>
        </p:txBody>
      </p:sp>
      <p:sp>
        <p:nvSpPr>
          <p:cNvPr id="6" name="Élőláb helye 5">
            <a:extLst>
              <a:ext uri="{FF2B5EF4-FFF2-40B4-BE49-F238E27FC236}">
                <a16:creationId xmlns:a16="http://schemas.microsoft.com/office/drawing/2014/main" id="{0A70CB00-FE51-B170-BF22-108C771FCDCF}"/>
              </a:ext>
            </a:extLst>
          </p:cNvPr>
          <p:cNvSpPr>
            <a:spLocks noGrp="1"/>
          </p:cNvSpPr>
          <p:nvPr>
            <p:ph type="ftr" sz="quarter" idx="11"/>
          </p:nvPr>
        </p:nvSpPr>
        <p:spPr/>
        <p:txBody>
          <a:bodyPr/>
          <a:lstStyle/>
          <a:p>
            <a:endParaRPr lang="hu-HU"/>
          </a:p>
        </p:txBody>
      </p:sp>
      <p:sp>
        <p:nvSpPr>
          <p:cNvPr id="7" name="Dia számának helye 6">
            <a:extLst>
              <a:ext uri="{FF2B5EF4-FFF2-40B4-BE49-F238E27FC236}">
                <a16:creationId xmlns:a16="http://schemas.microsoft.com/office/drawing/2014/main" id="{81FA8EF9-B9EC-7456-B8B6-C3F87228CEC6}"/>
              </a:ext>
            </a:extLst>
          </p:cNvPr>
          <p:cNvSpPr>
            <a:spLocks noGrp="1"/>
          </p:cNvSpPr>
          <p:nvPr>
            <p:ph type="sldNum" sz="quarter" idx="12"/>
          </p:nvPr>
        </p:nvSpPr>
        <p:spPr/>
        <p:txBody>
          <a:bodyPr/>
          <a:lstStyle/>
          <a:p>
            <a:fld id="{4A01B1D9-FFEE-44AC-AE52-6B30CE696C8D}" type="slidenum">
              <a:rPr lang="hu-HU" smtClean="0"/>
              <a:t>‹#›</a:t>
            </a:fld>
            <a:endParaRPr lang="hu-HU"/>
          </a:p>
        </p:txBody>
      </p:sp>
    </p:spTree>
    <p:extLst>
      <p:ext uri="{BB962C8B-B14F-4D97-AF65-F5344CB8AC3E}">
        <p14:creationId xmlns:p14="http://schemas.microsoft.com/office/powerpoint/2010/main" val="2612481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DC4AE46A-FE2C-EA0B-FC1D-EDA66D1DC681}"/>
              </a:ext>
            </a:extLst>
          </p:cNvPr>
          <p:cNvSpPr>
            <a:spLocks noGrp="1"/>
          </p:cNvSpPr>
          <p:nvPr>
            <p:ph type="title"/>
          </p:nvPr>
        </p:nvSpPr>
        <p:spPr/>
        <p:txBody>
          <a:bodyPr/>
          <a:lstStyle/>
          <a:p>
            <a:r>
              <a:rPr lang="hu-HU"/>
              <a:t>Mintacím szerkesztése</a:t>
            </a:r>
          </a:p>
        </p:txBody>
      </p:sp>
      <p:sp>
        <p:nvSpPr>
          <p:cNvPr id="3" name="Függőleges szöveg helye 2">
            <a:extLst>
              <a:ext uri="{FF2B5EF4-FFF2-40B4-BE49-F238E27FC236}">
                <a16:creationId xmlns:a16="http://schemas.microsoft.com/office/drawing/2014/main" id="{E214EA85-B1DF-D399-1932-F193B798E2C4}"/>
              </a:ext>
            </a:extLst>
          </p:cNvPr>
          <p:cNvSpPr>
            <a:spLocks noGrp="1"/>
          </p:cNvSpPr>
          <p:nvPr>
            <p:ph type="body" orient="vert" idx="1"/>
          </p:nvPr>
        </p:nvSpPr>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6DD9B06A-6438-6AC1-291E-2DF09F087C0B}"/>
              </a:ext>
            </a:extLst>
          </p:cNvPr>
          <p:cNvSpPr>
            <a:spLocks noGrp="1"/>
          </p:cNvSpPr>
          <p:nvPr>
            <p:ph type="dt" sz="half" idx="10"/>
          </p:nvPr>
        </p:nvSpPr>
        <p:spPr/>
        <p:txBody>
          <a:bodyPr/>
          <a:lstStyle/>
          <a:p>
            <a:fld id="{A6631490-0F1C-421B-8BA3-ADB68CEBA1D2}" type="datetimeFigureOut">
              <a:rPr lang="hu-HU" smtClean="0"/>
              <a:t>2024. 03. 25.</a:t>
            </a:fld>
            <a:endParaRPr lang="hu-HU"/>
          </a:p>
        </p:txBody>
      </p:sp>
      <p:sp>
        <p:nvSpPr>
          <p:cNvPr id="5" name="Élőláb helye 4">
            <a:extLst>
              <a:ext uri="{FF2B5EF4-FFF2-40B4-BE49-F238E27FC236}">
                <a16:creationId xmlns:a16="http://schemas.microsoft.com/office/drawing/2014/main" id="{B002BF40-CB38-45CB-E0ED-E752E344E987}"/>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095CDC10-4A8F-6B70-30A9-B518E712B7FA}"/>
              </a:ext>
            </a:extLst>
          </p:cNvPr>
          <p:cNvSpPr>
            <a:spLocks noGrp="1"/>
          </p:cNvSpPr>
          <p:nvPr>
            <p:ph type="sldNum" sz="quarter" idx="12"/>
          </p:nvPr>
        </p:nvSpPr>
        <p:spPr/>
        <p:txBody>
          <a:bodyPr/>
          <a:lstStyle/>
          <a:p>
            <a:fld id="{4A01B1D9-FFEE-44AC-AE52-6B30CE696C8D}" type="slidenum">
              <a:rPr lang="hu-HU" smtClean="0"/>
              <a:t>‹#›</a:t>
            </a:fld>
            <a:endParaRPr lang="hu-HU"/>
          </a:p>
        </p:txBody>
      </p:sp>
    </p:spTree>
    <p:extLst>
      <p:ext uri="{BB962C8B-B14F-4D97-AF65-F5344CB8AC3E}">
        <p14:creationId xmlns:p14="http://schemas.microsoft.com/office/powerpoint/2010/main" val="3480951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Függőleges cím 1">
            <a:extLst>
              <a:ext uri="{FF2B5EF4-FFF2-40B4-BE49-F238E27FC236}">
                <a16:creationId xmlns:a16="http://schemas.microsoft.com/office/drawing/2014/main" id="{CF617337-7D2A-1478-03A0-FF095B258C29}"/>
              </a:ext>
            </a:extLst>
          </p:cNvPr>
          <p:cNvSpPr>
            <a:spLocks noGrp="1"/>
          </p:cNvSpPr>
          <p:nvPr>
            <p:ph type="title" orient="vert"/>
          </p:nvPr>
        </p:nvSpPr>
        <p:spPr>
          <a:xfrm>
            <a:off x="8724900" y="365125"/>
            <a:ext cx="2628900" cy="5811838"/>
          </a:xfrm>
        </p:spPr>
        <p:txBody>
          <a:bodyPr vert="eaVert"/>
          <a:lstStyle/>
          <a:p>
            <a:r>
              <a:rPr lang="hu-HU"/>
              <a:t>Mintacím szerkesztése</a:t>
            </a:r>
          </a:p>
        </p:txBody>
      </p:sp>
      <p:sp>
        <p:nvSpPr>
          <p:cNvPr id="3" name="Függőleges szöveg helye 2">
            <a:extLst>
              <a:ext uri="{FF2B5EF4-FFF2-40B4-BE49-F238E27FC236}">
                <a16:creationId xmlns:a16="http://schemas.microsoft.com/office/drawing/2014/main" id="{0E867843-C8E8-CC43-7931-042DBBD0DDD4}"/>
              </a:ext>
            </a:extLst>
          </p:cNvPr>
          <p:cNvSpPr>
            <a:spLocks noGrp="1"/>
          </p:cNvSpPr>
          <p:nvPr>
            <p:ph type="body" orient="vert" idx="1"/>
          </p:nvPr>
        </p:nvSpPr>
        <p:spPr>
          <a:xfrm>
            <a:off x="838200" y="365125"/>
            <a:ext cx="7734300" cy="5811838"/>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24CC6925-D9D7-B3E8-A638-3D5933E1A123}"/>
              </a:ext>
            </a:extLst>
          </p:cNvPr>
          <p:cNvSpPr>
            <a:spLocks noGrp="1"/>
          </p:cNvSpPr>
          <p:nvPr>
            <p:ph type="dt" sz="half" idx="10"/>
          </p:nvPr>
        </p:nvSpPr>
        <p:spPr/>
        <p:txBody>
          <a:bodyPr/>
          <a:lstStyle/>
          <a:p>
            <a:fld id="{A6631490-0F1C-421B-8BA3-ADB68CEBA1D2}" type="datetimeFigureOut">
              <a:rPr lang="hu-HU" smtClean="0"/>
              <a:t>2024. 03. 25.</a:t>
            </a:fld>
            <a:endParaRPr lang="hu-HU"/>
          </a:p>
        </p:txBody>
      </p:sp>
      <p:sp>
        <p:nvSpPr>
          <p:cNvPr id="5" name="Élőláb helye 4">
            <a:extLst>
              <a:ext uri="{FF2B5EF4-FFF2-40B4-BE49-F238E27FC236}">
                <a16:creationId xmlns:a16="http://schemas.microsoft.com/office/drawing/2014/main" id="{EA94A33B-4E31-6E9F-0781-037D10A95F1C}"/>
              </a:ext>
            </a:extLst>
          </p:cNvPr>
          <p:cNvSpPr>
            <a:spLocks noGrp="1"/>
          </p:cNvSpPr>
          <p:nvPr>
            <p:ph type="ftr" sz="quarter" idx="11"/>
          </p:nvPr>
        </p:nvSpPr>
        <p:spPr/>
        <p:txBody>
          <a:bodyPr/>
          <a:lstStyle/>
          <a:p>
            <a:endParaRPr lang="hu-HU"/>
          </a:p>
        </p:txBody>
      </p:sp>
      <p:sp>
        <p:nvSpPr>
          <p:cNvPr id="6" name="Dia számának helye 5">
            <a:extLst>
              <a:ext uri="{FF2B5EF4-FFF2-40B4-BE49-F238E27FC236}">
                <a16:creationId xmlns:a16="http://schemas.microsoft.com/office/drawing/2014/main" id="{59D85707-9F47-1E29-3078-08D0A6142FD6}"/>
              </a:ext>
            </a:extLst>
          </p:cNvPr>
          <p:cNvSpPr>
            <a:spLocks noGrp="1"/>
          </p:cNvSpPr>
          <p:nvPr>
            <p:ph type="sldNum" sz="quarter" idx="12"/>
          </p:nvPr>
        </p:nvSpPr>
        <p:spPr/>
        <p:txBody>
          <a:bodyPr/>
          <a:lstStyle/>
          <a:p>
            <a:fld id="{4A01B1D9-FFEE-44AC-AE52-6B30CE696C8D}" type="slidenum">
              <a:rPr lang="hu-HU" smtClean="0"/>
              <a:t>‹#›</a:t>
            </a:fld>
            <a:endParaRPr lang="hu-HU"/>
          </a:p>
        </p:txBody>
      </p:sp>
    </p:spTree>
    <p:extLst>
      <p:ext uri="{BB962C8B-B14F-4D97-AF65-F5344CB8AC3E}">
        <p14:creationId xmlns:p14="http://schemas.microsoft.com/office/powerpoint/2010/main" val="3334568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eloldal alcímmel">
    <p:spTree>
      <p:nvGrpSpPr>
        <p:cNvPr id="1" name=""/>
        <p:cNvGrpSpPr/>
        <p:nvPr/>
      </p:nvGrpSpPr>
      <p:grpSpPr>
        <a:xfrm>
          <a:off x="0" y="0"/>
          <a:ext cx="0" cy="0"/>
          <a:chOff x="0" y="0"/>
          <a:chExt cx="0" cy="0"/>
        </a:xfrm>
      </p:grpSpPr>
      <p:cxnSp>
        <p:nvCxnSpPr>
          <p:cNvPr id="5" name="Egyenes összekötő 10"/>
          <p:cNvCxnSpPr/>
          <p:nvPr/>
        </p:nvCxnSpPr>
        <p:spPr>
          <a:xfrm>
            <a:off x="863600" y="6072188"/>
            <a:ext cx="10464800"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Cím 10"/>
          <p:cNvSpPr>
            <a:spLocks noGrp="1"/>
          </p:cNvSpPr>
          <p:nvPr>
            <p:ph type="title"/>
          </p:nvPr>
        </p:nvSpPr>
        <p:spPr>
          <a:xfrm>
            <a:off x="0" y="188640"/>
            <a:ext cx="12192000" cy="720080"/>
          </a:xfrm>
          <a:prstGeom prst="rect">
            <a:avLst/>
          </a:prstGeom>
          <a:solidFill>
            <a:schemeClr val="accent1"/>
          </a:solidFill>
        </p:spPr>
        <p:txBody>
          <a:bodyPr>
            <a:normAutofit/>
          </a:bodyPr>
          <a:lstStyle>
            <a:lvl1pPr algn="l">
              <a:defRPr sz="2400" b="1">
                <a:solidFill>
                  <a:schemeClr val="bg1"/>
                </a:solidFill>
              </a:defRPr>
            </a:lvl1pPr>
          </a:lstStyle>
          <a:p>
            <a:pPr lvl="0"/>
            <a:r>
              <a:rPr lang="hu-HU" dirty="0"/>
              <a:t>Mintacím szerkesztése</a:t>
            </a:r>
          </a:p>
        </p:txBody>
      </p:sp>
      <p:sp>
        <p:nvSpPr>
          <p:cNvPr id="9" name="Szöveg helye 2"/>
          <p:cNvSpPr>
            <a:spLocks noGrp="1"/>
          </p:cNvSpPr>
          <p:nvPr>
            <p:ph type="body" idx="14"/>
          </p:nvPr>
        </p:nvSpPr>
        <p:spPr>
          <a:xfrm>
            <a:off x="0" y="1124744"/>
            <a:ext cx="12192000" cy="4968552"/>
          </a:xfrm>
          <a:prstGeom prst="rect">
            <a:avLst/>
          </a:prstGeom>
        </p:spPr>
        <p:txBody>
          <a:bodyPr>
            <a:normAutofit/>
          </a:bodyPr>
          <a:lstStyle>
            <a:lvl1pPr marL="0" indent="0">
              <a:buNone/>
              <a:defRPr sz="2000" b="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u-HU" dirty="0"/>
              <a:t>Mintaszöveg szerkesztése</a:t>
            </a:r>
          </a:p>
        </p:txBody>
      </p:sp>
      <p:sp>
        <p:nvSpPr>
          <p:cNvPr id="7" name="Dia számának helye 5"/>
          <p:cNvSpPr>
            <a:spLocks noGrp="1"/>
          </p:cNvSpPr>
          <p:nvPr>
            <p:ph type="sldNum" sz="quarter" idx="16"/>
          </p:nvPr>
        </p:nvSpPr>
        <p:spPr>
          <a:xfrm>
            <a:off x="10608733" y="6286501"/>
            <a:ext cx="973667" cy="365125"/>
          </a:xfrm>
        </p:spPr>
        <p:txBody>
          <a:bodyPr/>
          <a:lstStyle>
            <a:lvl1pPr>
              <a:defRPr>
                <a:solidFill>
                  <a:schemeClr val="tx2"/>
                </a:solidFill>
              </a:defRPr>
            </a:lvl1pPr>
          </a:lstStyle>
          <a:p>
            <a:pPr>
              <a:defRPr/>
            </a:pPr>
            <a:fld id="{DF9E710C-A8F5-4C21-86D3-261DE7B5A1AA}" type="slidenum">
              <a:rPr lang="hu-HU"/>
              <a:pPr>
                <a:defRPr/>
              </a:pPr>
              <a:t>‹#›</a:t>
            </a:fld>
            <a:endParaRPr lang="hu-HU" dirty="0"/>
          </a:p>
        </p:txBody>
      </p:sp>
      <p:sp>
        <p:nvSpPr>
          <p:cNvPr id="8" name="Élőláb helye 4"/>
          <p:cNvSpPr>
            <a:spLocks noGrp="1"/>
          </p:cNvSpPr>
          <p:nvPr>
            <p:ph type="ftr" sz="quarter" idx="17"/>
          </p:nvPr>
        </p:nvSpPr>
        <p:spPr>
          <a:xfrm>
            <a:off x="3810000" y="6286501"/>
            <a:ext cx="6510867" cy="365125"/>
          </a:xfrm>
        </p:spPr>
        <p:txBody>
          <a:bodyPr/>
          <a:lstStyle>
            <a:lvl1pPr>
              <a:defRPr>
                <a:solidFill>
                  <a:schemeClr val="tx2"/>
                </a:solidFill>
              </a:defRPr>
            </a:lvl1pPr>
          </a:lstStyle>
          <a:p>
            <a:pPr>
              <a:defRPr/>
            </a:pPr>
            <a:r>
              <a:rPr lang="en-US"/>
              <a:t>Király Erőltetett vagy harmonikus</a:t>
            </a:r>
            <a:endParaRPr lang="hu-HU" dirty="0"/>
          </a:p>
        </p:txBody>
      </p:sp>
    </p:spTree>
    <p:extLst>
      <p:ext uri="{BB962C8B-B14F-4D97-AF65-F5344CB8AC3E}">
        <p14:creationId xmlns:p14="http://schemas.microsoft.com/office/powerpoint/2010/main" val="3294047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Cím és 4 tartalomrész">
    <p:spTree>
      <p:nvGrpSpPr>
        <p:cNvPr id="1" name=""/>
        <p:cNvGrpSpPr/>
        <p:nvPr/>
      </p:nvGrpSpPr>
      <p:grpSpPr>
        <a:xfrm>
          <a:off x="0" y="0"/>
          <a:ext cx="0" cy="0"/>
          <a:chOff x="0" y="0"/>
          <a:chExt cx="0" cy="0"/>
        </a:xfrm>
      </p:grpSpPr>
      <p:sp>
        <p:nvSpPr>
          <p:cNvPr id="2" name="Cím 1"/>
          <p:cNvSpPr>
            <a:spLocks noGrp="1"/>
          </p:cNvSpPr>
          <p:nvPr>
            <p:ph type="title" sz="quarter"/>
          </p:nvPr>
        </p:nvSpPr>
        <p:spPr>
          <a:xfrm>
            <a:off x="609600" y="122238"/>
            <a:ext cx="10972800" cy="813816"/>
          </a:xfrm>
        </p:spPr>
        <p:txBody>
          <a:bodyPr/>
          <a:lstStyle/>
          <a:p>
            <a:r>
              <a:rPr lang="hu-HU"/>
              <a:t>Mintacím szerkesztése</a:t>
            </a:r>
          </a:p>
        </p:txBody>
      </p:sp>
      <p:sp>
        <p:nvSpPr>
          <p:cNvPr id="3" name="Tartalom helye 2"/>
          <p:cNvSpPr>
            <a:spLocks noGrp="1"/>
          </p:cNvSpPr>
          <p:nvPr>
            <p:ph sz="quarter" idx="1"/>
          </p:nvPr>
        </p:nvSpPr>
        <p:spPr>
          <a:xfrm>
            <a:off x="609600" y="1078992"/>
            <a:ext cx="5384800" cy="2438603"/>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Tartalom helye 3"/>
          <p:cNvSpPr>
            <a:spLocks noGrp="1"/>
          </p:cNvSpPr>
          <p:nvPr>
            <p:ph sz="quarter" idx="2"/>
          </p:nvPr>
        </p:nvSpPr>
        <p:spPr>
          <a:xfrm>
            <a:off x="6197600" y="1078992"/>
            <a:ext cx="5384800" cy="2438603"/>
          </a:xfrm>
        </p:spPr>
        <p:txBody>
          <a:bodyPr/>
          <a:lstStyle/>
          <a:p>
            <a:pPr lvl="0"/>
            <a:r>
              <a:rPr lang="hu-HU" dirty="0"/>
              <a:t>Mintaszöveg szerkesztése</a:t>
            </a:r>
          </a:p>
          <a:p>
            <a:pPr lvl="1"/>
            <a:r>
              <a:rPr lang="hu-HU" dirty="0"/>
              <a:t>Második szint</a:t>
            </a:r>
          </a:p>
          <a:p>
            <a:pPr lvl="2"/>
            <a:r>
              <a:rPr lang="hu-HU" dirty="0"/>
              <a:t>Harmadik szint</a:t>
            </a:r>
          </a:p>
          <a:p>
            <a:pPr lvl="3"/>
            <a:r>
              <a:rPr lang="hu-HU" dirty="0"/>
              <a:t>Negyedik szint</a:t>
            </a:r>
          </a:p>
          <a:p>
            <a:pPr lvl="4"/>
            <a:r>
              <a:rPr lang="hu-HU" dirty="0"/>
              <a:t>Ötödik szint</a:t>
            </a:r>
          </a:p>
        </p:txBody>
      </p:sp>
      <p:sp>
        <p:nvSpPr>
          <p:cNvPr id="5" name="Tartalom helye 4"/>
          <p:cNvSpPr>
            <a:spLocks noGrp="1"/>
          </p:cNvSpPr>
          <p:nvPr>
            <p:ph sz="quarter" idx="3"/>
          </p:nvPr>
        </p:nvSpPr>
        <p:spPr>
          <a:xfrm>
            <a:off x="609600" y="3692323"/>
            <a:ext cx="5384800" cy="2438603"/>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Tartalom helye 5"/>
          <p:cNvSpPr>
            <a:spLocks noGrp="1"/>
          </p:cNvSpPr>
          <p:nvPr>
            <p:ph sz="quarter" idx="4"/>
          </p:nvPr>
        </p:nvSpPr>
        <p:spPr>
          <a:xfrm>
            <a:off x="6197600" y="3692323"/>
            <a:ext cx="5384800" cy="2438603"/>
          </a:xfrm>
        </p:spPr>
        <p:txBody>
          <a:bodyPr/>
          <a:lstStyle/>
          <a:p>
            <a:pPr lvl="0"/>
            <a:r>
              <a:rPr lang="hu-HU" dirty="0"/>
              <a:t>Mintaszöveg szerkesztése</a:t>
            </a:r>
          </a:p>
          <a:p>
            <a:pPr lvl="1"/>
            <a:r>
              <a:rPr lang="hu-HU" dirty="0"/>
              <a:t>Második szint</a:t>
            </a:r>
          </a:p>
          <a:p>
            <a:pPr lvl="2"/>
            <a:r>
              <a:rPr lang="hu-HU" dirty="0"/>
              <a:t>Harmadik szint</a:t>
            </a:r>
          </a:p>
          <a:p>
            <a:pPr lvl="3"/>
            <a:r>
              <a:rPr lang="hu-HU" dirty="0"/>
              <a:t>Negyedik szint</a:t>
            </a:r>
          </a:p>
          <a:p>
            <a:pPr lvl="4"/>
            <a:r>
              <a:rPr lang="hu-HU" dirty="0"/>
              <a:t>Ötödik szint</a:t>
            </a:r>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7"/>
          <p:cNvSpPr>
            <a:spLocks noGrp="1" noChangeArrowheads="1"/>
          </p:cNvSpPr>
          <p:nvPr>
            <p:ph type="sldNum" sz="quarter" idx="12"/>
          </p:nvPr>
        </p:nvSpPr>
        <p:spPr>
          <a:ln/>
        </p:spPr>
        <p:txBody>
          <a:bodyPr/>
          <a:lstStyle>
            <a:lvl1pPr>
              <a:defRPr/>
            </a:lvl1pPr>
          </a:lstStyle>
          <a:p>
            <a:pPr>
              <a:defRPr/>
            </a:pPr>
            <a:fld id="{13583AF6-9A7E-4D1D-B174-BBE903D5EDF4}" type="slidenum">
              <a:rPr lang="en-US" altLang="en-US"/>
              <a:pPr>
                <a:defRPr/>
              </a:pPr>
              <a:t>‹#›</a:t>
            </a:fld>
            <a:endParaRPr lang="en-US" altLang="en-US"/>
          </a:p>
        </p:txBody>
      </p:sp>
    </p:spTree>
    <p:extLst>
      <p:ext uri="{BB962C8B-B14F-4D97-AF65-F5344CB8AC3E}">
        <p14:creationId xmlns:p14="http://schemas.microsoft.com/office/powerpoint/2010/main" val="34239218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Cím és szöveg a tartalom felett">
    <p:spTree>
      <p:nvGrpSpPr>
        <p:cNvPr id="1" name=""/>
        <p:cNvGrpSpPr/>
        <p:nvPr/>
      </p:nvGrpSpPr>
      <p:grpSpPr>
        <a:xfrm>
          <a:off x="0" y="0"/>
          <a:ext cx="0" cy="0"/>
          <a:chOff x="0" y="0"/>
          <a:chExt cx="0" cy="0"/>
        </a:xfrm>
      </p:grpSpPr>
      <p:sp>
        <p:nvSpPr>
          <p:cNvPr id="2" name="Cím 1"/>
          <p:cNvSpPr>
            <a:spLocks noGrp="1"/>
          </p:cNvSpPr>
          <p:nvPr>
            <p:ph type="title"/>
          </p:nvPr>
        </p:nvSpPr>
        <p:spPr>
          <a:xfrm>
            <a:off x="609600" y="277815"/>
            <a:ext cx="10972800" cy="813816"/>
          </a:xfrm>
        </p:spPr>
        <p:txBody>
          <a:bodyPr/>
          <a:lstStyle/>
          <a:p>
            <a:r>
              <a:rPr lang="hu-HU"/>
              <a:t>Mintacím szerkesztése</a:t>
            </a:r>
          </a:p>
        </p:txBody>
      </p:sp>
      <p:sp>
        <p:nvSpPr>
          <p:cNvPr id="3" name="Szöveg helye 2"/>
          <p:cNvSpPr>
            <a:spLocks noGrp="1"/>
          </p:cNvSpPr>
          <p:nvPr>
            <p:ph type="body" sz="half" idx="1"/>
          </p:nvPr>
        </p:nvSpPr>
        <p:spPr>
          <a:xfrm>
            <a:off x="609600" y="1239837"/>
            <a:ext cx="10972800" cy="2368296"/>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Tartalom helye 3"/>
          <p:cNvSpPr>
            <a:spLocks noGrp="1"/>
          </p:cNvSpPr>
          <p:nvPr>
            <p:ph sz="half" idx="2"/>
          </p:nvPr>
        </p:nvSpPr>
        <p:spPr>
          <a:xfrm>
            <a:off x="609600" y="3750197"/>
            <a:ext cx="10972800" cy="2368296"/>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E52334D2-4709-4933-A4D9-1F229B4A5AF2}" type="slidenum">
              <a:rPr lang="en-US" altLang="en-US"/>
              <a:pPr>
                <a:defRPr/>
              </a:pPr>
              <a:t>‹#›</a:t>
            </a:fld>
            <a:endParaRPr lang="en-US" altLang="en-US"/>
          </a:p>
        </p:txBody>
      </p:sp>
    </p:spTree>
    <p:extLst>
      <p:ext uri="{BB962C8B-B14F-4D97-AF65-F5344CB8AC3E}">
        <p14:creationId xmlns:p14="http://schemas.microsoft.com/office/powerpoint/2010/main" val="1066046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tandard Slide">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09E663A8-E6B5-4125-B3C7-428E22A6B571}"/>
              </a:ext>
            </a:extLst>
          </p:cNvPr>
          <p:cNvGraphicFramePr>
            <a:graphicFrameLocks noChangeAspect="1"/>
          </p:cNvGraphicFramePr>
          <p:nvPr userDrawn="1">
            <p:custDataLst>
              <p:tags r:id="rId1"/>
            </p:custDataLst>
            <p:extLst>
              <p:ext uri="{D42A27DB-BD31-4B8C-83A1-F6EECF244321}">
                <p14:modId xmlns:p14="http://schemas.microsoft.com/office/powerpoint/2010/main" val="2810566298"/>
              </p:ext>
            </p:ext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4" name="Object 3" hidden="1">
                        <a:extLst>
                          <a:ext uri="{FF2B5EF4-FFF2-40B4-BE49-F238E27FC236}">
                            <a16:creationId xmlns:a16="http://schemas.microsoft.com/office/drawing/2014/main" id="{09E663A8-E6B5-4125-B3C7-428E22A6B571}"/>
                          </a:ext>
                        </a:extLst>
                      </p:cNvPr>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Content Placeholder 2"/>
          <p:cNvSpPr>
            <a:spLocks noGrp="1"/>
          </p:cNvSpPr>
          <p:nvPr>
            <p:ph idx="1" hasCustomPrompt="1"/>
          </p:nvPr>
        </p:nvSpPr>
        <p:spPr>
          <a:xfrm>
            <a:off x="574431" y="1306800"/>
            <a:ext cx="11041836" cy="4752000"/>
          </a:xfrm>
        </p:spPr>
        <p:txBody>
          <a:bodyPr/>
          <a:lstStyle>
            <a:lvl1pPr algn="l" rtl="0">
              <a:lnSpc>
                <a:spcPct val="100000"/>
              </a:lnSpc>
              <a:defRPr/>
            </a:lvl1pPr>
            <a:lvl2pPr algn="l" rtl="0">
              <a:lnSpc>
                <a:spcPct val="100000"/>
              </a:lnSpc>
              <a:defRPr/>
            </a:lvl2pPr>
            <a:lvl3pPr algn="l" rtl="0">
              <a:lnSpc>
                <a:spcPct val="100000"/>
              </a:lnSpc>
              <a:defRPr/>
            </a:lvl3pPr>
            <a:lvl4pPr algn="l" rtl="0">
              <a:lnSpc>
                <a:spcPct val="100000"/>
              </a:lnSpc>
              <a:defRPr/>
            </a:lvl4pPr>
            <a:lvl5pPr algn="l" rtl="0">
              <a:lnSpc>
                <a:spcPct val="100000"/>
              </a:lnSpc>
              <a:defRPr/>
            </a:lvl5pPr>
          </a:lstStyle>
          <a:p>
            <a:pPr lvl="0"/>
            <a:r>
              <a:rPr lang="en-GB" noProof="0"/>
              <a:t>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7" name="Title 1"/>
          <p:cNvSpPr>
            <a:spLocks noGrp="1"/>
          </p:cNvSpPr>
          <p:nvPr>
            <p:ph type="title" hasCustomPrompt="1"/>
          </p:nvPr>
        </p:nvSpPr>
        <p:spPr>
          <a:xfrm>
            <a:off x="573619" y="152401"/>
            <a:ext cx="9555120" cy="864332"/>
          </a:xfrm>
        </p:spPr>
        <p:txBody>
          <a:bodyPr vert="horz"/>
          <a:lstStyle>
            <a:lvl1pPr rtl="0">
              <a:defRPr baseline="0"/>
            </a:lvl1pPr>
          </a:lstStyle>
          <a:p>
            <a:r>
              <a:rPr lang="en-GB" noProof="0" dirty="0"/>
              <a:t>Click to edit – Note: Slide Master must be constrained to two lines and should not be changed in terms of font, format or size</a:t>
            </a:r>
          </a:p>
        </p:txBody>
      </p:sp>
    </p:spTree>
    <p:extLst>
      <p:ext uri="{BB962C8B-B14F-4D97-AF65-F5344CB8AC3E}">
        <p14:creationId xmlns:p14="http://schemas.microsoft.com/office/powerpoint/2010/main" val="3369109609"/>
      </p:ext>
    </p:extLst>
  </p:cSld>
  <p:clrMapOvr>
    <a:masterClrMapping/>
  </p:clrMapOvr>
  <p:extLst>
    <p:ext uri="{DCECCB84-F9BA-43D5-87BE-67443E8EF086}">
      <p15:sldGuideLst xmlns:p15="http://schemas.microsoft.com/office/powerpoint/2012/main">
        <p15:guide id="2" pos="3120">
          <p15:clr>
            <a:srgbClr val="FBAE40"/>
          </p15:clr>
        </p15:guide>
        <p15:guide id="3" orient="horz" pos="96">
          <p15:clr>
            <a:srgbClr val="FBAE40"/>
          </p15:clr>
        </p15:guide>
        <p15:guide id="4" orient="horz" pos="6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cSld name="Cím, szöveg és tartalom">
    <p:spTree>
      <p:nvGrpSpPr>
        <p:cNvPr id="1" name=""/>
        <p:cNvGrpSpPr/>
        <p:nvPr/>
      </p:nvGrpSpPr>
      <p:grpSpPr>
        <a:xfrm>
          <a:off x="0" y="0"/>
          <a:ext cx="0" cy="0"/>
          <a:chOff x="0" y="0"/>
          <a:chExt cx="0" cy="0"/>
        </a:xfrm>
      </p:grpSpPr>
      <p:sp>
        <p:nvSpPr>
          <p:cNvPr id="2" name="Cím 1"/>
          <p:cNvSpPr>
            <a:spLocks noGrp="1"/>
          </p:cNvSpPr>
          <p:nvPr>
            <p:ph type="title"/>
          </p:nvPr>
        </p:nvSpPr>
        <p:spPr>
          <a:xfrm>
            <a:off x="609600" y="122238"/>
            <a:ext cx="10058400" cy="1295400"/>
          </a:xfrm>
        </p:spPr>
        <p:txBody>
          <a:bodyPr/>
          <a:lstStyle/>
          <a:p>
            <a:r>
              <a:rPr lang="hu-HU"/>
              <a:t>Mintacím szerkesztése</a:t>
            </a:r>
          </a:p>
        </p:txBody>
      </p:sp>
      <p:sp>
        <p:nvSpPr>
          <p:cNvPr id="3" name="Szöveg helye 2"/>
          <p:cNvSpPr>
            <a:spLocks noGrp="1"/>
          </p:cNvSpPr>
          <p:nvPr>
            <p:ph type="body" sz="half" idx="1"/>
          </p:nvPr>
        </p:nvSpPr>
        <p:spPr>
          <a:xfrm>
            <a:off x="609600" y="1719263"/>
            <a:ext cx="5384800" cy="4411662"/>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Tartalom helye 3"/>
          <p:cNvSpPr>
            <a:spLocks noGrp="1"/>
          </p:cNvSpPr>
          <p:nvPr>
            <p:ph sz="half" idx="2"/>
          </p:nvPr>
        </p:nvSpPr>
        <p:spPr>
          <a:xfrm>
            <a:off x="6197600" y="1719263"/>
            <a:ext cx="5384800" cy="4411662"/>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C26CF4BB-1B15-4928-80D7-E08B93F27CF9}" type="slidenum">
              <a:rPr lang="en-US" altLang="en-US"/>
              <a:pPr>
                <a:defRPr/>
              </a:pPr>
              <a:t>‹#›</a:t>
            </a:fld>
            <a:endParaRPr lang="en-US" altLang="en-US"/>
          </a:p>
        </p:txBody>
      </p:sp>
    </p:spTree>
    <p:extLst>
      <p:ext uri="{BB962C8B-B14F-4D97-AF65-F5344CB8AC3E}">
        <p14:creationId xmlns:p14="http://schemas.microsoft.com/office/powerpoint/2010/main" val="26523865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Nur Titel">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9620585-6680-4A8A-AAD2-6FA4B513CBD8}"/>
              </a:ext>
            </a:extLst>
          </p:cNvPr>
          <p:cNvGraphicFramePr>
            <a:graphicFrameLocks noChangeAspect="1"/>
          </p:cNvGraphicFramePr>
          <p:nvPr userDrawn="1">
            <p:custDataLst>
              <p:tags r:id="rId1"/>
            </p:custDataLst>
            <p:extLst>
              <p:ext uri="{D42A27DB-BD31-4B8C-83A1-F6EECF244321}">
                <p14:modId xmlns:p14="http://schemas.microsoft.com/office/powerpoint/2010/main" val="3110562868"/>
              </p:ext>
            </p:ext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D9620585-6680-4A8A-AAD2-6FA4B513CBD8}"/>
                          </a:ext>
                        </a:extLst>
                      </p:cNvPr>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2" name="Title 1"/>
          <p:cNvSpPr>
            <a:spLocks noGrp="1"/>
          </p:cNvSpPr>
          <p:nvPr>
            <p:ph type="title"/>
          </p:nvPr>
        </p:nvSpPr>
        <p:spPr>
          <a:xfrm>
            <a:off x="573619" y="152400"/>
            <a:ext cx="9555120" cy="863600"/>
          </a:xfrm>
        </p:spPr>
        <p:txBody>
          <a:bodyPr vert="horz"/>
          <a:lstStyle>
            <a:lvl1pPr rtl="0">
              <a:defRPr/>
            </a:lvl1pPr>
          </a:lstStyle>
          <a:p>
            <a:r>
              <a:rPr lang="en-GB" noProof="0"/>
              <a:t>Click to edit Master title style</a:t>
            </a:r>
          </a:p>
        </p:txBody>
      </p:sp>
    </p:spTree>
    <p:extLst>
      <p:ext uri="{BB962C8B-B14F-4D97-AF65-F5344CB8AC3E}">
        <p14:creationId xmlns:p14="http://schemas.microsoft.com/office/powerpoint/2010/main" val="12982430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2 Part Slide (vertical)">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1232F4E9-8429-45A0-B860-A3979B11E355}"/>
              </a:ext>
            </a:extLst>
          </p:cNvPr>
          <p:cNvGraphicFramePr>
            <a:graphicFrameLocks noChangeAspect="1"/>
          </p:cNvGraphicFramePr>
          <p:nvPr userDrawn="1">
            <p:custDataLst>
              <p:tags r:id="rId1"/>
            </p:custDataLst>
            <p:extLst>
              <p:ext uri="{D42A27DB-BD31-4B8C-83A1-F6EECF244321}">
                <p14:modId xmlns:p14="http://schemas.microsoft.com/office/powerpoint/2010/main" val="1561543647"/>
              </p:ext>
            </p:ext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3" name="Object 2" hidden="1">
                        <a:extLst>
                          <a:ext uri="{FF2B5EF4-FFF2-40B4-BE49-F238E27FC236}">
                            <a16:creationId xmlns:a16="http://schemas.microsoft.com/office/drawing/2014/main" id="{1232F4E9-8429-45A0-B860-A3979B11E355}"/>
                          </a:ext>
                        </a:extLst>
                      </p:cNvPr>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Text Placeholder 6"/>
          <p:cNvSpPr>
            <a:spLocks noGrp="1"/>
          </p:cNvSpPr>
          <p:nvPr>
            <p:ph type="body" sz="quarter" idx="13" hasCustomPrompt="1"/>
          </p:nvPr>
        </p:nvSpPr>
        <p:spPr>
          <a:xfrm>
            <a:off x="576000" y="1306800"/>
            <a:ext cx="5280000" cy="4752000"/>
          </a:xfrm>
        </p:spPr>
        <p:txBody>
          <a:bodyPr/>
          <a:lstStyle>
            <a:lvl1pPr algn="l" rtl="0">
              <a:defRPr/>
            </a:lvl1pPr>
            <a:lvl2pPr algn="l" rtl="0">
              <a:defRPr/>
            </a:lvl2pPr>
            <a:lvl3pPr algn="l" rtl="0">
              <a:defRPr/>
            </a:lvl3pPr>
            <a:lvl4pPr algn="l" rtl="0">
              <a:defRPr/>
            </a:lvl4pPr>
            <a:lvl5pPr algn="l" rtl="0">
              <a:defRPr/>
            </a:lvl5pPr>
          </a:lstStyle>
          <a:p>
            <a:pPr lvl="0"/>
            <a:r>
              <a:rPr lang="en-GB" noProof="0"/>
              <a:t>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9" name="Text Placeholder 8"/>
          <p:cNvSpPr>
            <a:spLocks noGrp="1"/>
          </p:cNvSpPr>
          <p:nvPr>
            <p:ph type="body" sz="quarter" idx="14" hasCustomPrompt="1"/>
          </p:nvPr>
        </p:nvSpPr>
        <p:spPr>
          <a:xfrm>
            <a:off x="6336001" y="1306800"/>
            <a:ext cx="5280267" cy="4752000"/>
          </a:xfrm>
        </p:spPr>
        <p:txBody>
          <a:bodyPr/>
          <a:lstStyle>
            <a:lvl1pPr algn="l" rtl="0">
              <a:defRPr/>
            </a:lvl1pPr>
            <a:lvl2pPr algn="l" rtl="0">
              <a:defRPr/>
            </a:lvl2pPr>
            <a:lvl3pPr algn="l" rtl="0">
              <a:defRPr/>
            </a:lvl3pPr>
            <a:lvl4pPr algn="l" rtl="0">
              <a:defRPr/>
            </a:lvl4pPr>
            <a:lvl5pPr algn="l" rtl="0">
              <a:defRPr/>
            </a:lvl5pPr>
          </a:lstStyle>
          <a:p>
            <a:pPr lvl="0"/>
            <a:r>
              <a:rPr lang="en-GB" noProof="0"/>
              <a:t>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GB" noProof="0" dirty="0"/>
          </a:p>
        </p:txBody>
      </p:sp>
      <p:sp>
        <p:nvSpPr>
          <p:cNvPr id="8" name="Title 1"/>
          <p:cNvSpPr>
            <a:spLocks noGrp="1"/>
          </p:cNvSpPr>
          <p:nvPr>
            <p:ph type="title" hasCustomPrompt="1"/>
          </p:nvPr>
        </p:nvSpPr>
        <p:spPr>
          <a:xfrm>
            <a:off x="576001" y="152400"/>
            <a:ext cx="9552738" cy="863600"/>
          </a:xfrm>
        </p:spPr>
        <p:txBody>
          <a:bodyPr vert="horz"/>
          <a:lstStyle>
            <a:lvl1pPr rtl="0">
              <a:defRPr baseline="0"/>
            </a:lvl1pPr>
          </a:lstStyle>
          <a:p>
            <a:r>
              <a:rPr lang="en-GB" noProof="0" dirty="0"/>
              <a:t>Click to edit – Note: Slide Master must be constrained to two lines and should not be changed in terms of font, format or size</a:t>
            </a:r>
          </a:p>
        </p:txBody>
      </p:sp>
    </p:spTree>
    <p:extLst>
      <p:ext uri="{BB962C8B-B14F-4D97-AF65-F5344CB8AC3E}">
        <p14:creationId xmlns:p14="http://schemas.microsoft.com/office/powerpoint/2010/main" val="3045843865"/>
      </p:ext>
    </p:extLst>
  </p:cSld>
  <p:clrMapOvr>
    <a:masterClrMapping/>
  </p:clrMapOvr>
  <p:hf sldNum="0" hdr="0" ftr="0" dt="0"/>
  <p:extLst>
    <p:ext uri="{DCECCB84-F9BA-43D5-87BE-67443E8EF086}">
      <p15:sldGuideLst xmlns:p15="http://schemas.microsoft.com/office/powerpoint/2012/main">
        <p15:guide id="1" orient="horz" pos="9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OC">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9620585-6680-4A8A-AAD2-6FA4B513CBD8}"/>
              </a:ext>
            </a:extLst>
          </p:cNvPr>
          <p:cNvGraphicFramePr>
            <a:graphicFrameLocks noChangeAspect="1"/>
          </p:cNvGraphicFramePr>
          <p:nvPr userDrawn="1">
            <p:custDataLst>
              <p:tags r:id="rId1"/>
            </p:custDataLst>
            <p:extLst>
              <p:ext uri="{D42A27DB-BD31-4B8C-83A1-F6EECF244321}">
                <p14:modId xmlns:p14="http://schemas.microsoft.com/office/powerpoint/2010/main" val="3210547205"/>
              </p:ext>
            </p:ext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D9620585-6680-4A8A-AAD2-6FA4B513CBD8}"/>
                          </a:ext>
                        </a:extLst>
                      </p:cNvPr>
                      <p:cNvPicPr/>
                      <p:nvPr/>
                    </p:nvPicPr>
                    <p:blipFill>
                      <a:blip r:embed="rId4"/>
                      <a:stretch>
                        <a:fillRect/>
                      </a:stretch>
                    </p:blipFill>
                    <p:spPr>
                      <a:xfrm>
                        <a:off x="1955" y="1588"/>
                        <a:ext cx="1954" cy="1588"/>
                      </a:xfrm>
                      <a:prstGeom prst="rect">
                        <a:avLst/>
                      </a:prstGeom>
                    </p:spPr>
                  </p:pic>
                </p:oleObj>
              </mc:Fallback>
            </mc:AlternateContent>
          </a:graphicData>
        </a:graphic>
      </p:graphicFrame>
    </p:spTree>
    <p:extLst>
      <p:ext uri="{BB962C8B-B14F-4D97-AF65-F5344CB8AC3E}">
        <p14:creationId xmlns:p14="http://schemas.microsoft.com/office/powerpoint/2010/main" val="290366448"/>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48153DBA-9FCC-8CD5-998C-59154BF23F44}"/>
              </a:ext>
            </a:extLst>
          </p:cNvPr>
          <p:cNvSpPr/>
          <p:nvPr userDrawn="1"/>
        </p:nvSpPr>
        <p:spPr>
          <a:xfrm>
            <a:off x="157132" y="6525581"/>
            <a:ext cx="1861774" cy="216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sz="963"/>
          </a:p>
        </p:txBody>
      </p:sp>
      <p:sp>
        <p:nvSpPr>
          <p:cNvPr id="3" name="Rectangle 7">
            <a:extLst>
              <a:ext uri="{FF2B5EF4-FFF2-40B4-BE49-F238E27FC236}">
                <a16:creationId xmlns:a16="http://schemas.microsoft.com/office/drawing/2014/main" id="{4E1BCC38-C5AA-8253-1DD8-A0CBCE8A4800}"/>
              </a:ext>
            </a:extLst>
          </p:cNvPr>
          <p:cNvSpPr/>
          <p:nvPr userDrawn="1"/>
        </p:nvSpPr>
        <p:spPr>
          <a:xfrm>
            <a:off x="345215" y="6597632"/>
            <a:ext cx="1861774" cy="216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sz="963"/>
          </a:p>
        </p:txBody>
      </p:sp>
      <p:sp>
        <p:nvSpPr>
          <p:cNvPr id="4" name="Slide Number Placeholder 5">
            <a:extLst>
              <a:ext uri="{FF2B5EF4-FFF2-40B4-BE49-F238E27FC236}">
                <a16:creationId xmlns:a16="http://schemas.microsoft.com/office/drawing/2014/main" id="{BDEC23A6-18B1-A92F-29E2-975882619B74}"/>
              </a:ext>
            </a:extLst>
          </p:cNvPr>
          <p:cNvSpPr>
            <a:spLocks noGrp="1"/>
          </p:cNvSpPr>
          <p:nvPr>
            <p:ph type="sldNum" sz="quarter" idx="10"/>
          </p:nvPr>
        </p:nvSpPr>
        <p:spPr>
          <a:xfrm>
            <a:off x="11137312" y="6586170"/>
            <a:ext cx="721379" cy="180129"/>
          </a:xfrm>
          <a:prstGeom prst="rect">
            <a:avLst/>
          </a:prstGeom>
        </p:spPr>
        <p:txBody>
          <a:bodyPr vert="horz" lIns="0" tIns="0" rIns="0" bIns="0" rtlCol="0" anchor="b" anchorCtr="0"/>
          <a:lstStyle>
            <a:lvl1pPr algn="r">
              <a:defRPr sz="757">
                <a:solidFill>
                  <a:schemeClr val="tx1"/>
                </a:solidFill>
              </a:defRPr>
            </a:lvl1pPr>
          </a:lstStyle>
          <a:p>
            <a:pPr>
              <a:defRPr/>
            </a:pPr>
            <a:fld id="{8D1E4E7A-0918-4C82-94C7-4411A20715B8}" type="slidenum">
              <a:rPr lang="en-US"/>
              <a:pPr>
                <a:defRPr/>
              </a:pPr>
              <a:t>‹#›</a:t>
            </a:fld>
            <a:endParaRPr lang="en-US" dirty="0"/>
          </a:p>
        </p:txBody>
      </p:sp>
    </p:spTree>
    <p:extLst>
      <p:ext uri="{BB962C8B-B14F-4D97-AF65-F5344CB8AC3E}">
        <p14:creationId xmlns:p14="http://schemas.microsoft.com/office/powerpoint/2010/main" val="29371096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verTx">
  <p:cSld name="Cím és tartalom a szöveg felett">
    <p:spTree>
      <p:nvGrpSpPr>
        <p:cNvPr id="1" name=""/>
        <p:cNvGrpSpPr/>
        <p:nvPr/>
      </p:nvGrpSpPr>
      <p:grpSpPr>
        <a:xfrm>
          <a:off x="0" y="0"/>
          <a:ext cx="0" cy="0"/>
          <a:chOff x="0" y="0"/>
          <a:chExt cx="0" cy="0"/>
        </a:xfrm>
      </p:grpSpPr>
      <p:sp>
        <p:nvSpPr>
          <p:cNvPr id="2" name="Cím 1"/>
          <p:cNvSpPr>
            <a:spLocks noGrp="1"/>
          </p:cNvSpPr>
          <p:nvPr>
            <p:ph type="title"/>
          </p:nvPr>
        </p:nvSpPr>
        <p:spPr>
          <a:xfrm>
            <a:off x="609600" y="277814"/>
            <a:ext cx="10972800" cy="1139825"/>
          </a:xfrm>
        </p:spPr>
        <p:txBody>
          <a:bodyPr/>
          <a:lstStyle/>
          <a:p>
            <a:r>
              <a:rPr lang="hu-HU"/>
              <a:t>Mintacím szerkesztése</a:t>
            </a:r>
          </a:p>
        </p:txBody>
      </p:sp>
      <p:sp>
        <p:nvSpPr>
          <p:cNvPr id="3" name="Tartalom helye 2"/>
          <p:cNvSpPr>
            <a:spLocks noGrp="1"/>
          </p:cNvSpPr>
          <p:nvPr>
            <p:ph sz="half" idx="1"/>
          </p:nvPr>
        </p:nvSpPr>
        <p:spPr>
          <a:xfrm>
            <a:off x="609600" y="1600201"/>
            <a:ext cx="10972800" cy="2189163"/>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Szöveg helye 3"/>
          <p:cNvSpPr>
            <a:spLocks noGrp="1"/>
          </p:cNvSpPr>
          <p:nvPr>
            <p:ph type="body" sz="half" idx="2"/>
          </p:nvPr>
        </p:nvSpPr>
        <p:spPr>
          <a:xfrm>
            <a:off x="609600" y="3941763"/>
            <a:ext cx="10972800" cy="2189162"/>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Dátum helye 13"/>
          <p:cNvSpPr>
            <a:spLocks noGrp="1"/>
          </p:cNvSpPr>
          <p:nvPr>
            <p:ph type="dt" sz="half" idx="10"/>
          </p:nvPr>
        </p:nvSpPr>
        <p:spPr/>
        <p:txBody>
          <a:bodyPr/>
          <a:lstStyle>
            <a:lvl1pPr>
              <a:defRPr/>
            </a:lvl1pPr>
          </a:lstStyle>
          <a:p>
            <a:pPr>
              <a:defRPr/>
            </a:pPr>
            <a:endParaRPr lang="en-US" altLang="en-US"/>
          </a:p>
        </p:txBody>
      </p:sp>
      <p:sp>
        <p:nvSpPr>
          <p:cNvPr id="6" name="Élőláb helye 2"/>
          <p:cNvSpPr>
            <a:spLocks noGrp="1"/>
          </p:cNvSpPr>
          <p:nvPr>
            <p:ph type="ftr" sz="quarter" idx="11"/>
          </p:nvPr>
        </p:nvSpPr>
        <p:spPr/>
        <p:txBody>
          <a:bodyPr/>
          <a:lstStyle>
            <a:lvl1pPr>
              <a:defRPr/>
            </a:lvl1pPr>
          </a:lstStyle>
          <a:p>
            <a:pPr>
              <a:defRPr/>
            </a:pPr>
            <a:endParaRPr lang="en-US" altLang="en-US"/>
          </a:p>
        </p:txBody>
      </p:sp>
      <p:sp>
        <p:nvSpPr>
          <p:cNvPr id="7" name="Dia számának helye 22"/>
          <p:cNvSpPr>
            <a:spLocks noGrp="1"/>
          </p:cNvSpPr>
          <p:nvPr>
            <p:ph type="sldNum" sz="quarter" idx="12"/>
          </p:nvPr>
        </p:nvSpPr>
        <p:spPr/>
        <p:txBody>
          <a:bodyPr/>
          <a:lstStyle>
            <a:lvl1pPr>
              <a:defRPr/>
            </a:lvl1pPr>
          </a:lstStyle>
          <a:p>
            <a:pPr>
              <a:defRPr/>
            </a:pPr>
            <a:fld id="{069B2A98-E820-4532-AC70-567109790100}" type="slidenum">
              <a:rPr lang="en-US" altLang="en-US"/>
              <a:pPr>
                <a:defRPr/>
              </a:pPr>
              <a:t>‹#›</a:t>
            </a:fld>
            <a:endParaRPr lang="en-US" altLang="en-US"/>
          </a:p>
        </p:txBody>
      </p:sp>
    </p:spTree>
    <p:extLst>
      <p:ext uri="{BB962C8B-B14F-4D97-AF65-F5344CB8AC3E}">
        <p14:creationId xmlns:p14="http://schemas.microsoft.com/office/powerpoint/2010/main" val="20555225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040C77B6-8E71-9EB7-8DC7-945D14AFAFFD}"/>
              </a:ext>
            </a:extLst>
          </p:cNvPr>
          <p:cNvSpPr/>
          <p:nvPr userDrawn="1"/>
        </p:nvSpPr>
        <p:spPr>
          <a:xfrm>
            <a:off x="247602" y="6525581"/>
            <a:ext cx="1152300" cy="2161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sz="2032"/>
          </a:p>
        </p:txBody>
      </p:sp>
      <p:sp>
        <p:nvSpPr>
          <p:cNvPr id="3" name="Slide Number Placeholder 5">
            <a:extLst>
              <a:ext uri="{FF2B5EF4-FFF2-40B4-BE49-F238E27FC236}">
                <a16:creationId xmlns:a16="http://schemas.microsoft.com/office/drawing/2014/main" id="{DCC62E7D-BE31-2BDF-61EC-9A4DFBCC368B}"/>
              </a:ext>
            </a:extLst>
          </p:cNvPr>
          <p:cNvSpPr>
            <a:spLocks noGrp="1"/>
          </p:cNvSpPr>
          <p:nvPr>
            <p:ph type="sldNum" sz="quarter" idx="10"/>
          </p:nvPr>
        </p:nvSpPr>
        <p:spPr>
          <a:xfrm>
            <a:off x="11137312" y="6586170"/>
            <a:ext cx="721379" cy="180129"/>
          </a:xfrm>
          <a:prstGeom prst="rect">
            <a:avLst/>
          </a:prstGeom>
        </p:spPr>
        <p:txBody>
          <a:bodyPr vert="horz" lIns="0" tIns="0" rIns="0" bIns="0" rtlCol="0" anchor="b" anchorCtr="0"/>
          <a:lstStyle>
            <a:lvl1pPr algn="r">
              <a:defRPr sz="931">
                <a:solidFill>
                  <a:schemeClr val="tx1"/>
                </a:solidFill>
              </a:defRPr>
            </a:lvl1pPr>
          </a:lstStyle>
          <a:p>
            <a:pPr>
              <a:defRPr/>
            </a:pPr>
            <a:fld id="{BFBAC07C-577F-47C8-86D2-CA6991473775}" type="slidenum">
              <a:rPr lang="en-US"/>
              <a:pPr>
                <a:defRPr/>
              </a:pPr>
              <a:t>‹#›</a:t>
            </a:fld>
            <a:endParaRPr lang="en-US" dirty="0"/>
          </a:p>
        </p:txBody>
      </p:sp>
    </p:spTree>
    <p:extLst>
      <p:ext uri="{BB962C8B-B14F-4D97-AF65-F5344CB8AC3E}">
        <p14:creationId xmlns:p14="http://schemas.microsoft.com/office/powerpoint/2010/main" val="3711654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ím helye 1">
            <a:extLst>
              <a:ext uri="{FF2B5EF4-FFF2-40B4-BE49-F238E27FC236}">
                <a16:creationId xmlns:a16="http://schemas.microsoft.com/office/drawing/2014/main" id="{CE2A2E6A-2D3A-0A99-E59E-044E3CD978FC}"/>
              </a:ext>
            </a:extLst>
          </p:cNvPr>
          <p:cNvSpPr>
            <a:spLocks noGrp="1"/>
          </p:cNvSpPr>
          <p:nvPr>
            <p:ph type="title"/>
          </p:nvPr>
        </p:nvSpPr>
        <p:spPr>
          <a:xfrm>
            <a:off x="838200" y="365125"/>
            <a:ext cx="10515600" cy="815493"/>
          </a:xfrm>
          <a:prstGeom prst="rect">
            <a:avLst/>
          </a:prstGeom>
        </p:spPr>
        <p:txBody>
          <a:bodyPr vert="horz" lIns="91440" tIns="45720" rIns="91440" bIns="45720" rtlCol="0" anchor="ctr">
            <a:normAutofit/>
          </a:bodyPr>
          <a:lstStyle/>
          <a:p>
            <a:r>
              <a:rPr lang="hu-HU" dirty="0"/>
              <a:t>Mintacím szerkesztése</a:t>
            </a:r>
          </a:p>
        </p:txBody>
      </p:sp>
      <p:sp>
        <p:nvSpPr>
          <p:cNvPr id="3" name="Szöveg helye 2">
            <a:extLst>
              <a:ext uri="{FF2B5EF4-FFF2-40B4-BE49-F238E27FC236}">
                <a16:creationId xmlns:a16="http://schemas.microsoft.com/office/drawing/2014/main" id="{A439556C-5575-5690-3C8E-BCD0940675E3}"/>
              </a:ext>
            </a:extLst>
          </p:cNvPr>
          <p:cNvSpPr>
            <a:spLocks noGrp="1"/>
          </p:cNvSpPr>
          <p:nvPr>
            <p:ph type="body" idx="1"/>
          </p:nvPr>
        </p:nvSpPr>
        <p:spPr>
          <a:xfrm>
            <a:off x="838200" y="1307939"/>
            <a:ext cx="10515600" cy="4869024"/>
          </a:xfrm>
          <a:prstGeom prst="rect">
            <a:avLst/>
          </a:prstGeom>
        </p:spPr>
        <p:txBody>
          <a:bodyPr vert="horz" lIns="91440" tIns="45720" rIns="91440" bIns="45720" rtlCol="0">
            <a:normAutofit/>
          </a:bodyPr>
          <a:lstStyle/>
          <a:p>
            <a:pPr lvl="0"/>
            <a:r>
              <a:rPr lang="hu-HU" dirty="0"/>
              <a:t>Mintaszöveg szerkesztése</a:t>
            </a:r>
          </a:p>
          <a:p>
            <a:pPr lvl="1"/>
            <a:r>
              <a:rPr lang="hu-HU" dirty="0"/>
              <a:t>Második szint</a:t>
            </a:r>
          </a:p>
          <a:p>
            <a:pPr lvl="2"/>
            <a:r>
              <a:rPr lang="hu-HU" dirty="0"/>
              <a:t>Harmadik szint</a:t>
            </a:r>
          </a:p>
          <a:p>
            <a:pPr lvl="3"/>
            <a:r>
              <a:rPr lang="hu-HU" dirty="0"/>
              <a:t>Negyedik szint</a:t>
            </a:r>
          </a:p>
          <a:p>
            <a:pPr lvl="4"/>
            <a:r>
              <a:rPr lang="hu-HU" dirty="0"/>
              <a:t>Ötödik szint</a:t>
            </a:r>
          </a:p>
        </p:txBody>
      </p:sp>
      <p:sp>
        <p:nvSpPr>
          <p:cNvPr id="4" name="Dátum helye 3">
            <a:extLst>
              <a:ext uri="{FF2B5EF4-FFF2-40B4-BE49-F238E27FC236}">
                <a16:creationId xmlns:a16="http://schemas.microsoft.com/office/drawing/2014/main" id="{44FFBFB5-C3FD-7134-DCC3-528B525E64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631490-0F1C-421B-8BA3-ADB68CEBA1D2}" type="datetimeFigureOut">
              <a:rPr lang="hu-HU" smtClean="0"/>
              <a:t>2024. 03. 25.</a:t>
            </a:fld>
            <a:endParaRPr lang="hu-HU"/>
          </a:p>
        </p:txBody>
      </p:sp>
      <p:sp>
        <p:nvSpPr>
          <p:cNvPr id="5" name="Élőláb helye 4">
            <a:extLst>
              <a:ext uri="{FF2B5EF4-FFF2-40B4-BE49-F238E27FC236}">
                <a16:creationId xmlns:a16="http://schemas.microsoft.com/office/drawing/2014/main" id="{A00A6B42-81BA-44B6-B19C-55FD5D7AE8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u-HU"/>
          </a:p>
        </p:txBody>
      </p:sp>
      <p:sp>
        <p:nvSpPr>
          <p:cNvPr id="6" name="Dia számának helye 5">
            <a:extLst>
              <a:ext uri="{FF2B5EF4-FFF2-40B4-BE49-F238E27FC236}">
                <a16:creationId xmlns:a16="http://schemas.microsoft.com/office/drawing/2014/main" id="{E6EDAEA9-ACC0-ED0F-51BA-ECD3E28341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01B1D9-FFEE-44AC-AE52-6B30CE696C8D}" type="slidenum">
              <a:rPr lang="hu-HU" smtClean="0"/>
              <a:t>‹#›</a:t>
            </a:fld>
            <a:endParaRPr lang="hu-HU"/>
          </a:p>
        </p:txBody>
      </p:sp>
    </p:spTree>
    <p:extLst>
      <p:ext uri="{BB962C8B-B14F-4D97-AF65-F5344CB8AC3E}">
        <p14:creationId xmlns:p14="http://schemas.microsoft.com/office/powerpoint/2010/main" val="3762933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 id="2147483664" r:id="rId15"/>
    <p:sldLayoutId id="2147483665" r:id="rId16"/>
    <p:sldLayoutId id="2147483666" r:id="rId17"/>
    <p:sldLayoutId id="2147483667" r:id="rId18"/>
    <p:sldLayoutId id="2147483668" r:id="rId19"/>
    <p:sldLayoutId id="2147483669" r:id="rId20"/>
    <p:sldLayoutId id="2147483672" r:id="rId21"/>
    <p:sldLayoutId id="2147483673"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5.bin"/><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hyperlink" Target="https://spo-global.kpmg.com/sites/GO-MarketDevelopment-1.Origination/Shared%20Documents/1.%20%20Origination/SAM%20Essentials/Case%20study/2-SAM%20Ess_PreReadCaseStudy%20June%202022.pptx?web=1" TargetMode="External"/><Relationship Id="rId1" Type="http://schemas.openxmlformats.org/officeDocument/2006/relationships/slideLayout" Target="../slideLayouts/slideLayout7.xml"/><Relationship Id="rId4" Type="http://schemas.openxmlformats.org/officeDocument/2006/relationships/image" Target="../media/image15.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5.xml"/><Relationship Id="rId1" Type="http://schemas.openxmlformats.org/officeDocument/2006/relationships/tags" Target="../tags/tag5.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e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image" Target="../media/image22.jpg"/><Relationship Id="rId2" Type="http://schemas.openxmlformats.org/officeDocument/2006/relationships/slideLayout" Target="../slideLayouts/slideLayout15.xml"/><Relationship Id="rId1" Type="http://schemas.openxmlformats.org/officeDocument/2006/relationships/tags" Target="../tags/tag6.xml"/><Relationship Id="rId6" Type="http://schemas.openxmlformats.org/officeDocument/2006/relationships/image" Target="../media/image21.png"/><Relationship Id="rId5" Type="http://schemas.openxmlformats.org/officeDocument/2006/relationships/image" Target="../media/image20.jpg"/><Relationship Id="rId4" Type="http://schemas.openxmlformats.org/officeDocument/2006/relationships/image" Target="../media/image1.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e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7.xml"/><Relationship Id="rId1" Type="http://schemas.openxmlformats.org/officeDocument/2006/relationships/tags" Target="../tags/tag8.xml"/><Relationship Id="rId4" Type="http://schemas.openxmlformats.org/officeDocument/2006/relationships/image" Target="../media/image1.e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5.xml"/><Relationship Id="rId1" Type="http://schemas.openxmlformats.org/officeDocument/2006/relationships/tags" Target="../tags/tag9.xml"/><Relationship Id="rId5" Type="http://schemas.openxmlformats.org/officeDocument/2006/relationships/image" Target="../media/image23.png"/><Relationship Id="rId4" Type="http://schemas.openxmlformats.org/officeDocument/2006/relationships/image" Target="../media/image1.e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5.xml"/><Relationship Id="rId1" Type="http://schemas.openxmlformats.org/officeDocument/2006/relationships/tags" Target="../tags/tag10.xml"/><Relationship Id="rId5" Type="http://schemas.openxmlformats.org/officeDocument/2006/relationships/image" Target="../media/image24.png"/><Relationship Id="rId4" Type="http://schemas.openxmlformats.org/officeDocument/2006/relationships/image" Target="../media/image1.e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7.xml"/><Relationship Id="rId1" Type="http://schemas.openxmlformats.org/officeDocument/2006/relationships/tags" Target="../tags/tag11.xml"/><Relationship Id="rId4" Type="http://schemas.openxmlformats.org/officeDocument/2006/relationships/image" Target="../media/image1.e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7.xml"/><Relationship Id="rId1" Type="http://schemas.openxmlformats.org/officeDocument/2006/relationships/tags" Target="../tags/tag12.xml"/><Relationship Id="rId5" Type="http://schemas.openxmlformats.org/officeDocument/2006/relationships/image" Target="../media/image25.jpg"/><Relationship Id="rId4" Type="http://schemas.openxmlformats.org/officeDocument/2006/relationships/image" Target="../media/image1.e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7.xml"/><Relationship Id="rId1" Type="http://schemas.openxmlformats.org/officeDocument/2006/relationships/tags" Target="../tags/tag13.xml"/><Relationship Id="rId4" Type="http://schemas.openxmlformats.org/officeDocument/2006/relationships/image" Target="../media/image1.e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7.xml"/><Relationship Id="rId1" Type="http://schemas.openxmlformats.org/officeDocument/2006/relationships/tags" Target="../tags/tag14.xml"/><Relationship Id="rId4" Type="http://schemas.openxmlformats.org/officeDocument/2006/relationships/image" Target="../media/image1.e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7.xml"/><Relationship Id="rId1" Type="http://schemas.openxmlformats.org/officeDocument/2006/relationships/tags" Target="../tags/tag15.xml"/><Relationship Id="rId4" Type="http://schemas.openxmlformats.org/officeDocument/2006/relationships/image" Target="../media/image1.e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5.xml"/><Relationship Id="rId1" Type="http://schemas.openxmlformats.org/officeDocument/2006/relationships/tags" Target="../tags/tag16.xml"/><Relationship Id="rId4" Type="http://schemas.openxmlformats.org/officeDocument/2006/relationships/image" Target="../media/image1.e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1.e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9.xml"/><Relationship Id="rId1" Type="http://schemas.openxmlformats.org/officeDocument/2006/relationships/tags" Target="../tags/tag18.xml"/><Relationship Id="rId5" Type="http://schemas.openxmlformats.org/officeDocument/2006/relationships/image" Target="../media/image28.png"/><Relationship Id="rId4" Type="http://schemas.openxmlformats.org/officeDocument/2006/relationships/image" Target="../media/image1.emf"/></Relationships>
</file>

<file path=ppt/slides/_rels/slide6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emf"/><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7.xml"/><Relationship Id="rId1" Type="http://schemas.openxmlformats.org/officeDocument/2006/relationships/tags" Target="../tags/tag19.xml"/><Relationship Id="rId4" Type="http://schemas.openxmlformats.org/officeDocument/2006/relationships/image" Target="../media/image1.e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5.xml"/><Relationship Id="rId1" Type="http://schemas.openxmlformats.org/officeDocument/2006/relationships/tags" Target="../tags/tag20.xml"/><Relationship Id="rId4" Type="http://schemas.openxmlformats.org/officeDocument/2006/relationships/image" Target="../media/image1.e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5.xml"/><Relationship Id="rId1" Type="http://schemas.openxmlformats.org/officeDocument/2006/relationships/tags" Target="../tags/tag21.xml"/><Relationship Id="rId4" Type="http://schemas.openxmlformats.org/officeDocument/2006/relationships/image" Target="../media/image1.e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17.xml"/><Relationship Id="rId1" Type="http://schemas.openxmlformats.org/officeDocument/2006/relationships/tags" Target="../tags/tag22.xml"/><Relationship Id="rId4" Type="http://schemas.openxmlformats.org/officeDocument/2006/relationships/image" Target="../media/image1.emf"/></Relationships>
</file>

<file path=ppt/slides/_rels/slide70.xml.rels><?xml version="1.0" encoding="UTF-8" standalone="yes"?>
<Relationships xmlns="http://schemas.openxmlformats.org/package/2006/relationships"><Relationship Id="rId8" Type="http://schemas.openxmlformats.org/officeDocument/2006/relationships/image" Target="../media/image300.png"/><Relationship Id="rId3" Type="http://schemas.openxmlformats.org/officeDocument/2006/relationships/oleObject" Target="../embeddings/oleObject25.bin"/><Relationship Id="rId7" Type="http://schemas.openxmlformats.org/officeDocument/2006/relationships/image" Target="../media/image29.png"/><Relationship Id="rId2" Type="http://schemas.openxmlformats.org/officeDocument/2006/relationships/slideLayout" Target="../slideLayouts/slideLayout18.xml"/><Relationship Id="rId1" Type="http://schemas.openxmlformats.org/officeDocument/2006/relationships/tags" Target="../tags/tag23.xml"/><Relationship Id="rId6" Type="http://schemas.openxmlformats.org/officeDocument/2006/relationships/image" Target="../media/image31.wmf"/><Relationship Id="rId5" Type="http://schemas.openxmlformats.org/officeDocument/2006/relationships/oleObject" Target="../embeddings/oleObject26.bin"/><Relationship Id="rId4" Type="http://schemas.openxmlformats.org/officeDocument/2006/relationships/image" Target="../media/image1.e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5.xml"/><Relationship Id="rId1" Type="http://schemas.openxmlformats.org/officeDocument/2006/relationships/tags" Target="../tags/tag24.xml"/><Relationship Id="rId5" Type="http://schemas.openxmlformats.org/officeDocument/2006/relationships/chart" Target="../charts/chart1.xml"/><Relationship Id="rId4" Type="http://schemas.openxmlformats.org/officeDocument/2006/relationships/image" Target="../media/image1.emf"/></Relationships>
</file>

<file path=ppt/slides/_rels/slide72.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28.bin"/><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73.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29.bin"/><Relationship Id="rId1" Type="http://schemas.openxmlformats.org/officeDocument/2006/relationships/slideLayout" Target="../slideLayouts/slideLayout14.xml"/><Relationship Id="rId5" Type="http://schemas.openxmlformats.org/officeDocument/2006/relationships/image" Target="../media/image34.wmf"/><Relationship Id="rId4" Type="http://schemas.openxmlformats.org/officeDocument/2006/relationships/oleObject" Target="../embeddings/oleObject30.bin"/></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image" Target="../media/image34.png"/><Relationship Id="rId1" Type="http://schemas.openxmlformats.org/officeDocument/2006/relationships/slideLayout" Target="../slideLayouts/slideLayout21.xml"/><Relationship Id="rId5" Type="http://schemas.openxmlformats.org/officeDocument/2006/relationships/image" Target="../media/image36.png"/><Relationship Id="rId4" Type="http://schemas.openxmlformats.org/officeDocument/2006/relationships/image" Target="../media/image35.wmf"/></Relationships>
</file>

<file path=ppt/slides/_rels/slide7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1.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17.xml"/><Relationship Id="rId1" Type="http://schemas.openxmlformats.org/officeDocument/2006/relationships/tags" Target="../tags/tag25.xml"/><Relationship Id="rId5" Type="http://schemas.openxmlformats.org/officeDocument/2006/relationships/image" Target="../media/image310.png"/><Relationship Id="rId4" Type="http://schemas.openxmlformats.org/officeDocument/2006/relationships/image" Target="../media/image1.e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17.xml"/><Relationship Id="rId1" Type="http://schemas.openxmlformats.org/officeDocument/2006/relationships/tags" Target="../tags/tag26.xml"/><Relationship Id="rId5" Type="http://schemas.openxmlformats.org/officeDocument/2006/relationships/image" Target="../media/image32.png"/><Relationship Id="rId4" Type="http://schemas.openxmlformats.org/officeDocument/2006/relationships/image" Target="../media/image1.e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tags" Target="../tags/tag27.xml"/><Relationship Id="rId5" Type="http://schemas.openxmlformats.org/officeDocument/2006/relationships/image" Target="../media/image38.png"/><Relationship Id="rId4" Type="http://schemas.openxmlformats.org/officeDocument/2006/relationships/image" Target="../media/image1.e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17.xml"/><Relationship Id="rId1" Type="http://schemas.openxmlformats.org/officeDocument/2006/relationships/tags" Target="../tags/tag28.xml"/><Relationship Id="rId4" Type="http://schemas.openxmlformats.org/officeDocument/2006/relationships/image" Target="../media/image1.e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15.xml"/><Relationship Id="rId1" Type="http://schemas.openxmlformats.org/officeDocument/2006/relationships/tags" Target="../tags/tag29.xml"/><Relationship Id="rId4" Type="http://schemas.openxmlformats.org/officeDocument/2006/relationships/image" Target="../media/image1.emf"/></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17.xml"/><Relationship Id="rId1" Type="http://schemas.openxmlformats.org/officeDocument/2006/relationships/tags" Target="../tags/tag30.xml"/><Relationship Id="rId4" Type="http://schemas.openxmlformats.org/officeDocument/2006/relationships/image" Target="../media/image1.emf"/></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7.xml"/><Relationship Id="rId1" Type="http://schemas.openxmlformats.org/officeDocument/2006/relationships/tags" Target="../tags/tag31.xml"/><Relationship Id="rId5" Type="http://schemas.openxmlformats.org/officeDocument/2006/relationships/image" Target="../media/image39.png"/><Relationship Id="rId4" Type="http://schemas.openxmlformats.org/officeDocument/2006/relationships/image" Target="../media/image1.emf"/></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17.xml"/><Relationship Id="rId1" Type="http://schemas.openxmlformats.org/officeDocument/2006/relationships/tags" Target="../tags/tag32.xml"/><Relationship Id="rId4" Type="http://schemas.openxmlformats.org/officeDocument/2006/relationships/image" Target="../media/image1.emf"/></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17.xml"/><Relationship Id="rId1" Type="http://schemas.openxmlformats.org/officeDocument/2006/relationships/tags" Target="../tags/tag33.xml"/><Relationship Id="rId5" Type="http://schemas.openxmlformats.org/officeDocument/2006/relationships/image" Target="../media/image40.png"/><Relationship Id="rId4" Type="http://schemas.openxmlformats.org/officeDocument/2006/relationships/image" Target="../media/image1.emf"/></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17.xml"/><Relationship Id="rId1" Type="http://schemas.openxmlformats.org/officeDocument/2006/relationships/tags" Target="../tags/tag34.xml"/><Relationship Id="rId5" Type="http://schemas.openxmlformats.org/officeDocument/2006/relationships/image" Target="../media/image41.png"/><Relationship Id="rId4" Type="http://schemas.openxmlformats.org/officeDocument/2006/relationships/image" Target="../media/image1.emf"/></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17.xml"/><Relationship Id="rId1" Type="http://schemas.openxmlformats.org/officeDocument/2006/relationships/tags" Target="../tags/tag35.xml"/><Relationship Id="rId5" Type="http://schemas.openxmlformats.org/officeDocument/2006/relationships/image" Target="../media/image41.png"/><Relationship Id="rId4" Type="http://schemas.openxmlformats.org/officeDocument/2006/relationships/image" Target="../media/image1.emf"/></Relationships>
</file>

<file path=ppt/slides/_rels/slide8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9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oleObject" Target="../embeddings/oleObject43.bin"/><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9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2705100" y="2050728"/>
            <a:ext cx="6781800" cy="1248323"/>
          </a:xfrm>
          <a:noFill/>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ctr" anchorCtr="0" compatLnSpc="1">
            <a:prstTxWarp prst="textNoShape">
              <a:avLst/>
            </a:prstTxWarp>
            <a:normAutofit/>
          </a:bodyPr>
          <a:lstStyle/>
          <a:p>
            <a:pPr eaLnBrk="1" hangingPunct="1"/>
            <a:r>
              <a:rPr lang="hu-HU" altLang="hu-HU" dirty="0"/>
              <a:t>Banking</a:t>
            </a:r>
            <a:br>
              <a:rPr lang="hu-HU" altLang="hu-HU" dirty="0"/>
            </a:br>
            <a:r>
              <a:rPr lang="hu-HU" altLang="hu-HU" sz="2400" dirty="0"/>
              <a:t>2024</a:t>
            </a:r>
            <a:endParaRPr lang="en-US" altLang="hu-HU" sz="2400" dirty="0"/>
          </a:p>
        </p:txBody>
      </p:sp>
      <p:sp>
        <p:nvSpPr>
          <p:cNvPr id="4099" name="Rectangle 3"/>
          <p:cNvSpPr>
            <a:spLocks noGrp="1" noChangeArrowheads="1"/>
          </p:cNvSpPr>
          <p:nvPr>
            <p:ph type="subTitle" idx="1"/>
          </p:nvPr>
        </p:nvSpPr>
        <p:spPr>
          <a:xfrm>
            <a:off x="1524000" y="3827126"/>
            <a:ext cx="9144000" cy="1655762"/>
          </a:xfrm>
          <a:noFill/>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marL="342900" indent="-342900" eaLnBrk="1" hangingPunct="1"/>
            <a:r>
              <a:rPr lang="hu-HU" altLang="hu-HU" dirty="0"/>
              <a:t>dr. Mikolasek András</a:t>
            </a:r>
          </a:p>
          <a:p>
            <a:pPr marL="342900" indent="-342900" eaLnBrk="1" hangingPunct="1"/>
            <a:r>
              <a:rPr lang="hu-HU" sz="2000" i="0" dirty="0">
                <a:effectLst/>
                <a:latin typeface="Arial" panose="020B0604020202020204" pitchFamily="34" charset="0"/>
              </a:rPr>
              <a:t>andras.mikolasek2@uni-corvinus.hu</a:t>
            </a:r>
            <a:endParaRPr lang="hu-HU" altLang="hu-HU" sz="20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841248" y="365760"/>
            <a:ext cx="10058400" cy="832752"/>
          </a:xfrm>
        </p:spPr>
        <p:txBody>
          <a:bodyPr/>
          <a:lstStyle/>
          <a:p>
            <a:r>
              <a:rPr lang="en-US" dirty="0"/>
              <a:t>Topics for discussion:</a:t>
            </a:r>
          </a:p>
        </p:txBody>
      </p:sp>
      <p:sp>
        <p:nvSpPr>
          <p:cNvPr id="4" name="Dia számának helye 3"/>
          <p:cNvSpPr>
            <a:spLocks noGrp="1"/>
          </p:cNvSpPr>
          <p:nvPr>
            <p:ph type="sldNum" sz="quarter" idx="12"/>
          </p:nvPr>
        </p:nvSpPr>
        <p:spPr/>
        <p:txBody>
          <a:bodyPr/>
          <a:lstStyle/>
          <a:p>
            <a:pPr marR="0" lvl="0" indent="0" fontAlgn="auto">
              <a:lnSpc>
                <a:spcPct val="100000"/>
              </a:lnSpc>
              <a:spcBef>
                <a:spcPts val="0"/>
              </a:spcBef>
              <a:spcAft>
                <a:spcPts val="0"/>
              </a:spcAft>
              <a:buClrTx/>
              <a:buSzTx/>
              <a:buFontTx/>
              <a:buNone/>
              <a:tabLst/>
              <a:defRPr/>
            </a:pPr>
            <a:fld id="{2AC3E3C3-5984-494D-A44E-6E7D6FEAE8D6}" type="slidenum">
              <a:rPr lang="en-US" altLang="en-US"/>
              <a:pPr marR="0" lvl="0" indent="0" fontAlgn="auto">
                <a:lnSpc>
                  <a:spcPct val="100000"/>
                </a:lnSpc>
                <a:spcBef>
                  <a:spcPts val="0"/>
                </a:spcBef>
                <a:spcAft>
                  <a:spcPts val="0"/>
                </a:spcAft>
                <a:buClrTx/>
                <a:buSzTx/>
                <a:buFontTx/>
                <a:buNone/>
                <a:tabLst/>
                <a:defRPr/>
              </a:pPr>
              <a:t>2</a:t>
            </a:fld>
            <a:endParaRPr lang="en-US" altLang="en-US" dirty="0"/>
          </a:p>
        </p:txBody>
      </p:sp>
      <p:sp>
        <p:nvSpPr>
          <p:cNvPr id="6" name="Szövegdoboz 5">
            <a:extLst>
              <a:ext uri="{FF2B5EF4-FFF2-40B4-BE49-F238E27FC236}">
                <a16:creationId xmlns:a16="http://schemas.microsoft.com/office/drawing/2014/main" id="{8FE0F8CC-124C-4ACA-0854-0A0B987F0EAC}"/>
              </a:ext>
            </a:extLst>
          </p:cNvPr>
          <p:cNvSpPr txBox="1"/>
          <p:nvPr/>
        </p:nvSpPr>
        <p:spPr>
          <a:xfrm>
            <a:off x="841248" y="1452429"/>
            <a:ext cx="10249231" cy="2677656"/>
          </a:xfrm>
          <a:prstGeom prst="rect">
            <a:avLst/>
          </a:prstGeom>
          <a:noFill/>
        </p:spPr>
        <p:txBody>
          <a:bodyPr wrap="square" rtlCol="0">
            <a:spAutoFit/>
          </a:bodyPr>
          <a:lstStyle/>
          <a:p>
            <a:pPr>
              <a:tabLst>
                <a:tab pos="803275" algn="l"/>
              </a:tabLst>
            </a:pPr>
            <a:r>
              <a:rPr lang="en-US" dirty="0"/>
              <a:t>	</a:t>
            </a:r>
            <a:r>
              <a:rPr lang="en-US" sz="2800" dirty="0"/>
              <a:t>Banks in DSGE models</a:t>
            </a:r>
          </a:p>
          <a:p>
            <a:pPr>
              <a:tabLst>
                <a:tab pos="803275" algn="l"/>
              </a:tabLst>
            </a:pPr>
            <a:r>
              <a:rPr lang="en-US" sz="2800" dirty="0"/>
              <a:t>	Data Science in assessing the credit quality of clients</a:t>
            </a:r>
          </a:p>
          <a:p>
            <a:pPr>
              <a:tabLst>
                <a:tab pos="803275" algn="l"/>
              </a:tabLst>
            </a:pPr>
            <a:r>
              <a:rPr lang="en-US" sz="2800" dirty="0"/>
              <a:t>	Future of CBDC</a:t>
            </a:r>
          </a:p>
          <a:p>
            <a:pPr>
              <a:tabLst>
                <a:tab pos="803275" algn="l"/>
              </a:tabLst>
            </a:pPr>
            <a:r>
              <a:rPr lang="en-US" sz="2800" dirty="0"/>
              <a:t>	What is new in Basel IV?</a:t>
            </a:r>
          </a:p>
          <a:p>
            <a:pPr>
              <a:tabLst>
                <a:tab pos="803275" algn="l"/>
              </a:tabLst>
            </a:pPr>
            <a:r>
              <a:rPr lang="en-US" sz="2800" dirty="0"/>
              <a:t>	Transmission channels in Hungary</a:t>
            </a:r>
          </a:p>
          <a:p>
            <a:pPr>
              <a:tabLst>
                <a:tab pos="803275" algn="l"/>
              </a:tabLst>
            </a:pPr>
            <a:r>
              <a:rPr lang="en-US" sz="2800" dirty="0"/>
              <a:t>	Shadow banking</a:t>
            </a:r>
          </a:p>
        </p:txBody>
      </p:sp>
    </p:spTree>
    <p:extLst>
      <p:ext uri="{BB962C8B-B14F-4D97-AF65-F5344CB8AC3E}">
        <p14:creationId xmlns:p14="http://schemas.microsoft.com/office/powerpoint/2010/main" val="1105690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838200" y="335628"/>
            <a:ext cx="10515600" cy="815493"/>
          </a:xfrm>
        </p:spPr>
        <p:txBody>
          <a:bodyPr/>
          <a:lstStyle/>
          <a:p>
            <a:r>
              <a:rPr lang="en-US" dirty="0"/>
              <a:t>Suggested readings:</a:t>
            </a:r>
          </a:p>
        </p:txBody>
      </p:sp>
      <p:sp>
        <p:nvSpPr>
          <p:cNvPr id="3" name="Tartalom helye 2"/>
          <p:cNvSpPr>
            <a:spLocks noGrp="1"/>
          </p:cNvSpPr>
          <p:nvPr>
            <p:ph idx="1"/>
          </p:nvPr>
        </p:nvSpPr>
        <p:spPr>
          <a:xfrm>
            <a:off x="838200" y="1278442"/>
            <a:ext cx="10515600" cy="4869024"/>
          </a:xfrm>
        </p:spPr>
        <p:txBody>
          <a:bodyPr/>
          <a:lstStyle/>
          <a:p>
            <a:r>
              <a:rPr lang="en-US" sz="2400" dirty="0"/>
              <a:t>Hans </a:t>
            </a:r>
            <a:r>
              <a:rPr lang="en-US" sz="2400" dirty="0" err="1"/>
              <a:t>Keiding</a:t>
            </a:r>
            <a:r>
              <a:rPr lang="en-US" sz="2400" dirty="0"/>
              <a:t>: Economics of Banking</a:t>
            </a:r>
          </a:p>
          <a:p>
            <a:r>
              <a:rPr lang="en-US" sz="2400" dirty="0" err="1"/>
              <a:t>Freixas</a:t>
            </a:r>
            <a:r>
              <a:rPr lang="en-US" sz="2400" dirty="0"/>
              <a:t>-Rochet: Microeconomics of Banking</a:t>
            </a:r>
          </a:p>
          <a:p>
            <a:r>
              <a:rPr lang="en-US" sz="2400" dirty="0"/>
              <a:t>David Romer: Advanced Macroeconomics 5th edition</a:t>
            </a:r>
          </a:p>
          <a:p>
            <a:pPr lvl="1"/>
            <a:r>
              <a:rPr lang="en-US" sz="2000" dirty="0"/>
              <a:t>Chapter 10: Financial Markets and Financial Crises</a:t>
            </a:r>
          </a:p>
          <a:p>
            <a:r>
              <a:rPr lang="hu-HU" sz="2400" dirty="0" err="1"/>
              <a:t>Moorad</a:t>
            </a:r>
            <a:r>
              <a:rPr lang="hu-HU" sz="2400" dirty="0"/>
              <a:t> </a:t>
            </a:r>
            <a:r>
              <a:rPr lang="hu-HU" sz="2400" dirty="0" err="1"/>
              <a:t>Choudhry</a:t>
            </a:r>
            <a:r>
              <a:rPr lang="hu-HU" sz="2400" dirty="0"/>
              <a:t>: The </a:t>
            </a:r>
            <a:r>
              <a:rPr lang="hu-HU" sz="2400" dirty="0" err="1"/>
              <a:t>Principles</a:t>
            </a:r>
            <a:r>
              <a:rPr lang="hu-HU" sz="2400" dirty="0"/>
              <a:t> </a:t>
            </a:r>
            <a:r>
              <a:rPr lang="hu-HU" sz="2400"/>
              <a:t>of Banking</a:t>
            </a:r>
          </a:p>
          <a:p>
            <a:r>
              <a:rPr lang="en-US" sz="2400" dirty="0" err="1"/>
              <a:t>Bankmenedzsment</a:t>
            </a:r>
            <a:r>
              <a:rPr lang="en-US" sz="2400" dirty="0"/>
              <a:t> – </a:t>
            </a:r>
            <a:r>
              <a:rPr lang="en-US" sz="2400" dirty="0" err="1"/>
              <a:t>Banküzemtan</a:t>
            </a:r>
            <a:r>
              <a:rPr lang="en-US" sz="2400" dirty="0"/>
              <a:t>; Editors: Kovács </a:t>
            </a:r>
            <a:r>
              <a:rPr lang="en-US" sz="2400" dirty="0" err="1"/>
              <a:t>Levente</a:t>
            </a:r>
            <a:r>
              <a:rPr lang="en-US" sz="2400" dirty="0"/>
              <a:t> – </a:t>
            </a:r>
            <a:r>
              <a:rPr lang="en-US" sz="2400" dirty="0" err="1"/>
              <a:t>Marsi</a:t>
            </a:r>
            <a:r>
              <a:rPr lang="en-US" sz="2400" dirty="0"/>
              <a:t> Erika</a:t>
            </a:r>
          </a:p>
          <a:p>
            <a:r>
              <a:rPr lang="en-US" sz="2400" dirty="0"/>
              <a:t>Carol Coye Benson: Global Payments and the Fintech Innovations Changing the Industry</a:t>
            </a:r>
          </a:p>
          <a:p>
            <a:r>
              <a:rPr lang="en-US" sz="2400" dirty="0"/>
              <a:t>Naeem Siddiqi: Credit Risk Scorecards</a:t>
            </a:r>
          </a:p>
          <a:p>
            <a:r>
              <a:rPr lang="en-US" sz="2400" dirty="0" err="1"/>
              <a:t>Móra</a:t>
            </a:r>
            <a:r>
              <a:rPr lang="en-US" sz="2400" dirty="0"/>
              <a:t> </a:t>
            </a:r>
            <a:r>
              <a:rPr lang="en-US" sz="2400" dirty="0" err="1"/>
              <a:t>Mária</a:t>
            </a:r>
            <a:r>
              <a:rPr lang="en-US" sz="2400" dirty="0"/>
              <a:t>: 10 </a:t>
            </a:r>
            <a:r>
              <a:rPr lang="en-US" sz="2400" dirty="0" err="1"/>
              <a:t>évvel</a:t>
            </a:r>
            <a:r>
              <a:rPr lang="en-US" sz="2400" dirty="0"/>
              <a:t> a </a:t>
            </a:r>
            <a:r>
              <a:rPr lang="en-US" sz="2400" dirty="0" err="1"/>
              <a:t>válság</a:t>
            </a:r>
            <a:r>
              <a:rPr lang="en-US" sz="2400" dirty="0"/>
              <a:t> </a:t>
            </a:r>
            <a:r>
              <a:rPr lang="en-US" sz="2400" dirty="0" err="1"/>
              <a:t>után</a:t>
            </a:r>
            <a:endParaRPr lang="en-US" sz="2400" dirty="0"/>
          </a:p>
          <a:p>
            <a:r>
              <a:rPr lang="en-US" sz="2400" dirty="0"/>
              <a:t>*Claudio </a:t>
            </a:r>
            <a:r>
              <a:rPr lang="en-US" sz="2400" dirty="0" err="1"/>
              <a:t>Borio</a:t>
            </a:r>
            <a:r>
              <a:rPr lang="en-US" sz="2400" dirty="0"/>
              <a:t>: Back to the future: intellectual changes for </a:t>
            </a:r>
            <a:r>
              <a:rPr lang="en-US" sz="2400" dirty="0" err="1"/>
              <a:t>mon</a:t>
            </a:r>
            <a:r>
              <a:rPr lang="hu-HU" sz="2400" dirty="0" err="1"/>
              <a:t>eta</a:t>
            </a:r>
            <a:r>
              <a:rPr lang="en-US" sz="2400" dirty="0"/>
              <a:t>r</a:t>
            </a:r>
            <a:r>
              <a:rPr lang="hu-HU" sz="2400" dirty="0"/>
              <a:t>y</a:t>
            </a:r>
            <a:r>
              <a:rPr lang="en-US" sz="2400" dirty="0"/>
              <a:t> policy</a:t>
            </a:r>
          </a:p>
        </p:txBody>
      </p:sp>
      <p:sp>
        <p:nvSpPr>
          <p:cNvPr id="4" name="Dia számának helye 3"/>
          <p:cNvSpPr>
            <a:spLocks noGrp="1"/>
          </p:cNvSpPr>
          <p:nvPr>
            <p:ph type="sldNum" sz="quarter" idx="12"/>
          </p:nvPr>
        </p:nvSpPr>
        <p:spPr/>
        <p:txBody>
          <a:bodyPr/>
          <a:lstStyle/>
          <a:p>
            <a:pPr>
              <a:defRPr/>
            </a:pPr>
            <a:fld id="{2AC3E3C3-5984-494D-A44E-6E7D6FEAE8D6}" type="slidenum">
              <a:rPr lang="en-US" altLang="en-US" smtClean="0"/>
              <a:pPr>
                <a:defRPr/>
              </a:pPr>
              <a:t>3</a:t>
            </a:fld>
            <a:endParaRPr lang="en-US" altLang="en-US" dirty="0"/>
          </a:p>
        </p:txBody>
      </p:sp>
    </p:spTree>
    <p:extLst>
      <p:ext uri="{BB962C8B-B14F-4D97-AF65-F5344CB8AC3E}">
        <p14:creationId xmlns:p14="http://schemas.microsoft.com/office/powerpoint/2010/main" val="2667854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zöveg helye 2"/>
          <p:cNvSpPr>
            <a:spLocks noGrp="1"/>
          </p:cNvSpPr>
          <p:nvPr>
            <p:ph type="body" idx="14"/>
          </p:nvPr>
        </p:nvSpPr>
        <p:spPr>
          <a:xfrm>
            <a:off x="841248" y="1280160"/>
            <a:ext cx="9144000" cy="4765040"/>
          </a:xfrm>
        </p:spPr>
        <p:txBody>
          <a:bodyPr>
            <a:normAutofit fontScale="77500" lnSpcReduction="20000"/>
          </a:bodyPr>
          <a:lstStyle/>
          <a:p>
            <a:pPr>
              <a:tabLst>
                <a:tab pos="1147763" algn="l"/>
              </a:tabLst>
            </a:pPr>
            <a:r>
              <a:rPr lang="hu-HU" sz="1800" b="1" dirty="0">
                <a:solidFill>
                  <a:schemeClr val="tx1"/>
                </a:solidFill>
              </a:rPr>
              <a:t>01.01.1987. : 	</a:t>
            </a:r>
            <a:r>
              <a:rPr lang="hu-HU" sz="1800" dirty="0" err="1">
                <a:solidFill>
                  <a:srgbClr val="00B0F0"/>
                </a:solidFill>
              </a:rPr>
              <a:t>Two-level</a:t>
            </a:r>
            <a:r>
              <a:rPr lang="hu-HU" sz="1800" dirty="0">
                <a:solidFill>
                  <a:srgbClr val="00B0F0"/>
                </a:solidFill>
              </a:rPr>
              <a:t> banking </a:t>
            </a:r>
            <a:r>
              <a:rPr lang="hu-HU" sz="1800" dirty="0" err="1">
                <a:solidFill>
                  <a:srgbClr val="00B0F0"/>
                </a:solidFill>
              </a:rPr>
              <a:t>system</a:t>
            </a:r>
            <a:r>
              <a:rPr lang="hu-HU" sz="1800" dirty="0">
                <a:solidFill>
                  <a:srgbClr val="00B0F0"/>
                </a:solidFill>
              </a:rPr>
              <a:t> in Hungary </a:t>
            </a:r>
            <a:r>
              <a:rPr lang="hu-HU" sz="1800" dirty="0" err="1">
                <a:solidFill>
                  <a:srgbClr val="00B0F0"/>
                </a:solidFill>
              </a:rPr>
              <a:t>begins</a:t>
            </a:r>
            <a:endParaRPr lang="hu-HU" sz="1800" dirty="0">
              <a:solidFill>
                <a:srgbClr val="00B0F0"/>
              </a:solidFill>
            </a:endParaRPr>
          </a:p>
          <a:p>
            <a:pPr>
              <a:tabLst>
                <a:tab pos="1147763" algn="l"/>
              </a:tabLst>
            </a:pPr>
            <a:r>
              <a:rPr lang="en-US" sz="1800" b="1" dirty="0">
                <a:solidFill>
                  <a:schemeClr val="tx1"/>
                </a:solidFill>
              </a:rPr>
              <a:t>Early ’90s: 	</a:t>
            </a:r>
            <a:r>
              <a:rPr lang="en-US" sz="1800" dirty="0">
                <a:solidFill>
                  <a:schemeClr val="tx1"/>
                </a:solidFill>
              </a:rPr>
              <a:t>Real estate market based credit crisis in Scandinavia and Japan</a:t>
            </a:r>
          </a:p>
          <a:p>
            <a:pPr>
              <a:tabLst>
                <a:tab pos="1147763" algn="l"/>
              </a:tabLst>
            </a:pPr>
            <a:r>
              <a:rPr lang="en-US" sz="1800" dirty="0">
                <a:solidFill>
                  <a:schemeClr val="tx1"/>
                </a:solidFill>
              </a:rPr>
              <a:t>	1992 Black Wednesday: English pound drops from ERM</a:t>
            </a:r>
          </a:p>
          <a:p>
            <a:pPr>
              <a:tabLst>
                <a:tab pos="1147763" algn="l"/>
              </a:tabLst>
            </a:pPr>
            <a:r>
              <a:rPr lang="en-US" sz="1800" dirty="0"/>
              <a:t>	</a:t>
            </a:r>
            <a:r>
              <a:rPr lang="en-US" sz="1800" dirty="0">
                <a:solidFill>
                  <a:srgbClr val="00B0F0"/>
                </a:solidFill>
              </a:rPr>
              <a:t>Credit-consolidation programs in Hungary</a:t>
            </a:r>
          </a:p>
          <a:p>
            <a:r>
              <a:rPr lang="en-US" sz="1800" b="1" dirty="0">
                <a:solidFill>
                  <a:schemeClr val="tx1"/>
                </a:solidFill>
              </a:rPr>
              <a:t>Second half of ’90s: </a:t>
            </a:r>
          </a:p>
          <a:p>
            <a:pPr>
              <a:tabLst>
                <a:tab pos="1147763" algn="l"/>
              </a:tabLst>
            </a:pPr>
            <a:r>
              <a:rPr lang="en-US" sz="1800" b="1" dirty="0">
                <a:solidFill>
                  <a:schemeClr val="tx1"/>
                </a:solidFill>
              </a:rPr>
              <a:t>	</a:t>
            </a:r>
            <a:r>
              <a:rPr lang="en-US" sz="1800" dirty="0">
                <a:solidFill>
                  <a:schemeClr val="tx1"/>
                </a:solidFill>
              </a:rPr>
              <a:t>Peso crisis in Mexico (1995)</a:t>
            </a:r>
          </a:p>
          <a:p>
            <a:pPr>
              <a:tabLst>
                <a:tab pos="1147763" algn="l"/>
              </a:tabLst>
            </a:pPr>
            <a:r>
              <a:rPr lang="en-US" sz="1800" dirty="0">
                <a:solidFill>
                  <a:schemeClr val="tx1"/>
                </a:solidFill>
              </a:rPr>
              <a:t>	Crisis in South-East Asia (Thailand, South-Korea, Malaysia, Indonesia) (1997)</a:t>
            </a:r>
          </a:p>
          <a:p>
            <a:pPr>
              <a:tabLst>
                <a:tab pos="1147763" algn="l"/>
              </a:tabLst>
            </a:pPr>
            <a:r>
              <a:rPr lang="en-US" sz="1800" dirty="0">
                <a:solidFill>
                  <a:schemeClr val="tx1"/>
                </a:solidFill>
              </a:rPr>
              <a:t>	Rubel crisis in Russia (1998)</a:t>
            </a:r>
          </a:p>
          <a:p>
            <a:pPr>
              <a:tabLst>
                <a:tab pos="1147763" algn="l"/>
              </a:tabLst>
            </a:pPr>
            <a:r>
              <a:rPr lang="en-US" sz="1800" dirty="0"/>
              <a:t>	</a:t>
            </a:r>
            <a:r>
              <a:rPr lang="en-US" sz="1800" dirty="0">
                <a:solidFill>
                  <a:srgbClr val="00B0F0"/>
                </a:solidFill>
              </a:rPr>
              <a:t>End of currency-band speculation in Hungary</a:t>
            </a:r>
          </a:p>
          <a:p>
            <a:pPr>
              <a:tabLst>
                <a:tab pos="1147763" algn="l"/>
              </a:tabLst>
            </a:pPr>
            <a:r>
              <a:rPr lang="en-US" sz="1800" dirty="0"/>
              <a:t>	</a:t>
            </a:r>
            <a:r>
              <a:rPr lang="en-US" sz="1800" dirty="0">
                <a:solidFill>
                  <a:schemeClr val="tx1"/>
                </a:solidFill>
              </a:rPr>
              <a:t>Crisis in Argentina (2001)</a:t>
            </a:r>
          </a:p>
          <a:p>
            <a:pPr>
              <a:tabLst>
                <a:tab pos="1147763" algn="l"/>
              </a:tabLst>
            </a:pPr>
            <a:r>
              <a:rPr lang="en-US" sz="1800" dirty="0"/>
              <a:t>	</a:t>
            </a:r>
            <a:r>
              <a:rPr lang="en-US" sz="1800" dirty="0">
                <a:solidFill>
                  <a:srgbClr val="00B0F0"/>
                </a:solidFill>
              </a:rPr>
              <a:t>End of BUX speculation</a:t>
            </a:r>
          </a:p>
          <a:p>
            <a:pPr>
              <a:tabLst>
                <a:tab pos="1147763" algn="l"/>
              </a:tabLst>
            </a:pPr>
            <a:r>
              <a:rPr lang="en-US" sz="1800" b="1" dirty="0">
                <a:solidFill>
                  <a:schemeClr val="tx1"/>
                </a:solidFill>
              </a:rPr>
              <a:t>2006</a:t>
            </a:r>
            <a:r>
              <a:rPr lang="en-US" sz="1800" dirty="0">
                <a:solidFill>
                  <a:schemeClr val="tx1"/>
                </a:solidFill>
              </a:rPr>
              <a:t>	</a:t>
            </a:r>
            <a:r>
              <a:rPr lang="en-US" sz="1800" dirty="0">
                <a:solidFill>
                  <a:srgbClr val="00B0F0"/>
                </a:solidFill>
              </a:rPr>
              <a:t>Collapse of ware receipts financing in Hungary</a:t>
            </a:r>
          </a:p>
          <a:p>
            <a:pPr>
              <a:tabLst>
                <a:tab pos="1147763" algn="l"/>
              </a:tabLst>
            </a:pPr>
            <a:r>
              <a:rPr lang="en-US" sz="1800" b="1" dirty="0">
                <a:solidFill>
                  <a:schemeClr val="tx1"/>
                </a:solidFill>
              </a:rPr>
              <a:t>2007-2009:	</a:t>
            </a:r>
            <a:r>
              <a:rPr lang="en-US" sz="1800" dirty="0">
                <a:solidFill>
                  <a:schemeClr val="tx1"/>
                </a:solidFill>
              </a:rPr>
              <a:t>Global financial crisis</a:t>
            </a:r>
          </a:p>
          <a:p>
            <a:pPr>
              <a:tabLst>
                <a:tab pos="1147763" algn="l"/>
              </a:tabLst>
            </a:pPr>
            <a:r>
              <a:rPr lang="en-US" sz="1800" b="1" dirty="0"/>
              <a:t>	</a:t>
            </a:r>
            <a:r>
              <a:rPr lang="en-US" sz="1800" dirty="0">
                <a:solidFill>
                  <a:srgbClr val="00B0F0"/>
                </a:solidFill>
              </a:rPr>
              <a:t>Collapse and settlement of currency-based loans in Hungary</a:t>
            </a:r>
          </a:p>
          <a:p>
            <a:pPr>
              <a:tabLst>
                <a:tab pos="1147763" algn="l"/>
              </a:tabLst>
            </a:pPr>
            <a:r>
              <a:rPr lang="en-US" sz="1800" b="1" dirty="0">
                <a:solidFill>
                  <a:schemeClr val="tx1"/>
                </a:solidFill>
              </a:rPr>
              <a:t>2010-2012:	</a:t>
            </a:r>
            <a:r>
              <a:rPr lang="en-US" sz="1800" dirty="0">
                <a:solidFill>
                  <a:schemeClr val="tx1"/>
                </a:solidFill>
              </a:rPr>
              <a:t>Crisis in EUR zone</a:t>
            </a:r>
          </a:p>
          <a:p>
            <a:pPr>
              <a:tabLst>
                <a:tab pos="1147763" algn="l"/>
              </a:tabLst>
            </a:pPr>
            <a:r>
              <a:rPr lang="en-US" sz="1800" b="1" dirty="0">
                <a:solidFill>
                  <a:schemeClr val="tx1"/>
                </a:solidFill>
              </a:rPr>
              <a:t>2020 - 2022: 	</a:t>
            </a:r>
            <a:r>
              <a:rPr lang="en-US" sz="1800" dirty="0">
                <a:solidFill>
                  <a:schemeClr val="tx1"/>
                </a:solidFill>
              </a:rPr>
              <a:t>COVID and loan moratorium</a:t>
            </a:r>
          </a:p>
          <a:p>
            <a:pPr>
              <a:tabLst>
                <a:tab pos="1147763" algn="l"/>
              </a:tabLst>
            </a:pPr>
            <a:r>
              <a:rPr lang="en-US" sz="1800" b="1" dirty="0">
                <a:solidFill>
                  <a:schemeClr val="tx1"/>
                </a:solidFill>
              </a:rPr>
              <a:t>2022 - :	</a:t>
            </a:r>
            <a:r>
              <a:rPr lang="en-US" sz="1800" dirty="0">
                <a:solidFill>
                  <a:schemeClr val="tx1"/>
                </a:solidFill>
              </a:rPr>
              <a:t>”war” crisis</a:t>
            </a:r>
            <a:endParaRPr lang="en-US" dirty="0">
              <a:solidFill>
                <a:schemeClr val="tx1"/>
              </a:solidFill>
            </a:endParaRPr>
          </a:p>
        </p:txBody>
      </p:sp>
      <p:sp>
        <p:nvSpPr>
          <p:cNvPr id="4" name="Dia számának helye 3"/>
          <p:cNvSpPr>
            <a:spLocks noGrp="1"/>
          </p:cNvSpPr>
          <p:nvPr>
            <p:ph type="sldNum" sz="quarter" idx="16"/>
          </p:nvPr>
        </p:nvSpPr>
        <p:spPr>
          <a:xfrm>
            <a:off x="10383181" y="6319837"/>
            <a:ext cx="973667" cy="365125"/>
          </a:xfrm>
        </p:spPr>
        <p:txBody>
          <a:bodyPr/>
          <a:lstStyle/>
          <a:p>
            <a:pPr>
              <a:defRPr/>
            </a:pPr>
            <a:fld id="{DF9E710C-A8F5-4C21-86D3-261DE7B5A1AA}" type="slidenum">
              <a:rPr lang="en-US" smtClean="0"/>
              <a:pPr>
                <a:defRPr/>
              </a:pPr>
              <a:t>4</a:t>
            </a:fld>
            <a:endParaRPr lang="en-US" dirty="0"/>
          </a:p>
        </p:txBody>
      </p:sp>
      <p:sp>
        <p:nvSpPr>
          <p:cNvPr id="6" name="Cím 1"/>
          <p:cNvSpPr>
            <a:spLocks noGrp="1"/>
          </p:cNvSpPr>
          <p:nvPr>
            <p:ph type="title"/>
          </p:nvPr>
        </p:nvSpPr>
        <p:spPr>
          <a:xfrm>
            <a:off x="841248" y="365760"/>
            <a:ext cx="10515600" cy="813816"/>
          </a:xfrm>
          <a:noFill/>
        </p:spPr>
        <p:txBody>
          <a:bodyPr>
            <a:normAutofit/>
          </a:bodyPr>
          <a:lstStyle/>
          <a:p>
            <a:r>
              <a:rPr lang="en-US" sz="4400" b="0" dirty="0">
                <a:solidFill>
                  <a:schemeClr val="tx1"/>
                </a:solidFill>
              </a:rPr>
              <a:t>Crises history</a:t>
            </a:r>
          </a:p>
        </p:txBody>
      </p:sp>
    </p:spTree>
    <p:extLst>
      <p:ext uri="{BB962C8B-B14F-4D97-AF65-F5344CB8AC3E}">
        <p14:creationId xmlns:p14="http://schemas.microsoft.com/office/powerpoint/2010/main" val="2251149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t>What banks do?</a:t>
            </a:r>
          </a:p>
        </p:txBody>
      </p:sp>
      <p:sp>
        <p:nvSpPr>
          <p:cNvPr id="3" name="Tartalom helye 2"/>
          <p:cNvSpPr>
            <a:spLocks noGrp="1"/>
          </p:cNvSpPr>
          <p:nvPr>
            <p:ph idx="1"/>
          </p:nvPr>
        </p:nvSpPr>
        <p:spPr/>
        <p:txBody>
          <a:bodyPr/>
          <a:lstStyle/>
          <a:p>
            <a:pPr marL="514350" indent="-514350">
              <a:buFont typeface="+mj-lt"/>
              <a:buAutoNum type="arabicPeriod"/>
            </a:pPr>
            <a:r>
              <a:rPr lang="en-US" sz="2400"/>
              <a:t>Allocate capital</a:t>
            </a:r>
          </a:p>
          <a:p>
            <a:pPr marL="514350" indent="-514350">
              <a:buFont typeface="+mj-lt"/>
              <a:buAutoNum type="arabicPeriod"/>
            </a:pPr>
            <a:r>
              <a:rPr lang="en-US" sz="2400"/>
              <a:t>Provide liquidity to the economy</a:t>
            </a:r>
          </a:p>
          <a:p>
            <a:pPr marL="514350" indent="-514350">
              <a:buFont typeface="+mj-lt"/>
              <a:buAutoNum type="arabicPeriod"/>
            </a:pPr>
            <a:r>
              <a:rPr lang="en-US" sz="2400"/>
              <a:t>Accept deposits and grant loans</a:t>
            </a:r>
          </a:p>
          <a:p>
            <a:pPr marL="514350" indent="-514350">
              <a:buFont typeface="+mj-lt"/>
              <a:buAutoNum type="arabicPeriod"/>
            </a:pPr>
            <a:r>
              <a:rPr lang="en-US" sz="2400"/>
              <a:t>Manage payments</a:t>
            </a:r>
          </a:p>
          <a:p>
            <a:pPr marL="514350" indent="-514350">
              <a:buFont typeface="+mj-lt"/>
              <a:buAutoNum type="arabicPeriod"/>
            </a:pPr>
            <a:r>
              <a:rPr lang="en-US" sz="2400"/>
              <a:t>Transform assets by maturity, risk and quantity</a:t>
            </a:r>
          </a:p>
          <a:p>
            <a:pPr marL="514350" indent="-514350">
              <a:buFont typeface="+mj-lt"/>
              <a:buAutoNum type="arabicPeriod"/>
            </a:pPr>
            <a:r>
              <a:rPr lang="en-US" sz="2400"/>
              <a:t>Manage risks (credit, market, interest, operational, etc.)</a:t>
            </a:r>
          </a:p>
          <a:p>
            <a:pPr marL="514350" indent="-514350">
              <a:buFont typeface="+mj-lt"/>
              <a:buAutoNum type="arabicPeriod"/>
            </a:pPr>
            <a:r>
              <a:rPr lang="en-US" sz="2400"/>
              <a:t>Process special information on behalf of regulators</a:t>
            </a:r>
          </a:p>
          <a:p>
            <a:pPr marL="514350" indent="-514350">
              <a:buFont typeface="+mj-lt"/>
              <a:buAutoNum type="arabicPeriod"/>
            </a:pPr>
            <a:r>
              <a:rPr lang="en-US" sz="2400"/>
              <a:t>Act as an important transmission channel</a:t>
            </a:r>
          </a:p>
        </p:txBody>
      </p:sp>
      <p:sp>
        <p:nvSpPr>
          <p:cNvPr id="4" name="Dia számának helye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AC3E3C3-5984-494D-A44E-6E7D6FEAE8D6}" type="slidenum">
              <a:rPr kumimoji="0" lang="en-US" altLang="en-US" b="0" i="0" u="none" strike="noStrike" kern="1200" cap="none" spc="0" normalizeH="0" baseline="0" noProof="0">
                <a:ln>
                  <a:noFill/>
                </a:ln>
                <a:solidFill>
                  <a:srgbClr val="898989"/>
                </a:solidFill>
                <a:effectLst/>
                <a:uLnTx/>
                <a:uFillTx/>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b="0" i="0" u="none" strike="noStrike" kern="1200" cap="none" spc="0" normalizeH="0" baseline="0" noProof="0" dirty="0">
              <a:ln>
                <a:noFill/>
              </a:ln>
              <a:solidFill>
                <a:srgbClr val="898989"/>
              </a:solidFill>
              <a:effectLst/>
              <a:uLnTx/>
              <a:uFillTx/>
              <a:ea typeface="+mn-ea"/>
              <a:cs typeface="+mn-cs"/>
            </a:endParaRPr>
          </a:p>
        </p:txBody>
      </p:sp>
    </p:spTree>
    <p:extLst>
      <p:ext uri="{BB962C8B-B14F-4D97-AF65-F5344CB8AC3E}">
        <p14:creationId xmlns:p14="http://schemas.microsoft.com/office/powerpoint/2010/main" val="3812449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Title 3"/>
          <p:cNvSpPr txBox="1">
            <a:spLocks/>
          </p:cNvSpPr>
          <p:nvPr/>
        </p:nvSpPr>
        <p:spPr>
          <a:xfrm>
            <a:off x="1954214" y="274638"/>
            <a:ext cx="7741877" cy="741362"/>
          </a:xfrm>
          <a:prstGeom prst="rect">
            <a:avLst/>
          </a:prstGeom>
        </p:spPr>
        <p:txBody>
          <a:bodyPr/>
          <a:lstStyle/>
          <a:p>
            <a:pPr eaLnBrk="0" hangingPunct="0">
              <a:defRPr/>
            </a:pPr>
            <a:r>
              <a:rPr lang="en-GB" sz="3200" kern="0" dirty="0">
                <a:latin typeface="+mj-lt"/>
                <a:ea typeface="+mj-ea"/>
                <a:cs typeface="+mj-cs"/>
              </a:rPr>
              <a:t>Where do banks sit in the macro economy?</a:t>
            </a:r>
            <a:endParaRPr lang="en-GB" sz="3200" kern="0" baseline="30000" dirty="0">
              <a:latin typeface="+mj-lt"/>
              <a:ea typeface="+mj-ea"/>
              <a:cs typeface="+mj-cs"/>
            </a:endParaRPr>
          </a:p>
        </p:txBody>
      </p:sp>
      <p:sp>
        <p:nvSpPr>
          <p:cNvPr id="13" name="Slide Number Placeholder 12"/>
          <p:cNvSpPr>
            <a:spLocks noGrp="1"/>
          </p:cNvSpPr>
          <p:nvPr>
            <p:ph type="sldNum" sz="quarter" idx="4"/>
          </p:nvPr>
        </p:nvSpPr>
        <p:spPr>
          <a:xfrm>
            <a:off x="8295801" y="6356350"/>
            <a:ext cx="416399" cy="365125"/>
          </a:xfrm>
          <a:prstGeom prst="rect">
            <a:avLst/>
          </a:prstGeom>
        </p:spPr>
        <p:txBody>
          <a:bodyPr vert="horz" lIns="91440" tIns="45720" rIns="91440" bIns="45720" rtlCol="0" anchor="ctr"/>
          <a:lstStyle>
            <a:defPPr>
              <a:defRPr lang="de-DE"/>
            </a:defPPr>
            <a:lvl1pPr algn="r" rtl="0" fontAlgn="base">
              <a:spcBef>
                <a:spcPct val="0"/>
              </a:spcBef>
              <a:spcAft>
                <a:spcPct val="0"/>
              </a:spcAft>
              <a:defRPr sz="800"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D4222BFC-8070-2749-ADD2-48D4133FB3EC}" type="slidenum">
              <a:rPr lang="en-GB" smtClean="0"/>
              <a:pPr/>
              <a:t>6</a:t>
            </a:fld>
            <a:endParaRPr lang="en-GB" dirty="0"/>
          </a:p>
        </p:txBody>
      </p:sp>
      <p:pic>
        <p:nvPicPr>
          <p:cNvPr id="8925186" name="Picture 2"/>
          <p:cNvPicPr>
            <a:picLocks noChangeAspect="1" noChangeArrowheads="1"/>
          </p:cNvPicPr>
          <p:nvPr/>
        </p:nvPicPr>
        <p:blipFill>
          <a:blip r:embed="rId3" cstate="print"/>
          <a:srcRect/>
          <a:stretch>
            <a:fillRect/>
          </a:stretch>
        </p:blipFill>
        <p:spPr bwMode="auto">
          <a:xfrm>
            <a:off x="1885947" y="1493839"/>
            <a:ext cx="8145463" cy="4366959"/>
          </a:xfrm>
          <a:prstGeom prst="rect">
            <a:avLst/>
          </a:prstGeom>
          <a:noFill/>
          <a:ln w="9525">
            <a:noFill/>
            <a:miter lim="800000"/>
            <a:headEnd/>
            <a:tailEnd/>
          </a:ln>
        </p:spPr>
      </p:pic>
      <p:sp>
        <p:nvSpPr>
          <p:cNvPr id="36" name="Rectangle 35"/>
          <p:cNvSpPr/>
          <p:nvPr/>
        </p:nvSpPr>
        <p:spPr bwMode="auto">
          <a:xfrm>
            <a:off x="2291286" y="1493838"/>
            <a:ext cx="1350150" cy="765032"/>
          </a:xfrm>
          <a:prstGeom prst="rect">
            <a:avLst/>
          </a:prstGeom>
          <a:solidFill>
            <a:schemeClr val="bg1"/>
          </a:solidFill>
          <a:ln>
            <a:solidFill>
              <a:schemeClr val="bg1"/>
            </a:solidFill>
          </a:ln>
        </p:spPr>
        <p:txBody>
          <a:bodyPr wrap="square" tIns="0" bIns="0" rtlCol="0" anchor="ctr" anchorCtr="0">
            <a:noAutofit/>
          </a:bodyPr>
          <a:lstStyle/>
          <a:p>
            <a:pPr algn="ctr">
              <a:tabLst>
                <a:tab pos="179388" algn="l"/>
                <a:tab pos="354013" algn="l"/>
                <a:tab pos="5299075" algn="r"/>
              </a:tabLst>
            </a:pPr>
            <a:endParaRPr lang="de-DE" sz="1600" dirty="0">
              <a:solidFill>
                <a:srgbClr val="000000"/>
              </a:solidFill>
              <a:latin typeface="Trebuchet MS" pitchFamily="34"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Title 3"/>
          <p:cNvSpPr txBox="1">
            <a:spLocks/>
          </p:cNvSpPr>
          <p:nvPr/>
        </p:nvSpPr>
        <p:spPr>
          <a:xfrm>
            <a:off x="2270576" y="208096"/>
            <a:ext cx="7353688" cy="543910"/>
          </a:xfrm>
          <a:prstGeom prst="rect">
            <a:avLst/>
          </a:prstGeom>
        </p:spPr>
        <p:txBody>
          <a:bodyPr/>
          <a:lstStyle/>
          <a:p>
            <a:pPr eaLnBrk="0" hangingPunct="0">
              <a:defRPr/>
            </a:pPr>
            <a:r>
              <a:rPr lang="en-GB" sz="3200" kern="0" dirty="0">
                <a:latin typeface="+mj-lt"/>
                <a:ea typeface="+mj-ea"/>
                <a:cs typeface="+mj-cs"/>
              </a:rPr>
              <a:t>Why do banks exist?</a:t>
            </a:r>
            <a:endParaRPr lang="en-GB" sz="3200" kern="0" baseline="30000" dirty="0">
              <a:latin typeface="+mj-lt"/>
              <a:ea typeface="+mj-ea"/>
              <a:cs typeface="+mj-cs"/>
            </a:endParaRPr>
          </a:p>
        </p:txBody>
      </p:sp>
      <p:sp>
        <p:nvSpPr>
          <p:cNvPr id="13" name="Slide Number Placeholder 12"/>
          <p:cNvSpPr>
            <a:spLocks noGrp="1"/>
          </p:cNvSpPr>
          <p:nvPr>
            <p:ph type="sldNum" sz="quarter" idx="4"/>
          </p:nvPr>
        </p:nvSpPr>
        <p:spPr>
          <a:xfrm>
            <a:off x="8295801" y="6356350"/>
            <a:ext cx="416399" cy="365125"/>
          </a:xfrm>
          <a:prstGeom prst="rect">
            <a:avLst/>
          </a:prstGeom>
        </p:spPr>
        <p:txBody>
          <a:bodyPr vert="horz" lIns="91440" tIns="45720" rIns="91440" bIns="45720" rtlCol="0" anchor="ctr"/>
          <a:lstStyle>
            <a:defPPr>
              <a:defRPr lang="de-DE"/>
            </a:defPPr>
            <a:lvl1pPr algn="r" rtl="0" fontAlgn="base">
              <a:spcBef>
                <a:spcPct val="0"/>
              </a:spcBef>
              <a:spcAft>
                <a:spcPct val="0"/>
              </a:spcAft>
              <a:defRPr sz="800"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D4222BFC-8070-2749-ADD2-48D4133FB3EC}" type="slidenum">
              <a:rPr lang="en-GB" smtClean="0"/>
              <a:pPr/>
              <a:t>7</a:t>
            </a:fld>
            <a:endParaRPr lang="en-GB" dirty="0"/>
          </a:p>
        </p:txBody>
      </p:sp>
      <p:sp>
        <p:nvSpPr>
          <p:cNvPr id="16" name="TextBox 15"/>
          <p:cNvSpPr txBox="1"/>
          <p:nvPr/>
        </p:nvSpPr>
        <p:spPr>
          <a:xfrm>
            <a:off x="2000251" y="3879051"/>
            <a:ext cx="8145463" cy="2340775"/>
          </a:xfrm>
          <a:prstGeom prst="rect">
            <a:avLst/>
          </a:prstGeom>
          <a:noFill/>
        </p:spPr>
        <p:txBody>
          <a:bodyPr wrap="square" rtlCol="0">
            <a:noAutofit/>
          </a:bodyPr>
          <a:lstStyle/>
          <a:p>
            <a:pPr>
              <a:buFont typeface="Arial" pitchFamily="34" charset="0"/>
              <a:buChar char="•"/>
              <a:tabLst>
                <a:tab pos="179388" algn="l"/>
                <a:tab pos="354013" algn="l"/>
                <a:tab pos="5299075" algn="r"/>
              </a:tabLst>
            </a:pPr>
            <a:r>
              <a:rPr lang="en-GB" sz="1600" dirty="0">
                <a:latin typeface="Trebuchet MS" pitchFamily="34" charset="0"/>
              </a:rPr>
              <a:t>	The role of banking in the economy involves </a:t>
            </a:r>
            <a:r>
              <a:rPr lang="en-GB" sz="1600" b="1" dirty="0">
                <a:latin typeface="Trebuchet MS" pitchFamily="34" charset="0"/>
              </a:rPr>
              <a:t>transformation</a:t>
            </a:r>
            <a:r>
              <a:rPr lang="en-GB" sz="1600" dirty="0">
                <a:latin typeface="Trebuchet MS" pitchFamily="34" charset="0"/>
              </a:rPr>
              <a:t> of assets</a:t>
            </a:r>
            <a:br>
              <a:rPr lang="en-GB" sz="1600" dirty="0">
                <a:latin typeface="Trebuchet MS" pitchFamily="34" charset="0"/>
              </a:rPr>
            </a:br>
            <a:r>
              <a:rPr lang="en-GB" sz="1600" dirty="0">
                <a:latin typeface="Trebuchet MS" pitchFamily="34" charset="0"/>
              </a:rPr>
              <a:t>	- in the maturity dimension, i.e. short </a:t>
            </a:r>
            <a:r>
              <a:rPr lang="en-GB" sz="1600" dirty="0">
                <a:solidFill>
                  <a:srgbClr val="FF0000"/>
                </a:solidFill>
                <a:latin typeface="Trebuchet MS" pitchFamily="34" charset="0"/>
              </a:rPr>
              <a:t>liquid</a:t>
            </a:r>
            <a:r>
              <a:rPr lang="en-GB" sz="1600" dirty="0">
                <a:latin typeface="Trebuchet MS" pitchFamily="34" charset="0"/>
              </a:rPr>
              <a:t> deposits into </a:t>
            </a:r>
            <a:r>
              <a:rPr lang="en-GB" sz="1600" dirty="0">
                <a:solidFill>
                  <a:srgbClr val="FF0000"/>
                </a:solidFill>
                <a:latin typeface="Trebuchet MS" pitchFamily="34" charset="0"/>
              </a:rPr>
              <a:t>illiquid</a:t>
            </a:r>
            <a:r>
              <a:rPr lang="en-GB" sz="1600" dirty="0">
                <a:latin typeface="Trebuchet MS" pitchFamily="34" charset="0"/>
              </a:rPr>
              <a:t> long loans</a:t>
            </a:r>
            <a:br>
              <a:rPr lang="en-GB" sz="1600" dirty="0">
                <a:latin typeface="Trebuchet MS" pitchFamily="34" charset="0"/>
              </a:rPr>
            </a:br>
            <a:r>
              <a:rPr lang="en-GB" sz="1600" dirty="0">
                <a:latin typeface="Trebuchet MS" pitchFamily="34" charset="0"/>
              </a:rPr>
              <a:t>	- in the credit dimension – monitoring loans</a:t>
            </a:r>
            <a:br>
              <a:rPr lang="en-GB" sz="1600" dirty="0">
                <a:latin typeface="Trebuchet MS" pitchFamily="34" charset="0"/>
              </a:rPr>
            </a:br>
            <a:r>
              <a:rPr lang="en-GB" sz="1600" dirty="0">
                <a:latin typeface="Trebuchet MS" pitchFamily="34" charset="0"/>
              </a:rPr>
              <a:t>	- in the volume dimension, i.e. Many small deposits into large loans</a:t>
            </a:r>
            <a:br>
              <a:rPr lang="en-GB" sz="1600" dirty="0">
                <a:latin typeface="Trebuchet MS" pitchFamily="34" charset="0"/>
              </a:rPr>
            </a:br>
            <a:r>
              <a:rPr lang="en-GB" sz="1600" dirty="0">
                <a:latin typeface="Trebuchet MS" pitchFamily="34" charset="0"/>
              </a:rPr>
              <a:t>	- producing customized derivatives</a:t>
            </a:r>
            <a:br>
              <a:rPr lang="en-GB" sz="1600" dirty="0">
                <a:latin typeface="Trebuchet MS" pitchFamily="34" charset="0"/>
              </a:rPr>
            </a:br>
            <a:r>
              <a:rPr lang="en-GB" sz="1600" dirty="0">
                <a:latin typeface="Trebuchet MS" pitchFamily="34" charset="0"/>
              </a:rPr>
              <a:t>	- produce liquidity reserves for households (demand deposits)</a:t>
            </a:r>
            <a:br>
              <a:rPr lang="en-GB" sz="1600" dirty="0">
                <a:latin typeface="Trebuchet MS" pitchFamily="34" charset="0"/>
              </a:rPr>
            </a:br>
            <a:r>
              <a:rPr lang="en-GB" sz="1600" dirty="0">
                <a:latin typeface="Trebuchet MS" pitchFamily="34" charset="0"/>
              </a:rPr>
              <a:t>	- take on financial risks and manage them</a:t>
            </a:r>
          </a:p>
          <a:p>
            <a:pPr>
              <a:buFont typeface="Arial" pitchFamily="34" charset="0"/>
              <a:buChar char="•"/>
              <a:tabLst>
                <a:tab pos="179388" algn="l"/>
                <a:tab pos="354013" algn="l"/>
                <a:tab pos="5299075" algn="r"/>
              </a:tabLst>
            </a:pPr>
            <a:r>
              <a:rPr lang="en-GB" sz="1600" dirty="0">
                <a:latin typeface="Trebuchet MS" pitchFamily="34" charset="0"/>
              </a:rPr>
              <a:t>	This enhances economic efficiency and welfare</a:t>
            </a:r>
            <a:br>
              <a:rPr lang="en-GB" sz="1600" dirty="0">
                <a:latin typeface="Trebuchet MS" pitchFamily="34" charset="0"/>
              </a:rPr>
            </a:br>
            <a:r>
              <a:rPr lang="en-GB" sz="1600" dirty="0">
                <a:latin typeface="Trebuchet MS" pitchFamily="34" charset="0"/>
              </a:rPr>
              <a:t>	... but at the cost of inherently unstable banks (bank run).</a:t>
            </a:r>
          </a:p>
        </p:txBody>
      </p:sp>
      <p:cxnSp>
        <p:nvCxnSpPr>
          <p:cNvPr id="21" name="Straight Connector 20"/>
          <p:cNvCxnSpPr/>
          <p:nvPr/>
        </p:nvCxnSpPr>
        <p:spPr bwMode="auto">
          <a:xfrm>
            <a:off x="2000251" y="6219825"/>
            <a:ext cx="8145463" cy="0"/>
          </a:xfrm>
          <a:prstGeom prst="line">
            <a:avLst/>
          </a:prstGeom>
          <a:noFill/>
          <a:ln w="9525" cap="flat" cmpd="sng" algn="ctr">
            <a:solidFill>
              <a:schemeClr val="tx1"/>
            </a:solidFill>
            <a:prstDash val="solid"/>
            <a:round/>
            <a:headEnd type="none" w="med" len="med"/>
            <a:tailEnd type="none" w="med" len="med"/>
          </a:ln>
          <a:effectLst/>
        </p:spPr>
      </p:cxnSp>
      <p:sp>
        <p:nvSpPr>
          <p:cNvPr id="8" name="Rectangle 7"/>
          <p:cNvSpPr/>
          <p:nvPr/>
        </p:nvSpPr>
        <p:spPr bwMode="auto">
          <a:xfrm>
            <a:off x="2270576" y="1983045"/>
            <a:ext cx="1215135" cy="1260140"/>
          </a:xfrm>
          <a:prstGeom prst="rect">
            <a:avLst/>
          </a:prstGeom>
          <a:noFill/>
          <a:ln>
            <a:solidFill>
              <a:schemeClr val="tx1"/>
            </a:solidFill>
          </a:ln>
        </p:spPr>
        <p:txBody>
          <a:bodyPr wrap="square" tIns="0" bIns="0" rtlCol="0" anchor="ctr" anchorCtr="0">
            <a:noAutofit/>
          </a:bodyPr>
          <a:lstStyle/>
          <a:p>
            <a:pPr algn="ctr">
              <a:tabLst>
                <a:tab pos="179388" algn="l"/>
                <a:tab pos="354013" algn="l"/>
                <a:tab pos="5299075" algn="r"/>
              </a:tabLst>
            </a:pPr>
            <a:r>
              <a:rPr lang="de-DE" sz="1600" dirty="0">
                <a:solidFill>
                  <a:srgbClr val="FF0000"/>
                </a:solidFill>
                <a:latin typeface="Trebuchet MS" pitchFamily="34" charset="0"/>
              </a:rPr>
              <a:t> Illiquid </a:t>
            </a:r>
            <a:r>
              <a:rPr lang="de-DE" sz="1600" dirty="0">
                <a:latin typeface="Trebuchet MS" pitchFamily="34" charset="0"/>
              </a:rPr>
              <a:t>Loans</a:t>
            </a:r>
          </a:p>
        </p:txBody>
      </p:sp>
      <p:sp>
        <p:nvSpPr>
          <p:cNvPr id="9" name="Rectangle 8"/>
          <p:cNvSpPr/>
          <p:nvPr/>
        </p:nvSpPr>
        <p:spPr bwMode="auto">
          <a:xfrm>
            <a:off x="3620726" y="1983045"/>
            <a:ext cx="1215135" cy="1260140"/>
          </a:xfrm>
          <a:prstGeom prst="rect">
            <a:avLst/>
          </a:prstGeom>
          <a:noFill/>
          <a:ln>
            <a:solidFill>
              <a:schemeClr val="tx1"/>
            </a:solidFill>
          </a:ln>
        </p:spPr>
        <p:txBody>
          <a:bodyPr wrap="square" tIns="0" bIns="0" rtlCol="0" anchor="ctr" anchorCtr="0">
            <a:noAutofit/>
          </a:bodyPr>
          <a:lstStyle/>
          <a:p>
            <a:pPr algn="ctr">
              <a:tabLst>
                <a:tab pos="179388" algn="l"/>
                <a:tab pos="354013" algn="l"/>
                <a:tab pos="5299075" algn="r"/>
              </a:tabLst>
            </a:pPr>
            <a:r>
              <a:rPr lang="de-DE" sz="1600" dirty="0">
                <a:solidFill>
                  <a:srgbClr val="FF0000"/>
                </a:solidFill>
                <a:latin typeface="Trebuchet MS" pitchFamily="34" charset="0"/>
              </a:rPr>
              <a:t> Liquid </a:t>
            </a:r>
            <a:r>
              <a:rPr lang="de-DE" sz="1600" dirty="0">
                <a:latin typeface="Trebuchet MS" pitchFamily="34" charset="0"/>
              </a:rPr>
              <a:t>deposits</a:t>
            </a:r>
          </a:p>
        </p:txBody>
      </p:sp>
      <p:sp>
        <p:nvSpPr>
          <p:cNvPr id="10" name="Rectangle 9"/>
          <p:cNvSpPr/>
          <p:nvPr/>
        </p:nvSpPr>
        <p:spPr bwMode="auto">
          <a:xfrm>
            <a:off x="2270576" y="3333196"/>
            <a:ext cx="1215135" cy="495055"/>
          </a:xfrm>
          <a:prstGeom prst="rect">
            <a:avLst/>
          </a:prstGeom>
          <a:noFill/>
          <a:ln>
            <a:solidFill>
              <a:schemeClr val="tx1"/>
            </a:solidFill>
          </a:ln>
        </p:spPr>
        <p:txBody>
          <a:bodyPr wrap="square" tIns="0" bIns="0" rtlCol="0" anchor="ctr" anchorCtr="0">
            <a:noAutofit/>
          </a:bodyPr>
          <a:lstStyle/>
          <a:p>
            <a:pPr algn="ctr">
              <a:tabLst>
                <a:tab pos="179388" algn="l"/>
                <a:tab pos="354013" algn="l"/>
                <a:tab pos="5299075" algn="r"/>
              </a:tabLst>
            </a:pPr>
            <a:r>
              <a:rPr lang="de-DE" sz="1600" dirty="0">
                <a:latin typeface="Trebuchet MS" pitchFamily="34" charset="0"/>
              </a:rPr>
              <a:t> Liquid assets</a:t>
            </a:r>
          </a:p>
        </p:txBody>
      </p:sp>
      <p:sp>
        <p:nvSpPr>
          <p:cNvPr id="11" name="Rectangle 10"/>
          <p:cNvSpPr/>
          <p:nvPr/>
        </p:nvSpPr>
        <p:spPr bwMode="auto">
          <a:xfrm>
            <a:off x="3620726" y="3333196"/>
            <a:ext cx="1215135" cy="495055"/>
          </a:xfrm>
          <a:prstGeom prst="rect">
            <a:avLst/>
          </a:prstGeom>
          <a:noFill/>
          <a:ln>
            <a:solidFill>
              <a:schemeClr val="tx1"/>
            </a:solidFill>
          </a:ln>
        </p:spPr>
        <p:txBody>
          <a:bodyPr wrap="square" tIns="0" bIns="0" rtlCol="0" anchor="ctr" anchorCtr="0">
            <a:noAutofit/>
          </a:bodyPr>
          <a:lstStyle/>
          <a:p>
            <a:pPr algn="ctr">
              <a:tabLst>
                <a:tab pos="179388" algn="l"/>
                <a:tab pos="354013" algn="l"/>
                <a:tab pos="5299075" algn="r"/>
              </a:tabLst>
            </a:pPr>
            <a:r>
              <a:rPr lang="de-DE" sz="1600" dirty="0">
                <a:latin typeface="Trebuchet MS" pitchFamily="34" charset="0"/>
              </a:rPr>
              <a:t> Capital</a:t>
            </a:r>
          </a:p>
        </p:txBody>
      </p:sp>
      <p:sp>
        <p:nvSpPr>
          <p:cNvPr id="14" name="Rectangle 13"/>
          <p:cNvSpPr/>
          <p:nvPr/>
        </p:nvSpPr>
        <p:spPr bwMode="auto">
          <a:xfrm>
            <a:off x="2270576" y="1616943"/>
            <a:ext cx="1215135" cy="252000"/>
          </a:xfrm>
          <a:prstGeom prst="rect">
            <a:avLst/>
          </a:prstGeom>
          <a:solidFill>
            <a:schemeClr val="bg1">
              <a:lumMod val="85000"/>
            </a:schemeClr>
          </a:solidFill>
          <a:ln>
            <a:noFill/>
          </a:ln>
        </p:spPr>
        <p:txBody>
          <a:bodyPr wrap="square" tIns="0" bIns="0" rtlCol="0">
            <a:noAutofit/>
          </a:bodyPr>
          <a:lstStyle/>
          <a:p>
            <a:pPr algn="ctr">
              <a:tabLst>
                <a:tab pos="179388" algn="l"/>
                <a:tab pos="354013" algn="l"/>
                <a:tab pos="5299075" algn="r"/>
              </a:tabLst>
            </a:pPr>
            <a:r>
              <a:rPr lang="de-DE" sz="1600" b="1" dirty="0">
                <a:latin typeface="Trebuchet MS" pitchFamily="34" charset="0"/>
              </a:rPr>
              <a:t>Assets</a:t>
            </a:r>
          </a:p>
        </p:txBody>
      </p:sp>
      <p:sp>
        <p:nvSpPr>
          <p:cNvPr id="17" name="Rectangle 16"/>
          <p:cNvSpPr/>
          <p:nvPr/>
        </p:nvSpPr>
        <p:spPr bwMode="auto">
          <a:xfrm>
            <a:off x="3620726" y="1616943"/>
            <a:ext cx="1215135" cy="252000"/>
          </a:xfrm>
          <a:prstGeom prst="rect">
            <a:avLst/>
          </a:prstGeom>
          <a:solidFill>
            <a:schemeClr val="bg1">
              <a:lumMod val="85000"/>
            </a:schemeClr>
          </a:solidFill>
          <a:ln>
            <a:noFill/>
          </a:ln>
        </p:spPr>
        <p:txBody>
          <a:bodyPr wrap="square" tIns="0" bIns="0" rtlCol="0">
            <a:noAutofit/>
          </a:bodyPr>
          <a:lstStyle/>
          <a:p>
            <a:pPr algn="ctr">
              <a:tabLst>
                <a:tab pos="179388" algn="l"/>
                <a:tab pos="354013" algn="l"/>
                <a:tab pos="5299075" algn="r"/>
              </a:tabLst>
            </a:pPr>
            <a:r>
              <a:rPr lang="de-DE" sz="1600" b="1" dirty="0">
                <a:latin typeface="Trebuchet MS" pitchFamily="34" charset="0"/>
              </a:rPr>
              <a:t>Liabilities</a:t>
            </a:r>
          </a:p>
        </p:txBody>
      </p:sp>
      <p:cxnSp>
        <p:nvCxnSpPr>
          <p:cNvPr id="19" name="Straight Connector 18"/>
          <p:cNvCxnSpPr/>
          <p:nvPr/>
        </p:nvCxnSpPr>
        <p:spPr bwMode="auto">
          <a:xfrm rot="10800000">
            <a:off x="2270577" y="1927880"/>
            <a:ext cx="2565285" cy="0"/>
          </a:xfrm>
          <a:prstGeom prst="line">
            <a:avLst/>
          </a:prstGeom>
          <a:noFill/>
          <a:ln w="9525"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rot="5400000">
            <a:off x="2605930" y="2883145"/>
            <a:ext cx="1890210" cy="0"/>
          </a:xfrm>
          <a:prstGeom prst="line">
            <a:avLst/>
          </a:prstGeom>
          <a:noFill/>
          <a:ln w="9525" cap="flat" cmpd="sng" algn="ctr">
            <a:solidFill>
              <a:schemeClr val="tx1"/>
            </a:solidFill>
            <a:prstDash val="solid"/>
            <a:round/>
            <a:headEnd type="none" w="med" len="med"/>
            <a:tailEnd type="none" w="med" len="med"/>
          </a:ln>
          <a:effectLst/>
        </p:spPr>
      </p:cxnSp>
      <p:sp>
        <p:nvSpPr>
          <p:cNvPr id="26" name="Rectangle 25"/>
          <p:cNvSpPr/>
          <p:nvPr/>
        </p:nvSpPr>
        <p:spPr bwMode="auto">
          <a:xfrm>
            <a:off x="2270576" y="1323129"/>
            <a:ext cx="2565285" cy="252000"/>
          </a:xfrm>
          <a:prstGeom prst="rect">
            <a:avLst/>
          </a:prstGeom>
          <a:solidFill>
            <a:schemeClr val="bg1">
              <a:lumMod val="85000"/>
            </a:schemeClr>
          </a:solidFill>
          <a:ln>
            <a:noFill/>
          </a:ln>
        </p:spPr>
        <p:txBody>
          <a:bodyPr wrap="square" tIns="0" bIns="0" rtlCol="0">
            <a:noAutofit/>
          </a:bodyPr>
          <a:lstStyle/>
          <a:p>
            <a:pPr algn="ctr">
              <a:tabLst>
                <a:tab pos="179388" algn="l"/>
                <a:tab pos="354013" algn="l"/>
                <a:tab pos="5299075" algn="r"/>
              </a:tabLst>
            </a:pPr>
            <a:r>
              <a:rPr lang="de-DE" sz="1600" b="1" dirty="0">
                <a:latin typeface="Trebuchet MS" pitchFamily="34" charset="0"/>
              </a:rPr>
              <a:t>Bank</a:t>
            </a:r>
          </a:p>
        </p:txBody>
      </p:sp>
      <p:sp>
        <p:nvSpPr>
          <p:cNvPr id="27" name="Rectangle 26"/>
          <p:cNvSpPr/>
          <p:nvPr/>
        </p:nvSpPr>
        <p:spPr bwMode="auto">
          <a:xfrm>
            <a:off x="6681066" y="1983045"/>
            <a:ext cx="1215135" cy="1490960"/>
          </a:xfrm>
          <a:prstGeom prst="rect">
            <a:avLst/>
          </a:prstGeom>
          <a:noFill/>
          <a:ln>
            <a:solidFill>
              <a:schemeClr val="tx1"/>
            </a:solidFill>
          </a:ln>
        </p:spPr>
        <p:txBody>
          <a:bodyPr wrap="square" tIns="0" bIns="0" rtlCol="0" anchor="ctr" anchorCtr="0">
            <a:noAutofit/>
          </a:bodyPr>
          <a:lstStyle/>
          <a:p>
            <a:pPr algn="ctr">
              <a:tabLst>
                <a:tab pos="179388" algn="l"/>
                <a:tab pos="354013" algn="l"/>
                <a:tab pos="5299075" algn="r"/>
              </a:tabLst>
            </a:pPr>
            <a:r>
              <a:rPr lang="de-DE" sz="1600" dirty="0">
                <a:solidFill>
                  <a:srgbClr val="FF0000"/>
                </a:solidFill>
                <a:latin typeface="Trebuchet MS" pitchFamily="34" charset="0"/>
              </a:rPr>
              <a:t> Illiquid </a:t>
            </a:r>
            <a:r>
              <a:rPr lang="de-DE" sz="1600" dirty="0">
                <a:latin typeface="Trebuchet MS" pitchFamily="34" charset="0"/>
              </a:rPr>
              <a:t>Machines, Products, Real estate</a:t>
            </a:r>
          </a:p>
        </p:txBody>
      </p:sp>
      <p:sp>
        <p:nvSpPr>
          <p:cNvPr id="28" name="Rectangle 27"/>
          <p:cNvSpPr/>
          <p:nvPr/>
        </p:nvSpPr>
        <p:spPr bwMode="auto">
          <a:xfrm>
            <a:off x="8031216" y="1983045"/>
            <a:ext cx="1215135" cy="950900"/>
          </a:xfrm>
          <a:prstGeom prst="rect">
            <a:avLst/>
          </a:prstGeom>
          <a:noFill/>
          <a:ln>
            <a:solidFill>
              <a:schemeClr val="tx1"/>
            </a:solidFill>
          </a:ln>
        </p:spPr>
        <p:txBody>
          <a:bodyPr wrap="square" tIns="0" bIns="0" rtlCol="0" anchor="ctr" anchorCtr="0">
            <a:noAutofit/>
          </a:bodyPr>
          <a:lstStyle/>
          <a:p>
            <a:pPr algn="ctr">
              <a:tabLst>
                <a:tab pos="179388" algn="l"/>
                <a:tab pos="354013" algn="l"/>
                <a:tab pos="5299075" algn="r"/>
              </a:tabLst>
            </a:pPr>
            <a:r>
              <a:rPr lang="de-DE" sz="1600" dirty="0">
                <a:solidFill>
                  <a:srgbClr val="FF0000"/>
                </a:solidFill>
                <a:latin typeface="Trebuchet MS" pitchFamily="34" charset="0"/>
              </a:rPr>
              <a:t>Debt (mainly from banks)</a:t>
            </a:r>
            <a:endParaRPr lang="de-DE" sz="1600" dirty="0">
              <a:latin typeface="Trebuchet MS" pitchFamily="34" charset="0"/>
            </a:endParaRPr>
          </a:p>
        </p:txBody>
      </p:sp>
      <p:sp>
        <p:nvSpPr>
          <p:cNvPr id="29" name="Rectangle 28"/>
          <p:cNvSpPr/>
          <p:nvPr/>
        </p:nvSpPr>
        <p:spPr bwMode="auto">
          <a:xfrm>
            <a:off x="6681066" y="3564016"/>
            <a:ext cx="1215135" cy="264235"/>
          </a:xfrm>
          <a:prstGeom prst="rect">
            <a:avLst/>
          </a:prstGeom>
          <a:noFill/>
          <a:ln>
            <a:solidFill>
              <a:schemeClr val="tx1"/>
            </a:solidFill>
          </a:ln>
        </p:spPr>
        <p:txBody>
          <a:bodyPr wrap="square" tIns="0" bIns="0" rtlCol="0" anchor="ctr" anchorCtr="0">
            <a:noAutofit/>
          </a:bodyPr>
          <a:lstStyle/>
          <a:p>
            <a:pPr algn="ctr">
              <a:tabLst>
                <a:tab pos="179388" algn="l"/>
                <a:tab pos="354013" algn="l"/>
                <a:tab pos="5299075" algn="r"/>
              </a:tabLst>
            </a:pPr>
            <a:r>
              <a:rPr lang="de-DE" sz="1600" dirty="0">
                <a:latin typeface="Trebuchet MS" pitchFamily="34" charset="0"/>
              </a:rPr>
              <a:t> Liquid a.</a:t>
            </a:r>
          </a:p>
        </p:txBody>
      </p:sp>
      <p:sp>
        <p:nvSpPr>
          <p:cNvPr id="30" name="Rectangle 29"/>
          <p:cNvSpPr/>
          <p:nvPr/>
        </p:nvSpPr>
        <p:spPr bwMode="auto">
          <a:xfrm>
            <a:off x="8031216" y="2978951"/>
            <a:ext cx="1215135" cy="849300"/>
          </a:xfrm>
          <a:prstGeom prst="rect">
            <a:avLst/>
          </a:prstGeom>
          <a:noFill/>
          <a:ln>
            <a:solidFill>
              <a:schemeClr val="tx1"/>
            </a:solidFill>
          </a:ln>
        </p:spPr>
        <p:txBody>
          <a:bodyPr wrap="square" tIns="0" bIns="0" rtlCol="0" anchor="ctr" anchorCtr="0">
            <a:noAutofit/>
          </a:bodyPr>
          <a:lstStyle/>
          <a:p>
            <a:pPr algn="ctr">
              <a:tabLst>
                <a:tab pos="179388" algn="l"/>
                <a:tab pos="354013" algn="l"/>
                <a:tab pos="5299075" algn="r"/>
              </a:tabLst>
            </a:pPr>
            <a:r>
              <a:rPr lang="de-DE" sz="1600" dirty="0">
                <a:latin typeface="Trebuchet MS" pitchFamily="34" charset="0"/>
              </a:rPr>
              <a:t> Capital</a:t>
            </a:r>
          </a:p>
        </p:txBody>
      </p:sp>
      <p:sp>
        <p:nvSpPr>
          <p:cNvPr id="31" name="Rectangle 30"/>
          <p:cNvSpPr/>
          <p:nvPr/>
        </p:nvSpPr>
        <p:spPr bwMode="auto">
          <a:xfrm>
            <a:off x="6681066" y="1616943"/>
            <a:ext cx="1215135" cy="252000"/>
          </a:xfrm>
          <a:prstGeom prst="rect">
            <a:avLst/>
          </a:prstGeom>
          <a:solidFill>
            <a:schemeClr val="bg1">
              <a:lumMod val="85000"/>
            </a:schemeClr>
          </a:solidFill>
          <a:ln>
            <a:noFill/>
          </a:ln>
        </p:spPr>
        <p:txBody>
          <a:bodyPr wrap="square" tIns="0" bIns="0" rtlCol="0">
            <a:noAutofit/>
          </a:bodyPr>
          <a:lstStyle/>
          <a:p>
            <a:pPr algn="ctr">
              <a:tabLst>
                <a:tab pos="179388" algn="l"/>
                <a:tab pos="354013" algn="l"/>
                <a:tab pos="5299075" algn="r"/>
              </a:tabLst>
            </a:pPr>
            <a:r>
              <a:rPr lang="de-DE" sz="1600" b="1" dirty="0">
                <a:latin typeface="Trebuchet MS" pitchFamily="34" charset="0"/>
              </a:rPr>
              <a:t>Assets</a:t>
            </a:r>
          </a:p>
        </p:txBody>
      </p:sp>
      <p:sp>
        <p:nvSpPr>
          <p:cNvPr id="32" name="Rectangle 31"/>
          <p:cNvSpPr/>
          <p:nvPr/>
        </p:nvSpPr>
        <p:spPr bwMode="auto">
          <a:xfrm>
            <a:off x="8031216" y="1616943"/>
            <a:ext cx="1215135" cy="252000"/>
          </a:xfrm>
          <a:prstGeom prst="rect">
            <a:avLst/>
          </a:prstGeom>
          <a:solidFill>
            <a:schemeClr val="bg1">
              <a:lumMod val="85000"/>
            </a:schemeClr>
          </a:solidFill>
          <a:ln>
            <a:noFill/>
          </a:ln>
        </p:spPr>
        <p:txBody>
          <a:bodyPr wrap="square" tIns="0" bIns="0" rtlCol="0">
            <a:noAutofit/>
          </a:bodyPr>
          <a:lstStyle/>
          <a:p>
            <a:pPr algn="ctr">
              <a:tabLst>
                <a:tab pos="179388" algn="l"/>
                <a:tab pos="354013" algn="l"/>
                <a:tab pos="5299075" algn="r"/>
              </a:tabLst>
            </a:pPr>
            <a:r>
              <a:rPr lang="de-DE" sz="1600" b="1" dirty="0">
                <a:latin typeface="Trebuchet MS" pitchFamily="34" charset="0"/>
              </a:rPr>
              <a:t>Liabilities</a:t>
            </a:r>
          </a:p>
        </p:txBody>
      </p:sp>
      <p:cxnSp>
        <p:nvCxnSpPr>
          <p:cNvPr id="33" name="Straight Connector 32"/>
          <p:cNvCxnSpPr/>
          <p:nvPr/>
        </p:nvCxnSpPr>
        <p:spPr bwMode="auto">
          <a:xfrm rot="10800000">
            <a:off x="6681067" y="1927880"/>
            <a:ext cx="2565285" cy="0"/>
          </a:xfrm>
          <a:prstGeom prst="line">
            <a:avLst/>
          </a:prstGeom>
          <a:noFill/>
          <a:ln w="9525" cap="flat" cmpd="sng" algn="ctr">
            <a:solidFill>
              <a:schemeClr val="tx1"/>
            </a:solidFill>
            <a:prstDash val="solid"/>
            <a:round/>
            <a:headEnd type="none" w="med" len="med"/>
            <a:tailEnd type="none" w="med" len="med"/>
          </a:ln>
          <a:effectLst/>
        </p:spPr>
      </p:cxnSp>
      <p:cxnSp>
        <p:nvCxnSpPr>
          <p:cNvPr id="34" name="Straight Connector 33"/>
          <p:cNvCxnSpPr/>
          <p:nvPr/>
        </p:nvCxnSpPr>
        <p:spPr bwMode="auto">
          <a:xfrm rot="5400000">
            <a:off x="7016420" y="2883145"/>
            <a:ext cx="1890210" cy="0"/>
          </a:xfrm>
          <a:prstGeom prst="line">
            <a:avLst/>
          </a:prstGeom>
          <a:noFill/>
          <a:ln w="9525" cap="flat" cmpd="sng" algn="ctr">
            <a:solidFill>
              <a:schemeClr val="tx1"/>
            </a:solidFill>
            <a:prstDash val="solid"/>
            <a:round/>
            <a:headEnd type="none" w="med" len="med"/>
            <a:tailEnd type="none" w="med" len="med"/>
          </a:ln>
          <a:effectLst/>
        </p:spPr>
      </p:cxnSp>
      <p:sp>
        <p:nvSpPr>
          <p:cNvPr id="35" name="Rectangle 34"/>
          <p:cNvSpPr/>
          <p:nvPr/>
        </p:nvSpPr>
        <p:spPr bwMode="auto">
          <a:xfrm>
            <a:off x="6681066" y="1323129"/>
            <a:ext cx="2565285" cy="252000"/>
          </a:xfrm>
          <a:prstGeom prst="rect">
            <a:avLst/>
          </a:prstGeom>
          <a:solidFill>
            <a:schemeClr val="bg1">
              <a:lumMod val="85000"/>
            </a:schemeClr>
          </a:solidFill>
          <a:ln>
            <a:noFill/>
          </a:ln>
        </p:spPr>
        <p:txBody>
          <a:bodyPr wrap="square" tIns="0" bIns="0" rtlCol="0">
            <a:noAutofit/>
          </a:bodyPr>
          <a:lstStyle/>
          <a:p>
            <a:pPr algn="ctr">
              <a:tabLst>
                <a:tab pos="179388" algn="l"/>
                <a:tab pos="354013" algn="l"/>
                <a:tab pos="5299075" algn="r"/>
              </a:tabLst>
            </a:pPr>
            <a:r>
              <a:rPr lang="de-DE" sz="1600" b="1" dirty="0">
                <a:latin typeface="Trebuchet MS" pitchFamily="34" charset="0"/>
              </a:rPr>
              <a:t>Corporate</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E2D71-9FE2-4CDD-BA8B-DA93398B57C0}"/>
              </a:ext>
            </a:extLst>
          </p:cNvPr>
          <p:cNvSpPr>
            <a:spLocks noGrp="1"/>
          </p:cNvSpPr>
          <p:nvPr>
            <p:ph type="title"/>
          </p:nvPr>
        </p:nvSpPr>
        <p:spPr/>
        <p:txBody>
          <a:bodyPr/>
          <a:lstStyle/>
          <a:p>
            <a:r>
              <a:rPr lang="en-US" dirty="0"/>
              <a:t>Banks in GE (Arrow-Debreu model)</a:t>
            </a:r>
          </a:p>
        </p:txBody>
      </p:sp>
      <p:sp>
        <p:nvSpPr>
          <p:cNvPr id="3" name="Téglalap 7">
            <a:extLst>
              <a:ext uri="{FF2B5EF4-FFF2-40B4-BE49-F238E27FC236}">
                <a16:creationId xmlns:a16="http://schemas.microsoft.com/office/drawing/2014/main" id="{09356A86-58F2-4DD6-93AC-958816E529FE}"/>
              </a:ext>
            </a:extLst>
          </p:cNvPr>
          <p:cNvSpPr/>
          <p:nvPr/>
        </p:nvSpPr>
        <p:spPr>
          <a:xfrm>
            <a:off x="5016501" y="1538211"/>
            <a:ext cx="2087563" cy="647700"/>
          </a:xfrm>
          <a:prstGeom prst="rect">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dirty="0">
                <a:ln>
                  <a:noFill/>
                </a:ln>
                <a:solidFill>
                  <a:srgbClr val="000000"/>
                </a:solidFill>
                <a:effectLst/>
                <a:uLnTx/>
                <a:uFillTx/>
                <a:ea typeface="+mn-ea"/>
                <a:cs typeface="+mn-cs"/>
              </a:rPr>
              <a:t>B</a:t>
            </a:r>
            <a:r>
              <a:rPr kumimoji="0" lang="en-US" sz="1800" b="1" i="0" u="none" strike="noStrike" kern="1200" cap="none" spc="0" normalizeH="0" baseline="-25000" dirty="0">
                <a:ln>
                  <a:noFill/>
                </a:ln>
                <a:solidFill>
                  <a:srgbClr val="000000"/>
                </a:solidFill>
                <a:effectLst/>
                <a:uLnTx/>
                <a:uFillTx/>
                <a:ea typeface="+mn-ea"/>
                <a:cs typeface="+mn-cs"/>
              </a:rPr>
              <a:t>f</a:t>
            </a:r>
            <a:r>
              <a:rPr kumimoji="0" lang="en-US" sz="1800" b="1" i="0" u="none" strike="noStrike" kern="1200" cap="none" spc="0" normalizeH="0" baseline="0" dirty="0">
                <a:ln>
                  <a:noFill/>
                </a:ln>
                <a:solidFill>
                  <a:srgbClr val="000000"/>
                </a:solidFill>
                <a:effectLst/>
                <a:uLnTx/>
                <a:uFillTx/>
                <a:ea typeface="+mn-ea"/>
                <a:cs typeface="+mn-cs"/>
              </a:rPr>
              <a:t> + B</a:t>
            </a:r>
            <a:r>
              <a:rPr kumimoji="0" lang="en-US" sz="1800" b="1" i="0" u="none" strike="noStrike" kern="1200" cap="none" spc="0" normalizeH="0" baseline="-25000" dirty="0">
                <a:ln>
                  <a:noFill/>
                </a:ln>
                <a:solidFill>
                  <a:srgbClr val="000000"/>
                </a:solidFill>
                <a:effectLst/>
                <a:uLnTx/>
                <a:uFillTx/>
                <a:ea typeface="+mn-ea"/>
                <a:cs typeface="+mn-cs"/>
              </a:rPr>
              <a:t>b</a:t>
            </a:r>
            <a:r>
              <a:rPr kumimoji="0" lang="en-US" sz="1800" b="1" i="0" u="none" strike="noStrike" kern="1200" cap="none" spc="0" normalizeH="0" baseline="0" dirty="0">
                <a:ln>
                  <a:noFill/>
                </a:ln>
                <a:solidFill>
                  <a:srgbClr val="000000"/>
                </a:solidFill>
                <a:effectLst/>
                <a:uLnTx/>
                <a:uFillTx/>
                <a:ea typeface="+mn-ea"/>
                <a:cs typeface="+mn-cs"/>
              </a:rPr>
              <a:t> = </a:t>
            </a:r>
            <a:r>
              <a:rPr kumimoji="0" lang="en-US" sz="1800" b="1" i="0" u="none" strike="noStrike" kern="1200" cap="none" spc="0" normalizeH="0" baseline="0" dirty="0" err="1">
                <a:ln>
                  <a:noFill/>
                </a:ln>
                <a:solidFill>
                  <a:srgbClr val="000000"/>
                </a:solidFill>
                <a:effectLst/>
                <a:uLnTx/>
                <a:uFillTx/>
                <a:ea typeface="+mn-ea"/>
                <a:cs typeface="+mn-cs"/>
              </a:rPr>
              <a:t>B</a:t>
            </a:r>
            <a:r>
              <a:rPr kumimoji="0" lang="en-US" sz="1800" b="1" i="0" u="none" strike="noStrike" kern="1200" cap="none" spc="0" normalizeH="0" baseline="-25000" dirty="0" err="1">
                <a:ln>
                  <a:noFill/>
                </a:ln>
                <a:solidFill>
                  <a:srgbClr val="000000"/>
                </a:solidFill>
                <a:effectLst/>
                <a:uLnTx/>
                <a:uFillTx/>
                <a:ea typeface="+mn-ea"/>
                <a:cs typeface="+mn-cs"/>
              </a:rPr>
              <a:t>h</a:t>
            </a:r>
            <a:endParaRPr kumimoji="0" lang="en-US" sz="1800" b="1" i="0" u="none" strike="noStrike" kern="1200" cap="none" spc="0" normalizeH="0" baseline="-25000" dirty="0">
              <a:ln>
                <a:noFill/>
              </a:ln>
              <a:solidFill>
                <a:srgbClr val="000000"/>
              </a:solidFill>
              <a:effectLst/>
              <a:uLnTx/>
              <a:uFillTx/>
              <a:ea typeface="+mn-ea"/>
              <a:cs typeface="+mn-cs"/>
            </a:endParaRPr>
          </a:p>
        </p:txBody>
      </p:sp>
      <p:sp>
        <p:nvSpPr>
          <p:cNvPr id="4" name="Téglalap 8">
            <a:extLst>
              <a:ext uri="{FF2B5EF4-FFF2-40B4-BE49-F238E27FC236}">
                <a16:creationId xmlns:a16="http://schemas.microsoft.com/office/drawing/2014/main" id="{E8E11E5A-5D95-4F11-8764-B83CC3B2E134}"/>
              </a:ext>
            </a:extLst>
          </p:cNvPr>
          <p:cNvSpPr/>
          <p:nvPr/>
        </p:nvSpPr>
        <p:spPr>
          <a:xfrm>
            <a:off x="3575050" y="3193974"/>
            <a:ext cx="2197100" cy="1008063"/>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dirty="0">
                <a:ln>
                  <a:noFill/>
                </a:ln>
                <a:solidFill>
                  <a:srgbClr val="CCCC00">
                    <a:lumMod val="20000"/>
                    <a:lumOff val="80000"/>
                  </a:srgbClr>
                </a:solidFill>
                <a:effectLst/>
                <a:uLnTx/>
                <a:uFillTx/>
                <a:ea typeface="+mn-ea"/>
                <a:cs typeface="+mn-cs"/>
              </a:rPr>
              <a:t>Bonds (B</a:t>
            </a:r>
            <a:r>
              <a:rPr kumimoji="0" lang="en-US" sz="1800" b="0" i="0" u="none" strike="noStrike" kern="1200" cap="none" spc="0" normalizeH="0" baseline="-25000" dirty="0">
                <a:ln>
                  <a:noFill/>
                </a:ln>
                <a:solidFill>
                  <a:srgbClr val="CCCC00">
                    <a:lumMod val="20000"/>
                    <a:lumOff val="80000"/>
                  </a:srgbClr>
                </a:solidFill>
                <a:effectLst/>
                <a:uLnTx/>
                <a:uFillTx/>
                <a:ea typeface="+mn-ea"/>
                <a:cs typeface="+mn-cs"/>
              </a:rPr>
              <a:t>f</a:t>
            </a:r>
            <a:r>
              <a:rPr kumimoji="0" lang="en-US" sz="1800" b="0" i="0" u="none" strike="noStrike" kern="1200" cap="none" spc="0" normalizeH="0" baseline="0" dirty="0">
                <a:ln>
                  <a:noFill/>
                </a:ln>
                <a:solidFill>
                  <a:srgbClr val="CCCC00">
                    <a:lumMod val="20000"/>
                    <a:lumOff val="80000"/>
                  </a:srgbClr>
                </a:solidFill>
                <a:effectLst/>
                <a:uLnTx/>
                <a:uFillTx/>
                <a:ea typeface="+mn-ea"/>
                <a:cs typeface="+mn-cs"/>
              </a:rPr>
              <a: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dirty="0">
                <a:ln>
                  <a:noFill/>
                </a:ln>
                <a:solidFill>
                  <a:srgbClr val="CCCC00">
                    <a:lumMod val="20000"/>
                    <a:lumOff val="80000"/>
                  </a:srgbClr>
                </a:solidFill>
                <a:effectLst/>
                <a:uLnTx/>
                <a:uFillTx/>
                <a:ea typeface="+mn-ea"/>
                <a:cs typeface="+mn-cs"/>
              </a:rPr>
              <a:t> Loans (</a:t>
            </a:r>
            <a:r>
              <a:rPr kumimoji="0" lang="en-US" sz="1800" b="0" i="0" u="none" strike="noStrike" kern="1200" cap="none" spc="0" normalizeH="0" baseline="0" dirty="0" err="1">
                <a:ln>
                  <a:noFill/>
                </a:ln>
                <a:solidFill>
                  <a:srgbClr val="CCCC00">
                    <a:lumMod val="20000"/>
                    <a:lumOff val="80000"/>
                  </a:srgbClr>
                </a:solidFill>
                <a:effectLst/>
                <a:uLnTx/>
                <a:uFillTx/>
                <a:ea typeface="+mn-ea"/>
                <a:cs typeface="+mn-cs"/>
              </a:rPr>
              <a:t>L</a:t>
            </a:r>
            <a:r>
              <a:rPr kumimoji="0" lang="en-US" sz="1800" b="0" i="0" u="none" strike="noStrike" kern="1200" cap="none" spc="0" normalizeH="0" baseline="-25000" dirty="0" err="1">
                <a:ln>
                  <a:noFill/>
                </a:ln>
                <a:solidFill>
                  <a:srgbClr val="CCCC00">
                    <a:lumMod val="20000"/>
                    <a:lumOff val="80000"/>
                  </a:srgbClr>
                </a:solidFill>
                <a:effectLst/>
                <a:uLnTx/>
                <a:uFillTx/>
                <a:ea typeface="+mn-ea"/>
                <a:cs typeface="+mn-cs"/>
              </a:rPr>
              <a:t>f</a:t>
            </a:r>
            <a:r>
              <a:rPr kumimoji="0" lang="en-US" sz="1800" b="0" i="0" u="none" strike="noStrike" kern="1200" cap="none" spc="0" normalizeH="0" baseline="0" dirty="0">
                <a:ln>
                  <a:noFill/>
                </a:ln>
                <a:solidFill>
                  <a:srgbClr val="CCCC00">
                    <a:lumMod val="20000"/>
                    <a:lumOff val="80000"/>
                  </a:srgbClr>
                </a:solidFill>
                <a:effectLst/>
                <a:uLnTx/>
                <a:uFillTx/>
                <a:ea typeface="+mn-ea"/>
                <a:cs typeface="+mn-cs"/>
              </a:rPr>
              <a:t>)</a:t>
            </a:r>
          </a:p>
        </p:txBody>
      </p:sp>
      <p:sp>
        <p:nvSpPr>
          <p:cNvPr id="5" name="Szövegdoboz 11">
            <a:extLst>
              <a:ext uri="{FF2B5EF4-FFF2-40B4-BE49-F238E27FC236}">
                <a16:creationId xmlns:a16="http://schemas.microsoft.com/office/drawing/2014/main" id="{295C5399-E455-4897-87F7-D5CC13183B20}"/>
              </a:ext>
            </a:extLst>
          </p:cNvPr>
          <p:cNvSpPr txBox="1">
            <a:spLocks noChangeArrowheads="1"/>
          </p:cNvSpPr>
          <p:nvPr/>
        </p:nvSpPr>
        <p:spPr bwMode="auto">
          <a:xfrm>
            <a:off x="4587903" y="1177848"/>
            <a:ext cx="27511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hu-HU" sz="1800" b="1" i="0" u="none" strike="noStrike" kern="1200" cap="none" spc="0" normalizeH="0" baseline="0" dirty="0">
                <a:ln>
                  <a:noFill/>
                </a:ln>
                <a:solidFill>
                  <a:srgbClr val="000000"/>
                </a:solidFill>
                <a:effectLst/>
                <a:uLnTx/>
                <a:uFillTx/>
                <a:latin typeface="+mn-lt"/>
                <a:ea typeface="+mn-ea"/>
                <a:cs typeface="+mn-cs"/>
              </a:rPr>
              <a:t>Financial Markets</a:t>
            </a:r>
          </a:p>
        </p:txBody>
      </p:sp>
      <p:sp>
        <p:nvSpPr>
          <p:cNvPr id="6" name="Szövegdoboz 12">
            <a:extLst>
              <a:ext uri="{FF2B5EF4-FFF2-40B4-BE49-F238E27FC236}">
                <a16:creationId xmlns:a16="http://schemas.microsoft.com/office/drawing/2014/main" id="{91583B3F-4A71-46FE-92AB-B32E88C2B4E6}"/>
              </a:ext>
            </a:extLst>
          </p:cNvPr>
          <p:cNvSpPr txBox="1">
            <a:spLocks noChangeArrowheads="1"/>
          </p:cNvSpPr>
          <p:nvPr/>
        </p:nvSpPr>
        <p:spPr bwMode="auto">
          <a:xfrm>
            <a:off x="2603500" y="2557387"/>
            <a:ext cx="2089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hu-HU" sz="1800" b="1" i="0" u="none" strike="noStrike" kern="1200" cap="none" spc="0" normalizeH="0" baseline="0" dirty="0">
                <a:ln>
                  <a:noFill/>
                </a:ln>
                <a:solidFill>
                  <a:srgbClr val="000000"/>
                </a:solidFill>
                <a:effectLst/>
                <a:uLnTx/>
                <a:uFillTx/>
                <a:latin typeface="+mn-lt"/>
                <a:ea typeface="+mn-ea"/>
                <a:cs typeface="+mn-cs"/>
              </a:rPr>
              <a:t>Firms (f)</a:t>
            </a:r>
          </a:p>
        </p:txBody>
      </p:sp>
      <p:sp>
        <p:nvSpPr>
          <p:cNvPr id="7" name="Szövegdoboz 13">
            <a:extLst>
              <a:ext uri="{FF2B5EF4-FFF2-40B4-BE49-F238E27FC236}">
                <a16:creationId xmlns:a16="http://schemas.microsoft.com/office/drawing/2014/main" id="{BDF8AA48-356D-4BCD-B303-8198588336CB}"/>
              </a:ext>
            </a:extLst>
          </p:cNvPr>
          <p:cNvSpPr txBox="1">
            <a:spLocks noChangeArrowheads="1"/>
          </p:cNvSpPr>
          <p:nvPr/>
        </p:nvSpPr>
        <p:spPr bwMode="auto">
          <a:xfrm>
            <a:off x="7611292" y="2557387"/>
            <a:ext cx="20875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hu-HU" sz="1800" b="1" i="0" u="none" strike="noStrike" kern="1200" cap="none" spc="0" normalizeH="0" baseline="0" dirty="0">
                <a:ln>
                  <a:noFill/>
                </a:ln>
                <a:solidFill>
                  <a:srgbClr val="000000"/>
                </a:solidFill>
                <a:effectLst/>
                <a:uLnTx/>
                <a:uFillTx/>
                <a:latin typeface="+mn-lt"/>
                <a:ea typeface="+mn-ea"/>
                <a:cs typeface="+mn-cs"/>
              </a:rPr>
              <a:t>Households</a:t>
            </a:r>
            <a:r>
              <a:rPr kumimoji="0" lang="hu-HU" altLang="hu-HU" sz="1800" b="1" i="0" u="none" strike="noStrike" kern="1200" cap="none" spc="0" normalizeH="0" baseline="0" dirty="0">
                <a:ln>
                  <a:noFill/>
                </a:ln>
                <a:solidFill>
                  <a:srgbClr val="000000"/>
                </a:solidFill>
                <a:effectLst/>
                <a:uLnTx/>
                <a:uFillTx/>
                <a:latin typeface="+mn-lt"/>
                <a:ea typeface="+mn-ea"/>
                <a:cs typeface="+mn-cs"/>
              </a:rPr>
              <a:t> </a:t>
            </a:r>
            <a:r>
              <a:rPr kumimoji="0" lang="en-US" altLang="hu-HU" sz="1800" b="1" i="0" u="none" strike="noStrike" kern="1200" cap="none" spc="0" normalizeH="0" baseline="0" dirty="0">
                <a:ln>
                  <a:noFill/>
                </a:ln>
                <a:solidFill>
                  <a:srgbClr val="000000"/>
                </a:solidFill>
                <a:effectLst/>
                <a:uLnTx/>
                <a:uFillTx/>
                <a:latin typeface="+mn-lt"/>
                <a:ea typeface="+mn-ea"/>
                <a:cs typeface="+mn-cs"/>
              </a:rPr>
              <a:t>(h)</a:t>
            </a:r>
          </a:p>
        </p:txBody>
      </p:sp>
      <p:sp>
        <p:nvSpPr>
          <p:cNvPr id="8" name="Szövegdoboz 14">
            <a:extLst>
              <a:ext uri="{FF2B5EF4-FFF2-40B4-BE49-F238E27FC236}">
                <a16:creationId xmlns:a16="http://schemas.microsoft.com/office/drawing/2014/main" id="{9578F764-7FDD-4AE9-96A5-EDD200F472ED}"/>
              </a:ext>
            </a:extLst>
          </p:cNvPr>
          <p:cNvSpPr txBox="1">
            <a:spLocks noChangeArrowheads="1"/>
          </p:cNvSpPr>
          <p:nvPr/>
        </p:nvSpPr>
        <p:spPr bwMode="auto">
          <a:xfrm>
            <a:off x="4963318" y="4470324"/>
            <a:ext cx="2087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hu-HU" sz="1800" b="1" i="0" u="none" strike="noStrike" kern="1200" cap="none" spc="0" normalizeH="0" baseline="0" dirty="0">
                <a:ln>
                  <a:noFill/>
                </a:ln>
                <a:solidFill>
                  <a:srgbClr val="000000"/>
                </a:solidFill>
                <a:effectLst/>
                <a:uLnTx/>
                <a:uFillTx/>
                <a:latin typeface="+mn-lt"/>
                <a:ea typeface="+mn-ea"/>
                <a:cs typeface="+mn-cs"/>
              </a:rPr>
              <a:t>Banks (b)</a:t>
            </a:r>
          </a:p>
        </p:txBody>
      </p:sp>
      <p:sp>
        <p:nvSpPr>
          <p:cNvPr id="9" name="Téglalap 15">
            <a:extLst>
              <a:ext uri="{FF2B5EF4-FFF2-40B4-BE49-F238E27FC236}">
                <a16:creationId xmlns:a16="http://schemas.microsoft.com/office/drawing/2014/main" id="{E52ACAB9-6D9F-4998-A8E7-AB605F43F98B}"/>
              </a:ext>
            </a:extLst>
          </p:cNvPr>
          <p:cNvSpPr/>
          <p:nvPr/>
        </p:nvSpPr>
        <p:spPr>
          <a:xfrm>
            <a:off x="1774825" y="3193974"/>
            <a:ext cx="1873250" cy="1008063"/>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dirty="0">
                <a:ln>
                  <a:noFill/>
                </a:ln>
                <a:solidFill>
                  <a:srgbClr val="CCCC00">
                    <a:lumMod val="20000"/>
                    <a:lumOff val="80000"/>
                  </a:srgbClr>
                </a:solidFill>
                <a:effectLst/>
                <a:uLnTx/>
                <a:uFillTx/>
                <a:ea typeface="+mn-ea"/>
                <a:cs typeface="+mn-cs"/>
              </a:rPr>
              <a:t>Investments (I)</a:t>
            </a:r>
          </a:p>
        </p:txBody>
      </p:sp>
      <p:sp>
        <p:nvSpPr>
          <p:cNvPr id="10" name="Téglalap 16">
            <a:extLst>
              <a:ext uri="{FF2B5EF4-FFF2-40B4-BE49-F238E27FC236}">
                <a16:creationId xmlns:a16="http://schemas.microsoft.com/office/drawing/2014/main" id="{9CE574C3-5C4A-42F9-A002-DF1E5F586775}"/>
              </a:ext>
            </a:extLst>
          </p:cNvPr>
          <p:cNvSpPr/>
          <p:nvPr/>
        </p:nvSpPr>
        <p:spPr>
          <a:xfrm>
            <a:off x="6564312" y="3193974"/>
            <a:ext cx="2052638" cy="1008063"/>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dirty="0">
                <a:ln>
                  <a:noFill/>
                </a:ln>
                <a:solidFill>
                  <a:srgbClr val="000000"/>
                </a:solidFill>
                <a:effectLst/>
                <a:uLnTx/>
                <a:uFillTx/>
                <a:ea typeface="+mn-ea"/>
                <a:cs typeface="+mn-cs"/>
              </a:rPr>
              <a:t>Bonds (</a:t>
            </a:r>
            <a:r>
              <a:rPr kumimoji="0" lang="en-US" sz="1800" b="0" i="0" u="none" strike="noStrike" kern="1200" cap="none" spc="0" normalizeH="0" baseline="0" dirty="0" err="1">
                <a:ln>
                  <a:noFill/>
                </a:ln>
                <a:solidFill>
                  <a:srgbClr val="000000"/>
                </a:solidFill>
                <a:effectLst/>
                <a:uLnTx/>
                <a:uFillTx/>
                <a:ea typeface="+mn-ea"/>
                <a:cs typeface="+mn-cs"/>
              </a:rPr>
              <a:t>B</a:t>
            </a:r>
            <a:r>
              <a:rPr kumimoji="0" lang="en-US" sz="1800" b="0" i="0" u="none" strike="noStrike" kern="1200" cap="none" spc="0" normalizeH="0" baseline="-25000" dirty="0" err="1">
                <a:ln>
                  <a:noFill/>
                </a:ln>
                <a:solidFill>
                  <a:srgbClr val="000000"/>
                </a:solidFill>
                <a:effectLst/>
                <a:uLnTx/>
                <a:uFillTx/>
                <a:ea typeface="+mn-ea"/>
                <a:cs typeface="+mn-cs"/>
              </a:rPr>
              <a:t>h</a:t>
            </a:r>
            <a:r>
              <a:rPr kumimoji="0" lang="en-US" sz="1800" b="0" i="0" u="none" strike="noStrike" kern="1200" cap="none" spc="0" normalizeH="0" baseline="0" dirty="0">
                <a:ln>
                  <a:noFill/>
                </a:ln>
                <a:solidFill>
                  <a:srgbClr val="000000"/>
                </a:solidFill>
                <a:effectLst/>
                <a:uLnTx/>
                <a:uFillTx/>
                <a:ea typeface="+mn-ea"/>
                <a:cs typeface="+mn-cs"/>
              </a:rPr>
              <a:t>) Deposits(D</a:t>
            </a:r>
            <a:r>
              <a:rPr kumimoji="0" lang="en-US" sz="1800" b="0" i="0" u="none" strike="noStrike" kern="1200" cap="none" spc="0" normalizeH="0" baseline="-25000" dirty="0">
                <a:ln>
                  <a:noFill/>
                </a:ln>
                <a:solidFill>
                  <a:srgbClr val="000000"/>
                </a:solidFill>
                <a:effectLst/>
                <a:uLnTx/>
                <a:uFillTx/>
                <a:ea typeface="+mn-ea"/>
                <a:cs typeface="+mn-cs"/>
              </a:rPr>
              <a:t>h</a:t>
            </a:r>
            <a:r>
              <a:rPr kumimoji="0" lang="en-US" sz="1800" b="0" i="0" u="none" strike="noStrike" kern="1200" cap="none" spc="0" normalizeH="0" baseline="0" dirty="0">
                <a:ln>
                  <a:noFill/>
                </a:ln>
                <a:solidFill>
                  <a:srgbClr val="000000"/>
                </a:solidFill>
                <a:effectLst/>
                <a:uLnTx/>
                <a:uFillTx/>
                <a:ea typeface="+mn-ea"/>
                <a:cs typeface="+mn-cs"/>
              </a:rPr>
              <a:t>)</a:t>
            </a:r>
          </a:p>
        </p:txBody>
      </p:sp>
      <p:sp>
        <p:nvSpPr>
          <p:cNvPr id="11" name="Téglalap 17">
            <a:extLst>
              <a:ext uri="{FF2B5EF4-FFF2-40B4-BE49-F238E27FC236}">
                <a16:creationId xmlns:a16="http://schemas.microsoft.com/office/drawing/2014/main" id="{2F1BCF9B-2E2D-484A-903B-79181348BB0A}"/>
              </a:ext>
            </a:extLst>
          </p:cNvPr>
          <p:cNvSpPr/>
          <p:nvPr/>
        </p:nvSpPr>
        <p:spPr>
          <a:xfrm>
            <a:off x="8616950" y="3193974"/>
            <a:ext cx="2015554" cy="1008063"/>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dirty="0">
                <a:ln>
                  <a:noFill/>
                </a:ln>
                <a:solidFill>
                  <a:srgbClr val="000000"/>
                </a:solidFill>
                <a:effectLst/>
                <a:uLnTx/>
                <a:uFillTx/>
                <a:ea typeface="+mn-ea"/>
                <a:cs typeface="+mn-cs"/>
              </a:rPr>
              <a:t>Savings S</a:t>
            </a:r>
          </a:p>
        </p:txBody>
      </p:sp>
      <p:sp>
        <p:nvSpPr>
          <p:cNvPr id="12" name="Téglalap 18">
            <a:extLst>
              <a:ext uri="{FF2B5EF4-FFF2-40B4-BE49-F238E27FC236}">
                <a16:creationId xmlns:a16="http://schemas.microsoft.com/office/drawing/2014/main" id="{354804D1-5922-4139-A251-3FA21EE3F37C}"/>
              </a:ext>
            </a:extLst>
          </p:cNvPr>
          <p:cNvSpPr/>
          <p:nvPr/>
        </p:nvSpPr>
        <p:spPr>
          <a:xfrm>
            <a:off x="6024563" y="5138661"/>
            <a:ext cx="2052637" cy="1008062"/>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dirty="0">
                <a:ln>
                  <a:noFill/>
                </a:ln>
                <a:solidFill>
                  <a:srgbClr val="FFFFFF"/>
                </a:solidFill>
                <a:effectLst/>
                <a:uLnTx/>
                <a:uFillTx/>
                <a:ea typeface="+mn-ea"/>
                <a:cs typeface="+mn-cs"/>
              </a:rPr>
              <a:t>Bonds (B</a:t>
            </a:r>
            <a:r>
              <a:rPr kumimoji="0" lang="en-US" sz="1800" b="0" i="0" u="none" strike="noStrike" kern="1200" cap="none" spc="0" normalizeH="0" baseline="-25000" dirty="0">
                <a:ln>
                  <a:noFill/>
                </a:ln>
                <a:solidFill>
                  <a:srgbClr val="FFFFFF"/>
                </a:solidFill>
                <a:effectLst/>
                <a:uLnTx/>
                <a:uFillTx/>
                <a:ea typeface="+mn-ea"/>
                <a:cs typeface="+mn-cs"/>
              </a:rPr>
              <a:t>b</a:t>
            </a:r>
            <a:r>
              <a:rPr kumimoji="0" lang="en-US" sz="1800" b="0" i="0" u="none" strike="noStrike" kern="1200" cap="none" spc="0" normalizeH="0" baseline="0" dirty="0">
                <a:ln>
                  <a:noFill/>
                </a:ln>
                <a:solidFill>
                  <a:srgbClr val="FFFFFF"/>
                </a:solidFill>
                <a:effectLst/>
                <a:uLnTx/>
                <a:uFillTx/>
                <a:ea typeface="+mn-ea"/>
                <a:cs typeface="+mn-cs"/>
              </a:rPr>
              <a:t>) Deposits(D</a:t>
            </a:r>
            <a:r>
              <a:rPr kumimoji="0" lang="en-US" sz="1800" b="0" i="0" u="none" strike="noStrike" kern="1200" cap="none" spc="0" normalizeH="0" baseline="-25000" dirty="0">
                <a:ln>
                  <a:noFill/>
                </a:ln>
                <a:solidFill>
                  <a:srgbClr val="FFFFFF"/>
                </a:solidFill>
                <a:effectLst/>
                <a:uLnTx/>
                <a:uFillTx/>
                <a:ea typeface="+mn-ea"/>
                <a:cs typeface="+mn-cs"/>
              </a:rPr>
              <a:t>b</a:t>
            </a:r>
            <a:r>
              <a:rPr kumimoji="0" lang="en-US" sz="1800" b="0" i="0" u="none" strike="noStrike" kern="1200" cap="none" spc="0" normalizeH="0" baseline="0" dirty="0">
                <a:ln>
                  <a:noFill/>
                </a:ln>
                <a:solidFill>
                  <a:srgbClr val="FFFFFF"/>
                </a:solidFill>
                <a:effectLst/>
                <a:uLnTx/>
                <a:uFillTx/>
                <a:ea typeface="+mn-ea"/>
                <a:cs typeface="+mn-cs"/>
              </a:rPr>
              <a:t>)</a:t>
            </a:r>
          </a:p>
        </p:txBody>
      </p:sp>
      <p:sp>
        <p:nvSpPr>
          <p:cNvPr id="13" name="Téglalap 19">
            <a:extLst>
              <a:ext uri="{FF2B5EF4-FFF2-40B4-BE49-F238E27FC236}">
                <a16:creationId xmlns:a16="http://schemas.microsoft.com/office/drawing/2014/main" id="{3CE8076A-A4AD-4DF8-BB3C-01DAB717B273}"/>
              </a:ext>
            </a:extLst>
          </p:cNvPr>
          <p:cNvSpPr/>
          <p:nvPr/>
        </p:nvSpPr>
        <p:spPr>
          <a:xfrm>
            <a:off x="4224338" y="5138661"/>
            <a:ext cx="1871662" cy="1008062"/>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dirty="0">
                <a:ln>
                  <a:noFill/>
                </a:ln>
                <a:solidFill>
                  <a:srgbClr val="FFFFFF"/>
                </a:solidFill>
                <a:effectLst/>
                <a:uLnTx/>
                <a:uFillTx/>
                <a:ea typeface="+mn-ea"/>
                <a:cs typeface="+mn-cs"/>
              </a:rPr>
              <a:t>Loans (</a:t>
            </a:r>
            <a:r>
              <a:rPr kumimoji="0" lang="en-US" sz="1800" b="0" i="0" u="none" strike="noStrike" kern="1200" cap="none" spc="0" normalizeH="0" baseline="0" dirty="0" err="1">
                <a:ln>
                  <a:noFill/>
                </a:ln>
                <a:solidFill>
                  <a:srgbClr val="FFFFFF"/>
                </a:solidFill>
                <a:effectLst/>
                <a:uLnTx/>
                <a:uFillTx/>
                <a:ea typeface="+mn-ea"/>
                <a:cs typeface="+mn-cs"/>
              </a:rPr>
              <a:t>L</a:t>
            </a:r>
            <a:r>
              <a:rPr kumimoji="0" lang="en-US" sz="1800" b="0" i="0" u="none" strike="noStrike" kern="1200" cap="none" spc="0" normalizeH="0" baseline="-25000" dirty="0" err="1">
                <a:ln>
                  <a:noFill/>
                </a:ln>
                <a:solidFill>
                  <a:srgbClr val="FFFFFF"/>
                </a:solidFill>
                <a:effectLst/>
                <a:uLnTx/>
                <a:uFillTx/>
                <a:ea typeface="+mn-ea"/>
                <a:cs typeface="+mn-cs"/>
              </a:rPr>
              <a:t>b</a:t>
            </a:r>
            <a:r>
              <a:rPr kumimoji="0" lang="en-US" sz="1800" b="0" i="0" u="none" strike="noStrike" kern="1200" cap="none" spc="0" normalizeH="0" baseline="0" dirty="0">
                <a:ln>
                  <a:noFill/>
                </a:ln>
                <a:solidFill>
                  <a:srgbClr val="FFFFFF"/>
                </a:solidFill>
                <a:effectLst/>
                <a:uLnTx/>
                <a:uFillTx/>
                <a:ea typeface="+mn-ea"/>
                <a:cs typeface="+mn-cs"/>
              </a:rPr>
              <a:t>)</a:t>
            </a:r>
          </a:p>
        </p:txBody>
      </p:sp>
      <p:sp>
        <p:nvSpPr>
          <p:cNvPr id="14" name="Szövegdoboz 20">
            <a:extLst>
              <a:ext uri="{FF2B5EF4-FFF2-40B4-BE49-F238E27FC236}">
                <a16:creationId xmlns:a16="http://schemas.microsoft.com/office/drawing/2014/main" id="{1D94F120-E3DC-4DEB-A65B-821F1FD984E2}"/>
              </a:ext>
            </a:extLst>
          </p:cNvPr>
          <p:cNvSpPr txBox="1">
            <a:spLocks noChangeArrowheads="1"/>
          </p:cNvSpPr>
          <p:nvPr/>
        </p:nvSpPr>
        <p:spPr bwMode="auto">
          <a:xfrm>
            <a:off x="1774825" y="2885999"/>
            <a:ext cx="12255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hu-HU" sz="1400" b="1" i="0" u="none" strike="noStrike" kern="1200" cap="none" spc="0" normalizeH="0" baseline="0" dirty="0">
                <a:ln>
                  <a:noFill/>
                </a:ln>
                <a:solidFill>
                  <a:srgbClr val="000000"/>
                </a:solidFill>
                <a:effectLst/>
                <a:uLnTx/>
                <a:uFillTx/>
                <a:latin typeface="+mn-lt"/>
                <a:ea typeface="+mn-ea"/>
                <a:cs typeface="+mn-cs"/>
              </a:rPr>
              <a:t>Assets</a:t>
            </a:r>
          </a:p>
        </p:txBody>
      </p:sp>
      <p:sp>
        <p:nvSpPr>
          <p:cNvPr id="15" name="Szövegdoboz 21">
            <a:extLst>
              <a:ext uri="{FF2B5EF4-FFF2-40B4-BE49-F238E27FC236}">
                <a16:creationId xmlns:a16="http://schemas.microsoft.com/office/drawing/2014/main" id="{933DBA5C-0237-4EE8-85C8-BBCEF84FE8F0}"/>
              </a:ext>
            </a:extLst>
          </p:cNvPr>
          <p:cNvSpPr txBox="1">
            <a:spLocks noChangeArrowheads="1"/>
          </p:cNvSpPr>
          <p:nvPr/>
        </p:nvSpPr>
        <p:spPr bwMode="auto">
          <a:xfrm>
            <a:off x="4151313" y="2885999"/>
            <a:ext cx="12239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hu-HU" sz="1400" b="1" i="0" u="none" strike="noStrike" kern="1200" cap="none" spc="0" normalizeH="0" baseline="0" dirty="0">
                <a:ln>
                  <a:noFill/>
                </a:ln>
                <a:solidFill>
                  <a:srgbClr val="000000"/>
                </a:solidFill>
                <a:effectLst/>
                <a:uLnTx/>
                <a:uFillTx/>
                <a:latin typeface="+mn-lt"/>
                <a:ea typeface="+mn-ea"/>
                <a:cs typeface="+mn-cs"/>
              </a:rPr>
              <a:t>Liabilities</a:t>
            </a:r>
          </a:p>
        </p:txBody>
      </p:sp>
      <p:sp>
        <p:nvSpPr>
          <p:cNvPr id="16" name="Szövegdoboz 22">
            <a:extLst>
              <a:ext uri="{FF2B5EF4-FFF2-40B4-BE49-F238E27FC236}">
                <a16:creationId xmlns:a16="http://schemas.microsoft.com/office/drawing/2014/main" id="{CDCE3435-6B8C-4BDC-9B9E-42294A27397C}"/>
              </a:ext>
            </a:extLst>
          </p:cNvPr>
          <p:cNvSpPr txBox="1">
            <a:spLocks noChangeArrowheads="1"/>
          </p:cNvSpPr>
          <p:nvPr/>
        </p:nvSpPr>
        <p:spPr bwMode="auto">
          <a:xfrm>
            <a:off x="6976270" y="2893937"/>
            <a:ext cx="12239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hu-HU" sz="1400" b="1" dirty="0">
                <a:solidFill>
                  <a:srgbClr val="000000"/>
                </a:solidFill>
                <a:latin typeface="+mn-lt"/>
              </a:rPr>
              <a:t>Assets</a:t>
            </a:r>
            <a:endParaRPr kumimoji="0" lang="en-US" altLang="hu-HU" sz="1400" b="1" i="0" u="none" strike="noStrike" kern="1200" cap="none" spc="0" normalizeH="0" baseline="0" dirty="0">
              <a:ln>
                <a:noFill/>
              </a:ln>
              <a:solidFill>
                <a:srgbClr val="000000"/>
              </a:solidFill>
              <a:effectLst/>
              <a:uLnTx/>
              <a:uFillTx/>
              <a:latin typeface="+mn-lt"/>
            </a:endParaRPr>
          </a:p>
        </p:txBody>
      </p:sp>
      <p:sp>
        <p:nvSpPr>
          <p:cNvPr id="17" name="Szövegdoboz 23">
            <a:extLst>
              <a:ext uri="{FF2B5EF4-FFF2-40B4-BE49-F238E27FC236}">
                <a16:creationId xmlns:a16="http://schemas.microsoft.com/office/drawing/2014/main" id="{B2DA5DCC-CD99-4A6C-974B-C13506BF44D4}"/>
              </a:ext>
            </a:extLst>
          </p:cNvPr>
          <p:cNvSpPr txBox="1">
            <a:spLocks noChangeArrowheads="1"/>
          </p:cNvSpPr>
          <p:nvPr/>
        </p:nvSpPr>
        <p:spPr bwMode="auto">
          <a:xfrm>
            <a:off x="9191625" y="2905049"/>
            <a:ext cx="12255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hu-HU" sz="1400" b="1" i="0" u="none" strike="noStrike" kern="1200" cap="none" spc="0" normalizeH="0" baseline="0" dirty="0">
                <a:ln>
                  <a:noFill/>
                </a:ln>
                <a:solidFill>
                  <a:srgbClr val="000000"/>
                </a:solidFill>
                <a:effectLst/>
                <a:uLnTx/>
                <a:uFillTx/>
                <a:latin typeface="+mn-lt"/>
                <a:ea typeface="+mn-ea"/>
                <a:cs typeface="+mn-cs"/>
              </a:rPr>
              <a:t>Liabilities</a:t>
            </a:r>
          </a:p>
        </p:txBody>
      </p:sp>
      <p:sp>
        <p:nvSpPr>
          <p:cNvPr id="18" name="Szövegdoboz 24">
            <a:extLst>
              <a:ext uri="{FF2B5EF4-FFF2-40B4-BE49-F238E27FC236}">
                <a16:creationId xmlns:a16="http://schemas.microsoft.com/office/drawing/2014/main" id="{3E20067E-DC3E-47D8-87FF-5B191D17EDD5}"/>
              </a:ext>
            </a:extLst>
          </p:cNvPr>
          <p:cNvSpPr txBox="1">
            <a:spLocks noChangeArrowheads="1"/>
          </p:cNvSpPr>
          <p:nvPr/>
        </p:nvSpPr>
        <p:spPr bwMode="auto">
          <a:xfrm>
            <a:off x="4295776" y="4849737"/>
            <a:ext cx="12239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hu-HU" sz="1400" b="1" i="0" u="none" strike="noStrike" kern="1200" cap="none" spc="0" normalizeH="0" baseline="0" dirty="0">
                <a:ln>
                  <a:noFill/>
                </a:ln>
                <a:solidFill>
                  <a:srgbClr val="000000"/>
                </a:solidFill>
                <a:effectLst/>
                <a:uLnTx/>
                <a:uFillTx/>
                <a:latin typeface="+mn-lt"/>
                <a:ea typeface="+mn-ea"/>
                <a:cs typeface="+mn-cs"/>
              </a:rPr>
              <a:t>Assets</a:t>
            </a:r>
          </a:p>
        </p:txBody>
      </p:sp>
      <p:sp>
        <p:nvSpPr>
          <p:cNvPr id="19" name="Szövegdoboz 25">
            <a:extLst>
              <a:ext uri="{FF2B5EF4-FFF2-40B4-BE49-F238E27FC236}">
                <a16:creationId xmlns:a16="http://schemas.microsoft.com/office/drawing/2014/main" id="{4683DA6A-C535-47C2-9A07-37DE4F49F519}"/>
              </a:ext>
            </a:extLst>
          </p:cNvPr>
          <p:cNvSpPr txBox="1">
            <a:spLocks noChangeArrowheads="1"/>
          </p:cNvSpPr>
          <p:nvPr/>
        </p:nvSpPr>
        <p:spPr bwMode="auto">
          <a:xfrm>
            <a:off x="6672263" y="4849737"/>
            <a:ext cx="12239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hu-HU" sz="1400" b="1" i="0" u="none" strike="noStrike" kern="1200" cap="none" spc="0" normalizeH="0" baseline="0" dirty="0">
                <a:ln>
                  <a:noFill/>
                </a:ln>
                <a:solidFill>
                  <a:srgbClr val="000000"/>
                </a:solidFill>
                <a:effectLst/>
                <a:uLnTx/>
                <a:uFillTx/>
                <a:latin typeface="+mn-lt"/>
                <a:ea typeface="+mn-ea"/>
                <a:cs typeface="+mn-cs"/>
              </a:rPr>
              <a:t>Liabilities</a:t>
            </a:r>
          </a:p>
        </p:txBody>
      </p:sp>
      <p:cxnSp>
        <p:nvCxnSpPr>
          <p:cNvPr id="20" name="Egyenes összekötő nyíllal 27">
            <a:extLst>
              <a:ext uri="{FF2B5EF4-FFF2-40B4-BE49-F238E27FC236}">
                <a16:creationId xmlns:a16="http://schemas.microsoft.com/office/drawing/2014/main" id="{84716624-93F6-4B87-BE10-4FD7ACA526AE}"/>
              </a:ext>
            </a:extLst>
          </p:cNvPr>
          <p:cNvCxnSpPr/>
          <p:nvPr/>
        </p:nvCxnSpPr>
        <p:spPr>
          <a:xfrm rot="16200000" flipV="1">
            <a:off x="5988051" y="2438324"/>
            <a:ext cx="1008062" cy="503237"/>
          </a:xfrm>
          <a:prstGeom prst="straightConnector1">
            <a:avLst/>
          </a:prstGeom>
          <a:ln w="38100">
            <a:solidFill>
              <a:schemeClr val="tx2"/>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1" name="Egyenes összekötő nyíllal 29">
            <a:extLst>
              <a:ext uri="{FF2B5EF4-FFF2-40B4-BE49-F238E27FC236}">
                <a16:creationId xmlns:a16="http://schemas.microsoft.com/office/drawing/2014/main" id="{66C43FF7-33C8-4C51-B723-807D015D1F7C}"/>
              </a:ext>
            </a:extLst>
          </p:cNvPr>
          <p:cNvCxnSpPr/>
          <p:nvPr/>
        </p:nvCxnSpPr>
        <p:spPr>
          <a:xfrm rot="5400000" flipH="1" flipV="1">
            <a:off x="3755232" y="4669555"/>
            <a:ext cx="936625"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Egyenes összekötő nyíllal 31">
            <a:extLst>
              <a:ext uri="{FF2B5EF4-FFF2-40B4-BE49-F238E27FC236}">
                <a16:creationId xmlns:a16="http://schemas.microsoft.com/office/drawing/2014/main" id="{59B002A7-FD1A-4CF6-AFE4-68004725B129}"/>
              </a:ext>
            </a:extLst>
          </p:cNvPr>
          <p:cNvCxnSpPr/>
          <p:nvPr/>
        </p:nvCxnSpPr>
        <p:spPr>
          <a:xfrm rot="5400000">
            <a:off x="6347620" y="4669556"/>
            <a:ext cx="936625" cy="1587"/>
          </a:xfrm>
          <a:prstGeom prst="straightConnector1">
            <a:avLst/>
          </a:prstGeom>
          <a:ln w="38100">
            <a:solidFill>
              <a:schemeClr val="tx2"/>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3" name="Egyenes összekötő nyíllal 33">
            <a:extLst>
              <a:ext uri="{FF2B5EF4-FFF2-40B4-BE49-F238E27FC236}">
                <a16:creationId xmlns:a16="http://schemas.microsoft.com/office/drawing/2014/main" id="{26381DED-2EBD-44E5-87DA-9C1ABA8532BF}"/>
              </a:ext>
            </a:extLst>
          </p:cNvPr>
          <p:cNvCxnSpPr>
            <a:stCxn id="3" idx="2"/>
          </p:cNvCxnSpPr>
          <p:nvPr/>
        </p:nvCxnSpPr>
        <p:spPr>
          <a:xfrm rot="16200000" flipH="1">
            <a:off x="4889501" y="3355899"/>
            <a:ext cx="2952750" cy="612775"/>
          </a:xfrm>
          <a:prstGeom prst="straightConnector1">
            <a:avLst/>
          </a:prstGeom>
          <a:ln w="38100">
            <a:solidFill>
              <a:schemeClr val="accent3">
                <a:lumMod val="50000"/>
              </a:schemeClr>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24" name="Egyenes összekötő nyíllal 35">
            <a:extLst>
              <a:ext uri="{FF2B5EF4-FFF2-40B4-BE49-F238E27FC236}">
                <a16:creationId xmlns:a16="http://schemas.microsoft.com/office/drawing/2014/main" id="{DAFC8A34-C92D-4DA7-90F1-AFE527E82CA3}"/>
              </a:ext>
            </a:extLst>
          </p:cNvPr>
          <p:cNvCxnSpPr/>
          <p:nvPr/>
        </p:nvCxnSpPr>
        <p:spPr>
          <a:xfrm rot="5400000">
            <a:off x="5160169" y="2474042"/>
            <a:ext cx="1008062" cy="431800"/>
          </a:xfrm>
          <a:prstGeom prst="straightConnector1">
            <a:avLst/>
          </a:prstGeom>
          <a:ln w="38100">
            <a:solidFill>
              <a:schemeClr val="accent3">
                <a:lumMod val="50000"/>
              </a:schemeClr>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25" name="Dia számának helye 1">
            <a:extLst>
              <a:ext uri="{FF2B5EF4-FFF2-40B4-BE49-F238E27FC236}">
                <a16:creationId xmlns:a16="http://schemas.microsoft.com/office/drawing/2014/main" id="{B8B57FF6-9482-4A09-8A95-E31D805BD506}"/>
              </a:ext>
            </a:extLst>
          </p:cNvPr>
          <p:cNvSpPr>
            <a:spLocks noGrp="1"/>
          </p:cNvSpPr>
          <p:nvPr>
            <p:ph type="sldNum" sz="quarter" idx="12"/>
          </p:nvPr>
        </p:nvSpPr>
        <p:spPr>
          <a:xfrm>
            <a:off x="8610600" y="6356350"/>
            <a:ext cx="2743200" cy="365125"/>
          </a:xfrm>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8E3395-0D00-4997-A8B3-B5FC5B61BE62}"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b="0" i="0" u="none" strike="noStrike" kern="1200" cap="none" spc="0" normalizeH="0" baseline="0" dirty="0">
              <a:ln>
                <a:noFill/>
              </a:ln>
              <a:solidFill>
                <a:srgbClr val="898989"/>
              </a:solidFill>
              <a:effectLst/>
              <a:uLnTx/>
              <a:uFillTx/>
              <a:latin typeface="+mn-lt"/>
              <a:ea typeface="+mn-ea"/>
              <a:cs typeface="+mn-cs"/>
            </a:endParaRPr>
          </a:p>
        </p:txBody>
      </p:sp>
    </p:spTree>
    <p:extLst>
      <p:ext uri="{BB962C8B-B14F-4D97-AF65-F5344CB8AC3E}">
        <p14:creationId xmlns:p14="http://schemas.microsoft.com/office/powerpoint/2010/main" val="1565624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sz="quarter"/>
          </p:nvPr>
        </p:nvSpPr>
        <p:spPr>
          <a:xfrm>
            <a:off x="841248" y="365760"/>
            <a:ext cx="10515600" cy="841248"/>
          </a:xfrm>
        </p:spPr>
        <p:txBody>
          <a:bodyPr/>
          <a:lstStyle/>
          <a:p>
            <a:pPr eaLnBrk="1" hangingPunct="1"/>
            <a:r>
              <a:rPr lang="en-US" altLang="hu-HU" dirty="0"/>
              <a:t>Banks in Arrow-Debreu model</a:t>
            </a:r>
          </a:p>
        </p:txBody>
      </p:sp>
      <mc:AlternateContent xmlns:mc="http://schemas.openxmlformats.org/markup-compatibility/2006" xmlns:a14="http://schemas.microsoft.com/office/drawing/2010/main">
        <mc:Choice Requires="a14">
          <p:sp>
            <p:nvSpPr>
              <p:cNvPr id="10243" name="Object 3"/>
              <p:cNvSpPr txBox="1">
                <a:spLocks noGrp="1"/>
              </p:cNvSpPr>
              <p:nvPr>
                <p:ph sz="quarter" idx="1"/>
              </p:nvPr>
            </p:nvSpPr>
            <p:spPr bwMode="auto">
              <a:xfrm>
                <a:off x="841248" y="1307592"/>
                <a:ext cx="4882244" cy="1539875"/>
              </a:xfrm>
              <a:prstGeom prst="rect">
                <a:avLst/>
              </a:prstGeom>
              <a:noFill/>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r>
                        <a:rPr lang="en-US" b="0" i="1" smtClean="0">
                          <a:solidFill>
                            <a:srgbClr val="000000"/>
                          </a:solidFill>
                          <a:latin typeface="Cambria Math" panose="02040503050406030204" pitchFamily="18" charset="0"/>
                        </a:rPr>
                        <m:t>𝐶𝑜𝑛𝑠𝑢𝑚𝑒𝑟</m:t>
                      </m:r>
                      <m:r>
                        <a:rPr lang="en-US" i="1" smtClean="0">
                          <a:solidFill>
                            <a:srgbClr val="000000"/>
                          </a:solidFill>
                          <a:latin typeface="Cambria Math" panose="02040503050406030204" pitchFamily="18" charset="0"/>
                        </a:rPr>
                        <m:t>:</m:t>
                      </m:r>
                    </m:oMath>
                    <m:oMath xmlns:m="http://schemas.openxmlformats.org/officeDocument/2006/math">
                      <m:func>
                        <m:funcPr>
                          <m:ctrlPr>
                            <a:rPr lang="en-US" i="1" smtClean="0">
                              <a:solidFill>
                                <a:srgbClr val="000000"/>
                              </a:solidFill>
                              <a:latin typeface="Cambria Math" panose="02040503050406030204" pitchFamily="18" charset="0"/>
                            </a:rPr>
                          </m:ctrlPr>
                        </m:funcPr>
                        <m:fName>
                          <m:r>
                            <m:rPr>
                              <m:sty m:val="p"/>
                            </m:rPr>
                            <a:rPr lang="en-US" i="0" smtClean="0">
                              <a:solidFill>
                                <a:srgbClr val="000000"/>
                              </a:solidFill>
                              <a:latin typeface="Cambria Math" panose="02040503050406030204" pitchFamily="18" charset="0"/>
                            </a:rPr>
                            <m:t>max</m:t>
                          </m:r>
                          <m:r>
                            <a:rPr lang="en-US" i="0" smtClean="0">
                              <a:solidFill>
                                <a:srgbClr val="000000"/>
                              </a:solidFill>
                              <a:latin typeface="Cambria Math" panose="02040503050406030204" pitchFamily="18" charset="0"/>
                            </a:rPr>
                            <m:t>_</m:t>
                          </m:r>
                        </m:fName>
                        <m:e>
                          <m:r>
                            <a:rPr lang="en-US" i="1" smtClean="0">
                              <a:solidFill>
                                <a:srgbClr val="000000"/>
                              </a:solidFill>
                              <a:latin typeface="Cambria Math" panose="02040503050406030204" pitchFamily="18" charset="0"/>
                            </a:rPr>
                            <m:t>𝑢</m:t>
                          </m:r>
                        </m:e>
                      </m:func>
                      <m:d>
                        <m:dPr>
                          <m:ctrlPr>
                            <a:rPr lang="en-US" i="1" smtClean="0">
                              <a:solidFill>
                                <a:srgbClr val="000000"/>
                              </a:solidFill>
                              <a:latin typeface="Cambria Math" panose="02040503050406030204" pitchFamily="18" charset="0"/>
                            </a:rPr>
                          </m:ctrlPr>
                        </m:dPr>
                        <m:e>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𝐶</m:t>
                              </m:r>
                            </m:e>
                            <m:sub>
                              <m:r>
                                <a:rPr lang="en-US" i="1" smtClean="0">
                                  <a:solidFill>
                                    <a:srgbClr val="000000"/>
                                  </a:solidFill>
                                  <a:latin typeface="Cambria Math" panose="02040503050406030204" pitchFamily="18" charset="0"/>
                                </a:rPr>
                                <m:t>1</m:t>
                              </m:r>
                            </m:sub>
                          </m:sSub>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𝐶</m:t>
                              </m:r>
                            </m:e>
                            <m:sub>
                              <m:r>
                                <a:rPr lang="en-US" i="1" smtClean="0">
                                  <a:solidFill>
                                    <a:srgbClr val="000000"/>
                                  </a:solidFill>
                                  <a:latin typeface="Cambria Math" panose="02040503050406030204" pitchFamily="18" charset="0"/>
                                </a:rPr>
                                <m:t>2</m:t>
                              </m:r>
                            </m:sub>
                          </m:sSub>
                        </m:e>
                      </m:d>
                    </m:oMath>
                    <m:oMath xmlns:m="http://schemas.openxmlformats.org/officeDocument/2006/math">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𝐶</m:t>
                          </m:r>
                        </m:e>
                        <m:sub>
                          <m:r>
                            <a:rPr lang="en-US" i="1" smtClean="0">
                              <a:solidFill>
                                <a:srgbClr val="000000"/>
                              </a:solidFill>
                              <a:latin typeface="Cambria Math" panose="02040503050406030204" pitchFamily="18" charset="0"/>
                            </a:rPr>
                            <m:t>1</m:t>
                          </m:r>
                        </m:sub>
                      </m:sSub>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𝐵</m:t>
                          </m:r>
                        </m:e>
                        <m:sub>
                          <m:r>
                            <a:rPr lang="en-US" i="1" smtClean="0">
                              <a:solidFill>
                                <a:srgbClr val="000000"/>
                              </a:solidFill>
                              <a:latin typeface="Cambria Math" panose="02040503050406030204" pitchFamily="18" charset="0"/>
                            </a:rPr>
                            <m:t>h</m:t>
                          </m:r>
                        </m:sub>
                      </m:sSub>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𝐷</m:t>
                          </m:r>
                        </m:e>
                        <m:sub>
                          <m:r>
                            <a:rPr lang="en-US" i="1" smtClean="0">
                              <a:solidFill>
                                <a:srgbClr val="000000"/>
                              </a:solidFill>
                              <a:latin typeface="Cambria Math" panose="02040503050406030204" pitchFamily="18" charset="0"/>
                            </a:rPr>
                            <m:t>h</m:t>
                          </m:r>
                        </m:sub>
                      </m:sSub>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𝜔</m:t>
                          </m:r>
                        </m:e>
                        <m:sub>
                          <m:r>
                            <a:rPr lang="en-US" i="1" smtClean="0">
                              <a:solidFill>
                                <a:srgbClr val="000000"/>
                              </a:solidFill>
                              <a:latin typeface="Cambria Math" panose="02040503050406030204" pitchFamily="18" charset="0"/>
                            </a:rPr>
                            <m:t>1</m:t>
                          </m:r>
                        </m:sub>
                      </m:sSub>
                    </m:oMath>
                    <m:oMath xmlns:m="http://schemas.openxmlformats.org/officeDocument/2006/math">
                      <m:r>
                        <a:rPr lang="en-US" i="1" smtClean="0">
                          <a:solidFill>
                            <a:srgbClr val="000000"/>
                          </a:solidFill>
                          <a:latin typeface="Cambria Math" panose="02040503050406030204" pitchFamily="18" charset="0"/>
                        </a:rPr>
                        <m:t>𝑝</m:t>
                      </m:r>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𝐶</m:t>
                          </m:r>
                        </m:e>
                        <m:sub>
                          <m:r>
                            <a:rPr lang="en-US" i="1" smtClean="0">
                              <a:solidFill>
                                <a:srgbClr val="000000"/>
                              </a:solidFill>
                              <a:latin typeface="Cambria Math" panose="02040503050406030204" pitchFamily="18" charset="0"/>
                            </a:rPr>
                            <m:t>2</m:t>
                          </m:r>
                        </m:sub>
                      </m:sSub>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m:rPr>
                              <m:sty m:val="p"/>
                            </m:rPr>
                            <a:rPr lang="en-US" i="1" smtClean="0">
                              <a:solidFill>
                                <a:srgbClr val="000000"/>
                              </a:solidFill>
                              <a:latin typeface="Cambria Math" panose="02040503050406030204" pitchFamily="18" charset="0"/>
                            </a:rPr>
                            <m:t>Π</m:t>
                          </m:r>
                        </m:e>
                        <m:sub>
                          <m:r>
                            <a:rPr lang="en-US" i="1" smtClean="0">
                              <a:solidFill>
                                <a:srgbClr val="000000"/>
                              </a:solidFill>
                              <a:latin typeface="Cambria Math" panose="02040503050406030204" pitchFamily="18" charset="0"/>
                            </a:rPr>
                            <m:t>𝑓</m:t>
                          </m:r>
                        </m:sub>
                      </m:sSub>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m:rPr>
                              <m:sty m:val="p"/>
                            </m:rPr>
                            <a:rPr lang="en-US" i="1" smtClean="0">
                              <a:solidFill>
                                <a:srgbClr val="000000"/>
                              </a:solidFill>
                              <a:latin typeface="Cambria Math" panose="02040503050406030204" pitchFamily="18" charset="0"/>
                            </a:rPr>
                            <m:t>Π</m:t>
                          </m:r>
                        </m:e>
                        <m:sub>
                          <m:r>
                            <a:rPr lang="en-US" i="1" smtClean="0">
                              <a:solidFill>
                                <a:srgbClr val="000000"/>
                              </a:solidFill>
                              <a:latin typeface="Cambria Math" panose="02040503050406030204" pitchFamily="18" charset="0"/>
                            </a:rPr>
                            <m:t>𝑏</m:t>
                          </m:r>
                        </m:sub>
                      </m:sSub>
                      <m:r>
                        <a:rPr lang="en-US" i="1" smtClean="0">
                          <a:solidFill>
                            <a:srgbClr val="000000"/>
                          </a:solidFill>
                          <a:latin typeface="Cambria Math" panose="02040503050406030204" pitchFamily="18" charset="0"/>
                        </a:rPr>
                        <m:t>+</m:t>
                      </m:r>
                      <m:d>
                        <m:dPr>
                          <m:ctrlPr>
                            <a:rPr lang="en-US" i="1" smtClean="0">
                              <a:solidFill>
                                <a:srgbClr val="000000"/>
                              </a:solidFill>
                              <a:latin typeface="Cambria Math" panose="02040503050406030204" pitchFamily="18" charset="0"/>
                            </a:rPr>
                          </m:ctrlPr>
                        </m:dPr>
                        <m:e>
                          <m:r>
                            <a:rPr lang="en-US" i="1" smtClean="0">
                              <a:solidFill>
                                <a:srgbClr val="000000"/>
                              </a:solidFill>
                              <a:latin typeface="Cambria Math" panose="02040503050406030204" pitchFamily="18" charset="0"/>
                            </a:rPr>
                            <m:t>1+</m:t>
                          </m:r>
                          <m:r>
                            <a:rPr lang="en-US" i="1" smtClean="0">
                              <a:solidFill>
                                <a:srgbClr val="000000"/>
                              </a:solidFill>
                              <a:latin typeface="Cambria Math" panose="02040503050406030204" pitchFamily="18" charset="0"/>
                            </a:rPr>
                            <m:t>𝑟</m:t>
                          </m:r>
                        </m:e>
                      </m:d>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𝐵</m:t>
                          </m:r>
                        </m:e>
                        <m:sub>
                          <m:r>
                            <a:rPr lang="en-US" i="1" smtClean="0">
                              <a:solidFill>
                                <a:srgbClr val="000000"/>
                              </a:solidFill>
                              <a:latin typeface="Cambria Math" panose="02040503050406030204" pitchFamily="18" charset="0"/>
                            </a:rPr>
                            <m:t>h</m:t>
                          </m:r>
                        </m:sub>
                      </m:sSub>
                      <m:r>
                        <a:rPr lang="en-US" i="1" smtClean="0">
                          <a:solidFill>
                            <a:srgbClr val="000000"/>
                          </a:solidFill>
                          <a:latin typeface="Cambria Math" panose="02040503050406030204" pitchFamily="18" charset="0"/>
                        </a:rPr>
                        <m:t>+</m:t>
                      </m:r>
                      <m:d>
                        <m:dPr>
                          <m:ctrlPr>
                            <a:rPr lang="en-US" i="1" smtClean="0">
                              <a:solidFill>
                                <a:srgbClr val="000000"/>
                              </a:solidFill>
                              <a:latin typeface="Cambria Math" panose="02040503050406030204" pitchFamily="18" charset="0"/>
                            </a:rPr>
                          </m:ctrlPr>
                        </m:dPr>
                        <m:e>
                          <m:r>
                            <a:rPr lang="en-US" i="1" smtClean="0">
                              <a:solidFill>
                                <a:srgbClr val="000000"/>
                              </a:solidFill>
                              <a:latin typeface="Cambria Math" panose="02040503050406030204" pitchFamily="18" charset="0"/>
                            </a:rPr>
                            <m:t>1+</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𝑟</m:t>
                              </m:r>
                            </m:e>
                            <m:sub>
                              <m:r>
                                <a:rPr lang="en-US" i="1" smtClean="0">
                                  <a:solidFill>
                                    <a:srgbClr val="000000"/>
                                  </a:solidFill>
                                  <a:latin typeface="Cambria Math" panose="02040503050406030204" pitchFamily="18" charset="0"/>
                                </a:rPr>
                                <m:t>𝐷</m:t>
                              </m:r>
                            </m:sub>
                          </m:sSub>
                        </m:e>
                      </m:d>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𝐷</m:t>
                          </m:r>
                        </m:e>
                        <m:sub>
                          <m:r>
                            <a:rPr lang="en-US" i="1" smtClean="0">
                              <a:solidFill>
                                <a:srgbClr val="000000"/>
                              </a:solidFill>
                              <a:latin typeface="Cambria Math" panose="02040503050406030204" pitchFamily="18" charset="0"/>
                            </a:rPr>
                            <m:t>h</m:t>
                          </m:r>
                        </m:sub>
                      </m:sSub>
                    </m:oMath>
                    <m:oMath xmlns:m="http://schemas.openxmlformats.org/officeDocument/2006/math">
                      <m:r>
                        <a:rPr lang="en-US" i="1" smtClean="0">
                          <a:solidFill>
                            <a:srgbClr val="000000"/>
                          </a:solidFill>
                          <a:latin typeface="Cambria Math" panose="02040503050406030204" pitchFamily="18" charset="0"/>
                        </a:rPr>
                        <m:t>⇒</m:t>
                      </m:r>
                      <m:r>
                        <a:rPr lang="en-US" i="1" smtClean="0">
                          <a:solidFill>
                            <a:srgbClr val="000000"/>
                          </a:solidFill>
                          <a:latin typeface="Cambria Math" panose="02040503050406030204" pitchFamily="18" charset="0"/>
                        </a:rPr>
                        <m:t>𝑟</m:t>
                      </m:r>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𝑟</m:t>
                          </m:r>
                        </m:e>
                        <m:sub>
                          <m:r>
                            <a:rPr lang="en-US" i="1" smtClean="0">
                              <a:solidFill>
                                <a:srgbClr val="000000"/>
                              </a:solidFill>
                              <a:latin typeface="Cambria Math" panose="02040503050406030204" pitchFamily="18" charset="0"/>
                            </a:rPr>
                            <m:t>𝐷</m:t>
                          </m:r>
                        </m:sub>
                      </m:sSub>
                    </m:oMath>
                  </m:oMathPara>
                </a14:m>
                <a:endParaRPr lang="en-US" dirty="0"/>
              </a:p>
            </p:txBody>
          </p:sp>
        </mc:Choice>
        <mc:Fallback xmlns="">
          <p:sp>
            <p:nvSpPr>
              <p:cNvPr id="10243" name="Object 3"/>
              <p:cNvSpPr txBox="1">
                <a:spLocks noGrp="1" noRot="1" noChangeAspect="1" noMove="1" noResize="1" noEditPoints="1" noAdjustHandles="1" noChangeArrowheads="1" noChangeShapeType="1" noTextEdit="1"/>
              </p:cNvSpPr>
              <p:nvPr>
                <p:ph sz="quarter" idx="1"/>
              </p:nvPr>
            </p:nvSpPr>
            <p:spPr bwMode="auto">
              <a:xfrm>
                <a:off x="841248" y="1307592"/>
                <a:ext cx="4882244" cy="1539875"/>
              </a:xfrm>
              <a:prstGeom prst="rect">
                <a:avLst/>
              </a:prstGeom>
              <a:blipFill>
                <a:blip r:embed="rId3"/>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10244" name="Object 4"/>
              <p:cNvSpPr txBox="1">
                <a:spLocks noGrp="1"/>
              </p:cNvSpPr>
              <p:nvPr>
                <p:ph sz="quarter" idx="2"/>
              </p:nvPr>
            </p:nvSpPr>
            <p:spPr bwMode="auto">
              <a:xfrm>
                <a:off x="841248" y="2939796"/>
                <a:ext cx="4162879" cy="1692275"/>
              </a:xfrm>
              <a:prstGeom prst="rect">
                <a:avLst/>
              </a:prstGeom>
              <a:noFill/>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r>
                        <a:rPr lang="en-US" b="0" i="1" smtClean="0">
                          <a:solidFill>
                            <a:srgbClr val="000000"/>
                          </a:solidFill>
                          <a:latin typeface="Cambria Math" panose="02040503050406030204" pitchFamily="18" charset="0"/>
                        </a:rPr>
                        <m:t>𝐹𝑖𝑟𝑚</m:t>
                      </m:r>
                      <m:r>
                        <a:rPr lang="en-US" i="1" smtClean="0">
                          <a:solidFill>
                            <a:srgbClr val="000000"/>
                          </a:solidFill>
                          <a:latin typeface="Cambria Math" panose="02040503050406030204" pitchFamily="18" charset="0"/>
                        </a:rPr>
                        <m:t>:</m:t>
                      </m:r>
                    </m:oMath>
                    <m:oMath xmlns:m="http://schemas.openxmlformats.org/officeDocument/2006/math">
                      <m:func>
                        <m:funcPr>
                          <m:ctrlPr>
                            <a:rPr lang="en-US" i="1" smtClean="0">
                              <a:solidFill>
                                <a:srgbClr val="000000"/>
                              </a:solidFill>
                              <a:latin typeface="Cambria Math" panose="02040503050406030204" pitchFamily="18" charset="0"/>
                            </a:rPr>
                          </m:ctrlPr>
                        </m:funcPr>
                        <m:fName>
                          <m:r>
                            <m:rPr>
                              <m:sty m:val="p"/>
                            </m:rPr>
                            <a:rPr lang="en-US" i="0" smtClean="0">
                              <a:solidFill>
                                <a:srgbClr val="000000"/>
                              </a:solidFill>
                              <a:latin typeface="Cambria Math" panose="02040503050406030204" pitchFamily="18" charset="0"/>
                            </a:rPr>
                            <m:t>max</m:t>
                          </m:r>
                        </m:fName>
                        <m:e>
                          <m:d>
                            <m:dPr>
                              <m:ctrlPr>
                                <a:rPr lang="en-US" i="1" smtClean="0">
                                  <a:solidFill>
                                    <a:srgbClr val="000000"/>
                                  </a:solidFill>
                                  <a:latin typeface="Cambria Math" panose="02040503050406030204" pitchFamily="18" charset="0"/>
                                </a:rPr>
                              </m:ctrlPr>
                            </m:dPr>
                            <m:e>
                              <m:sSub>
                                <m:sSubPr>
                                  <m:ctrlPr>
                                    <a:rPr lang="en-US" i="1" smtClean="0">
                                      <a:solidFill>
                                        <a:srgbClr val="000000"/>
                                      </a:solidFill>
                                      <a:latin typeface="Cambria Math" panose="02040503050406030204" pitchFamily="18" charset="0"/>
                                    </a:rPr>
                                  </m:ctrlPr>
                                </m:sSubPr>
                                <m:e>
                                  <m:r>
                                    <m:rPr>
                                      <m:sty m:val="p"/>
                                    </m:rPr>
                                    <a:rPr lang="en-US" i="1" smtClean="0">
                                      <a:solidFill>
                                        <a:srgbClr val="000000"/>
                                      </a:solidFill>
                                      <a:latin typeface="Cambria Math" panose="02040503050406030204" pitchFamily="18" charset="0"/>
                                    </a:rPr>
                                    <m:t>Π</m:t>
                                  </m:r>
                                </m:e>
                                <m:sub>
                                  <m:r>
                                    <a:rPr lang="en-US" i="1" smtClean="0">
                                      <a:solidFill>
                                        <a:srgbClr val="000000"/>
                                      </a:solidFill>
                                      <a:latin typeface="Cambria Math" panose="02040503050406030204" pitchFamily="18" charset="0"/>
                                    </a:rPr>
                                    <m:t>𝑓</m:t>
                                  </m:r>
                                </m:sub>
                              </m:sSub>
                            </m:e>
                          </m:d>
                        </m:e>
                      </m:func>
                    </m:oMath>
                    <m:oMath xmlns:m="http://schemas.openxmlformats.org/officeDocument/2006/math">
                      <m:sSub>
                        <m:sSubPr>
                          <m:ctrlPr>
                            <a:rPr lang="en-US" i="1" smtClean="0">
                              <a:solidFill>
                                <a:srgbClr val="000000"/>
                              </a:solidFill>
                              <a:latin typeface="Cambria Math" panose="02040503050406030204" pitchFamily="18" charset="0"/>
                            </a:rPr>
                          </m:ctrlPr>
                        </m:sSubPr>
                        <m:e>
                          <m:r>
                            <m:rPr>
                              <m:sty m:val="p"/>
                            </m:rPr>
                            <a:rPr lang="en-US" i="1" smtClean="0">
                              <a:solidFill>
                                <a:srgbClr val="000000"/>
                              </a:solidFill>
                              <a:latin typeface="Cambria Math" panose="02040503050406030204" pitchFamily="18" charset="0"/>
                            </a:rPr>
                            <m:t>Π</m:t>
                          </m:r>
                        </m:e>
                        <m:sub>
                          <m:r>
                            <a:rPr lang="en-US" i="1" smtClean="0">
                              <a:solidFill>
                                <a:srgbClr val="000000"/>
                              </a:solidFill>
                              <a:latin typeface="Cambria Math" panose="02040503050406030204" pitchFamily="18" charset="0"/>
                            </a:rPr>
                            <m:t>𝑓</m:t>
                          </m:r>
                        </m:sub>
                      </m:sSub>
                      <m:r>
                        <a:rPr lang="en-US" i="1" smtClean="0">
                          <a:solidFill>
                            <a:srgbClr val="000000"/>
                          </a:solidFill>
                          <a:latin typeface="Cambria Math" panose="02040503050406030204" pitchFamily="18" charset="0"/>
                        </a:rPr>
                        <m:t>=</m:t>
                      </m:r>
                      <m:r>
                        <a:rPr lang="en-US" i="1" smtClean="0">
                          <a:solidFill>
                            <a:srgbClr val="000000"/>
                          </a:solidFill>
                          <a:latin typeface="Cambria Math" panose="02040503050406030204" pitchFamily="18" charset="0"/>
                        </a:rPr>
                        <m:t>𝑝</m:t>
                      </m:r>
                      <m:r>
                        <a:rPr lang="en-US" i="1" smtClean="0">
                          <a:solidFill>
                            <a:srgbClr val="000000"/>
                          </a:solidFill>
                          <a:latin typeface="Cambria Math" panose="02040503050406030204" pitchFamily="18" charset="0"/>
                        </a:rPr>
                        <m:t>⋅</m:t>
                      </m:r>
                      <m:r>
                        <a:rPr lang="en-US" i="1" smtClean="0">
                          <a:solidFill>
                            <a:srgbClr val="000000"/>
                          </a:solidFill>
                          <a:latin typeface="Cambria Math" panose="02040503050406030204" pitchFamily="18" charset="0"/>
                        </a:rPr>
                        <m:t>𝑓</m:t>
                      </m:r>
                      <m:d>
                        <m:dPr>
                          <m:ctrlPr>
                            <a:rPr lang="en-US" i="1" smtClean="0">
                              <a:solidFill>
                                <a:srgbClr val="000000"/>
                              </a:solidFill>
                              <a:latin typeface="Cambria Math" panose="02040503050406030204" pitchFamily="18" charset="0"/>
                            </a:rPr>
                          </m:ctrlPr>
                        </m:dPr>
                        <m:e>
                          <m:r>
                            <a:rPr lang="en-US" i="1" smtClean="0">
                              <a:solidFill>
                                <a:srgbClr val="000000"/>
                              </a:solidFill>
                              <a:latin typeface="Cambria Math" panose="02040503050406030204" pitchFamily="18" charset="0"/>
                            </a:rPr>
                            <m:t>𝐼</m:t>
                          </m:r>
                        </m:e>
                      </m:d>
                      <m:r>
                        <a:rPr lang="en-US" i="1" smtClean="0">
                          <a:solidFill>
                            <a:srgbClr val="000000"/>
                          </a:solidFill>
                          <a:latin typeface="Cambria Math" panose="02040503050406030204" pitchFamily="18" charset="0"/>
                        </a:rPr>
                        <m:t>−</m:t>
                      </m:r>
                      <m:d>
                        <m:dPr>
                          <m:ctrlPr>
                            <a:rPr lang="en-US" i="1" smtClean="0">
                              <a:solidFill>
                                <a:srgbClr val="000000"/>
                              </a:solidFill>
                              <a:latin typeface="Cambria Math" panose="02040503050406030204" pitchFamily="18" charset="0"/>
                            </a:rPr>
                          </m:ctrlPr>
                        </m:dPr>
                        <m:e>
                          <m:r>
                            <a:rPr lang="en-US" i="1" smtClean="0">
                              <a:solidFill>
                                <a:srgbClr val="000000"/>
                              </a:solidFill>
                              <a:latin typeface="Cambria Math" panose="02040503050406030204" pitchFamily="18" charset="0"/>
                            </a:rPr>
                            <m:t>1+</m:t>
                          </m:r>
                          <m:r>
                            <a:rPr lang="en-US" i="1" smtClean="0">
                              <a:solidFill>
                                <a:srgbClr val="000000"/>
                              </a:solidFill>
                              <a:latin typeface="Cambria Math" panose="02040503050406030204" pitchFamily="18" charset="0"/>
                            </a:rPr>
                            <m:t>𝑟</m:t>
                          </m:r>
                        </m:e>
                      </m:d>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𝐵</m:t>
                          </m:r>
                        </m:e>
                        <m:sub>
                          <m:r>
                            <a:rPr lang="en-US" i="1" smtClean="0">
                              <a:solidFill>
                                <a:srgbClr val="000000"/>
                              </a:solidFill>
                              <a:latin typeface="Cambria Math" panose="02040503050406030204" pitchFamily="18" charset="0"/>
                            </a:rPr>
                            <m:t>𝑓</m:t>
                          </m:r>
                        </m:sub>
                      </m:sSub>
                      <m:r>
                        <a:rPr lang="en-US" i="1" smtClean="0">
                          <a:solidFill>
                            <a:srgbClr val="000000"/>
                          </a:solidFill>
                          <a:latin typeface="Cambria Math" panose="02040503050406030204" pitchFamily="18" charset="0"/>
                        </a:rPr>
                        <m:t>−</m:t>
                      </m:r>
                      <m:d>
                        <m:dPr>
                          <m:ctrlPr>
                            <a:rPr lang="en-US" i="1" smtClean="0">
                              <a:solidFill>
                                <a:srgbClr val="000000"/>
                              </a:solidFill>
                              <a:latin typeface="Cambria Math" panose="02040503050406030204" pitchFamily="18" charset="0"/>
                            </a:rPr>
                          </m:ctrlPr>
                        </m:dPr>
                        <m:e>
                          <m:r>
                            <a:rPr lang="en-US" i="1" smtClean="0">
                              <a:solidFill>
                                <a:srgbClr val="000000"/>
                              </a:solidFill>
                              <a:latin typeface="Cambria Math" panose="02040503050406030204" pitchFamily="18" charset="0"/>
                            </a:rPr>
                            <m:t>1+</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𝑟</m:t>
                              </m:r>
                            </m:e>
                            <m:sub>
                              <m:r>
                                <a:rPr lang="en-US" i="1" smtClean="0">
                                  <a:solidFill>
                                    <a:srgbClr val="000000"/>
                                  </a:solidFill>
                                  <a:latin typeface="Cambria Math" panose="02040503050406030204" pitchFamily="18" charset="0"/>
                                </a:rPr>
                                <m:t>𝐿</m:t>
                              </m:r>
                            </m:sub>
                          </m:sSub>
                        </m:e>
                      </m:d>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𝐿</m:t>
                          </m:r>
                        </m:e>
                        <m:sub>
                          <m:r>
                            <a:rPr lang="en-US" i="1" smtClean="0">
                              <a:solidFill>
                                <a:srgbClr val="000000"/>
                              </a:solidFill>
                              <a:latin typeface="Cambria Math" panose="02040503050406030204" pitchFamily="18" charset="0"/>
                            </a:rPr>
                            <m:t>𝑓</m:t>
                          </m:r>
                        </m:sub>
                      </m:sSub>
                    </m:oMath>
                    <m:oMath xmlns:m="http://schemas.openxmlformats.org/officeDocument/2006/math">
                      <m:r>
                        <a:rPr lang="en-US" i="1" smtClean="0">
                          <a:solidFill>
                            <a:srgbClr val="000000"/>
                          </a:solidFill>
                          <a:latin typeface="Cambria Math" panose="02040503050406030204" pitchFamily="18" charset="0"/>
                        </a:rPr>
                        <m:t>𝐼</m:t>
                      </m:r>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𝐵</m:t>
                          </m:r>
                        </m:e>
                        <m:sub>
                          <m:r>
                            <a:rPr lang="en-US" i="1" smtClean="0">
                              <a:solidFill>
                                <a:srgbClr val="000000"/>
                              </a:solidFill>
                              <a:latin typeface="Cambria Math" panose="02040503050406030204" pitchFamily="18" charset="0"/>
                            </a:rPr>
                            <m:t>𝑓</m:t>
                          </m:r>
                        </m:sub>
                      </m:sSub>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𝐿</m:t>
                          </m:r>
                        </m:e>
                        <m:sub>
                          <m:r>
                            <a:rPr lang="en-US" i="1" smtClean="0">
                              <a:solidFill>
                                <a:srgbClr val="000000"/>
                              </a:solidFill>
                              <a:latin typeface="Cambria Math" panose="02040503050406030204" pitchFamily="18" charset="0"/>
                            </a:rPr>
                            <m:t>𝑓</m:t>
                          </m:r>
                        </m:sub>
                      </m:sSub>
                    </m:oMath>
                    <m:oMath xmlns:m="http://schemas.openxmlformats.org/officeDocument/2006/math">
                      <m:r>
                        <a:rPr lang="en-US" i="1" smtClean="0">
                          <a:solidFill>
                            <a:srgbClr val="000000"/>
                          </a:solidFill>
                          <a:latin typeface="Cambria Math" panose="02040503050406030204" pitchFamily="18" charset="0"/>
                        </a:rPr>
                        <m:t>⇒</m:t>
                      </m:r>
                      <m:r>
                        <a:rPr lang="en-US" i="1" smtClean="0">
                          <a:solidFill>
                            <a:srgbClr val="000000"/>
                          </a:solidFill>
                          <a:latin typeface="Cambria Math" panose="02040503050406030204" pitchFamily="18" charset="0"/>
                        </a:rPr>
                        <m:t>𝑟</m:t>
                      </m:r>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𝑟</m:t>
                          </m:r>
                        </m:e>
                        <m:sub>
                          <m:r>
                            <a:rPr lang="en-US" i="1" smtClean="0">
                              <a:solidFill>
                                <a:srgbClr val="000000"/>
                              </a:solidFill>
                              <a:latin typeface="Cambria Math" panose="02040503050406030204" pitchFamily="18" charset="0"/>
                            </a:rPr>
                            <m:t>𝐿</m:t>
                          </m:r>
                        </m:sub>
                      </m:sSub>
                    </m:oMath>
                  </m:oMathPara>
                </a14:m>
                <a:endParaRPr lang="en-US" dirty="0"/>
              </a:p>
            </p:txBody>
          </p:sp>
        </mc:Choice>
        <mc:Fallback xmlns="">
          <p:sp>
            <p:nvSpPr>
              <p:cNvPr id="10244" name="Object 4"/>
              <p:cNvSpPr txBox="1">
                <a:spLocks noGrp="1" noRot="1" noChangeAspect="1" noMove="1" noResize="1" noEditPoints="1" noAdjustHandles="1" noChangeArrowheads="1" noChangeShapeType="1" noTextEdit="1"/>
              </p:cNvSpPr>
              <p:nvPr>
                <p:ph sz="quarter" idx="2"/>
              </p:nvPr>
            </p:nvSpPr>
            <p:spPr bwMode="auto">
              <a:xfrm>
                <a:off x="841248" y="2939796"/>
                <a:ext cx="4162879" cy="1692275"/>
              </a:xfrm>
              <a:prstGeom prst="rect">
                <a:avLst/>
              </a:prstGeom>
              <a:blipFill>
                <a:blip r:embed="rId4"/>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10245" name="Object 5"/>
              <p:cNvSpPr txBox="1">
                <a:spLocks noGrp="1"/>
              </p:cNvSpPr>
              <p:nvPr>
                <p:ph sz="quarter" idx="3"/>
              </p:nvPr>
            </p:nvSpPr>
            <p:spPr bwMode="auto">
              <a:xfrm>
                <a:off x="841248" y="4724400"/>
                <a:ext cx="3519896" cy="1800225"/>
              </a:xfrm>
              <a:prstGeom prst="rect">
                <a:avLst/>
              </a:prstGeom>
              <a:noFill/>
            </p:spPr>
            <p:txBody>
              <a:bodyPr>
                <a:normAutofit/>
              </a:bodyPr>
              <a:lstStyle/>
              <a:p>
                <a:pPr>
                  <a:buNone/>
                </a:pPr>
                <a14:m>
                  <m:oMathPara xmlns:m="http://schemas.openxmlformats.org/officeDocument/2006/math">
                    <m:oMathParaPr>
                      <m:jc m:val="left"/>
                    </m:oMathParaPr>
                    <m:oMath xmlns:m="http://schemas.openxmlformats.org/officeDocument/2006/math">
                      <m:r>
                        <a:rPr lang="en-US" sz="1500" i="1" smtClean="0">
                          <a:solidFill>
                            <a:srgbClr val="000000"/>
                          </a:solidFill>
                          <a:latin typeface="Cambria Math" panose="02040503050406030204" pitchFamily="18" charset="0"/>
                        </a:rPr>
                        <m:t>𝐵𝑎𝑛𝑘</m:t>
                      </m:r>
                      <m:r>
                        <a:rPr lang="en-US" sz="1500" i="1" smtClean="0">
                          <a:solidFill>
                            <a:srgbClr val="000000"/>
                          </a:solidFill>
                          <a:latin typeface="Cambria Math" panose="02040503050406030204" pitchFamily="18" charset="0"/>
                        </a:rPr>
                        <m:t>:</m:t>
                      </m:r>
                    </m:oMath>
                    <m:oMath xmlns:m="http://schemas.openxmlformats.org/officeDocument/2006/math">
                      <m:func>
                        <m:funcPr>
                          <m:ctrlPr>
                            <a:rPr lang="en-US" sz="1500" i="1" smtClean="0">
                              <a:solidFill>
                                <a:srgbClr val="000000"/>
                              </a:solidFill>
                              <a:latin typeface="Cambria Math" panose="02040503050406030204" pitchFamily="18" charset="0"/>
                            </a:rPr>
                          </m:ctrlPr>
                        </m:funcPr>
                        <m:fName>
                          <m:r>
                            <m:rPr>
                              <m:sty m:val="p"/>
                            </m:rPr>
                            <a:rPr lang="en-US" sz="1500" i="1" smtClean="0">
                              <a:solidFill>
                                <a:srgbClr val="000000"/>
                              </a:solidFill>
                              <a:latin typeface="Cambria Math" panose="02040503050406030204" pitchFamily="18" charset="0"/>
                            </a:rPr>
                            <m:t>max</m:t>
                          </m:r>
                        </m:fName>
                        <m:e>
                          <m:d>
                            <m:dPr>
                              <m:ctrlPr>
                                <a:rPr lang="en-US" sz="1500" i="1" smtClean="0">
                                  <a:solidFill>
                                    <a:srgbClr val="000000"/>
                                  </a:solidFill>
                                  <a:latin typeface="Cambria Math" panose="02040503050406030204" pitchFamily="18" charset="0"/>
                                </a:rPr>
                              </m:ctrlPr>
                            </m:dPr>
                            <m:e>
                              <m:sSub>
                                <m:sSubPr>
                                  <m:ctrlPr>
                                    <a:rPr lang="en-US" sz="1500" i="1" smtClean="0">
                                      <a:solidFill>
                                        <a:srgbClr val="000000"/>
                                      </a:solidFill>
                                      <a:latin typeface="Cambria Math" panose="02040503050406030204" pitchFamily="18" charset="0"/>
                                    </a:rPr>
                                  </m:ctrlPr>
                                </m:sSubPr>
                                <m:e>
                                  <m:r>
                                    <m:rPr>
                                      <m:sty m:val="p"/>
                                    </m:rPr>
                                    <a:rPr lang="en-US" sz="1500" i="1" smtClean="0">
                                      <a:solidFill>
                                        <a:srgbClr val="000000"/>
                                      </a:solidFill>
                                      <a:latin typeface="Cambria Math" panose="02040503050406030204" pitchFamily="18" charset="0"/>
                                    </a:rPr>
                                    <m:t>Π</m:t>
                                  </m:r>
                                </m:e>
                                <m:sub>
                                  <m:r>
                                    <a:rPr lang="en-US" sz="1500" i="1" smtClean="0">
                                      <a:solidFill>
                                        <a:srgbClr val="000000"/>
                                      </a:solidFill>
                                      <a:latin typeface="Cambria Math" panose="02040503050406030204" pitchFamily="18" charset="0"/>
                                    </a:rPr>
                                    <m:t>𝑏</m:t>
                                  </m:r>
                                </m:sub>
                              </m:sSub>
                            </m:e>
                          </m:d>
                        </m:e>
                      </m:func>
                    </m:oMath>
                    <m:oMath xmlns:m="http://schemas.openxmlformats.org/officeDocument/2006/math">
                      <m:sSub>
                        <m:sSubPr>
                          <m:ctrlPr>
                            <a:rPr lang="en-US" sz="1500" i="1" smtClean="0">
                              <a:solidFill>
                                <a:srgbClr val="000000"/>
                              </a:solidFill>
                              <a:latin typeface="Cambria Math" panose="02040503050406030204" pitchFamily="18" charset="0"/>
                            </a:rPr>
                          </m:ctrlPr>
                        </m:sSubPr>
                        <m:e>
                          <m:r>
                            <m:rPr>
                              <m:sty m:val="p"/>
                            </m:rPr>
                            <a:rPr lang="en-US" sz="1500" i="1" smtClean="0">
                              <a:solidFill>
                                <a:srgbClr val="000000"/>
                              </a:solidFill>
                              <a:latin typeface="Cambria Math" panose="02040503050406030204" pitchFamily="18" charset="0"/>
                            </a:rPr>
                            <m:t>Π</m:t>
                          </m:r>
                        </m:e>
                        <m:sub>
                          <m:r>
                            <a:rPr lang="en-US" sz="1500" i="1" smtClean="0">
                              <a:solidFill>
                                <a:srgbClr val="000000"/>
                              </a:solidFill>
                              <a:latin typeface="Cambria Math" panose="02040503050406030204" pitchFamily="18" charset="0"/>
                            </a:rPr>
                            <m:t>𝑏</m:t>
                          </m:r>
                        </m:sub>
                      </m:sSub>
                      <m:r>
                        <a:rPr lang="en-US" sz="1500" i="1" smtClean="0">
                          <a:solidFill>
                            <a:srgbClr val="000000"/>
                          </a:solidFill>
                          <a:latin typeface="Cambria Math" panose="02040503050406030204" pitchFamily="18" charset="0"/>
                        </a:rPr>
                        <m:t>=</m:t>
                      </m:r>
                      <m:sSub>
                        <m:sSubPr>
                          <m:ctrlPr>
                            <a:rPr lang="en-US" sz="1500" i="1" smtClean="0">
                              <a:solidFill>
                                <a:srgbClr val="000000"/>
                              </a:solidFill>
                              <a:latin typeface="Cambria Math" panose="02040503050406030204" pitchFamily="18" charset="0"/>
                            </a:rPr>
                          </m:ctrlPr>
                        </m:sSubPr>
                        <m:e>
                          <m:r>
                            <a:rPr lang="en-US" sz="1500" i="1" smtClean="0">
                              <a:solidFill>
                                <a:srgbClr val="000000"/>
                              </a:solidFill>
                              <a:latin typeface="Cambria Math" panose="02040503050406030204" pitchFamily="18" charset="0"/>
                            </a:rPr>
                            <m:t>𝑟</m:t>
                          </m:r>
                        </m:e>
                        <m:sub>
                          <m:r>
                            <a:rPr lang="en-US" sz="1500" i="1" smtClean="0">
                              <a:solidFill>
                                <a:srgbClr val="000000"/>
                              </a:solidFill>
                              <a:latin typeface="Cambria Math" panose="02040503050406030204" pitchFamily="18" charset="0"/>
                            </a:rPr>
                            <m:t>𝐿</m:t>
                          </m:r>
                        </m:sub>
                      </m:sSub>
                      <m:r>
                        <a:rPr lang="en-US" sz="1500" i="1" smtClean="0">
                          <a:solidFill>
                            <a:srgbClr val="000000"/>
                          </a:solidFill>
                          <a:latin typeface="Cambria Math" panose="02040503050406030204" pitchFamily="18" charset="0"/>
                        </a:rPr>
                        <m:t>⋅</m:t>
                      </m:r>
                      <m:sSub>
                        <m:sSubPr>
                          <m:ctrlPr>
                            <a:rPr lang="en-US" sz="1500" i="1" smtClean="0">
                              <a:solidFill>
                                <a:srgbClr val="000000"/>
                              </a:solidFill>
                              <a:latin typeface="Cambria Math" panose="02040503050406030204" pitchFamily="18" charset="0"/>
                            </a:rPr>
                          </m:ctrlPr>
                        </m:sSubPr>
                        <m:e>
                          <m:r>
                            <a:rPr lang="en-US" sz="1500" i="1" smtClean="0">
                              <a:solidFill>
                                <a:srgbClr val="000000"/>
                              </a:solidFill>
                              <a:latin typeface="Cambria Math" panose="02040503050406030204" pitchFamily="18" charset="0"/>
                            </a:rPr>
                            <m:t>𝐿</m:t>
                          </m:r>
                        </m:e>
                        <m:sub>
                          <m:r>
                            <a:rPr lang="en-US" sz="1500" i="1" smtClean="0">
                              <a:solidFill>
                                <a:srgbClr val="000000"/>
                              </a:solidFill>
                              <a:latin typeface="Cambria Math" panose="02040503050406030204" pitchFamily="18" charset="0"/>
                            </a:rPr>
                            <m:t>𝑏</m:t>
                          </m:r>
                        </m:sub>
                      </m:sSub>
                      <m:r>
                        <a:rPr lang="en-US" sz="1500" i="1" smtClean="0">
                          <a:solidFill>
                            <a:srgbClr val="000000"/>
                          </a:solidFill>
                          <a:latin typeface="Cambria Math" panose="02040503050406030204" pitchFamily="18" charset="0"/>
                        </a:rPr>
                        <m:t>−</m:t>
                      </m:r>
                      <m:r>
                        <a:rPr lang="en-US" sz="1500" i="1" smtClean="0">
                          <a:solidFill>
                            <a:srgbClr val="000000"/>
                          </a:solidFill>
                          <a:latin typeface="Cambria Math" panose="02040503050406030204" pitchFamily="18" charset="0"/>
                        </a:rPr>
                        <m:t>𝑟</m:t>
                      </m:r>
                      <m:r>
                        <a:rPr lang="en-US" sz="1500" i="1" smtClean="0">
                          <a:solidFill>
                            <a:srgbClr val="000000"/>
                          </a:solidFill>
                          <a:latin typeface="Cambria Math" panose="02040503050406030204" pitchFamily="18" charset="0"/>
                        </a:rPr>
                        <m:t>⋅</m:t>
                      </m:r>
                      <m:sSub>
                        <m:sSubPr>
                          <m:ctrlPr>
                            <a:rPr lang="en-US" sz="1500" i="1" smtClean="0">
                              <a:solidFill>
                                <a:srgbClr val="000000"/>
                              </a:solidFill>
                              <a:latin typeface="Cambria Math" panose="02040503050406030204" pitchFamily="18" charset="0"/>
                            </a:rPr>
                          </m:ctrlPr>
                        </m:sSubPr>
                        <m:e>
                          <m:r>
                            <a:rPr lang="en-US" sz="1500" i="1" smtClean="0">
                              <a:solidFill>
                                <a:srgbClr val="000000"/>
                              </a:solidFill>
                              <a:latin typeface="Cambria Math" panose="02040503050406030204" pitchFamily="18" charset="0"/>
                            </a:rPr>
                            <m:t>𝐵</m:t>
                          </m:r>
                        </m:e>
                        <m:sub>
                          <m:r>
                            <a:rPr lang="en-US" sz="1500" i="1" smtClean="0">
                              <a:solidFill>
                                <a:srgbClr val="000000"/>
                              </a:solidFill>
                              <a:latin typeface="Cambria Math" panose="02040503050406030204" pitchFamily="18" charset="0"/>
                            </a:rPr>
                            <m:t>𝑏</m:t>
                          </m:r>
                        </m:sub>
                      </m:sSub>
                      <m:r>
                        <a:rPr lang="en-US" sz="1500" i="1" smtClean="0">
                          <a:solidFill>
                            <a:srgbClr val="000000"/>
                          </a:solidFill>
                          <a:latin typeface="Cambria Math" panose="02040503050406030204" pitchFamily="18" charset="0"/>
                        </a:rPr>
                        <m:t>−</m:t>
                      </m:r>
                      <m:sSub>
                        <m:sSubPr>
                          <m:ctrlPr>
                            <a:rPr lang="en-US" sz="1500" i="1" smtClean="0">
                              <a:solidFill>
                                <a:srgbClr val="000000"/>
                              </a:solidFill>
                              <a:latin typeface="Cambria Math" panose="02040503050406030204" pitchFamily="18" charset="0"/>
                            </a:rPr>
                          </m:ctrlPr>
                        </m:sSubPr>
                        <m:e>
                          <m:r>
                            <a:rPr lang="en-US" sz="1500" i="1" smtClean="0">
                              <a:solidFill>
                                <a:srgbClr val="000000"/>
                              </a:solidFill>
                              <a:latin typeface="Cambria Math" panose="02040503050406030204" pitchFamily="18" charset="0"/>
                            </a:rPr>
                            <m:t>𝑟</m:t>
                          </m:r>
                        </m:e>
                        <m:sub>
                          <m:r>
                            <a:rPr lang="en-US" sz="1500" i="1" smtClean="0">
                              <a:solidFill>
                                <a:srgbClr val="000000"/>
                              </a:solidFill>
                              <a:latin typeface="Cambria Math" panose="02040503050406030204" pitchFamily="18" charset="0"/>
                            </a:rPr>
                            <m:t>𝐷</m:t>
                          </m:r>
                        </m:sub>
                      </m:sSub>
                      <m:r>
                        <a:rPr lang="en-US" sz="1500" i="1" smtClean="0">
                          <a:solidFill>
                            <a:srgbClr val="000000"/>
                          </a:solidFill>
                          <a:latin typeface="Cambria Math" panose="02040503050406030204" pitchFamily="18" charset="0"/>
                        </a:rPr>
                        <m:t>⋅</m:t>
                      </m:r>
                      <m:sSub>
                        <m:sSubPr>
                          <m:ctrlPr>
                            <a:rPr lang="en-US" sz="1500" i="1" smtClean="0">
                              <a:solidFill>
                                <a:srgbClr val="000000"/>
                              </a:solidFill>
                              <a:latin typeface="Cambria Math" panose="02040503050406030204" pitchFamily="18" charset="0"/>
                            </a:rPr>
                          </m:ctrlPr>
                        </m:sSubPr>
                        <m:e>
                          <m:r>
                            <a:rPr lang="en-US" sz="1500" i="1" smtClean="0">
                              <a:solidFill>
                                <a:srgbClr val="000000"/>
                              </a:solidFill>
                              <a:latin typeface="Cambria Math" panose="02040503050406030204" pitchFamily="18" charset="0"/>
                            </a:rPr>
                            <m:t>𝐷</m:t>
                          </m:r>
                        </m:e>
                        <m:sub>
                          <m:r>
                            <a:rPr lang="en-US" sz="1500" i="1" smtClean="0">
                              <a:solidFill>
                                <a:srgbClr val="000000"/>
                              </a:solidFill>
                              <a:latin typeface="Cambria Math" panose="02040503050406030204" pitchFamily="18" charset="0"/>
                            </a:rPr>
                            <m:t>𝑏</m:t>
                          </m:r>
                        </m:sub>
                      </m:sSub>
                    </m:oMath>
                    <m:oMath xmlns:m="http://schemas.openxmlformats.org/officeDocument/2006/math">
                      <m:sSub>
                        <m:sSubPr>
                          <m:ctrlPr>
                            <a:rPr lang="en-US" sz="1500" i="1" smtClean="0">
                              <a:solidFill>
                                <a:srgbClr val="000000"/>
                              </a:solidFill>
                              <a:latin typeface="Cambria Math" panose="02040503050406030204" pitchFamily="18" charset="0"/>
                            </a:rPr>
                          </m:ctrlPr>
                        </m:sSubPr>
                        <m:e>
                          <m:r>
                            <a:rPr lang="en-US" sz="1500" i="1" smtClean="0">
                              <a:solidFill>
                                <a:srgbClr val="000000"/>
                              </a:solidFill>
                              <a:latin typeface="Cambria Math" panose="02040503050406030204" pitchFamily="18" charset="0"/>
                            </a:rPr>
                            <m:t>𝐿</m:t>
                          </m:r>
                        </m:e>
                        <m:sub>
                          <m:r>
                            <a:rPr lang="en-US" sz="1500" i="1" smtClean="0">
                              <a:solidFill>
                                <a:srgbClr val="000000"/>
                              </a:solidFill>
                              <a:latin typeface="Cambria Math" panose="02040503050406030204" pitchFamily="18" charset="0"/>
                            </a:rPr>
                            <m:t>𝑏</m:t>
                          </m:r>
                        </m:sub>
                      </m:sSub>
                      <m:r>
                        <a:rPr lang="en-US" sz="1500" i="1" smtClean="0">
                          <a:solidFill>
                            <a:srgbClr val="000000"/>
                          </a:solidFill>
                          <a:latin typeface="Cambria Math" panose="02040503050406030204" pitchFamily="18" charset="0"/>
                        </a:rPr>
                        <m:t>=</m:t>
                      </m:r>
                      <m:sSub>
                        <m:sSubPr>
                          <m:ctrlPr>
                            <a:rPr lang="en-US" sz="1500" i="1" smtClean="0">
                              <a:solidFill>
                                <a:srgbClr val="000000"/>
                              </a:solidFill>
                              <a:latin typeface="Cambria Math" panose="02040503050406030204" pitchFamily="18" charset="0"/>
                            </a:rPr>
                          </m:ctrlPr>
                        </m:sSubPr>
                        <m:e>
                          <m:r>
                            <a:rPr lang="en-US" sz="1500" i="1" smtClean="0">
                              <a:solidFill>
                                <a:srgbClr val="000000"/>
                              </a:solidFill>
                              <a:latin typeface="Cambria Math" panose="02040503050406030204" pitchFamily="18" charset="0"/>
                            </a:rPr>
                            <m:t>𝐵</m:t>
                          </m:r>
                        </m:e>
                        <m:sub>
                          <m:r>
                            <a:rPr lang="en-US" sz="1500" i="1" smtClean="0">
                              <a:solidFill>
                                <a:srgbClr val="000000"/>
                              </a:solidFill>
                              <a:latin typeface="Cambria Math" panose="02040503050406030204" pitchFamily="18" charset="0"/>
                            </a:rPr>
                            <m:t>𝑏</m:t>
                          </m:r>
                        </m:sub>
                      </m:sSub>
                      <m:r>
                        <a:rPr lang="en-US" sz="1500" i="1" smtClean="0">
                          <a:solidFill>
                            <a:srgbClr val="000000"/>
                          </a:solidFill>
                          <a:latin typeface="Cambria Math" panose="02040503050406030204" pitchFamily="18" charset="0"/>
                        </a:rPr>
                        <m:t>+</m:t>
                      </m:r>
                      <m:sSub>
                        <m:sSubPr>
                          <m:ctrlPr>
                            <a:rPr lang="en-US" sz="1500" i="1" smtClean="0">
                              <a:solidFill>
                                <a:srgbClr val="000000"/>
                              </a:solidFill>
                              <a:latin typeface="Cambria Math" panose="02040503050406030204" pitchFamily="18" charset="0"/>
                            </a:rPr>
                          </m:ctrlPr>
                        </m:sSubPr>
                        <m:e>
                          <m:r>
                            <a:rPr lang="en-US" sz="1500" i="1" smtClean="0">
                              <a:solidFill>
                                <a:srgbClr val="000000"/>
                              </a:solidFill>
                              <a:latin typeface="Cambria Math" panose="02040503050406030204" pitchFamily="18" charset="0"/>
                            </a:rPr>
                            <m:t>𝐷</m:t>
                          </m:r>
                        </m:e>
                        <m:sub>
                          <m:r>
                            <a:rPr lang="en-US" sz="1500" i="1" smtClean="0">
                              <a:solidFill>
                                <a:srgbClr val="000000"/>
                              </a:solidFill>
                              <a:latin typeface="Cambria Math" panose="02040503050406030204" pitchFamily="18" charset="0"/>
                            </a:rPr>
                            <m:t>𝑏</m:t>
                          </m:r>
                        </m:sub>
                      </m:sSub>
                    </m:oMath>
                    <m:oMath xmlns:m="http://schemas.openxmlformats.org/officeDocument/2006/math">
                      <m:r>
                        <a:rPr lang="en-US" sz="1500" i="1" smtClean="0">
                          <a:solidFill>
                            <a:srgbClr val="000000"/>
                          </a:solidFill>
                          <a:latin typeface="Cambria Math" panose="02040503050406030204" pitchFamily="18" charset="0"/>
                        </a:rPr>
                        <m:t>⇒</m:t>
                      </m:r>
                      <m:r>
                        <a:rPr lang="en-US" sz="1500" i="1" smtClean="0">
                          <a:solidFill>
                            <a:srgbClr val="000000"/>
                          </a:solidFill>
                          <a:latin typeface="Cambria Math" panose="02040503050406030204" pitchFamily="18" charset="0"/>
                        </a:rPr>
                        <m:t>𝑟</m:t>
                      </m:r>
                      <m:r>
                        <a:rPr lang="en-US" sz="1500" i="1" smtClean="0">
                          <a:solidFill>
                            <a:srgbClr val="000000"/>
                          </a:solidFill>
                          <a:latin typeface="Cambria Math" panose="02040503050406030204" pitchFamily="18" charset="0"/>
                        </a:rPr>
                        <m:t>=</m:t>
                      </m:r>
                      <m:sSub>
                        <m:sSubPr>
                          <m:ctrlPr>
                            <a:rPr lang="en-US" sz="1500" i="1" smtClean="0">
                              <a:solidFill>
                                <a:srgbClr val="000000"/>
                              </a:solidFill>
                              <a:latin typeface="Cambria Math" panose="02040503050406030204" pitchFamily="18" charset="0"/>
                            </a:rPr>
                          </m:ctrlPr>
                        </m:sSubPr>
                        <m:e>
                          <m:r>
                            <a:rPr lang="en-US" sz="1500" i="1" smtClean="0">
                              <a:solidFill>
                                <a:srgbClr val="000000"/>
                              </a:solidFill>
                              <a:latin typeface="Cambria Math" panose="02040503050406030204" pitchFamily="18" charset="0"/>
                            </a:rPr>
                            <m:t>𝑟</m:t>
                          </m:r>
                        </m:e>
                        <m:sub>
                          <m:r>
                            <a:rPr lang="en-US" sz="1500" i="1" smtClean="0">
                              <a:solidFill>
                                <a:srgbClr val="000000"/>
                              </a:solidFill>
                              <a:latin typeface="Cambria Math" panose="02040503050406030204" pitchFamily="18" charset="0"/>
                            </a:rPr>
                            <m:t>𝐿</m:t>
                          </m:r>
                        </m:sub>
                      </m:sSub>
                      <m:r>
                        <a:rPr lang="en-US" sz="1500" i="1" smtClean="0">
                          <a:solidFill>
                            <a:srgbClr val="000000"/>
                          </a:solidFill>
                          <a:latin typeface="Cambria Math" panose="02040503050406030204" pitchFamily="18" charset="0"/>
                        </a:rPr>
                        <m:t>=</m:t>
                      </m:r>
                      <m:sSub>
                        <m:sSubPr>
                          <m:ctrlPr>
                            <a:rPr lang="en-US" sz="1500" i="1" smtClean="0">
                              <a:solidFill>
                                <a:srgbClr val="000000"/>
                              </a:solidFill>
                              <a:latin typeface="Cambria Math" panose="02040503050406030204" pitchFamily="18" charset="0"/>
                            </a:rPr>
                          </m:ctrlPr>
                        </m:sSubPr>
                        <m:e>
                          <m:r>
                            <a:rPr lang="en-US" sz="1500" i="1" smtClean="0">
                              <a:solidFill>
                                <a:srgbClr val="000000"/>
                              </a:solidFill>
                              <a:latin typeface="Cambria Math" panose="02040503050406030204" pitchFamily="18" charset="0"/>
                            </a:rPr>
                            <m:t>𝑟</m:t>
                          </m:r>
                        </m:e>
                        <m:sub>
                          <m:r>
                            <a:rPr lang="en-US" sz="1500" i="1" smtClean="0">
                              <a:solidFill>
                                <a:srgbClr val="000000"/>
                              </a:solidFill>
                              <a:latin typeface="Cambria Math" panose="02040503050406030204" pitchFamily="18" charset="0"/>
                            </a:rPr>
                            <m:t>𝐷</m:t>
                          </m:r>
                        </m:sub>
                      </m:sSub>
                    </m:oMath>
                  </m:oMathPara>
                </a14:m>
                <a:endParaRPr lang="en-US" sz="1500" i="1" dirty="0">
                  <a:solidFill>
                    <a:srgbClr val="000000"/>
                  </a:solidFill>
                  <a:latin typeface="Cambria Math" panose="02040503050406030204" pitchFamily="18" charset="0"/>
                </a:endParaRPr>
              </a:p>
            </p:txBody>
          </p:sp>
        </mc:Choice>
        <mc:Fallback xmlns="">
          <p:sp>
            <p:nvSpPr>
              <p:cNvPr id="10245" name="Object 5"/>
              <p:cNvSpPr txBox="1">
                <a:spLocks noGrp="1" noRot="1" noChangeAspect="1" noMove="1" noResize="1" noEditPoints="1" noAdjustHandles="1" noChangeArrowheads="1" noChangeShapeType="1" noTextEdit="1"/>
              </p:cNvSpPr>
              <p:nvPr>
                <p:ph sz="quarter" idx="3"/>
              </p:nvPr>
            </p:nvSpPr>
            <p:spPr bwMode="auto">
              <a:xfrm>
                <a:off x="841248" y="4724400"/>
                <a:ext cx="3519896" cy="1800225"/>
              </a:xfrm>
              <a:prstGeom prst="rect">
                <a:avLst/>
              </a:prstGeom>
              <a:blipFill>
                <a:blip r:embed="rId5"/>
                <a:stretch>
                  <a:fillRect/>
                </a:stretch>
              </a:blipFill>
            </p:spPr>
            <p:txBody>
              <a:bodyPr/>
              <a:lstStyle/>
              <a:p>
                <a:r>
                  <a:rPr lang="hu-HU">
                    <a:noFill/>
                  </a:rPr>
                  <a:t> </a:t>
                </a:r>
              </a:p>
            </p:txBody>
          </p:sp>
        </mc:Fallback>
      </mc:AlternateContent>
      <mc:AlternateContent xmlns:mc="http://schemas.openxmlformats.org/markup-compatibility/2006" xmlns:a14="http://schemas.microsoft.com/office/drawing/2010/main">
        <mc:Choice Requires="a14">
          <p:sp>
            <p:nvSpPr>
              <p:cNvPr id="10246" name="Object 6"/>
              <p:cNvSpPr txBox="1">
                <a:spLocks noGrp="1"/>
              </p:cNvSpPr>
              <p:nvPr>
                <p:ph sz="quarter" idx="4"/>
              </p:nvPr>
            </p:nvSpPr>
            <p:spPr bwMode="auto">
              <a:xfrm>
                <a:off x="7238999" y="2044700"/>
                <a:ext cx="2321379" cy="2538413"/>
              </a:xfrm>
              <a:prstGeom prst="rect">
                <a:avLst/>
              </a:prstGeom>
              <a:noFill/>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r>
                        <a:rPr lang="en-US" i="1" smtClean="0">
                          <a:solidFill>
                            <a:srgbClr val="000000"/>
                          </a:solidFill>
                          <a:latin typeface="Cambria Math" panose="02040503050406030204" pitchFamily="18" charset="0"/>
                        </a:rPr>
                        <m:t>𝐸</m:t>
                      </m:r>
                      <m:r>
                        <a:rPr lang="en-US" b="0" i="1" smtClean="0">
                          <a:solidFill>
                            <a:srgbClr val="000000"/>
                          </a:solidFill>
                          <a:latin typeface="Cambria Math" panose="02040503050406030204" pitchFamily="18" charset="0"/>
                        </a:rPr>
                        <m:t>𝑞𝑢𝑖𝑙𝑖𝑏𝑟𝑖𝑢𝑚</m:t>
                      </m:r>
                      <m:r>
                        <a:rPr lang="en-US" b="0" i="1" smtClean="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𝑖𝑛</m:t>
                      </m:r>
                      <m:r>
                        <a:rPr lang="en-US" b="0" i="1" smtClean="0">
                          <a:solidFill>
                            <a:srgbClr val="000000"/>
                          </a:solidFill>
                          <a:latin typeface="Cambria Math" panose="02040503050406030204" pitchFamily="18" charset="0"/>
                        </a:rPr>
                        <m:t> </m:t>
                      </m:r>
                      <m:r>
                        <a:rPr lang="en-US" b="0" i="1" smtClean="0">
                          <a:solidFill>
                            <a:srgbClr val="000000"/>
                          </a:solidFill>
                          <a:latin typeface="Cambria Math" panose="02040503050406030204" pitchFamily="18" charset="0"/>
                        </a:rPr>
                        <m:t>𝑚𝑎𝑟𝑘𝑒𝑡𝑠</m:t>
                      </m:r>
                      <m:r>
                        <a:rPr lang="en-US" i="1" smtClean="0">
                          <a:solidFill>
                            <a:srgbClr val="000000"/>
                          </a:solidFill>
                          <a:latin typeface="Cambria Math" panose="02040503050406030204" pitchFamily="18" charset="0"/>
                        </a:rPr>
                        <m:t>:</m:t>
                      </m:r>
                    </m:oMath>
                    <m:oMath xmlns:m="http://schemas.openxmlformats.org/officeDocument/2006/math">
                      <m:r>
                        <a:rPr lang="en-US" i="1" smtClean="0">
                          <a:solidFill>
                            <a:srgbClr val="000000"/>
                          </a:solidFill>
                          <a:latin typeface="Cambria Math" panose="02040503050406030204" pitchFamily="18" charset="0"/>
                        </a:rPr>
                        <m:t>𝐼</m:t>
                      </m:r>
                      <m:r>
                        <a:rPr lang="en-US" i="1" smtClean="0">
                          <a:solidFill>
                            <a:srgbClr val="000000"/>
                          </a:solidFill>
                          <a:latin typeface="Cambria Math" panose="02040503050406030204" pitchFamily="18" charset="0"/>
                        </a:rPr>
                        <m:t>=</m:t>
                      </m:r>
                      <m:r>
                        <a:rPr lang="en-US" i="1" smtClean="0">
                          <a:solidFill>
                            <a:srgbClr val="000000"/>
                          </a:solidFill>
                          <a:latin typeface="Cambria Math" panose="02040503050406030204" pitchFamily="18" charset="0"/>
                        </a:rPr>
                        <m:t>𝑆</m:t>
                      </m:r>
                    </m:oMath>
                    <m:oMath xmlns:m="http://schemas.openxmlformats.org/officeDocument/2006/math">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𝐷</m:t>
                          </m:r>
                        </m:e>
                        <m:sub>
                          <m:r>
                            <a:rPr lang="en-US" i="1" smtClean="0">
                              <a:solidFill>
                                <a:srgbClr val="000000"/>
                              </a:solidFill>
                              <a:latin typeface="Cambria Math" panose="02040503050406030204" pitchFamily="18" charset="0"/>
                            </a:rPr>
                            <m:t>𝑏</m:t>
                          </m:r>
                        </m:sub>
                      </m:sSub>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𝐷</m:t>
                          </m:r>
                        </m:e>
                        <m:sub>
                          <m:r>
                            <a:rPr lang="en-US" i="1" smtClean="0">
                              <a:solidFill>
                                <a:srgbClr val="000000"/>
                              </a:solidFill>
                              <a:latin typeface="Cambria Math" panose="02040503050406030204" pitchFamily="18" charset="0"/>
                            </a:rPr>
                            <m:t>h</m:t>
                          </m:r>
                        </m:sub>
                      </m:sSub>
                    </m:oMath>
                    <m:oMath xmlns:m="http://schemas.openxmlformats.org/officeDocument/2006/math">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𝐿</m:t>
                          </m:r>
                        </m:e>
                        <m:sub>
                          <m:r>
                            <a:rPr lang="en-US" i="1" smtClean="0">
                              <a:solidFill>
                                <a:srgbClr val="000000"/>
                              </a:solidFill>
                              <a:latin typeface="Cambria Math" panose="02040503050406030204" pitchFamily="18" charset="0"/>
                            </a:rPr>
                            <m:t>𝑓</m:t>
                          </m:r>
                        </m:sub>
                      </m:sSub>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𝐿</m:t>
                          </m:r>
                        </m:e>
                        <m:sub>
                          <m:r>
                            <a:rPr lang="en-US" i="1" smtClean="0">
                              <a:solidFill>
                                <a:srgbClr val="000000"/>
                              </a:solidFill>
                              <a:latin typeface="Cambria Math" panose="02040503050406030204" pitchFamily="18" charset="0"/>
                            </a:rPr>
                            <m:t>𝑏</m:t>
                          </m:r>
                        </m:sub>
                      </m:sSub>
                    </m:oMath>
                    <m:oMath xmlns:m="http://schemas.openxmlformats.org/officeDocument/2006/math">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𝐵</m:t>
                          </m:r>
                        </m:e>
                        <m:sub>
                          <m:r>
                            <a:rPr lang="en-US" i="1" smtClean="0">
                              <a:solidFill>
                                <a:srgbClr val="000000"/>
                              </a:solidFill>
                              <a:latin typeface="Cambria Math" panose="02040503050406030204" pitchFamily="18" charset="0"/>
                            </a:rPr>
                            <m:t>h</m:t>
                          </m:r>
                        </m:sub>
                      </m:sSub>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𝐵</m:t>
                          </m:r>
                        </m:e>
                        <m:sub>
                          <m:r>
                            <a:rPr lang="en-US" i="1" smtClean="0">
                              <a:solidFill>
                                <a:srgbClr val="000000"/>
                              </a:solidFill>
                              <a:latin typeface="Cambria Math" panose="02040503050406030204" pitchFamily="18" charset="0"/>
                            </a:rPr>
                            <m:t>𝑓</m:t>
                          </m:r>
                        </m:sub>
                      </m:sSub>
                      <m:r>
                        <a:rPr lang="en-US" i="1" smtClean="0">
                          <a:solidFill>
                            <a:srgbClr val="000000"/>
                          </a:solidFill>
                          <a:latin typeface="Cambria Math" panose="02040503050406030204" pitchFamily="18" charset="0"/>
                        </a:rPr>
                        <m:t>+</m:t>
                      </m:r>
                      <m:sSub>
                        <m:sSubPr>
                          <m:ctrlPr>
                            <a:rPr lang="en-US" i="1" smtClean="0">
                              <a:solidFill>
                                <a:srgbClr val="000000"/>
                              </a:solidFill>
                              <a:latin typeface="Cambria Math" panose="02040503050406030204" pitchFamily="18" charset="0"/>
                            </a:rPr>
                          </m:ctrlPr>
                        </m:sSubPr>
                        <m:e>
                          <m:r>
                            <a:rPr lang="en-US" i="1" smtClean="0">
                              <a:solidFill>
                                <a:srgbClr val="000000"/>
                              </a:solidFill>
                              <a:latin typeface="Cambria Math" panose="02040503050406030204" pitchFamily="18" charset="0"/>
                            </a:rPr>
                            <m:t>𝐵</m:t>
                          </m:r>
                        </m:e>
                        <m:sub>
                          <m:r>
                            <a:rPr lang="en-US" i="1" smtClean="0">
                              <a:solidFill>
                                <a:srgbClr val="000000"/>
                              </a:solidFill>
                              <a:latin typeface="Cambria Math" panose="02040503050406030204" pitchFamily="18" charset="0"/>
                            </a:rPr>
                            <m:t>𝑏</m:t>
                          </m:r>
                        </m:sub>
                      </m:sSub>
                    </m:oMath>
                  </m:oMathPara>
                </a14:m>
                <a:endParaRPr lang="en-US" dirty="0"/>
              </a:p>
            </p:txBody>
          </p:sp>
        </mc:Choice>
        <mc:Fallback xmlns="">
          <p:sp>
            <p:nvSpPr>
              <p:cNvPr id="10246" name="Object 6"/>
              <p:cNvSpPr txBox="1">
                <a:spLocks noGrp="1" noRot="1" noChangeAspect="1" noMove="1" noResize="1" noEditPoints="1" noAdjustHandles="1" noChangeArrowheads="1" noChangeShapeType="1" noTextEdit="1"/>
              </p:cNvSpPr>
              <p:nvPr>
                <p:ph sz="quarter" idx="4"/>
              </p:nvPr>
            </p:nvSpPr>
            <p:spPr bwMode="auto">
              <a:xfrm>
                <a:off x="7238999" y="2044700"/>
                <a:ext cx="2321379" cy="2538413"/>
              </a:xfrm>
              <a:prstGeom prst="rect">
                <a:avLst/>
              </a:prstGeom>
              <a:blipFill>
                <a:blip r:embed="rId6"/>
                <a:stretch>
                  <a:fillRect/>
                </a:stretch>
              </a:blipFill>
            </p:spPr>
            <p:txBody>
              <a:bodyPr/>
              <a:lstStyle/>
              <a:p>
                <a:r>
                  <a:rPr lang="hu-HU">
                    <a:noFill/>
                  </a:rPr>
                  <a:t> </a:t>
                </a:r>
              </a:p>
            </p:txBody>
          </p:sp>
        </mc:Fallback>
      </mc:AlternateContent>
      <p:sp>
        <p:nvSpPr>
          <p:cNvPr id="10247" name="Dia számának helye 1"/>
          <p:cNvSpPr>
            <a:spLocks noGrp="1"/>
          </p:cNvSpPr>
          <p:nvPr>
            <p:ph type="sldNum" sz="quarter" idx="12"/>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17B0C5C-0BAA-4F63-868A-AB1D52626EF6}"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b="0" i="0" u="none" strike="noStrike" kern="1200" cap="none" spc="0" normalizeH="0" baseline="0">
              <a:ln>
                <a:noFill/>
              </a:ln>
              <a:solidFill>
                <a:srgbClr val="898989"/>
              </a:solidFill>
              <a:effectLst/>
              <a:uLnTx/>
              <a:uFillTx/>
              <a:latin typeface="+mn-lt"/>
              <a:ea typeface="+mn-ea"/>
              <a:cs typeface="+mn-cs"/>
            </a:endParaRPr>
          </a:p>
        </p:txBody>
      </p:sp>
      <p:sp>
        <p:nvSpPr>
          <p:cNvPr id="2" name="Rectangle 3">
            <a:extLst>
              <a:ext uri="{FF2B5EF4-FFF2-40B4-BE49-F238E27FC236}">
                <a16:creationId xmlns:a16="http://schemas.microsoft.com/office/drawing/2014/main" id="{751140AC-FC9D-2529-D80D-6362546D25D8}"/>
              </a:ext>
            </a:extLst>
          </p:cNvPr>
          <p:cNvSpPr txBox="1">
            <a:spLocks noChangeArrowheads="1"/>
          </p:cNvSpPr>
          <p:nvPr/>
        </p:nvSpPr>
        <p:spPr>
          <a:xfrm>
            <a:off x="5999538" y="3618781"/>
            <a:ext cx="5627260" cy="253841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hu-HU" sz="1600" dirty="0"/>
              <a:t>Bank’s profit is always zero</a:t>
            </a:r>
          </a:p>
          <a:p>
            <a:r>
              <a:rPr lang="en-US" altLang="hu-HU" sz="1600" dirty="0"/>
              <a:t>The existence, size, level of competition, asset size and composition of financial sector do not have any effect either on the decision of others or on the equilibrium</a:t>
            </a:r>
          </a:p>
          <a:p>
            <a:r>
              <a:rPr lang="en-US" altLang="hu-HU" sz="1600" dirty="0"/>
              <a:t>”Reversed” MM theorem!</a:t>
            </a:r>
          </a:p>
          <a:p>
            <a:r>
              <a:rPr lang="en-US" altLang="hu-HU" sz="1600" dirty="0"/>
              <a:t>How to introduce the need for financial markets:</a:t>
            </a:r>
          </a:p>
          <a:p>
            <a:pPr lvl="1"/>
            <a:r>
              <a:rPr lang="en-US" altLang="hu-HU" sz="1600" dirty="0"/>
              <a:t>A-D ”securities”!</a:t>
            </a:r>
          </a:p>
          <a:p>
            <a:r>
              <a:rPr lang="en-US" sz="1600" dirty="0"/>
              <a:t>See: </a:t>
            </a:r>
            <a:r>
              <a:rPr lang="en-US" sz="1600" i="1" dirty="0"/>
              <a:t>Oliver Blanchard: Public Debt and Low Interest Rates</a:t>
            </a:r>
            <a:endParaRPr lang="en-US" altLang="hu-HU" sz="1600" i="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a:bodyPr>
          <a:lstStyle/>
          <a:p>
            <a:pPr eaLnBrk="1" hangingPunct="1"/>
            <a:r>
              <a:rPr lang="en-US" altLang="hu-HU" sz="3200" dirty="0"/>
              <a:t>Why does the economy need banks</a:t>
            </a:r>
            <a:r>
              <a:rPr lang="hu-HU" altLang="hu-HU" sz="3200" dirty="0"/>
              <a:t> in </a:t>
            </a:r>
            <a:r>
              <a:rPr lang="hu-HU" altLang="hu-HU" sz="3200" dirty="0" err="1"/>
              <a:t>theory</a:t>
            </a:r>
            <a:r>
              <a:rPr lang="en-US" altLang="hu-HU" sz="3200" dirty="0"/>
              <a:t>?</a:t>
            </a:r>
          </a:p>
        </p:txBody>
      </p:sp>
      <p:sp>
        <p:nvSpPr>
          <p:cNvPr id="16387" name="Rectangle 3"/>
          <p:cNvSpPr>
            <a:spLocks noGrp="1" noChangeArrowheads="1"/>
          </p:cNvSpPr>
          <p:nvPr>
            <p:ph type="body" idx="1"/>
          </p:nvPr>
        </p:nvSpPr>
        <p:spPr/>
        <p:txBody>
          <a:bodyPr/>
          <a:lstStyle/>
          <a:p>
            <a:pPr eaLnBrk="1" hangingPunct="1">
              <a:lnSpc>
                <a:spcPct val="90000"/>
              </a:lnSpc>
            </a:pPr>
            <a:r>
              <a:rPr lang="en-US" altLang="hu-HU" sz="2100" dirty="0"/>
              <a:t>Financial Institutions trade cash, financial securities in general</a:t>
            </a:r>
          </a:p>
          <a:p>
            <a:pPr eaLnBrk="1" hangingPunct="1">
              <a:lnSpc>
                <a:spcPct val="90000"/>
              </a:lnSpc>
            </a:pPr>
            <a:r>
              <a:rPr lang="en-US" altLang="hu-HU" sz="2100" dirty="0"/>
              <a:t>In a complete, transaction cost free, perfect market without economy of scale investors and entrepreneurs are able to diversify investments perfectly and allocate risks efficiently</a:t>
            </a:r>
          </a:p>
          <a:p>
            <a:pPr eaLnBrk="1" hangingPunct="1">
              <a:lnSpc>
                <a:spcPct val="90000"/>
              </a:lnSpc>
            </a:pPr>
            <a:r>
              <a:rPr lang="en-US" altLang="hu-HU" sz="2100" dirty="0"/>
              <a:t>If any of the above conditions are not met, then a coalition of investors/borrowers </a:t>
            </a:r>
            <a:r>
              <a:rPr lang="hu-HU" altLang="hu-HU" sz="2100" dirty="0"/>
              <a:t>is </a:t>
            </a:r>
            <a:r>
              <a:rPr lang="en-US" altLang="hu-HU" sz="2100" dirty="0"/>
              <a:t>preferable</a:t>
            </a:r>
          </a:p>
          <a:p>
            <a:pPr lvl="1" eaLnBrk="1" hangingPunct="1">
              <a:lnSpc>
                <a:spcPct val="90000"/>
              </a:lnSpc>
            </a:pPr>
            <a:r>
              <a:rPr lang="en-US" altLang="hu-HU" sz="2000" dirty="0"/>
              <a:t>Transaction costs?!</a:t>
            </a:r>
          </a:p>
          <a:p>
            <a:pPr lvl="1" eaLnBrk="1" hangingPunct="1">
              <a:lnSpc>
                <a:spcPct val="90000"/>
              </a:lnSpc>
            </a:pPr>
            <a:r>
              <a:rPr lang="en-US" altLang="hu-HU" sz="2000" dirty="0"/>
              <a:t>Informational asymmetries</a:t>
            </a:r>
            <a:r>
              <a:rPr lang="hu-HU" altLang="hu-HU" sz="2000" dirty="0"/>
              <a:t> </a:t>
            </a:r>
            <a:r>
              <a:rPr lang="en-US" altLang="hu-HU" sz="2000" dirty="0"/>
              <a:t>(adverse selection, moral hazard, costly state verification)</a:t>
            </a:r>
          </a:p>
          <a:p>
            <a:pPr lvl="2" eaLnBrk="1" hangingPunct="1">
              <a:lnSpc>
                <a:spcPct val="90000"/>
              </a:lnSpc>
            </a:pPr>
            <a:r>
              <a:rPr lang="en-US" altLang="hu-HU" sz="1900" i="1" dirty="0"/>
              <a:t>Banks as liquidity providers (Diamond-</a:t>
            </a:r>
            <a:r>
              <a:rPr lang="en-US" altLang="hu-HU" sz="1900" i="1" dirty="0" err="1"/>
              <a:t>Dybvig</a:t>
            </a:r>
            <a:r>
              <a:rPr lang="en-US" altLang="hu-HU" sz="1900" i="1" dirty="0"/>
              <a:t>)</a:t>
            </a:r>
          </a:p>
          <a:p>
            <a:pPr lvl="2" eaLnBrk="1" hangingPunct="1">
              <a:lnSpc>
                <a:spcPct val="90000"/>
              </a:lnSpc>
            </a:pPr>
            <a:r>
              <a:rPr lang="en-US" altLang="hu-HU" sz="1900" i="1" dirty="0"/>
              <a:t>Banks as information coalitions </a:t>
            </a:r>
            <a:r>
              <a:rPr lang="hu-HU" altLang="hu-HU" sz="1900" i="1" dirty="0"/>
              <a:t>(</a:t>
            </a:r>
            <a:r>
              <a:rPr lang="en-US" altLang="hu-HU" sz="1900" i="1" dirty="0"/>
              <a:t>Leyland-Pyle)</a:t>
            </a:r>
          </a:p>
          <a:p>
            <a:pPr lvl="2" eaLnBrk="1" hangingPunct="1">
              <a:lnSpc>
                <a:spcPct val="90000"/>
              </a:lnSpc>
            </a:pPr>
            <a:r>
              <a:rPr lang="en-US" altLang="hu-HU" sz="1900" i="1" dirty="0"/>
              <a:t>Banks and delegated monitoring (Diamond)</a:t>
            </a:r>
          </a:p>
          <a:p>
            <a:pPr lvl="1" eaLnBrk="1" hangingPunct="1">
              <a:lnSpc>
                <a:spcPct val="90000"/>
              </a:lnSpc>
            </a:pPr>
            <a:r>
              <a:rPr lang="en-US" altLang="hu-HU" sz="2200" i="1" dirty="0"/>
              <a:t>…</a:t>
            </a:r>
          </a:p>
        </p:txBody>
      </p:sp>
      <p:sp>
        <p:nvSpPr>
          <p:cNvPr id="16388" name="Dia számának helye 1"/>
          <p:cNvSpPr>
            <a:spLocks noGrp="1"/>
          </p:cNvSpPr>
          <p:nvPr>
            <p:ph type="sldNum" sz="quarter" idx="12"/>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B44507-7AAD-4284-AD1F-ECF739E2406C}"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b="0" i="0" u="none" strike="noStrike" kern="1200" cap="none" spc="0" normalizeH="0" baseline="0">
              <a:ln>
                <a:noFill/>
              </a:ln>
              <a:solidFill>
                <a:srgbClr val="898989"/>
              </a:solidFill>
              <a:effectLst/>
              <a:uLnTx/>
              <a:uFillTx/>
              <a:latin typeface="+mn-lt"/>
              <a:ea typeface="+mn-ea"/>
              <a:cs typeface="+mn-cs"/>
            </a:endParaRPr>
          </a:p>
        </p:txBody>
      </p:sp>
      <p:sp>
        <p:nvSpPr>
          <p:cNvPr id="2" name="Nyíl: jobbra mutató 1">
            <a:extLst>
              <a:ext uri="{FF2B5EF4-FFF2-40B4-BE49-F238E27FC236}">
                <a16:creationId xmlns:a16="http://schemas.microsoft.com/office/drawing/2014/main" id="{E04FF121-E401-2660-AA58-995839F5CFAB}"/>
              </a:ext>
            </a:extLst>
          </p:cNvPr>
          <p:cNvSpPr/>
          <p:nvPr/>
        </p:nvSpPr>
        <p:spPr>
          <a:xfrm>
            <a:off x="6873187" y="4108040"/>
            <a:ext cx="1069521" cy="22860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zövegdoboz 3">
            <a:extLst>
              <a:ext uri="{FF2B5EF4-FFF2-40B4-BE49-F238E27FC236}">
                <a16:creationId xmlns:a16="http://schemas.microsoft.com/office/drawing/2014/main" id="{9AD16AEF-1093-3F64-DA4F-68DC1030F491}"/>
              </a:ext>
            </a:extLst>
          </p:cNvPr>
          <p:cNvSpPr txBox="1"/>
          <p:nvPr/>
        </p:nvSpPr>
        <p:spPr>
          <a:xfrm>
            <a:off x="8229600" y="3923597"/>
            <a:ext cx="3124200" cy="646331"/>
          </a:xfrm>
          <a:prstGeom prst="rect">
            <a:avLst/>
          </a:prstGeom>
          <a:noFill/>
          <a:ln>
            <a:solidFill>
              <a:srgbClr val="C00000"/>
            </a:solidFill>
          </a:ln>
        </p:spPr>
        <p:txBody>
          <a:bodyPr wrap="square" rtlCol="0">
            <a:spAutoFit/>
          </a:bodyPr>
          <a:lstStyle/>
          <a:p>
            <a:r>
              <a:rPr lang="en-US"/>
              <a:t>Banks as financial intermediaries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t>Banks as liquidity providers</a:t>
            </a:r>
          </a:p>
        </p:txBody>
      </p:sp>
      <mc:AlternateContent xmlns:mc="http://schemas.openxmlformats.org/markup-compatibility/2006" xmlns:a14="http://schemas.microsoft.com/office/drawing/2010/main">
        <mc:Choice Requires="a14">
          <p:sp>
            <p:nvSpPr>
              <p:cNvPr id="3" name="Tartalom helye 2"/>
              <p:cNvSpPr>
                <a:spLocks noGrp="1"/>
              </p:cNvSpPr>
              <p:nvPr>
                <p:ph idx="1"/>
              </p:nvPr>
            </p:nvSpPr>
            <p:spPr>
              <a:xfrm>
                <a:off x="710293" y="1672717"/>
                <a:ext cx="10515600" cy="3531827"/>
              </a:xfrm>
            </p:spPr>
            <p:txBody>
              <a:bodyPr/>
              <a:lstStyle/>
              <a:p>
                <a:r>
                  <a:rPr lang="en-US" dirty="0"/>
                  <a:t>The structure of the model:</a:t>
                </a:r>
              </a:p>
              <a:p>
                <a:pPr lvl="1"/>
                <a:r>
                  <a:rPr lang="en-US" sz="2400" dirty="0"/>
                  <a:t>Consumers make decisions at three point</a:t>
                </a:r>
                <a:r>
                  <a:rPr lang="hu-HU" sz="2400" dirty="0"/>
                  <a:t>s</a:t>
                </a:r>
                <a:r>
                  <a:rPr lang="en-US" sz="2400" dirty="0"/>
                  <a:t> of time</a:t>
                </a:r>
              </a:p>
              <a:p>
                <a:pPr lvl="1"/>
                <a:r>
                  <a:rPr lang="en-US" sz="2400" dirty="0"/>
                  <a:t>Initially (</a:t>
                </a:r>
                <a:r>
                  <a:rPr lang="en-US" sz="2400" i="1" dirty="0"/>
                  <a:t>t=0</a:t>
                </a:r>
                <a:r>
                  <a:rPr lang="en-US" sz="2400" dirty="0"/>
                  <a:t>), they have one unit of good that can be (partially) invested</a:t>
                </a:r>
              </a:p>
              <a:p>
                <a:pPr lvl="1"/>
                <a:r>
                  <a:rPr lang="en-US" sz="2400" dirty="0"/>
                  <a:t>That good will be consumed either at </a:t>
                </a:r>
                <a:r>
                  <a:rPr lang="en-US" sz="2400" i="1" dirty="0"/>
                  <a:t>t=1</a:t>
                </a:r>
                <a:r>
                  <a:rPr lang="en-US" sz="2400" dirty="0"/>
                  <a:t> or at </a:t>
                </a:r>
                <a:r>
                  <a:rPr lang="en-US" sz="2400" i="1" dirty="0"/>
                  <a:t>t=2</a:t>
                </a:r>
                <a:r>
                  <a:rPr lang="en-US" sz="2400" dirty="0"/>
                  <a:t>; the decision depends on the occurrence of a liquidity shock at </a:t>
                </a:r>
                <a:r>
                  <a:rPr lang="en-US" sz="2400" i="1" dirty="0"/>
                  <a:t>t=1</a:t>
                </a:r>
                <a:endParaRPr lang="en-US" sz="2400" dirty="0"/>
              </a:p>
              <a:p>
                <a:pPr lvl="1"/>
                <a14:m>
                  <m:oMath xmlns:m="http://schemas.openxmlformats.org/officeDocument/2006/math">
                    <m:r>
                      <a:rPr lang="en-US" sz="2400" b="0" i="1" smtClean="0">
                        <a:latin typeface="Cambria Math" panose="02040503050406030204" pitchFamily="18" charset="0"/>
                      </a:rPr>
                      <m:t>𝐸</m:t>
                    </m:r>
                    <m:r>
                      <a:rPr lang="en-US" sz="2400" b="0" i="1" smtClean="0">
                        <a:latin typeface="Cambria Math" panose="02040503050406030204" pitchFamily="18" charset="0"/>
                      </a:rPr>
                      <m:t>(</m:t>
                    </m:r>
                    <m:r>
                      <a:rPr lang="en-US" sz="2400" i="1" smtClean="0">
                        <a:latin typeface="Cambria Math" panose="02040503050406030204" pitchFamily="18" charset="0"/>
                      </a:rPr>
                      <m:t>𝑈</m:t>
                    </m:r>
                    <m:r>
                      <a:rPr lang="en-US" sz="2400" b="0" i="1" smtClean="0">
                        <a:latin typeface="Cambria Math" panose="02040503050406030204" pitchFamily="18" charset="0"/>
                      </a:rPr>
                      <m:t>)</m:t>
                    </m:r>
                    <m:r>
                      <a:rPr lang="en-US" sz="2400" i="1"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i="1" smtClean="0">
                            <a:latin typeface="Cambria Math" panose="02040503050406030204" pitchFamily="18" charset="0"/>
                          </a:rPr>
                          <m:t>𝑝</m:t>
                        </m:r>
                      </m:e>
                      <m:sub>
                        <m:r>
                          <a:rPr lang="en-US" sz="2400" b="0" i="1" smtClean="0">
                            <a:latin typeface="Cambria Math" panose="02040503050406030204" pitchFamily="18" charset="0"/>
                          </a:rPr>
                          <m:t>1</m:t>
                        </m:r>
                      </m:sub>
                    </m:sSub>
                    <m:r>
                      <a:rPr lang="en-US" sz="2400" i="1" smtClean="0">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𝑢</m:t>
                    </m:r>
                    <m:d>
                      <m:dPr>
                        <m:ctrlPr>
                          <a:rPr lang="en-US" sz="2400" i="1" smtClean="0">
                            <a:latin typeface="Cambria Math" panose="02040503050406030204" pitchFamily="18" charset="0"/>
                            <a:ea typeface="Cambria Math" panose="02040503050406030204" pitchFamily="18" charset="0"/>
                          </a:rPr>
                        </m:ctrlPr>
                      </m:dPr>
                      <m:e>
                        <m:sSub>
                          <m:sSubPr>
                            <m:ctrlPr>
                              <a:rPr lang="en-US" sz="2400" i="1" smtClean="0">
                                <a:latin typeface="Cambria Math" panose="02040503050406030204" pitchFamily="18" charset="0"/>
                                <a:ea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𝐶</m:t>
                            </m:r>
                          </m:e>
                          <m:sub>
                            <m:r>
                              <a:rPr lang="en-US" sz="2400" i="1" smtClean="0">
                                <a:latin typeface="Cambria Math" panose="02040503050406030204" pitchFamily="18" charset="0"/>
                                <a:ea typeface="Cambria Math" panose="02040503050406030204" pitchFamily="18" charset="0"/>
                              </a:rPr>
                              <m:t>1</m:t>
                            </m:r>
                          </m:sub>
                        </m:sSub>
                      </m:e>
                    </m:d>
                    <m:r>
                      <a:rPr lang="en-US" sz="2400" i="1" smtClean="0">
                        <a:latin typeface="Cambria Math" panose="02040503050406030204" pitchFamily="18" charset="0"/>
                        <a:ea typeface="Cambria Math" panose="02040503050406030204" pitchFamily="18" charset="0"/>
                      </a:rPr>
                      <m:t>+</m:t>
                    </m:r>
                    <m:sSub>
                      <m:sSubPr>
                        <m:ctrlPr>
                          <a:rPr lang="en-US" sz="2400" i="1" smtClean="0">
                            <a:latin typeface="Cambria Math" panose="02040503050406030204" pitchFamily="18" charset="0"/>
                          </a:rPr>
                        </m:ctrlPr>
                      </m:sSubPr>
                      <m:e>
                        <m:r>
                          <a:rPr lang="en-US" sz="2400" i="1" smtClean="0">
                            <a:latin typeface="Cambria Math" panose="02040503050406030204" pitchFamily="18" charset="0"/>
                          </a:rPr>
                          <m:t>𝑝</m:t>
                        </m:r>
                      </m:e>
                      <m:sub>
                        <m:r>
                          <a:rPr lang="en-US" sz="2400" i="1" smtClean="0">
                            <a:latin typeface="Cambria Math" panose="02040503050406030204" pitchFamily="18" charset="0"/>
                          </a:rPr>
                          <m:t>2</m:t>
                        </m:r>
                      </m:sub>
                    </m:sSub>
                    <m:r>
                      <a:rPr lang="en-US" sz="2400" i="1" smtClean="0">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𝑢</m:t>
                    </m:r>
                    <m:d>
                      <m:dPr>
                        <m:ctrlPr>
                          <a:rPr lang="en-US" sz="2400" i="1" smtClean="0">
                            <a:latin typeface="Cambria Math" panose="02040503050406030204" pitchFamily="18" charset="0"/>
                            <a:ea typeface="Cambria Math" panose="02040503050406030204" pitchFamily="18" charset="0"/>
                          </a:rPr>
                        </m:ctrlPr>
                      </m:dPr>
                      <m:e>
                        <m:sSub>
                          <m:sSubPr>
                            <m:ctrlPr>
                              <a:rPr lang="en-US" sz="2400" i="1" smtClean="0">
                                <a:latin typeface="Cambria Math" panose="02040503050406030204" pitchFamily="18" charset="0"/>
                                <a:ea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𝐶</m:t>
                            </m:r>
                          </m:e>
                          <m:sub>
                            <m:r>
                              <a:rPr lang="en-US" sz="2400" i="1" smtClean="0">
                                <a:latin typeface="Cambria Math" panose="02040503050406030204" pitchFamily="18" charset="0"/>
                                <a:ea typeface="Cambria Math" panose="02040503050406030204" pitchFamily="18" charset="0"/>
                              </a:rPr>
                              <m:t>2</m:t>
                            </m:r>
                          </m:sub>
                        </m:sSub>
                      </m:e>
                    </m:d>
                    <m:r>
                      <a:rPr lang="en-US" sz="2400" i="1" smtClean="0">
                        <a:latin typeface="Cambria Math" panose="02040503050406030204" pitchFamily="18" charset="0"/>
                        <a:ea typeface="Cambria Math" panose="02040503050406030204" pitchFamily="18" charset="0"/>
                      </a:rPr>
                      <m:t>    </m:t>
                    </m:r>
                    <m:sSub>
                      <m:sSubPr>
                        <m:ctrlPr>
                          <a:rPr lang="en-US" sz="2400" i="1" smtClean="0">
                            <a:latin typeface="Cambria Math" panose="02040503050406030204" pitchFamily="18" charset="0"/>
                          </a:rPr>
                        </m:ctrlPr>
                      </m:sSubPr>
                      <m:e>
                        <m:r>
                          <a:rPr lang="en-US" sz="2400" i="1" smtClean="0">
                            <a:latin typeface="Cambria Math" panose="02040503050406030204" pitchFamily="18" charset="0"/>
                          </a:rPr>
                          <m:t>𝑝</m:t>
                        </m:r>
                      </m:e>
                      <m:sub>
                        <m:r>
                          <a:rPr lang="en-US" sz="2400" i="1" smtClean="0">
                            <a:latin typeface="Cambria Math" panose="02040503050406030204" pitchFamily="18" charset="0"/>
                          </a:rPr>
                          <m:t>1</m:t>
                        </m:r>
                      </m:sub>
                    </m:sSub>
                    <m:r>
                      <a:rPr lang="en-US" sz="2400" i="1" smtClean="0">
                        <a:latin typeface="Cambria Math" panose="02040503050406030204" pitchFamily="18" charset="0"/>
                      </a:rPr>
                      <m:t>+</m:t>
                    </m:r>
                    <m:sSub>
                      <m:sSubPr>
                        <m:ctrlPr>
                          <a:rPr lang="en-US" sz="2400" i="1" smtClean="0">
                            <a:latin typeface="Cambria Math" panose="02040503050406030204" pitchFamily="18" charset="0"/>
                          </a:rPr>
                        </m:ctrlPr>
                      </m:sSubPr>
                      <m:e>
                        <m:r>
                          <a:rPr lang="en-US" sz="2400" i="1" smtClean="0">
                            <a:latin typeface="Cambria Math" panose="02040503050406030204" pitchFamily="18" charset="0"/>
                          </a:rPr>
                          <m:t>𝑝</m:t>
                        </m:r>
                      </m:e>
                      <m:sub>
                        <m:r>
                          <a:rPr lang="en-US" sz="2400" i="1" smtClean="0">
                            <a:latin typeface="Cambria Math" panose="02040503050406030204" pitchFamily="18" charset="0"/>
                          </a:rPr>
                          <m:t>2</m:t>
                        </m:r>
                      </m:sub>
                    </m:sSub>
                    <m:r>
                      <a:rPr lang="en-US" sz="2400" i="1" smtClean="0">
                        <a:latin typeface="Cambria Math" panose="02040503050406030204" pitchFamily="18" charset="0"/>
                      </a:rPr>
                      <m:t>=1</m:t>
                    </m:r>
                  </m:oMath>
                </a14:m>
                <a:endParaRPr lang="en-US" sz="2400" dirty="0"/>
              </a:p>
              <a:p>
                <a:pPr lvl="1"/>
                <a:r>
                  <a:rPr lang="en-US" sz="2400" dirty="0"/>
                  <a:t>Goods can be stored without any cost or can be invested (</a:t>
                </a:r>
                <a:r>
                  <a:rPr lang="en-US" sz="2400" i="1" dirty="0"/>
                  <a:t>I</a:t>
                </a:r>
                <a:r>
                  <a:rPr lang="en-US" sz="2400" dirty="0"/>
                  <a:t>). The return of investment at </a:t>
                </a:r>
                <a:r>
                  <a:rPr lang="en-US" sz="2400" i="1" dirty="0"/>
                  <a:t>t=2 </a:t>
                </a:r>
                <a:r>
                  <a:rPr lang="en-US" sz="2400" dirty="0"/>
                  <a:t>is </a:t>
                </a:r>
                <a:r>
                  <a:rPr lang="en-US" sz="2400" i="1" dirty="0"/>
                  <a:t>R&gt;1</a:t>
                </a:r>
                <a:r>
                  <a:rPr lang="en-US" sz="2400" dirty="0"/>
                  <a:t>, in case of early liquidation at </a:t>
                </a:r>
                <a:r>
                  <a:rPr lang="en-US" sz="2400" i="1" dirty="0"/>
                  <a:t>t=1 is</a:t>
                </a:r>
                <a:r>
                  <a:rPr lang="en-US" sz="2400" dirty="0"/>
                  <a:t> </a:t>
                </a:r>
                <a:r>
                  <a:rPr lang="en-US" sz="2400" i="1" dirty="0"/>
                  <a:t>F&lt;1</a:t>
                </a:r>
                <a:r>
                  <a:rPr lang="en-US" sz="2400" dirty="0"/>
                  <a:t>.</a:t>
                </a:r>
              </a:p>
            </p:txBody>
          </p:sp>
        </mc:Choice>
        <mc:Fallback xmlns="">
          <p:sp>
            <p:nvSpPr>
              <p:cNvPr id="3" name="Tartalom helye 2"/>
              <p:cNvSpPr>
                <a:spLocks noGrp="1" noRot="1" noChangeAspect="1" noMove="1" noResize="1" noEditPoints="1" noAdjustHandles="1" noChangeArrowheads="1" noChangeShapeType="1" noTextEdit="1"/>
              </p:cNvSpPr>
              <p:nvPr>
                <p:ph idx="1"/>
              </p:nvPr>
            </p:nvSpPr>
            <p:spPr>
              <a:xfrm>
                <a:off x="710293" y="1672717"/>
                <a:ext cx="10515600" cy="3531827"/>
              </a:xfrm>
              <a:blipFill>
                <a:blip r:embed="rId2"/>
                <a:stretch>
                  <a:fillRect l="-1043" t="-2759"/>
                </a:stretch>
              </a:blipFill>
            </p:spPr>
            <p:txBody>
              <a:bodyPr/>
              <a:lstStyle/>
              <a:p>
                <a:r>
                  <a:rPr lang="en-GB">
                    <a:noFill/>
                  </a:rPr>
                  <a:t> </a:t>
                </a:r>
              </a:p>
            </p:txBody>
          </p:sp>
        </mc:Fallback>
      </mc:AlternateContent>
      <p:sp>
        <p:nvSpPr>
          <p:cNvPr id="4" name="Dia számának helye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AC3E3C3-5984-494D-A44E-6E7D6FEAE8D6}" type="slidenum">
              <a:rPr kumimoji="0" lang="en-US" altLang="en-US" b="0" i="0" u="none" strike="noStrike" kern="1200" cap="none" spc="0" normalizeH="0" baseline="0">
                <a:ln>
                  <a:noFill/>
                </a:ln>
                <a:solidFill>
                  <a:srgbClr val="898989"/>
                </a:solidFill>
                <a:effectLst/>
                <a:uLnTx/>
                <a:uFillTx/>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b="0" i="0" u="none" strike="noStrike" kern="1200" cap="none" spc="0" normalizeH="0" baseline="0">
              <a:ln>
                <a:noFill/>
              </a:ln>
              <a:solidFill>
                <a:srgbClr val="898989"/>
              </a:solidFill>
              <a:effectLst/>
              <a:uLnTx/>
              <a:uFillTx/>
              <a:ea typeface="+mn-ea"/>
              <a:cs typeface="+mn-cs"/>
            </a:endParaRPr>
          </a:p>
        </p:txBody>
      </p:sp>
      <p:sp>
        <p:nvSpPr>
          <p:cNvPr id="7" name="Szövegdoboz 6">
            <a:extLst>
              <a:ext uri="{FF2B5EF4-FFF2-40B4-BE49-F238E27FC236}">
                <a16:creationId xmlns:a16="http://schemas.microsoft.com/office/drawing/2014/main" id="{326E9795-1D4F-B0CE-1400-CF6085EB0DD0}"/>
              </a:ext>
            </a:extLst>
          </p:cNvPr>
          <p:cNvSpPr txBox="1"/>
          <p:nvPr/>
        </p:nvSpPr>
        <p:spPr>
          <a:xfrm>
            <a:off x="710293" y="5755821"/>
            <a:ext cx="9829800" cy="369332"/>
          </a:xfrm>
          <a:prstGeom prst="rect">
            <a:avLst/>
          </a:prstGeom>
          <a:noFill/>
          <a:ln>
            <a:solidFill>
              <a:srgbClr val="C00000"/>
            </a:solidFill>
          </a:ln>
        </p:spPr>
        <p:txBody>
          <a:bodyPr wrap="square" rtlCol="0">
            <a:spAutoFit/>
          </a:bodyPr>
          <a:lstStyle/>
          <a:p>
            <a:r>
              <a:rPr lang="hu-HU" sz="1800" b="0" dirty="0"/>
              <a:t>Diamond – </a:t>
            </a:r>
            <a:r>
              <a:rPr lang="hu-HU" sz="1800" b="0" dirty="0" err="1"/>
              <a:t>Dybvig</a:t>
            </a:r>
            <a:r>
              <a:rPr lang="hu-HU" sz="1800" b="0" dirty="0"/>
              <a:t>: Bank </a:t>
            </a:r>
            <a:r>
              <a:rPr lang="hu-HU" sz="1800" b="0" dirty="0" err="1"/>
              <a:t>Runs</a:t>
            </a:r>
            <a:r>
              <a:rPr lang="hu-HU" sz="1800" b="0" dirty="0"/>
              <a:t>, </a:t>
            </a:r>
            <a:r>
              <a:rPr lang="hu-HU" sz="1800" b="0" dirty="0" err="1"/>
              <a:t>Deposit</a:t>
            </a:r>
            <a:r>
              <a:rPr lang="hu-HU" sz="1800" b="0" dirty="0"/>
              <a:t> </a:t>
            </a:r>
            <a:r>
              <a:rPr lang="hu-HU" sz="1800" b="0" dirty="0" err="1"/>
              <a:t>Insurance</a:t>
            </a:r>
            <a:r>
              <a:rPr lang="hu-HU" sz="1800" b="0" dirty="0"/>
              <a:t> and </a:t>
            </a:r>
            <a:r>
              <a:rPr lang="hu-HU" sz="1800" b="0" dirty="0" err="1"/>
              <a:t>Liquidity</a:t>
            </a:r>
            <a:r>
              <a:rPr lang="hu-HU" sz="1800" b="0" dirty="0"/>
              <a:t>; </a:t>
            </a:r>
            <a:r>
              <a:rPr lang="hu-HU" sz="1800" b="0" i="1" dirty="0"/>
              <a:t>Journal of </a:t>
            </a:r>
            <a:r>
              <a:rPr lang="hu-HU" sz="1800" b="0" i="1" dirty="0" err="1"/>
              <a:t>Political</a:t>
            </a:r>
            <a:r>
              <a:rPr lang="hu-HU" sz="1800" b="0" i="1" dirty="0"/>
              <a:t> </a:t>
            </a:r>
            <a:r>
              <a:rPr lang="hu-HU" sz="1800" b="0" i="1" dirty="0" err="1"/>
              <a:t>Economy</a:t>
            </a:r>
            <a:r>
              <a:rPr lang="hu-HU" sz="1800" b="0" i="1" dirty="0"/>
              <a:t>; 1983.</a:t>
            </a:r>
            <a:endParaRPr lang="hu-HU" dirty="0"/>
          </a:p>
        </p:txBody>
      </p:sp>
    </p:spTree>
    <p:extLst>
      <p:ext uri="{BB962C8B-B14F-4D97-AF65-F5344CB8AC3E}">
        <p14:creationId xmlns:p14="http://schemas.microsoft.com/office/powerpoint/2010/main" val="2227897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841248" y="365760"/>
            <a:ext cx="10515600" cy="813816"/>
          </a:xfrm>
        </p:spPr>
        <p:txBody>
          <a:bodyPr/>
          <a:lstStyle/>
          <a:p>
            <a:r>
              <a:rPr lang="en-US" dirty="0"/>
              <a:t>Az </a:t>
            </a:r>
            <a:r>
              <a:rPr lang="en-US" i="1" dirty="0"/>
              <a:t>ex ante</a:t>
            </a:r>
            <a:r>
              <a:rPr lang="en-US" dirty="0"/>
              <a:t> optimal allocation (autarky)</a:t>
            </a:r>
          </a:p>
        </p:txBody>
      </p:sp>
      <mc:AlternateContent xmlns:mc="http://schemas.openxmlformats.org/markup-compatibility/2006" xmlns:a14="http://schemas.microsoft.com/office/drawing/2010/main">
        <mc:Choice Requires="a14">
          <p:sp>
            <p:nvSpPr>
              <p:cNvPr id="3" name="Tartalom helye 2"/>
              <p:cNvSpPr>
                <a:spLocks noGrp="1"/>
              </p:cNvSpPr>
              <p:nvPr>
                <p:ph idx="1"/>
              </p:nvPr>
            </p:nvSpPr>
            <p:spPr>
              <a:xfrm>
                <a:off x="835152" y="1307592"/>
                <a:ext cx="10972800" cy="4986337"/>
              </a:xfrm>
            </p:spPr>
            <p:txBody>
              <a:bodyPr/>
              <a:lstStyle/>
              <a:p>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max</m:t>
                        </m:r>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1</m:t>
                                </m:r>
                              </m:sub>
                            </m:sSub>
                          </m:e>
                        </m:d>
                        <m:r>
                          <a:rPr lang="en-US" b="0" i="1" smtClean="0">
                            <a:latin typeface="Cambria Math" panose="02040503050406030204" pitchFamily="18" charset="0"/>
                            <a:ea typeface="Cambria Math" panose="02040503050406030204" pitchFamily="18" charset="0"/>
                          </a:rPr>
                          <m:t>+</m:t>
                        </m:r>
                      </m:e>
                    </m:func>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2</m:t>
                            </m:r>
                          </m:sub>
                        </m:sSub>
                      </m:e>
                    </m:d>
                  </m:oMath>
                </a14:m>
                <a:endParaRPr lang="en-US" b="0" dirty="0">
                  <a:ea typeface="Cambria Math" panose="02040503050406030204" pitchFamily="18" charset="0"/>
                </a:endParaRPr>
              </a:p>
              <a:p>
                <a:r>
                  <a:rPr lang="en-US" dirty="0"/>
                  <a:t>st: </a:t>
                </a:r>
              </a:p>
              <a:p>
                <a:pPr lvl="1"/>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𝑝</m:t>
                        </m:r>
                      </m:e>
                      <m:sub>
                        <m:r>
                          <a:rPr lang="en-US" i="1" smtClean="0">
                            <a:latin typeface="Cambria Math" panose="02040503050406030204" pitchFamily="18" charset="0"/>
                          </a:rPr>
                          <m:t>1</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𝐶</m:t>
                        </m:r>
                      </m:e>
                      <m:sub>
                        <m:r>
                          <a:rPr lang="en-US" i="1" smtClean="0">
                            <a:latin typeface="Cambria Math" panose="02040503050406030204" pitchFamily="18" charset="0"/>
                          </a:rPr>
                          <m:t>1</m:t>
                        </m:r>
                      </m:sub>
                    </m:sSub>
                  </m:oMath>
                </a14:m>
                <a:r>
                  <a:rPr lang="en-US" i="1" dirty="0">
                    <a:latin typeface="Cambria Math" panose="02040503050406030204" pitchFamily="18" charset="0"/>
                  </a:rPr>
                  <a:t>=1-I  </a:t>
                </a:r>
              </a:p>
              <a:p>
                <a:pPr lvl="1"/>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 </m:t>
                        </m:r>
                        <m:r>
                          <a:rPr lang="en-US" i="1" smtClean="0">
                            <a:latin typeface="Cambria Math" panose="02040503050406030204" pitchFamily="18" charset="0"/>
                          </a:rPr>
                          <m:t>𝑝</m:t>
                        </m:r>
                      </m:e>
                      <m:sub>
                        <m:r>
                          <a:rPr lang="en-US" b="0" i="1" smtClean="0">
                            <a:latin typeface="Cambria Math" panose="02040503050406030204" pitchFamily="18" charset="0"/>
                          </a:rPr>
                          <m:t>2</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𝐶</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𝐼</m:t>
                    </m:r>
                  </m:oMath>
                </a14:m>
                <a:endParaRPr lang="en-US" i="1" dirty="0">
                  <a:latin typeface="Cambria Math" panose="02040503050406030204" pitchFamily="18" charset="0"/>
                </a:endParaRPr>
              </a:p>
              <a:p>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𝑝</m:t>
                        </m:r>
                      </m:e>
                      <m:sub>
                        <m:r>
                          <a:rPr lang="en-US" i="1" smtClean="0">
                            <a:latin typeface="Cambria Math" panose="02040503050406030204" pitchFamily="18" charset="0"/>
                          </a:rPr>
                          <m:t>1</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𝐶</m:t>
                        </m:r>
                      </m:e>
                      <m:sub>
                        <m:r>
                          <a:rPr lang="en-US"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𝑝</m:t>
                        </m:r>
                      </m:e>
                      <m:sub>
                        <m:r>
                          <a:rPr lang="en-US" b="0" i="1" smtClean="0">
                            <a:latin typeface="Cambria Math" panose="02040503050406030204" pitchFamily="18" charset="0"/>
                          </a:rPr>
                          <m:t>2</m:t>
                        </m:r>
                      </m:sub>
                    </m:sSub>
                    <m:r>
                      <a:rPr lang="en-US" i="1" smtClean="0">
                        <a:latin typeface="Cambria Math" panose="02040503050406030204" pitchFamily="18" charset="0"/>
                      </a:rPr>
                      <m:t>∙</m:t>
                    </m:r>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i="1" smtClean="0">
                                <a:latin typeface="Cambria Math" panose="02040503050406030204" pitchFamily="18" charset="0"/>
                              </a:rPr>
                              <m:t>𝐶</m:t>
                            </m:r>
                          </m:e>
                          <m:sub>
                            <m:r>
                              <a:rPr lang="en-US" b="0" i="1" smtClean="0">
                                <a:latin typeface="Cambria Math" panose="02040503050406030204" pitchFamily="18" charset="0"/>
                              </a:rPr>
                              <m:t>2</m:t>
                            </m:r>
                          </m:sub>
                        </m:sSub>
                      </m:num>
                      <m:den>
                        <m:r>
                          <a:rPr lang="en-US" b="0" i="1" smtClean="0">
                            <a:latin typeface="Cambria Math" panose="02040503050406030204" pitchFamily="18" charset="0"/>
                          </a:rPr>
                          <m:t>𝑅</m:t>
                        </m:r>
                      </m:den>
                    </m:f>
                    <m:r>
                      <a:rPr lang="en-US" b="0" i="1" smtClean="0">
                        <a:latin typeface="Cambria Math" panose="02040503050406030204" pitchFamily="18" charset="0"/>
                      </a:rPr>
                      <m:t>=1</m:t>
                    </m:r>
                  </m:oMath>
                </a14:m>
                <a:endParaRPr lang="en-US" dirty="0">
                  <a:latin typeface="Cambria Math" panose="02040503050406030204" pitchFamily="18" charset="0"/>
                </a:endParaRP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𝑈</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e>
                    </m:d>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𝑈</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r>
                              <a:rPr lang="en-US" b="0" i="1" smtClean="0">
                                <a:latin typeface="Cambria Math" panose="02040503050406030204" pitchFamily="18" charset="0"/>
                              </a:rPr>
                              <m:t>2</m:t>
                            </m:r>
                          </m:sub>
                          <m:sup>
                            <m:r>
                              <a:rPr lang="en-US" b="0" i="1" smtClean="0">
                                <a:latin typeface="Cambria Math" panose="02040503050406030204" pitchFamily="18" charset="0"/>
                              </a:rPr>
                              <m:t>∗</m:t>
                            </m:r>
                          </m:sup>
                        </m:sSubSup>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p>
                          <m:sSupPr>
                            <m:ctrlPr>
                              <a:rPr lang="en-US" i="1" smtClean="0">
                                <a:latin typeface="Cambria Math" panose="02040503050406030204" pitchFamily="18" charset="0"/>
                              </a:rPr>
                            </m:ctrlPr>
                          </m:sSupPr>
                          <m:e>
                            <m:r>
                              <a:rPr lang="en-US" i="1" smtClean="0">
                                <a:latin typeface="Cambria Math" panose="02040503050406030204" pitchFamily="18" charset="0"/>
                              </a:rPr>
                              <m:t>𝑈</m:t>
                            </m:r>
                          </m:e>
                          <m:sup>
                            <m:r>
                              <a:rPr lang="en-US" i="1" smtClean="0">
                                <a:latin typeface="Cambria Math" panose="02040503050406030204" pitchFamily="18" charset="0"/>
                              </a:rPr>
                              <m:t>′</m:t>
                            </m:r>
                          </m:sup>
                        </m:sSup>
                        <m:d>
                          <m:dPr>
                            <m:ctrlPr>
                              <a:rPr lang="en-US" i="1" smtClean="0">
                                <a:latin typeface="Cambria Math" panose="02040503050406030204" pitchFamily="18" charset="0"/>
                              </a:rPr>
                            </m:ctrlPr>
                          </m:dPr>
                          <m:e>
                            <m:sSubSup>
                              <m:sSubSupPr>
                                <m:ctrlPr>
                                  <a:rPr lang="en-US" i="1" smtClean="0">
                                    <a:latin typeface="Cambria Math" panose="02040503050406030204" pitchFamily="18" charset="0"/>
                                  </a:rPr>
                                </m:ctrlPr>
                              </m:sSubSupPr>
                              <m:e>
                                <m:r>
                                  <a:rPr lang="en-US" i="1" smtClean="0">
                                    <a:latin typeface="Cambria Math" panose="02040503050406030204" pitchFamily="18" charset="0"/>
                                  </a:rPr>
                                  <m:t>𝐶</m:t>
                                </m:r>
                              </m:e>
                              <m:sub>
                                <m:r>
                                  <a:rPr lang="en-US" i="1" smtClean="0">
                                    <a:latin typeface="Cambria Math" panose="02040503050406030204" pitchFamily="18" charset="0"/>
                                  </a:rPr>
                                  <m:t>1</m:t>
                                </m:r>
                              </m:sub>
                              <m:sup>
                                <m:r>
                                  <a:rPr lang="en-US" i="1" smtClean="0">
                                    <a:latin typeface="Cambria Math" panose="02040503050406030204" pitchFamily="18" charset="0"/>
                                  </a:rPr>
                                  <m:t>∗</m:t>
                                </m:r>
                              </m:sup>
                            </m:sSubSup>
                          </m:e>
                        </m:d>
                      </m:num>
                      <m:den>
                        <m:sSup>
                          <m:sSupPr>
                            <m:ctrlPr>
                              <a:rPr lang="en-US" i="1" smtClean="0">
                                <a:latin typeface="Cambria Math" panose="02040503050406030204" pitchFamily="18" charset="0"/>
                              </a:rPr>
                            </m:ctrlPr>
                          </m:sSupPr>
                          <m:e>
                            <m:r>
                              <a:rPr lang="en-US" i="1" smtClean="0">
                                <a:latin typeface="Cambria Math" panose="02040503050406030204" pitchFamily="18" charset="0"/>
                              </a:rPr>
                              <m:t>𝑈</m:t>
                            </m:r>
                          </m:e>
                          <m:sup>
                            <m:r>
                              <a:rPr lang="en-US" i="1" smtClean="0">
                                <a:latin typeface="Cambria Math" panose="02040503050406030204" pitchFamily="18" charset="0"/>
                              </a:rPr>
                              <m:t>′</m:t>
                            </m:r>
                          </m:sup>
                        </m:sSup>
                        <m:d>
                          <m:dPr>
                            <m:ctrlPr>
                              <a:rPr lang="en-US" i="1" smtClean="0">
                                <a:latin typeface="Cambria Math" panose="02040503050406030204" pitchFamily="18" charset="0"/>
                              </a:rPr>
                            </m:ctrlPr>
                          </m:dPr>
                          <m:e>
                            <m:sSubSup>
                              <m:sSubSupPr>
                                <m:ctrlPr>
                                  <a:rPr lang="en-US" i="1" smtClean="0">
                                    <a:latin typeface="Cambria Math" panose="02040503050406030204" pitchFamily="18" charset="0"/>
                                  </a:rPr>
                                </m:ctrlPr>
                              </m:sSubSupPr>
                              <m:e>
                                <m:r>
                                  <a:rPr lang="en-US" i="1" smtClean="0">
                                    <a:latin typeface="Cambria Math" panose="02040503050406030204" pitchFamily="18" charset="0"/>
                                  </a:rPr>
                                  <m:t>𝐶</m:t>
                                </m:r>
                              </m:e>
                              <m:sub>
                                <m:r>
                                  <a:rPr lang="en-US" i="1" smtClean="0">
                                    <a:latin typeface="Cambria Math" panose="02040503050406030204" pitchFamily="18" charset="0"/>
                                  </a:rPr>
                                  <m:t>2</m:t>
                                </m:r>
                              </m:sub>
                              <m:sup>
                                <m:r>
                                  <a:rPr lang="en-US" i="1" smtClean="0">
                                    <a:latin typeface="Cambria Math" panose="02040503050406030204" pitchFamily="18" charset="0"/>
                                  </a:rPr>
                                  <m:t>∗</m:t>
                                </m:r>
                              </m:sup>
                            </m:sSubSup>
                          </m:e>
                        </m:d>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𝑅</m:t>
                    </m:r>
                  </m:oMath>
                </a14:m>
                <a:endParaRPr lang="en-US" i="1" dirty="0">
                  <a:latin typeface="Cambria Math" panose="02040503050406030204" pitchFamily="18" charset="0"/>
                </a:endParaRPr>
              </a:p>
            </p:txBody>
          </p:sp>
        </mc:Choice>
        <mc:Fallback xmlns="">
          <p:sp>
            <p:nvSpPr>
              <p:cNvPr id="3" name="Tartalom helye 2"/>
              <p:cNvSpPr>
                <a:spLocks noGrp="1" noRot="1" noChangeAspect="1" noMove="1" noResize="1" noEditPoints="1" noAdjustHandles="1" noChangeArrowheads="1" noChangeShapeType="1" noTextEdit="1"/>
              </p:cNvSpPr>
              <p:nvPr>
                <p:ph idx="1"/>
              </p:nvPr>
            </p:nvSpPr>
            <p:spPr>
              <a:xfrm>
                <a:off x="835152" y="1307592"/>
                <a:ext cx="10972800" cy="4986337"/>
              </a:xfrm>
              <a:blipFill>
                <a:blip r:embed="rId2"/>
                <a:stretch>
                  <a:fillRect l="-1000"/>
                </a:stretch>
              </a:blipFill>
            </p:spPr>
            <p:txBody>
              <a:bodyPr/>
              <a:lstStyle/>
              <a:p>
                <a:r>
                  <a:rPr lang="hu-HU">
                    <a:noFill/>
                  </a:rPr>
                  <a:t> </a:t>
                </a:r>
              </a:p>
            </p:txBody>
          </p:sp>
        </mc:Fallback>
      </mc:AlternateContent>
      <p:sp>
        <p:nvSpPr>
          <p:cNvPr id="4" name="Dia számának helye 3"/>
          <p:cNvSpPr>
            <a:spLocks noGrp="1"/>
          </p:cNvSpPr>
          <p:nvPr>
            <p:ph type="sldNum" sz="quarter" idx="12"/>
          </p:nvPr>
        </p:nvSpPr>
        <p:spPr>
          <a:xfrm>
            <a:off x="8613648" y="6355080"/>
            <a:ext cx="2743200" cy="365125"/>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AC3E3C3-5984-494D-A44E-6E7D6FEAE8D6}" type="slidenum">
              <a:rPr kumimoji="0" lang="en-US" altLang="en-US" b="0" i="0" u="none" strike="noStrike" kern="1200" cap="none" spc="0" normalizeH="0" baseline="0">
                <a:ln>
                  <a:noFill/>
                </a:ln>
                <a:solidFill>
                  <a:srgbClr val="898989"/>
                </a:solidFill>
                <a:effectLst/>
                <a:uLnTx/>
                <a:uFillTx/>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b="0" i="0" u="none" strike="noStrike" kern="1200" cap="none" spc="0" normalizeH="0" baseline="0">
              <a:ln>
                <a:noFill/>
              </a:ln>
              <a:solidFill>
                <a:srgbClr val="898989"/>
              </a:solidFill>
              <a:effectLst/>
              <a:uLnTx/>
              <a:uFillTx/>
              <a:ea typeface="+mn-ea"/>
              <a:cs typeface="+mn-cs"/>
            </a:endParaRPr>
          </a:p>
        </p:txBody>
      </p:sp>
      <p:sp>
        <p:nvSpPr>
          <p:cNvPr id="5" name="Szövegdoboz 4"/>
          <p:cNvSpPr txBox="1"/>
          <p:nvPr/>
        </p:nvSpPr>
        <p:spPr>
          <a:xfrm>
            <a:off x="7471641" y="1700054"/>
            <a:ext cx="3122140" cy="646331"/>
          </a:xfrm>
          <a:prstGeom prst="rect">
            <a:avLst/>
          </a:prstGeom>
          <a:noFill/>
          <a:ln>
            <a:solidFill>
              <a:schemeClr val="tx1"/>
            </a:solidFill>
          </a:ln>
        </p:spPr>
        <p:txBody>
          <a:bodyPr wrap="square" rtlCol="0">
            <a:spAutoFit/>
          </a:bodyPr>
          <a:lstStyle/>
          <a:p>
            <a:r>
              <a:rPr lang="en-US" dirty="0"/>
              <a:t>Probabilities are ratios in the total population</a:t>
            </a:r>
          </a:p>
        </p:txBody>
      </p:sp>
      <p:cxnSp>
        <p:nvCxnSpPr>
          <p:cNvPr id="7" name="Egyenes összekötő nyíllal 6"/>
          <p:cNvCxnSpPr>
            <a:cxnSpLocks/>
            <a:stCxn id="5" idx="1"/>
          </p:cNvCxnSpPr>
          <p:nvPr/>
        </p:nvCxnSpPr>
        <p:spPr>
          <a:xfrm flipH="1" flipV="1">
            <a:off x="1992702" y="1638903"/>
            <a:ext cx="5478939" cy="38431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Egyenes összekötő nyíllal 8"/>
          <p:cNvCxnSpPr>
            <a:cxnSpLocks/>
            <a:stCxn id="5" idx="1"/>
          </p:cNvCxnSpPr>
          <p:nvPr/>
        </p:nvCxnSpPr>
        <p:spPr>
          <a:xfrm flipH="1" flipV="1">
            <a:off x="3942272" y="1638903"/>
            <a:ext cx="3529369" cy="38431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Szövegdoboz 9"/>
              <p:cNvSpPr txBox="1"/>
              <p:nvPr/>
            </p:nvSpPr>
            <p:spPr>
              <a:xfrm>
                <a:off x="7471642" y="4834780"/>
                <a:ext cx="3122140" cy="646331"/>
              </a:xfrm>
              <a:prstGeom prst="rect">
                <a:avLst/>
              </a:prstGeom>
              <a:noFill/>
              <a:ln>
                <a:solidFill>
                  <a:schemeClr val="tx1"/>
                </a:solidFill>
              </a:ln>
            </p:spPr>
            <p:txBody>
              <a:bodyPr wrap="square" rtlCol="0">
                <a:spAutoFit/>
              </a:bodyPr>
              <a:lstStyle/>
              <a:p>
                <a:r>
                  <a:rPr lang="en-US"/>
                  <a:t>Social optimum, since</a:t>
                </a:r>
              </a:p>
              <a:p>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r>
                          <a:rPr lang="en-US" b="0" i="1" smtClean="0">
                            <a:latin typeface="Cambria Math" panose="02040503050406030204" pitchFamily="18" charset="0"/>
                          </a:rPr>
                          <m:t>2</m:t>
                        </m:r>
                      </m:sub>
                      <m:sup>
                        <m:r>
                          <a:rPr lang="en-US" b="0" i="1" smtClean="0">
                            <a:latin typeface="Cambria Math" panose="02040503050406030204" pitchFamily="18" charset="0"/>
                          </a:rPr>
                          <m:t>∗</m:t>
                        </m:r>
                      </m:sup>
                    </m:sSubSup>
                  </m:oMath>
                </a14:m>
                <a:r>
                  <a:rPr lang="en-US"/>
                  <a:t>&gt; </a:t>
                </a:r>
                <a14:m>
                  <m:oMath xmlns:m="http://schemas.openxmlformats.org/officeDocument/2006/math">
                    <m:sSubSup>
                      <m:sSubSupPr>
                        <m:ctrlPr>
                          <a:rPr lang="en-US" i="1" smtClean="0">
                            <a:latin typeface="Cambria Math" panose="02040503050406030204" pitchFamily="18" charset="0"/>
                          </a:rPr>
                        </m:ctrlPr>
                      </m:sSubSupPr>
                      <m:e>
                        <m:r>
                          <a:rPr lang="en-US" i="1" smtClean="0">
                            <a:latin typeface="Cambria Math" panose="02040503050406030204" pitchFamily="18" charset="0"/>
                          </a:rPr>
                          <m:t>𝐶</m:t>
                        </m:r>
                      </m:e>
                      <m:sub>
                        <m:r>
                          <a:rPr lang="en-US" i="1" smtClean="0">
                            <a:latin typeface="Cambria Math" panose="02040503050406030204" pitchFamily="18" charset="0"/>
                          </a:rPr>
                          <m:t>1</m:t>
                        </m:r>
                      </m:sub>
                      <m:sup>
                        <m:r>
                          <a:rPr lang="en-US" i="1" smtClean="0">
                            <a:latin typeface="Cambria Math" panose="02040503050406030204" pitchFamily="18" charset="0"/>
                          </a:rPr>
                          <m:t>∗</m:t>
                        </m:r>
                      </m:sup>
                    </m:sSubSup>
                  </m:oMath>
                </a14:m>
                <a:r>
                  <a:rPr lang="en-US"/>
                  <a:t>, as </a:t>
                </a:r>
                <a:r>
                  <a:rPr lang="en-US" i="1"/>
                  <a:t>R&gt;1</a:t>
                </a:r>
              </a:p>
            </p:txBody>
          </p:sp>
        </mc:Choice>
        <mc:Fallback xmlns="">
          <p:sp>
            <p:nvSpPr>
              <p:cNvPr id="10" name="Szövegdoboz 9"/>
              <p:cNvSpPr txBox="1">
                <a:spLocks noRot="1" noChangeAspect="1" noMove="1" noResize="1" noEditPoints="1" noAdjustHandles="1" noChangeArrowheads="1" noChangeShapeType="1" noTextEdit="1"/>
              </p:cNvSpPr>
              <p:nvPr/>
            </p:nvSpPr>
            <p:spPr>
              <a:xfrm>
                <a:off x="7471642" y="4834780"/>
                <a:ext cx="3122140" cy="646331"/>
              </a:xfrm>
              <a:prstGeom prst="rect">
                <a:avLst/>
              </a:prstGeom>
              <a:blipFill>
                <a:blip r:embed="rId3"/>
                <a:stretch>
                  <a:fillRect l="-1556" t="-3704" b="-12963"/>
                </a:stretch>
              </a:blipFill>
              <a:ln>
                <a:solidFill>
                  <a:schemeClr val="tx1"/>
                </a:solidFill>
              </a:ln>
            </p:spPr>
            <p:txBody>
              <a:bodyPr/>
              <a:lstStyle/>
              <a:p>
                <a:r>
                  <a:rPr lang="en-GB">
                    <a:noFill/>
                  </a:rPr>
                  <a:t> </a:t>
                </a:r>
              </a:p>
            </p:txBody>
          </p:sp>
        </mc:Fallback>
      </mc:AlternateContent>
      <p:cxnSp>
        <p:nvCxnSpPr>
          <p:cNvPr id="12" name="Egyenes összekötő nyíllal 11"/>
          <p:cNvCxnSpPr>
            <a:cxnSpLocks/>
            <a:stCxn id="10" idx="1"/>
          </p:cNvCxnSpPr>
          <p:nvPr/>
        </p:nvCxnSpPr>
        <p:spPr>
          <a:xfrm flipH="1" flipV="1">
            <a:off x="5624422" y="4334023"/>
            <a:ext cx="1847220" cy="82392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 name="Lefelé nyíl 13"/>
          <p:cNvSpPr/>
          <p:nvPr/>
        </p:nvSpPr>
        <p:spPr>
          <a:xfrm>
            <a:off x="2475880" y="2970594"/>
            <a:ext cx="321275" cy="354227"/>
          </a:xfrm>
          <a:prstGeom prst="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zövegdoboz 14"/>
          <p:cNvSpPr txBox="1"/>
          <p:nvPr/>
        </p:nvSpPr>
        <p:spPr>
          <a:xfrm>
            <a:off x="7471641" y="3305400"/>
            <a:ext cx="3122140" cy="369332"/>
          </a:xfrm>
          <a:prstGeom prst="rect">
            <a:avLst/>
          </a:prstGeom>
          <a:noFill/>
          <a:ln>
            <a:solidFill>
              <a:schemeClr val="tx1"/>
            </a:solidFill>
          </a:ln>
        </p:spPr>
        <p:txBody>
          <a:bodyPr wrap="square" rtlCol="0">
            <a:spAutoFit/>
          </a:bodyPr>
          <a:lstStyle/>
          <a:p>
            <a:r>
              <a:rPr lang="en-US" dirty="0"/>
              <a:t>Aggregated budget constraint</a:t>
            </a:r>
          </a:p>
        </p:txBody>
      </p:sp>
      <p:cxnSp>
        <p:nvCxnSpPr>
          <p:cNvPr id="17" name="Egyenes összekötő nyíllal 16"/>
          <p:cNvCxnSpPr>
            <a:cxnSpLocks/>
            <a:stCxn id="15" idx="1"/>
          </p:cNvCxnSpPr>
          <p:nvPr/>
        </p:nvCxnSpPr>
        <p:spPr>
          <a:xfrm flipH="1" flipV="1">
            <a:off x="4016955" y="3436962"/>
            <a:ext cx="3454686" cy="5310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3146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a:t>First case – No market</a:t>
            </a:r>
          </a:p>
        </p:txBody>
      </p:sp>
      <mc:AlternateContent xmlns:mc="http://schemas.openxmlformats.org/markup-compatibility/2006" xmlns:a14="http://schemas.microsoft.com/office/drawing/2010/main">
        <mc:Choice Requires="a14">
          <p:sp>
            <p:nvSpPr>
              <p:cNvPr id="3" name="Tartalom helye 2"/>
              <p:cNvSpPr>
                <a:spLocks noGrp="1"/>
              </p:cNvSpPr>
              <p:nvPr>
                <p:ph idx="1"/>
              </p:nvPr>
            </p:nvSpPr>
            <p:spPr>
              <a:xfrm>
                <a:off x="1104180" y="1828799"/>
                <a:ext cx="10249619" cy="4348163"/>
              </a:xfrm>
            </p:spPr>
            <p:txBody>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1</m:t>
                        </m:r>
                      </m:sub>
                    </m:sSub>
                    <m:r>
                      <a:rPr lang="en-US" b="0" i="1" smtClean="0">
                        <a:latin typeface="Cambria Math" panose="02040503050406030204" pitchFamily="18" charset="0"/>
                      </a:rPr>
                      <m:t>=1−</m:t>
                    </m:r>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𝐼</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𝐼</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𝐹</m:t>
                        </m:r>
                      </m:e>
                    </m:d>
                  </m:oMath>
                </a14:m>
                <a:endParaRPr lang="en-US" dirty="0"/>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2</m:t>
                        </m:r>
                      </m:sub>
                    </m:sSub>
                    <m:r>
                      <a:rPr lang="en-US" b="0" i="1" smtClean="0">
                        <a:latin typeface="Cambria Math" panose="02040503050406030204" pitchFamily="18" charset="0"/>
                      </a:rPr>
                      <m:t>=1−</m:t>
                    </m:r>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𝐼</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𝐼</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−1</m:t>
                        </m:r>
                      </m:e>
                    </m:d>
                  </m:oMath>
                </a14:m>
                <a:endParaRPr lang="en-US" dirty="0"/>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if</m:t>
                    </m:r>
                    <m:r>
                      <a:rPr lang="en-US" b="0" i="0"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𝐼</m:t>
                    </m:r>
                    <m:r>
                      <a:rPr lang="en-US" b="0" i="1" smtClean="0">
                        <a:latin typeface="Cambria Math" panose="02040503050406030204" pitchFamily="18" charset="0"/>
                        <a:ea typeface="Cambria Math" panose="02040503050406030204" pitchFamily="18" charset="0"/>
                      </a:rPr>
                      <m:t>=0</m:t>
                    </m:r>
                  </m:oMath>
                </a14:m>
                <a:endParaRPr lang="en-US" b="0" i="1" dirty="0">
                  <a:ea typeface="Cambria Math" panose="02040503050406030204" pitchFamily="18" charset="0"/>
                </a:endParaRP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𝑅</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if</m:t>
                    </m:r>
                    <m:r>
                      <a:rPr lang="en-US" b="0" i="0"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𝐼</m:t>
                    </m:r>
                    <m:r>
                      <a:rPr lang="en-US" b="0" i="0" smtClean="0">
                        <a:latin typeface="Cambria Math" panose="02040503050406030204" pitchFamily="18" charset="0"/>
                        <a:ea typeface="Cambria Math" panose="02040503050406030204" pitchFamily="18" charset="0"/>
                      </a:rPr>
                      <m:t>=1</m:t>
                    </m:r>
                  </m:oMath>
                </a14:m>
                <a:endParaRPr lang="en-US" b="0" dirty="0">
                  <a:ea typeface="Cambria Math" panose="02040503050406030204" pitchFamily="18" charset="0"/>
                </a:endParaRPr>
              </a:p>
              <a:p>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𝑝</m:t>
                        </m:r>
                      </m:e>
                      <m:sub>
                        <m:r>
                          <a:rPr lang="en-US" i="1" smtClean="0">
                            <a:latin typeface="Cambria Math" panose="02040503050406030204" pitchFamily="18" charset="0"/>
                          </a:rPr>
                          <m:t>1</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𝐶</m:t>
                        </m:r>
                      </m:e>
                      <m:sub>
                        <m:r>
                          <a:rPr lang="en-US"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𝑝</m:t>
                        </m:r>
                      </m:e>
                      <m:sub>
                        <m:r>
                          <a:rPr lang="en-US" b="0" i="1" smtClean="0">
                            <a:latin typeface="Cambria Math" panose="02040503050406030204" pitchFamily="18" charset="0"/>
                          </a:rPr>
                          <m:t>2</m:t>
                        </m:r>
                      </m:sub>
                    </m:sSub>
                    <m:r>
                      <a:rPr lang="en-US" i="1" smtClean="0">
                        <a:latin typeface="Cambria Math" panose="02040503050406030204" pitchFamily="18" charset="0"/>
                      </a:rPr>
                      <m:t>∙</m:t>
                    </m:r>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i="1" smtClean="0">
                                <a:latin typeface="Cambria Math" panose="02040503050406030204" pitchFamily="18" charset="0"/>
                              </a:rPr>
                              <m:t>𝐶</m:t>
                            </m:r>
                          </m:e>
                          <m:sub>
                            <m:r>
                              <a:rPr lang="en-US" b="0" i="1" smtClean="0">
                                <a:latin typeface="Cambria Math" panose="02040503050406030204" pitchFamily="18" charset="0"/>
                              </a:rPr>
                              <m:t>2</m:t>
                            </m:r>
                          </m:sub>
                        </m:sSub>
                      </m:num>
                      <m:den>
                        <m:r>
                          <a:rPr lang="en-US" b="0" i="1" smtClean="0">
                            <a:latin typeface="Cambria Math" panose="02040503050406030204" pitchFamily="18" charset="0"/>
                          </a:rPr>
                          <m:t>𝑅</m:t>
                        </m:r>
                      </m:den>
                    </m:f>
                    <m:r>
                      <a:rPr lang="en-US"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rPr>
                      <m:t>1, </m:t>
                    </m:r>
                    <m:r>
                      <a:rPr lang="en-US" b="0" i="1" smtClean="0">
                        <a:latin typeface="Cambria Math" panose="02040503050406030204" pitchFamily="18" charset="0"/>
                      </a:rPr>
                      <m:t>𝑛𝑜𝑡</m:t>
                    </m:r>
                    <m:r>
                      <a:rPr lang="en-US" b="0" i="1" smtClean="0">
                        <a:latin typeface="Cambria Math" panose="02040503050406030204" pitchFamily="18" charset="0"/>
                      </a:rPr>
                      <m:t> </m:t>
                    </m:r>
                    <m:r>
                      <a:rPr lang="en-US" b="0" i="1" smtClean="0">
                        <a:latin typeface="Cambria Math" panose="02040503050406030204" pitchFamily="18" charset="0"/>
                      </a:rPr>
                      <m:t>𝑒𝑓𝑓𝑖𝑐𝑖𝑒𝑛𝑡</m:t>
                    </m:r>
                    <m:r>
                      <a:rPr lang="en-US" b="0" i="1" smtClean="0">
                        <a:latin typeface="Cambria Math" panose="02040503050406030204" pitchFamily="18" charset="0"/>
                      </a:rPr>
                      <m:t>!</m:t>
                    </m:r>
                  </m:oMath>
                </a14:m>
                <a:endParaRPr lang="en-US" dirty="0"/>
              </a:p>
              <a:p>
                <a:endParaRPr lang="en-US" dirty="0"/>
              </a:p>
            </p:txBody>
          </p:sp>
        </mc:Choice>
        <mc:Fallback xmlns="">
          <p:sp>
            <p:nvSpPr>
              <p:cNvPr id="3" name="Tartalom helye 2"/>
              <p:cNvSpPr>
                <a:spLocks noGrp="1" noRot="1" noChangeAspect="1" noMove="1" noResize="1" noEditPoints="1" noAdjustHandles="1" noChangeArrowheads="1" noChangeShapeType="1" noTextEdit="1"/>
              </p:cNvSpPr>
              <p:nvPr>
                <p:ph idx="1"/>
              </p:nvPr>
            </p:nvSpPr>
            <p:spPr>
              <a:xfrm>
                <a:off x="1104180" y="1828799"/>
                <a:ext cx="10249619" cy="4348163"/>
              </a:xfrm>
              <a:blipFill>
                <a:blip r:embed="rId2"/>
                <a:stretch>
                  <a:fillRect/>
                </a:stretch>
              </a:blipFill>
            </p:spPr>
            <p:txBody>
              <a:bodyPr/>
              <a:lstStyle/>
              <a:p>
                <a:r>
                  <a:rPr lang="en-GB">
                    <a:noFill/>
                  </a:rPr>
                  <a:t> </a:t>
                </a:r>
              </a:p>
            </p:txBody>
          </p:sp>
        </mc:Fallback>
      </mc:AlternateContent>
      <p:sp>
        <p:nvSpPr>
          <p:cNvPr id="4" name="Dia számának helye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AC3E3C3-5984-494D-A44E-6E7D6FEAE8D6}" type="slidenum">
              <a:rPr kumimoji="0" lang="en-US" altLang="en-US" b="0" i="0" u="none" strike="noStrike" kern="1200" cap="none" spc="0" normalizeH="0" baseline="0">
                <a:ln>
                  <a:noFill/>
                </a:ln>
                <a:solidFill>
                  <a:srgbClr val="898989"/>
                </a:solidFill>
                <a:effectLst/>
                <a:uLnTx/>
                <a:uFillTx/>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b="0" i="0" u="none" strike="noStrike" kern="1200" cap="none" spc="0" normalizeH="0" baseline="0">
              <a:ln>
                <a:noFill/>
              </a:ln>
              <a:solidFill>
                <a:srgbClr val="898989"/>
              </a:solidFill>
              <a:effectLst/>
              <a:uLnTx/>
              <a:uFillTx/>
              <a:ea typeface="+mn-ea"/>
              <a:cs typeface="+mn-cs"/>
            </a:endParaRPr>
          </a:p>
        </p:txBody>
      </p:sp>
    </p:spTree>
    <p:extLst>
      <p:ext uri="{BB962C8B-B14F-4D97-AF65-F5344CB8AC3E}">
        <p14:creationId xmlns:p14="http://schemas.microsoft.com/office/powerpoint/2010/main" val="2690183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a:t>Second case – Money market</a:t>
            </a:r>
          </a:p>
        </p:txBody>
      </p:sp>
      <mc:AlternateContent xmlns:mc="http://schemas.openxmlformats.org/markup-compatibility/2006" xmlns:a14="http://schemas.microsoft.com/office/drawing/2010/main">
        <mc:Choice Requires="a14">
          <p:sp>
            <p:nvSpPr>
              <p:cNvPr id="3" name="Tartalom helye 2"/>
              <p:cNvSpPr>
                <a:spLocks noGrp="1"/>
              </p:cNvSpPr>
              <p:nvPr>
                <p:ph idx="1"/>
              </p:nvPr>
            </p:nvSpPr>
            <p:spPr/>
            <p:txBody>
              <a:bodyPr/>
              <a:lstStyle/>
              <a:p>
                <a:r>
                  <a:rPr lang="en-US" sz="2000" dirty="0"/>
                  <a:t>Let</a:t>
                </a:r>
                <a:r>
                  <a:rPr lang="hu-HU" sz="2000" dirty="0"/>
                  <a:t>’s</a:t>
                </a:r>
                <a:r>
                  <a:rPr lang="en-US" sz="2000" dirty="0"/>
                  <a:t> assume a security which is tradeable in </a:t>
                </a:r>
                <a:r>
                  <a:rPr lang="en-US" sz="2000" i="1" dirty="0"/>
                  <a:t>t=1 </a:t>
                </a:r>
                <a:r>
                  <a:rPr lang="en-US" sz="2000" dirty="0"/>
                  <a:t>at </a:t>
                </a:r>
                <a:r>
                  <a:rPr lang="hu-HU" sz="2000" dirty="0"/>
                  <a:t>a </a:t>
                </a:r>
                <a:r>
                  <a:rPr lang="en-US" sz="2000" dirty="0"/>
                  <a:t>price q (</a:t>
                </a:r>
                <a:r>
                  <a:rPr lang="en-US" sz="2000" i="1" dirty="0"/>
                  <a:t>q&lt;1) </a:t>
                </a:r>
                <a:r>
                  <a:rPr lang="en-US" sz="2000" dirty="0"/>
                  <a:t>and provides one unit of good in </a:t>
                </a:r>
                <a:r>
                  <a:rPr lang="en-US" sz="2000" i="1" dirty="0"/>
                  <a:t>t=2</a:t>
                </a:r>
                <a:endParaRPr lang="en-US" sz="2000" dirty="0"/>
              </a:p>
              <a:p>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rPr>
                          <m:t>𝐶</m:t>
                        </m:r>
                      </m:e>
                      <m:sub>
                        <m:r>
                          <a:rPr lang="en-US" sz="2400" i="1" smtClean="0">
                            <a:latin typeface="Cambria Math" panose="02040503050406030204" pitchFamily="18" charset="0"/>
                          </a:rPr>
                          <m:t>1</m:t>
                        </m:r>
                      </m:sub>
                    </m:sSub>
                    <m:r>
                      <a:rPr lang="en-US" sz="2400" i="1" smtClean="0">
                        <a:latin typeface="Cambria Math" panose="02040503050406030204" pitchFamily="18" charset="0"/>
                      </a:rPr>
                      <m:t>=1−</m:t>
                    </m:r>
                    <m:r>
                      <a:rPr lang="en-US" sz="2400" i="1" smtClean="0">
                        <a:latin typeface="Cambria Math" panose="02040503050406030204" pitchFamily="18" charset="0"/>
                      </a:rPr>
                      <m:t>𝐼</m:t>
                    </m:r>
                    <m:r>
                      <a:rPr lang="en-US" sz="2400" i="1" smtClean="0">
                        <a:latin typeface="Cambria Math" panose="02040503050406030204" pitchFamily="18" charset="0"/>
                      </a:rPr>
                      <m:t>+</m:t>
                    </m:r>
                    <m:r>
                      <a:rPr lang="en-US" sz="2400" i="1" smtClean="0">
                        <a:latin typeface="Cambria Math" panose="02040503050406030204" pitchFamily="18" charset="0"/>
                      </a:rPr>
                      <m:t>𝑞</m:t>
                    </m:r>
                    <m:r>
                      <a:rPr lang="en-US" sz="2400" i="1" smtClean="0">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𝑅</m:t>
                    </m:r>
                    <m:r>
                      <a:rPr lang="en-US" sz="2400" i="1" smtClean="0">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𝐼</m:t>
                    </m:r>
                  </m:oMath>
                </a14:m>
                <a:endParaRPr lang="en-US" sz="2400" i="1"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rPr>
                          <m:t>𝐶</m:t>
                        </m:r>
                      </m:e>
                      <m:sub>
                        <m:r>
                          <a:rPr lang="en-US" sz="2400" i="1" smtClean="0">
                            <a:latin typeface="Cambria Math" panose="02040503050406030204" pitchFamily="18" charset="0"/>
                          </a:rPr>
                          <m:t>2</m:t>
                        </m:r>
                      </m:sub>
                    </m:sSub>
                    <m:r>
                      <a:rPr lang="en-US" sz="2400" i="1" smtClean="0">
                        <a:latin typeface="Cambria Math" panose="02040503050406030204" pitchFamily="18" charset="0"/>
                      </a:rPr>
                      <m:t>=</m:t>
                    </m:r>
                    <m:f>
                      <m:fPr>
                        <m:ctrlPr>
                          <a:rPr lang="en-US" sz="2400" i="1" smtClean="0">
                            <a:latin typeface="Cambria Math" panose="02040503050406030204" pitchFamily="18" charset="0"/>
                          </a:rPr>
                        </m:ctrlPr>
                      </m:fPr>
                      <m:num>
                        <m:r>
                          <a:rPr lang="en-US" sz="2400" i="1" smtClean="0">
                            <a:latin typeface="Cambria Math" panose="02040503050406030204" pitchFamily="18" charset="0"/>
                          </a:rPr>
                          <m:t>1−</m:t>
                        </m:r>
                        <m:r>
                          <a:rPr lang="en-US" sz="2400" i="1" smtClean="0">
                            <a:latin typeface="Cambria Math" panose="02040503050406030204" pitchFamily="18" charset="0"/>
                          </a:rPr>
                          <m:t>𝐼</m:t>
                        </m:r>
                      </m:num>
                      <m:den>
                        <m:r>
                          <a:rPr lang="en-US" sz="2400" i="1" smtClean="0">
                            <a:latin typeface="Cambria Math" panose="02040503050406030204" pitchFamily="18" charset="0"/>
                          </a:rPr>
                          <m:t>𝑞</m:t>
                        </m:r>
                      </m:den>
                    </m:f>
                    <m:r>
                      <a:rPr lang="en-US" sz="2400" i="1" smtClean="0">
                        <a:latin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𝑅</m:t>
                    </m:r>
                    <m:r>
                      <a:rPr lang="en-US" sz="2400" i="1" smtClean="0">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𝐼</m:t>
                    </m:r>
                    <m:r>
                      <a:rPr lang="en-US" sz="2400" i="1"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ea typeface="Cambria Math" panose="02040503050406030204" pitchFamily="18" charset="0"/>
                          </a:rPr>
                        </m:ctrlPr>
                      </m:fPr>
                      <m:num>
                        <m:r>
                          <a:rPr lang="en-US" sz="2400" i="1" smtClean="0">
                            <a:latin typeface="Cambria Math" panose="02040503050406030204" pitchFamily="18" charset="0"/>
                            <a:ea typeface="Cambria Math" panose="02040503050406030204" pitchFamily="18" charset="0"/>
                          </a:rPr>
                          <m:t>1</m:t>
                        </m:r>
                      </m:num>
                      <m:den>
                        <m:r>
                          <a:rPr lang="en-US" sz="2400" i="1" smtClean="0">
                            <a:latin typeface="Cambria Math" panose="02040503050406030204" pitchFamily="18" charset="0"/>
                            <a:ea typeface="Cambria Math" panose="02040503050406030204" pitchFamily="18" charset="0"/>
                          </a:rPr>
                          <m:t>𝑞</m:t>
                        </m:r>
                      </m:den>
                    </m:f>
                    <m:r>
                      <a:rPr lang="en-US" sz="2400" i="1" smtClean="0">
                        <a:latin typeface="Cambria Math" panose="02040503050406030204" pitchFamily="18" charset="0"/>
                        <a:ea typeface="Cambria Math" panose="02040503050406030204" pitchFamily="18" charset="0"/>
                      </a:rPr>
                      <m:t>∙</m:t>
                    </m:r>
                    <m:d>
                      <m:dPr>
                        <m:ctrlPr>
                          <a:rPr lang="en-US" sz="2400" i="1" smtClean="0">
                            <a:latin typeface="Cambria Math" panose="02040503050406030204" pitchFamily="18" charset="0"/>
                            <a:ea typeface="Cambria Math" panose="02040503050406030204" pitchFamily="18" charset="0"/>
                          </a:rPr>
                        </m:ctrlPr>
                      </m:dPr>
                      <m:e>
                        <m:r>
                          <a:rPr lang="en-US" sz="2400" i="1" smtClean="0">
                            <a:latin typeface="Cambria Math" panose="02040503050406030204" pitchFamily="18" charset="0"/>
                            <a:ea typeface="Cambria Math" panose="02040503050406030204" pitchFamily="18" charset="0"/>
                          </a:rPr>
                          <m:t>1−</m:t>
                        </m:r>
                        <m:r>
                          <a:rPr lang="en-US" sz="2400" i="1" smtClean="0">
                            <a:latin typeface="Cambria Math" panose="02040503050406030204" pitchFamily="18" charset="0"/>
                            <a:ea typeface="Cambria Math" panose="02040503050406030204" pitchFamily="18" charset="0"/>
                          </a:rPr>
                          <m:t>𝐼</m:t>
                        </m:r>
                        <m:r>
                          <a:rPr lang="en-US" sz="2400" i="1" smtClean="0">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rPr>
                          <m:t>𝑞</m:t>
                        </m:r>
                        <m:r>
                          <a:rPr lang="en-US" sz="2400" i="1" smtClean="0">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𝑅</m:t>
                        </m:r>
                        <m:r>
                          <a:rPr lang="en-US" sz="2400" i="1" smtClean="0">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𝐼</m:t>
                        </m:r>
                        <m:r>
                          <m:rPr>
                            <m:nor/>
                          </m:rPr>
                          <a:rPr lang="en-US" sz="2400" i="1" smtClean="0">
                            <a:latin typeface="Cambria Math" panose="02040503050406030204" pitchFamily="18" charset="0"/>
                            <a:ea typeface="Cambria Math" panose="02040503050406030204" pitchFamily="18" charset="0"/>
                          </a:rPr>
                          <m:t> </m:t>
                        </m:r>
                      </m:e>
                    </m:d>
                  </m:oMath>
                </a14:m>
                <a:endParaRPr lang="en-US" sz="2400" i="1"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n-US" sz="2400" i="1" smtClean="0">
                            <a:latin typeface="Cambria Math" panose="02040503050406030204" pitchFamily="18" charset="0"/>
                            <a:ea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𝐶</m:t>
                        </m:r>
                      </m:e>
                      <m:sub>
                        <m:r>
                          <a:rPr lang="en-US" sz="2400" i="1" smtClean="0">
                            <a:latin typeface="Cambria Math" panose="02040503050406030204" pitchFamily="18" charset="0"/>
                            <a:ea typeface="Cambria Math" panose="02040503050406030204" pitchFamily="18" charset="0"/>
                          </a:rPr>
                          <m:t>2</m:t>
                        </m:r>
                      </m:sub>
                    </m:sSub>
                    <m:r>
                      <a:rPr lang="en-US" sz="2400" i="1" smtClean="0">
                        <a:latin typeface="Cambria Math" panose="02040503050406030204" pitchFamily="18" charset="0"/>
                        <a:ea typeface="Cambria Math" panose="02040503050406030204" pitchFamily="18" charset="0"/>
                      </a:rPr>
                      <m:t>=</m:t>
                    </m:r>
                    <m:f>
                      <m:fPr>
                        <m:ctrlPr>
                          <a:rPr lang="en-US" sz="2400" i="1" smtClean="0">
                            <a:latin typeface="Cambria Math" panose="02040503050406030204" pitchFamily="18" charset="0"/>
                            <a:ea typeface="Cambria Math" panose="02040503050406030204" pitchFamily="18" charset="0"/>
                          </a:rPr>
                        </m:ctrlPr>
                      </m:fPr>
                      <m:num>
                        <m:sSub>
                          <m:sSubPr>
                            <m:ctrlPr>
                              <a:rPr lang="en-US" sz="2400" i="1" smtClean="0">
                                <a:latin typeface="Cambria Math" panose="02040503050406030204" pitchFamily="18" charset="0"/>
                                <a:ea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𝐶</m:t>
                            </m:r>
                          </m:e>
                          <m:sub>
                            <m:r>
                              <a:rPr lang="en-US" sz="2400" i="1" smtClean="0">
                                <a:latin typeface="Cambria Math" panose="02040503050406030204" pitchFamily="18" charset="0"/>
                                <a:ea typeface="Cambria Math" panose="02040503050406030204" pitchFamily="18" charset="0"/>
                              </a:rPr>
                              <m:t>1</m:t>
                            </m:r>
                          </m:sub>
                        </m:sSub>
                      </m:num>
                      <m:den>
                        <m:r>
                          <a:rPr lang="en-US" sz="2400" i="1" smtClean="0">
                            <a:latin typeface="Cambria Math" panose="02040503050406030204" pitchFamily="18" charset="0"/>
                            <a:ea typeface="Cambria Math" panose="02040503050406030204" pitchFamily="18" charset="0"/>
                          </a:rPr>
                          <m:t>𝑞</m:t>
                        </m:r>
                      </m:den>
                    </m:f>
                    <m:r>
                      <a:rPr lang="en-US" sz="2400" i="1" smtClean="0">
                        <a:latin typeface="Cambria Math" panose="02040503050406030204" pitchFamily="18" charset="0"/>
                        <a:ea typeface="Cambria Math" panose="02040503050406030204" pitchFamily="18" charset="0"/>
                      </a:rPr>
                      <m:t> é</m:t>
                    </m:r>
                    <m:r>
                      <a:rPr lang="en-US" sz="2400" i="1" smtClean="0">
                        <a:latin typeface="Cambria Math" panose="02040503050406030204" pitchFamily="18" charset="0"/>
                        <a:ea typeface="Cambria Math" panose="02040503050406030204" pitchFamily="18" charset="0"/>
                      </a:rPr>
                      <m:t>𝑠</m:t>
                    </m:r>
                    <m:r>
                      <a:rPr lang="en-US" sz="2400" i="1" smtClean="0">
                        <a:latin typeface="Cambria Math" panose="02040503050406030204" pitchFamily="18" charset="0"/>
                        <a:ea typeface="Cambria Math" panose="02040503050406030204" pitchFamily="18" charset="0"/>
                      </a:rPr>
                      <m:t> </m:t>
                    </m:r>
                    <m:r>
                      <a:rPr lang="en-US" sz="2400" i="1" smtClean="0">
                        <a:latin typeface="Cambria Math" panose="02040503050406030204" pitchFamily="18" charset="0"/>
                        <a:ea typeface="Cambria Math" panose="02040503050406030204" pitchFamily="18" charset="0"/>
                      </a:rPr>
                      <m:t>𝑞</m:t>
                    </m:r>
                    <m:r>
                      <a:rPr lang="en-US" sz="2400" i="1" smtClean="0">
                        <a:latin typeface="Cambria Math" panose="02040503050406030204" pitchFamily="18" charset="0"/>
                        <a:ea typeface="Cambria Math" panose="02040503050406030204" pitchFamily="18" charset="0"/>
                      </a:rPr>
                      <m:t>=</m:t>
                    </m:r>
                    <m:f>
                      <m:fPr>
                        <m:type m:val="skw"/>
                        <m:ctrlPr>
                          <a:rPr lang="en-US" sz="2400" i="1" smtClean="0">
                            <a:latin typeface="Cambria Math" panose="02040503050406030204" pitchFamily="18" charset="0"/>
                            <a:ea typeface="Cambria Math" panose="02040503050406030204" pitchFamily="18" charset="0"/>
                          </a:rPr>
                        </m:ctrlPr>
                      </m:fPr>
                      <m:num>
                        <m:r>
                          <a:rPr lang="en-US" sz="2400" i="1" smtClean="0">
                            <a:latin typeface="Cambria Math" panose="02040503050406030204" pitchFamily="18" charset="0"/>
                            <a:ea typeface="Cambria Math" panose="02040503050406030204" pitchFamily="18" charset="0"/>
                          </a:rPr>
                          <m:t>1</m:t>
                        </m:r>
                      </m:num>
                      <m:den>
                        <m:r>
                          <a:rPr lang="en-US" sz="2400" i="1" smtClean="0">
                            <a:latin typeface="Cambria Math" panose="02040503050406030204" pitchFamily="18" charset="0"/>
                            <a:ea typeface="Cambria Math" panose="02040503050406030204" pitchFamily="18" charset="0"/>
                          </a:rPr>
                          <m:t>𝑅</m:t>
                        </m:r>
                      </m:den>
                    </m:f>
                  </m:oMath>
                </a14:m>
                <a:endParaRPr lang="en-US" sz="2400" i="1" dirty="0">
                  <a:latin typeface="Cambria Math" panose="02040503050406030204" pitchFamily="18" charset="0"/>
                  <a:ea typeface="Cambria Math" panose="02040503050406030204" pitchFamily="18" charset="0"/>
                </a:endParaRPr>
              </a:p>
              <a:p>
                <a:pPr lvl="1"/>
                <a:r>
                  <a:rPr lang="en-US" sz="1600" dirty="0"/>
                  <a:t>Let </a:t>
                </a:r>
                <a:r>
                  <a:rPr lang="en-US" sz="1600" i="1" dirty="0"/>
                  <a:t>q &gt; 1/R </a:t>
                </a:r>
                <a:r>
                  <a:rPr lang="en-US" sz="1600" dirty="0"/>
                  <a:t>→ excess supply of bond, </a:t>
                </a:r>
                <a:r>
                  <a:rPr lang="en-US" sz="1600" i="1" dirty="0"/>
                  <a:t>I=1</a:t>
                </a:r>
                <a:r>
                  <a:rPr lang="en-US" sz="1600" dirty="0"/>
                  <a:t>   </a:t>
                </a:r>
              </a:p>
              <a:p>
                <a:pPr lvl="1"/>
                <a:r>
                  <a:rPr lang="hu-HU" sz="1600" dirty="0" err="1"/>
                  <a:t>Let</a:t>
                </a:r>
                <a:r>
                  <a:rPr lang="en-US" sz="1600" dirty="0"/>
                  <a:t> </a:t>
                </a:r>
                <a:r>
                  <a:rPr lang="en-US" sz="1600" i="1" dirty="0"/>
                  <a:t>q &lt; 1/R </a:t>
                </a:r>
                <a:r>
                  <a:rPr lang="en-US" sz="1600" dirty="0"/>
                  <a:t>→ excess demand of bond; </a:t>
                </a:r>
                <a:r>
                  <a:rPr lang="en-US" sz="1600" i="1" dirty="0"/>
                  <a:t>I=0</a:t>
                </a:r>
                <a:endParaRPr lang="en-US" sz="1600" dirty="0"/>
              </a:p>
              <a:p>
                <a14:m>
                  <m:oMath xmlns:m="http://schemas.openxmlformats.org/officeDocument/2006/math">
                    <m:sSubSup>
                      <m:sSubSupPr>
                        <m:ctrlPr>
                          <a:rPr lang="en-US" sz="2400" i="1" smtClean="0">
                            <a:latin typeface="Cambria Math" panose="02040503050406030204" pitchFamily="18" charset="0"/>
                            <a:ea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𝐶</m:t>
                        </m:r>
                      </m:e>
                      <m:sub>
                        <m:r>
                          <a:rPr lang="en-US" sz="2400" i="1" smtClean="0">
                            <a:latin typeface="Cambria Math" panose="02040503050406030204" pitchFamily="18" charset="0"/>
                            <a:ea typeface="Cambria Math" panose="02040503050406030204" pitchFamily="18" charset="0"/>
                          </a:rPr>
                          <m:t>1</m:t>
                        </m:r>
                      </m:sub>
                      <m:sup>
                        <m:r>
                          <a:rPr lang="en-US" sz="2400" i="1" smtClean="0">
                            <a:latin typeface="Cambria Math" panose="02040503050406030204" pitchFamily="18" charset="0"/>
                            <a:ea typeface="Cambria Math" panose="02040503050406030204" pitchFamily="18" charset="0"/>
                          </a:rPr>
                          <m:t>𝑀</m:t>
                        </m:r>
                      </m:sup>
                    </m:sSubSup>
                    <m:r>
                      <a:rPr lang="en-US" sz="2400" i="1" smtClean="0">
                        <a:latin typeface="Cambria Math" panose="02040503050406030204" pitchFamily="18" charset="0"/>
                        <a:ea typeface="Cambria Math" panose="02040503050406030204" pitchFamily="18" charset="0"/>
                      </a:rPr>
                      <m:t>=1,</m:t>
                    </m:r>
                    <m:sSubSup>
                      <m:sSubSupPr>
                        <m:ctrlPr>
                          <a:rPr lang="en-US" sz="2400" i="1" smtClean="0">
                            <a:latin typeface="Cambria Math" panose="02040503050406030204" pitchFamily="18" charset="0"/>
                            <a:ea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𝐶</m:t>
                        </m:r>
                      </m:e>
                      <m:sub>
                        <m:r>
                          <a:rPr lang="en-US" sz="2400" i="1" smtClean="0">
                            <a:latin typeface="Cambria Math" panose="02040503050406030204" pitchFamily="18" charset="0"/>
                            <a:ea typeface="Cambria Math" panose="02040503050406030204" pitchFamily="18" charset="0"/>
                          </a:rPr>
                          <m:t>2</m:t>
                        </m:r>
                      </m:sub>
                      <m:sup>
                        <m:r>
                          <a:rPr lang="en-US" sz="2400" i="1" smtClean="0">
                            <a:latin typeface="Cambria Math" panose="02040503050406030204" pitchFamily="18" charset="0"/>
                            <a:ea typeface="Cambria Math" panose="02040503050406030204" pitchFamily="18" charset="0"/>
                          </a:rPr>
                          <m:t>𝑀</m:t>
                        </m:r>
                      </m:sup>
                    </m:sSubSup>
                    <m:r>
                      <a:rPr lang="en-US" sz="2400" i="1" smtClean="0">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𝑅</m:t>
                    </m:r>
                    <m:r>
                      <a:rPr lang="en-US" sz="2400" i="1" smtClean="0">
                        <a:latin typeface="Cambria Math" panose="02040503050406030204" pitchFamily="18" charset="0"/>
                        <a:ea typeface="Cambria Math" panose="02040503050406030204" pitchFamily="18" charset="0"/>
                      </a:rPr>
                      <m:t>, </m:t>
                    </m:r>
                    <m:sSup>
                      <m:sSupPr>
                        <m:ctrlPr>
                          <a:rPr lang="en-US" sz="2400" i="1" smtClean="0">
                            <a:latin typeface="Cambria Math" panose="02040503050406030204" pitchFamily="18" charset="0"/>
                            <a:ea typeface="Cambria Math" panose="02040503050406030204" pitchFamily="18" charset="0"/>
                          </a:rPr>
                        </m:ctrlPr>
                      </m:sSupPr>
                      <m:e>
                        <m:r>
                          <a:rPr lang="en-US" sz="2400" i="1" smtClean="0">
                            <a:latin typeface="Cambria Math" panose="02040503050406030204" pitchFamily="18" charset="0"/>
                            <a:ea typeface="Cambria Math" panose="02040503050406030204" pitchFamily="18" charset="0"/>
                          </a:rPr>
                          <m:t>𝐼</m:t>
                        </m:r>
                      </m:e>
                      <m:sup>
                        <m:r>
                          <a:rPr lang="en-US" sz="2400" i="1" smtClean="0">
                            <a:latin typeface="Cambria Math" panose="02040503050406030204" pitchFamily="18" charset="0"/>
                            <a:ea typeface="Cambria Math" panose="02040503050406030204" pitchFamily="18" charset="0"/>
                          </a:rPr>
                          <m:t>𝑀</m:t>
                        </m:r>
                      </m:sup>
                    </m:sSup>
                    <m:r>
                      <a:rPr lang="en-US" sz="2400" i="1" smtClean="0">
                        <a:latin typeface="Cambria Math" panose="02040503050406030204" pitchFamily="18" charset="0"/>
                        <a:ea typeface="Cambria Math" panose="02040503050406030204" pitchFamily="18" charset="0"/>
                      </a:rPr>
                      <m:t>=</m:t>
                    </m:r>
                    <m:sSub>
                      <m:sSubPr>
                        <m:ctrlPr>
                          <a:rPr lang="en-US" sz="2400" i="1" smtClean="0">
                            <a:latin typeface="Cambria Math" panose="02040503050406030204" pitchFamily="18" charset="0"/>
                            <a:ea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𝑝</m:t>
                        </m:r>
                      </m:e>
                      <m:sub>
                        <m:r>
                          <a:rPr lang="en-US" sz="2400" i="1" smtClean="0">
                            <a:latin typeface="Cambria Math" panose="02040503050406030204" pitchFamily="18" charset="0"/>
                            <a:ea typeface="Cambria Math" panose="02040503050406030204" pitchFamily="18" charset="0"/>
                          </a:rPr>
                          <m:t>2</m:t>
                        </m:r>
                      </m:sub>
                    </m:sSub>
                  </m:oMath>
                </a14:m>
                <a:endParaRPr lang="en-US" sz="2400" i="1" dirty="0">
                  <a:latin typeface="Cambria Math" panose="02040503050406030204" pitchFamily="18" charset="0"/>
                  <a:ea typeface="Cambria Math" panose="02040503050406030204" pitchFamily="18" charset="0"/>
                </a:endParaRPr>
              </a:p>
              <a:p>
                <a:r>
                  <a:rPr lang="en-US" sz="2400" i="1" dirty="0">
                    <a:latin typeface="Cambria Math" panose="02040503050406030204" pitchFamily="18" charset="0"/>
                    <a:ea typeface="Cambria Math" panose="02040503050406030204" pitchFamily="18" charset="0"/>
                  </a:rPr>
                  <a:t>Only optimal, if  </a:t>
                </a:r>
                <a14:m>
                  <m:oMath xmlns:m="http://schemas.openxmlformats.org/officeDocument/2006/math">
                    <m:sSup>
                      <m:sSupPr>
                        <m:ctrlPr>
                          <a:rPr lang="en-US" sz="2400" i="1" smtClean="0">
                            <a:latin typeface="Cambria Math" panose="02040503050406030204" pitchFamily="18" charset="0"/>
                          </a:rPr>
                        </m:ctrlPr>
                      </m:sSupPr>
                      <m:e>
                        <m:r>
                          <a:rPr lang="en-US" sz="2400" i="1" smtClean="0">
                            <a:latin typeface="Cambria Math" panose="02040503050406030204" pitchFamily="18" charset="0"/>
                          </a:rPr>
                          <m:t>𝑈</m:t>
                        </m:r>
                      </m:e>
                      <m:sup>
                        <m:r>
                          <a:rPr lang="en-US" sz="2400" i="1" smtClean="0">
                            <a:latin typeface="Cambria Math" panose="02040503050406030204" pitchFamily="18" charset="0"/>
                          </a:rPr>
                          <m:t>′</m:t>
                        </m:r>
                      </m:sup>
                    </m:sSup>
                    <m:d>
                      <m:dPr>
                        <m:ctrlPr>
                          <a:rPr lang="en-US" sz="2400" i="1" smtClean="0">
                            <a:latin typeface="Cambria Math" panose="02040503050406030204" pitchFamily="18" charset="0"/>
                          </a:rPr>
                        </m:ctrlPr>
                      </m:dPr>
                      <m:e>
                        <m:r>
                          <a:rPr lang="en-US" sz="2400" i="1" smtClean="0">
                            <a:latin typeface="Cambria Math" panose="02040503050406030204" pitchFamily="18" charset="0"/>
                          </a:rPr>
                          <m:t>1</m:t>
                        </m:r>
                      </m:e>
                    </m:d>
                    <m:r>
                      <a:rPr lang="en-US" sz="2400" i="1" smtClean="0">
                        <a:latin typeface="Cambria Math" panose="02040503050406030204" pitchFamily="18" charset="0"/>
                      </a:rPr>
                      <m:t>=</m:t>
                    </m:r>
                    <m:r>
                      <a:rPr lang="en-US" sz="2400" i="1" smtClean="0">
                        <a:latin typeface="Cambria Math" panose="02040503050406030204" pitchFamily="18" charset="0"/>
                      </a:rPr>
                      <m:t>𝑅</m:t>
                    </m:r>
                    <m:r>
                      <a:rPr lang="en-US" sz="2400" i="1" smtClean="0">
                        <a:latin typeface="Cambria Math" panose="02040503050406030204" pitchFamily="18" charset="0"/>
                        <a:ea typeface="Cambria Math" panose="02040503050406030204" pitchFamily="18" charset="0"/>
                      </a:rPr>
                      <m:t>∙</m:t>
                    </m:r>
                    <m:sSup>
                      <m:sSupPr>
                        <m:ctrlPr>
                          <a:rPr lang="en-US" sz="2400" i="1" smtClean="0">
                            <a:latin typeface="Cambria Math" panose="02040503050406030204" pitchFamily="18" charset="0"/>
                          </a:rPr>
                        </m:ctrlPr>
                      </m:sSupPr>
                      <m:e>
                        <m:r>
                          <a:rPr lang="en-US" sz="2400" i="1" smtClean="0">
                            <a:latin typeface="Cambria Math" panose="02040503050406030204" pitchFamily="18" charset="0"/>
                          </a:rPr>
                          <m:t>𝑈</m:t>
                        </m:r>
                      </m:e>
                      <m:sup>
                        <m:r>
                          <a:rPr lang="en-US" sz="2400" i="1" smtClean="0">
                            <a:latin typeface="Cambria Math" panose="02040503050406030204" pitchFamily="18" charset="0"/>
                          </a:rPr>
                          <m:t>′</m:t>
                        </m:r>
                      </m:sup>
                    </m:sSup>
                    <m:d>
                      <m:dPr>
                        <m:ctrlPr>
                          <a:rPr lang="en-US" sz="2400" i="1" smtClean="0">
                            <a:latin typeface="Cambria Math" panose="02040503050406030204" pitchFamily="18" charset="0"/>
                          </a:rPr>
                        </m:ctrlPr>
                      </m:dPr>
                      <m:e>
                        <m:r>
                          <a:rPr lang="en-US" sz="2400" i="1" smtClean="0">
                            <a:latin typeface="Cambria Math" panose="02040503050406030204" pitchFamily="18" charset="0"/>
                          </a:rPr>
                          <m:t>𝑅</m:t>
                        </m:r>
                      </m:e>
                    </m:d>
                    <m:r>
                      <a:rPr lang="en-US" sz="2400" i="1" smtClean="0">
                        <a:latin typeface="Cambria Math" panose="02040503050406030204" pitchFamily="18" charset="0"/>
                      </a:rPr>
                      <m:t>!</m:t>
                    </m:r>
                  </m:oMath>
                </a14:m>
                <a:endParaRPr lang="en-US" i="1" dirty="0">
                  <a:latin typeface="Cambria Math" panose="02040503050406030204" pitchFamily="18" charset="0"/>
                </a:endParaRPr>
              </a:p>
            </p:txBody>
          </p:sp>
        </mc:Choice>
        <mc:Fallback xmlns="">
          <p:sp>
            <p:nvSpPr>
              <p:cNvPr id="3" name="Tartalom helye 2"/>
              <p:cNvSpPr>
                <a:spLocks noGrp="1" noRot="1" noChangeAspect="1" noMove="1" noResize="1" noEditPoints="1" noAdjustHandles="1" noChangeArrowheads="1" noChangeShapeType="1" noTextEdit="1"/>
              </p:cNvSpPr>
              <p:nvPr>
                <p:ph idx="1"/>
              </p:nvPr>
            </p:nvSpPr>
            <p:spPr>
              <a:blipFill>
                <a:blip r:embed="rId2"/>
                <a:stretch>
                  <a:fillRect l="-812" t="-1378"/>
                </a:stretch>
              </a:blipFill>
            </p:spPr>
            <p:txBody>
              <a:bodyPr/>
              <a:lstStyle/>
              <a:p>
                <a:r>
                  <a:rPr lang="hu-HU">
                    <a:noFill/>
                  </a:rPr>
                  <a:t> </a:t>
                </a:r>
              </a:p>
            </p:txBody>
          </p:sp>
        </mc:Fallback>
      </mc:AlternateContent>
      <p:sp>
        <p:nvSpPr>
          <p:cNvPr id="4" name="Dia számának helye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AC3E3C3-5984-494D-A44E-6E7D6FEAE8D6}" type="slidenum">
              <a:rPr kumimoji="0" lang="en-US" altLang="en-US" b="0" i="0" u="none" strike="noStrike" kern="1200" cap="none" spc="0" normalizeH="0" baseline="0">
                <a:ln>
                  <a:noFill/>
                </a:ln>
                <a:solidFill>
                  <a:srgbClr val="898989"/>
                </a:solidFill>
                <a:effectLst/>
                <a:uLnTx/>
                <a:uFillTx/>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b="0" i="0" u="none" strike="noStrike" kern="1200" cap="none" spc="0" normalizeH="0" baseline="0">
              <a:ln>
                <a:noFill/>
              </a:ln>
              <a:solidFill>
                <a:srgbClr val="898989"/>
              </a:solidFill>
              <a:effectLst/>
              <a:uLnTx/>
              <a:uFillTx/>
              <a:ea typeface="+mn-ea"/>
              <a:cs typeface="+mn-cs"/>
            </a:endParaRPr>
          </a:p>
        </p:txBody>
      </p:sp>
      <p:sp>
        <p:nvSpPr>
          <p:cNvPr id="6" name="Ellipszis 5"/>
          <p:cNvSpPr/>
          <p:nvPr/>
        </p:nvSpPr>
        <p:spPr>
          <a:xfrm>
            <a:off x="3280228" y="4147791"/>
            <a:ext cx="1296144" cy="64807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a:ln>
                <a:noFill/>
              </a:ln>
              <a:solidFill>
                <a:srgbClr val="FFFFFF"/>
              </a:solidFill>
              <a:effectLst/>
              <a:uLnTx/>
              <a:uFillTx/>
              <a:latin typeface="Arial"/>
              <a:ea typeface="+mn-ea"/>
              <a:cs typeface="+mn-cs"/>
            </a:endParaRPr>
          </a:p>
        </p:txBody>
      </p:sp>
      <p:sp>
        <p:nvSpPr>
          <p:cNvPr id="5" name="Nyíl: jobbra mutató 4">
            <a:extLst>
              <a:ext uri="{FF2B5EF4-FFF2-40B4-BE49-F238E27FC236}">
                <a16:creationId xmlns:a16="http://schemas.microsoft.com/office/drawing/2014/main" id="{5845310E-D31A-44C0-74FC-AE0FE2C7A060}"/>
              </a:ext>
            </a:extLst>
          </p:cNvPr>
          <p:cNvSpPr/>
          <p:nvPr/>
        </p:nvSpPr>
        <p:spPr>
          <a:xfrm>
            <a:off x="3999420" y="2037715"/>
            <a:ext cx="3081102" cy="2626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zövegdoboz 6">
            <a:extLst>
              <a:ext uri="{FF2B5EF4-FFF2-40B4-BE49-F238E27FC236}">
                <a16:creationId xmlns:a16="http://schemas.microsoft.com/office/drawing/2014/main" id="{6AC73A6E-166E-03F3-3BBC-B919CDD284D8}"/>
              </a:ext>
            </a:extLst>
          </p:cNvPr>
          <p:cNvSpPr txBox="1"/>
          <p:nvPr/>
        </p:nvSpPr>
        <p:spPr>
          <a:xfrm>
            <a:off x="7080522" y="1750604"/>
            <a:ext cx="4273278" cy="646331"/>
          </a:xfrm>
          <a:prstGeom prst="rect">
            <a:avLst/>
          </a:prstGeom>
          <a:noFill/>
          <a:ln>
            <a:solidFill>
              <a:srgbClr val="C00000"/>
            </a:solidFill>
          </a:ln>
        </p:spPr>
        <p:txBody>
          <a:bodyPr wrap="square" rtlCol="0">
            <a:spAutoFit/>
          </a:bodyPr>
          <a:lstStyle/>
          <a:p>
            <a:r>
              <a:rPr lang="en-US" dirty="0"/>
              <a:t>Bring forward the return on </a:t>
            </a:r>
            <a:r>
              <a:rPr lang="en-US" i="1" dirty="0"/>
              <a:t>I, </a:t>
            </a:r>
            <a:r>
              <a:rPr lang="en-US" dirty="0"/>
              <a:t>sale of  </a:t>
            </a:r>
            <a:r>
              <a:rPr lang="en-US" i="1" dirty="0"/>
              <a:t>R*I</a:t>
            </a:r>
            <a:r>
              <a:rPr lang="en-US" dirty="0"/>
              <a:t> unit of security</a:t>
            </a:r>
          </a:p>
        </p:txBody>
      </p:sp>
      <p:sp>
        <p:nvSpPr>
          <p:cNvPr id="8" name="Nyíl: jobbra mutató 7">
            <a:extLst>
              <a:ext uri="{FF2B5EF4-FFF2-40B4-BE49-F238E27FC236}">
                <a16:creationId xmlns:a16="http://schemas.microsoft.com/office/drawing/2014/main" id="{72C3AB47-3CF6-3F4F-5973-45874DC5D713}"/>
              </a:ext>
            </a:extLst>
          </p:cNvPr>
          <p:cNvSpPr/>
          <p:nvPr/>
        </p:nvSpPr>
        <p:spPr>
          <a:xfrm>
            <a:off x="6238240" y="2586011"/>
            <a:ext cx="842282" cy="2630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zövegdoboz 8">
            <a:extLst>
              <a:ext uri="{FF2B5EF4-FFF2-40B4-BE49-F238E27FC236}">
                <a16:creationId xmlns:a16="http://schemas.microsoft.com/office/drawing/2014/main" id="{C936F5A8-8033-9B7C-2BB3-4AC1BA37AEB7}"/>
              </a:ext>
            </a:extLst>
          </p:cNvPr>
          <p:cNvSpPr txBox="1"/>
          <p:nvPr/>
        </p:nvSpPr>
        <p:spPr>
          <a:xfrm>
            <a:off x="7080522" y="2586011"/>
            <a:ext cx="4273278" cy="646331"/>
          </a:xfrm>
          <a:prstGeom prst="rect">
            <a:avLst/>
          </a:prstGeom>
          <a:noFill/>
          <a:ln>
            <a:solidFill>
              <a:srgbClr val="C00000"/>
            </a:solidFill>
          </a:ln>
        </p:spPr>
        <p:txBody>
          <a:bodyPr wrap="square" rtlCol="0">
            <a:spAutoFit/>
          </a:bodyPr>
          <a:lstStyle/>
          <a:p>
            <a:r>
              <a:rPr lang="en-US" dirty="0"/>
              <a:t>Spend the excess liquidity and buys </a:t>
            </a:r>
            <a:r>
              <a:rPr lang="en-US" i="1" dirty="0"/>
              <a:t>(1-I)/q </a:t>
            </a:r>
            <a:r>
              <a:rPr lang="en-US" dirty="0"/>
              <a:t>unit of security</a:t>
            </a:r>
          </a:p>
        </p:txBody>
      </p:sp>
    </p:spTree>
    <p:extLst>
      <p:ext uri="{BB962C8B-B14F-4D97-AF65-F5344CB8AC3E}">
        <p14:creationId xmlns:p14="http://schemas.microsoft.com/office/powerpoint/2010/main" val="3085682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normAutofit/>
          </a:bodyPr>
          <a:lstStyle/>
          <a:p>
            <a:r>
              <a:rPr lang="en-US" dirty="0"/>
              <a:t>Third case – Financial </a:t>
            </a:r>
            <a:r>
              <a:rPr lang="hu-HU" dirty="0"/>
              <a:t>I</a:t>
            </a:r>
            <a:r>
              <a:rPr lang="en-US" dirty="0" err="1"/>
              <a:t>ntermediation</a:t>
            </a:r>
            <a:endParaRPr lang="en-US" dirty="0"/>
          </a:p>
        </p:txBody>
      </p:sp>
      <mc:AlternateContent xmlns:mc="http://schemas.openxmlformats.org/markup-compatibility/2006" xmlns:a14="http://schemas.microsoft.com/office/drawing/2010/main">
        <mc:Choice Requires="a14">
          <p:sp>
            <p:nvSpPr>
              <p:cNvPr id="3" name="Tartalom helye 2"/>
              <p:cNvSpPr>
                <a:spLocks noGrp="1"/>
              </p:cNvSpPr>
              <p:nvPr>
                <p:ph idx="1"/>
              </p:nvPr>
            </p:nvSpPr>
            <p:spPr>
              <a:xfrm>
                <a:off x="838200" y="1307592"/>
                <a:ext cx="10972800" cy="4753099"/>
              </a:xfrm>
            </p:spPr>
            <p:txBody>
              <a:bodyPr/>
              <a:lstStyle/>
              <a:p>
                <a:r>
                  <a:rPr lang="en-US" sz="2000" dirty="0"/>
                  <a:t>An FI collects the savers’(n) goods</a:t>
                </a:r>
              </a:p>
              <a:p>
                <a:r>
                  <a:rPr lang="en-US" sz="2000" dirty="0"/>
                  <a:t>Savers have a deposit on demand that pays either </a:t>
                </a:r>
                <a14:m>
                  <m:oMath xmlns:m="http://schemas.openxmlformats.org/officeDocument/2006/math">
                    <m:sSubSup>
                      <m:sSubSupPr>
                        <m:ctrlPr>
                          <a:rPr lang="en-US" sz="2000" i="1" smtClean="0">
                            <a:latin typeface="Cambria Math" panose="02040503050406030204" pitchFamily="18" charset="0"/>
                          </a:rPr>
                        </m:ctrlPr>
                      </m:sSubSupPr>
                      <m:e>
                        <m:r>
                          <a:rPr lang="en-US" sz="2000" b="0" i="1" smtClean="0">
                            <a:latin typeface="Cambria Math" panose="02040503050406030204" pitchFamily="18" charset="0"/>
                          </a:rPr>
                          <m:t>𝐶</m:t>
                        </m:r>
                      </m:e>
                      <m:sub>
                        <m:r>
                          <a:rPr lang="en-US" sz="2000" b="0" i="1" smtClean="0">
                            <a:latin typeface="Cambria Math" panose="02040503050406030204" pitchFamily="18" charset="0"/>
                          </a:rPr>
                          <m:t>1</m:t>
                        </m:r>
                      </m:sub>
                      <m:sup/>
                    </m:sSubSup>
                  </m:oMath>
                </a14:m>
                <a:r>
                  <a:rPr lang="en-US" sz="2000" dirty="0"/>
                  <a:t>in </a:t>
                </a:r>
                <a:r>
                  <a:rPr lang="en-US" sz="2000" i="1" dirty="0"/>
                  <a:t>t=1 or</a:t>
                </a:r>
                <a:r>
                  <a:rPr lang="en-US" sz="2000" dirty="0"/>
                  <a:t> </a:t>
                </a:r>
                <a14:m>
                  <m:oMath xmlns:m="http://schemas.openxmlformats.org/officeDocument/2006/math">
                    <m:sSubSup>
                      <m:sSubSupPr>
                        <m:ctrlPr>
                          <a:rPr lang="en-US" sz="2000" i="1" smtClean="0">
                            <a:latin typeface="Cambria Math" panose="02040503050406030204" pitchFamily="18" charset="0"/>
                          </a:rPr>
                        </m:ctrlPr>
                      </m:sSubSupPr>
                      <m:e>
                        <m:r>
                          <a:rPr lang="en-US" sz="2000" i="1" smtClean="0">
                            <a:latin typeface="Cambria Math" panose="02040503050406030204" pitchFamily="18" charset="0"/>
                          </a:rPr>
                          <m:t>𝐶</m:t>
                        </m:r>
                      </m:e>
                      <m:sub>
                        <m:r>
                          <a:rPr lang="en-US" sz="2000" b="0" i="1" smtClean="0">
                            <a:latin typeface="Cambria Math" panose="02040503050406030204" pitchFamily="18" charset="0"/>
                          </a:rPr>
                          <m:t>2</m:t>
                        </m:r>
                      </m:sub>
                      <m:sup/>
                    </m:sSubSup>
                  </m:oMath>
                </a14:m>
                <a:r>
                  <a:rPr lang="en-US" sz="2000" i="1" dirty="0"/>
                  <a:t>in t=2</a:t>
                </a:r>
                <a:endParaRPr lang="en-US" sz="2000" dirty="0"/>
              </a:p>
              <a:p>
                <a:r>
                  <a:rPr lang="en-US" sz="2000" dirty="0"/>
                  <a:t>Competition of banks ensures </a:t>
                </a:r>
                <a14:m>
                  <m:oMath xmlns:m="http://schemas.openxmlformats.org/officeDocument/2006/math">
                    <m:d>
                      <m:dPr>
                        <m:ctrlPr>
                          <a:rPr lang="en-US" sz="2000" i="1" smtClean="0">
                            <a:latin typeface="Cambria Math" panose="02040503050406030204" pitchFamily="18" charset="0"/>
                          </a:rPr>
                        </m:ctrlPr>
                      </m:dPr>
                      <m:e>
                        <m:sSubSup>
                          <m:sSubSupPr>
                            <m:ctrlPr>
                              <a:rPr lang="en-US" sz="2000" i="1" smtClean="0">
                                <a:latin typeface="Cambria Math" panose="02040503050406030204" pitchFamily="18" charset="0"/>
                              </a:rPr>
                            </m:ctrlPr>
                          </m:sSubSupPr>
                          <m:e>
                            <m:r>
                              <a:rPr lang="en-US" sz="2000" b="0" i="1" smtClean="0">
                                <a:latin typeface="Cambria Math" panose="02040503050406030204" pitchFamily="18" charset="0"/>
                              </a:rPr>
                              <m:t>𝐶</m:t>
                            </m:r>
                          </m:e>
                          <m:sub>
                            <m:r>
                              <a:rPr lang="en-US" sz="2000" b="0" i="1" smtClean="0">
                                <a:latin typeface="Cambria Math" panose="02040503050406030204" pitchFamily="18" charset="0"/>
                              </a:rPr>
                              <m:t>1</m:t>
                            </m:r>
                          </m:sub>
                          <m:sup>
                            <m:r>
                              <a:rPr lang="en-US" sz="2000" b="0" i="1" smtClean="0">
                                <a:latin typeface="Cambria Math" panose="02040503050406030204" pitchFamily="18" charset="0"/>
                              </a:rPr>
                              <m:t>∗</m:t>
                            </m:r>
                          </m:sup>
                        </m:sSubSup>
                        <m:r>
                          <a:rPr lang="en-US" sz="2000" b="0" i="1" smtClean="0">
                            <a:latin typeface="Cambria Math" panose="02040503050406030204" pitchFamily="18" charset="0"/>
                          </a:rPr>
                          <m:t>,</m:t>
                        </m:r>
                        <m:sSubSup>
                          <m:sSubSupPr>
                            <m:ctrlPr>
                              <a:rPr lang="en-US" sz="2000" i="1" smtClean="0">
                                <a:latin typeface="Cambria Math" panose="02040503050406030204" pitchFamily="18" charset="0"/>
                              </a:rPr>
                            </m:ctrlPr>
                          </m:sSubSupPr>
                          <m:e>
                            <m:r>
                              <a:rPr lang="en-US" sz="2000" i="1" smtClean="0">
                                <a:latin typeface="Cambria Math" panose="02040503050406030204" pitchFamily="18" charset="0"/>
                              </a:rPr>
                              <m:t>𝐶</m:t>
                            </m:r>
                          </m:e>
                          <m:sub>
                            <m:r>
                              <a:rPr lang="en-US" sz="2000" b="0" i="1" smtClean="0">
                                <a:latin typeface="Cambria Math" panose="02040503050406030204" pitchFamily="18" charset="0"/>
                              </a:rPr>
                              <m:t>2</m:t>
                            </m:r>
                          </m:sub>
                          <m:sup>
                            <m:r>
                              <a:rPr lang="en-US" sz="2000" i="1" smtClean="0">
                                <a:latin typeface="Cambria Math" panose="02040503050406030204" pitchFamily="18" charset="0"/>
                              </a:rPr>
                              <m:t>∗</m:t>
                            </m:r>
                          </m:sup>
                        </m:sSubSup>
                      </m:e>
                    </m:d>
                  </m:oMath>
                </a14:m>
                <a:endParaRPr lang="en-US" sz="2000" dirty="0"/>
              </a:p>
              <a:p>
                <a:r>
                  <a:rPr lang="en-US" sz="2000" dirty="0"/>
                  <a:t>Banks store </a:t>
                </a:r>
                <a14:m>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m:t>
                    </m:r>
                    <m:sSubSup>
                      <m:sSubSupPr>
                        <m:ctrlPr>
                          <a:rPr lang="en-US" sz="2000" i="1" smtClean="0">
                            <a:latin typeface="Cambria Math" panose="02040503050406030204" pitchFamily="18" charset="0"/>
                          </a:rPr>
                        </m:ctrlPr>
                      </m:sSubSupP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1</m:t>
                            </m:r>
                          </m:sub>
                        </m:sSub>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𝐶</m:t>
                        </m:r>
                      </m:e>
                      <m:sub>
                        <m:r>
                          <a:rPr lang="en-US" sz="2000" b="0" i="1" smtClean="0">
                            <a:latin typeface="Cambria Math" panose="02040503050406030204" pitchFamily="18" charset="0"/>
                          </a:rPr>
                          <m:t>1</m:t>
                        </m:r>
                      </m:sub>
                      <m:sup>
                        <m:r>
                          <a:rPr lang="en-US" sz="2000" b="0" i="1" smtClean="0">
                            <a:latin typeface="Cambria Math" panose="02040503050406030204" pitchFamily="18" charset="0"/>
                          </a:rPr>
                          <m:t>∗</m:t>
                        </m:r>
                      </m:sup>
                    </m:sSubSup>
                  </m:oMath>
                </a14:m>
                <a:r>
                  <a:rPr lang="en-US" sz="2000" dirty="0"/>
                  <a:t> in goods, the rest - </a:t>
                </a:r>
                <a14:m>
                  <m:oMath xmlns:m="http://schemas.openxmlformats.org/officeDocument/2006/math">
                    <m:sSubSup>
                      <m:sSubSupPr>
                        <m:ctrlPr>
                          <a:rPr lang="en-US" sz="2000" i="1" smtClean="0">
                            <a:latin typeface="Cambria Math" panose="02040503050406030204" pitchFamily="18" charset="0"/>
                          </a:rPr>
                        </m:ctrlPr>
                      </m:sSubSupPr>
                      <m:e>
                        <m:r>
                          <a:rPr lang="en-US" sz="2000" b="0" i="1" smtClean="0">
                            <a:latin typeface="Cambria Math" panose="02040503050406030204" pitchFamily="18" charset="0"/>
                          </a:rPr>
                          <m:t>𝐼</m:t>
                        </m:r>
                        <m:r>
                          <a:rPr lang="en-US" sz="2000" b="0" i="1" smtClean="0">
                            <a:latin typeface="Cambria Math" panose="02040503050406030204" pitchFamily="18" charset="0"/>
                          </a:rPr>
                          <m:t>=(</m:t>
                        </m:r>
                        <m:r>
                          <a:rPr lang="en-US" sz="2000" i="1" smtClean="0">
                            <a:latin typeface="Cambria Math" panose="02040503050406030204" pitchFamily="18" charset="0"/>
                          </a:rPr>
                          <m:t>𝑛</m:t>
                        </m:r>
                        <m:r>
                          <a:rPr lang="en-US" sz="200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𝐶</m:t>
                        </m:r>
                      </m:e>
                      <m:sub>
                        <m:r>
                          <a:rPr lang="en-US" sz="2000" b="0" i="1" smtClean="0">
                            <a:latin typeface="Cambria Math" panose="02040503050406030204" pitchFamily="18" charset="0"/>
                          </a:rPr>
                          <m:t>1</m:t>
                        </m:r>
                      </m:sub>
                      <m:sup>
                        <m:r>
                          <a:rPr lang="en-US" sz="2000" b="0" i="1" smtClean="0">
                            <a:latin typeface="Cambria Math" panose="02040503050406030204" pitchFamily="18" charset="0"/>
                          </a:rPr>
                          <m:t>∗</m:t>
                        </m:r>
                      </m:sup>
                    </m:sSubSup>
                    <m:r>
                      <a:rPr lang="en-US" sz="2000" b="0" i="1" smtClean="0">
                        <a:latin typeface="Cambria Math" panose="02040503050406030204" pitchFamily="18" charset="0"/>
                      </a:rPr>
                      <m:t>)=</m:t>
                    </m:r>
                    <m:r>
                      <a:rPr lang="en-US" sz="2000" i="1" smtClean="0">
                        <a:latin typeface="Cambria Math" panose="02040503050406030204" pitchFamily="18" charset="0"/>
                      </a:rPr>
                      <m:t>(</m:t>
                    </m:r>
                    <m:r>
                      <a:rPr lang="en-US" sz="2000" i="1" smtClean="0">
                        <a:latin typeface="Cambria Math" panose="02040503050406030204" pitchFamily="18" charset="0"/>
                      </a:rPr>
                      <m:t>𝑛</m:t>
                    </m:r>
                    <m:r>
                      <a:rPr lang="en-US" sz="2000" i="1" smtClean="0">
                        <a:latin typeface="Cambria Math" panose="02040503050406030204" pitchFamily="18" charset="0"/>
                      </a:rPr>
                      <m:t>)∙</m:t>
                    </m:r>
                    <m:f>
                      <m:fPr>
                        <m:ctrlPr>
                          <a:rPr lang="en-US" sz="2000" b="0" i="1" smtClean="0">
                            <a:latin typeface="Cambria Math" panose="02040503050406030204" pitchFamily="18" charset="0"/>
                          </a:rPr>
                        </m:ctrlPr>
                      </m:fPr>
                      <m:num>
                        <m:sSubSup>
                          <m:sSubSupPr>
                            <m:ctrlPr>
                              <a:rPr lang="en-US" sz="2000" i="1" smtClean="0">
                                <a:latin typeface="Cambria Math" panose="02040503050406030204" pitchFamily="18" charset="0"/>
                              </a:rPr>
                            </m:ctrlPr>
                          </m:sSubSupPr>
                          <m:e>
                            <m:r>
                              <a:rPr lang="en-US" sz="2000" i="1" smtClean="0">
                                <a:latin typeface="Cambria Math" panose="02040503050406030204" pitchFamily="18" charset="0"/>
                              </a:rPr>
                              <m:t>𝐶</m:t>
                            </m:r>
                          </m:e>
                          <m:sub>
                            <m:r>
                              <a:rPr lang="en-US" sz="2000" i="1" smtClean="0">
                                <a:latin typeface="Cambria Math" panose="02040503050406030204" pitchFamily="18" charset="0"/>
                              </a:rPr>
                              <m:t>2</m:t>
                            </m:r>
                          </m:sub>
                          <m:sup>
                            <m:r>
                              <a:rPr lang="en-US" sz="2000" i="1" smtClean="0">
                                <a:latin typeface="Cambria Math" panose="02040503050406030204" pitchFamily="18" charset="0"/>
                              </a:rPr>
                              <m:t>∗</m:t>
                            </m:r>
                          </m:sup>
                        </m:sSubSup>
                      </m:num>
                      <m:den>
                        <m:r>
                          <a:rPr lang="en-US" sz="2000" b="0" i="1" smtClean="0">
                            <a:latin typeface="Cambria Math" panose="02040503050406030204" pitchFamily="18" charset="0"/>
                          </a:rPr>
                          <m:t>𝑅</m:t>
                        </m:r>
                      </m:den>
                    </m:f>
                  </m:oMath>
                </a14:m>
                <a:r>
                  <a:rPr lang="en-US" sz="2000" dirty="0"/>
                  <a:t> -  is invested</a:t>
                </a:r>
                <a:r>
                  <a:rPr lang="hu-HU" sz="2000" dirty="0"/>
                  <a:t> in </a:t>
                </a:r>
                <a:r>
                  <a:rPr lang="hu-HU" sz="2000" dirty="0" err="1"/>
                  <a:t>illiquid</a:t>
                </a:r>
                <a:r>
                  <a:rPr lang="hu-HU" sz="2000" dirty="0"/>
                  <a:t> </a:t>
                </a:r>
                <a:r>
                  <a:rPr lang="hu-HU" sz="2000" dirty="0" err="1"/>
                  <a:t>investment</a:t>
                </a:r>
                <a:endParaRPr lang="en-US" sz="2000" dirty="0"/>
              </a:p>
              <a:p>
                <a:r>
                  <a:rPr lang="en-US" sz="2000" dirty="0"/>
                  <a:t>Banks serve the clients sequentially (first come, first served)</a:t>
                </a:r>
              </a:p>
              <a:p>
                <a:r>
                  <a:rPr lang="en-US" sz="2000" dirty="0"/>
                  <a:t>Two Nash equilibrium</a:t>
                </a:r>
                <a:r>
                  <a:rPr lang="hu-HU" sz="2000" dirty="0"/>
                  <a:t>s</a:t>
                </a:r>
                <a:endParaRPr lang="en-US" sz="2000" dirty="0"/>
              </a:p>
              <a:p>
                <a:pPr lvl="1"/>
                <a:r>
                  <a:rPr lang="en-US" sz="1600" dirty="0"/>
                  <a:t>Clients with liquidity shock withdraw deposit at </a:t>
                </a:r>
                <a:r>
                  <a:rPr lang="en-US" sz="1600" i="1" dirty="0"/>
                  <a:t>t=1 </a:t>
                </a:r>
                <a:r>
                  <a:rPr lang="en-US" sz="1600" dirty="0"/>
                  <a:t>others</a:t>
                </a:r>
                <a:r>
                  <a:rPr lang="en-US" sz="1600" i="1" dirty="0"/>
                  <a:t> at</a:t>
                </a:r>
                <a:r>
                  <a:rPr lang="en-US" sz="1600" dirty="0"/>
                  <a:t> </a:t>
                </a:r>
                <a:r>
                  <a:rPr lang="en-US" sz="1600" i="1" dirty="0"/>
                  <a:t>t=2</a:t>
                </a:r>
                <a:endParaRPr lang="en-US" sz="1600" dirty="0"/>
              </a:p>
              <a:p>
                <a:pPr lvl="1"/>
                <a:r>
                  <a:rPr lang="en-US" sz="1600" dirty="0"/>
                  <a:t>All clients withdraw deposit at </a:t>
                </a:r>
                <a:r>
                  <a:rPr lang="en-US" sz="1600" i="1" dirty="0"/>
                  <a:t>t=1</a:t>
                </a:r>
                <a:r>
                  <a:rPr lang="hu-HU" sz="1600" i="1" dirty="0"/>
                  <a:t> </a:t>
                </a:r>
                <a:r>
                  <a:rPr lang="hu-HU" sz="1600" dirty="0">
                    <a:solidFill>
                      <a:srgbClr val="FF0000"/>
                    </a:solidFill>
                  </a:rPr>
                  <a:t>BANK RUN!</a:t>
                </a:r>
                <a:endParaRPr lang="en-US" sz="2000" dirty="0">
                  <a:solidFill>
                    <a:srgbClr val="FF0000"/>
                  </a:solidFill>
                </a:endParaRPr>
              </a:p>
            </p:txBody>
          </p:sp>
        </mc:Choice>
        <mc:Fallback xmlns="">
          <p:sp>
            <p:nvSpPr>
              <p:cNvPr id="3" name="Tartalom helye 2"/>
              <p:cNvSpPr>
                <a:spLocks noGrp="1" noRot="1" noChangeAspect="1" noMove="1" noResize="1" noEditPoints="1" noAdjustHandles="1" noChangeArrowheads="1" noChangeShapeType="1" noTextEdit="1"/>
              </p:cNvSpPr>
              <p:nvPr>
                <p:ph idx="1"/>
              </p:nvPr>
            </p:nvSpPr>
            <p:spPr>
              <a:xfrm>
                <a:off x="838200" y="1307592"/>
                <a:ext cx="10972800" cy="4753099"/>
              </a:xfrm>
              <a:blipFill>
                <a:blip r:embed="rId2"/>
                <a:stretch>
                  <a:fillRect l="-500" t="-1412"/>
                </a:stretch>
              </a:blipFill>
            </p:spPr>
            <p:txBody>
              <a:bodyPr/>
              <a:lstStyle/>
              <a:p>
                <a:r>
                  <a:rPr lang="hu-HU">
                    <a:noFill/>
                  </a:rPr>
                  <a:t> </a:t>
                </a:r>
              </a:p>
            </p:txBody>
          </p:sp>
        </mc:Fallback>
      </mc:AlternateContent>
      <p:sp>
        <p:nvSpPr>
          <p:cNvPr id="4" name="Dia számának helye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AC3E3C3-5984-494D-A44E-6E7D6FEAE8D6}" type="slidenum">
              <a:rPr kumimoji="0" lang="en-US" altLang="en-US" b="0" i="0" u="none" strike="noStrike" kern="1200" cap="none" spc="0" normalizeH="0" baseline="0">
                <a:ln>
                  <a:noFill/>
                </a:ln>
                <a:solidFill>
                  <a:srgbClr val="898989"/>
                </a:solidFill>
                <a:effectLst/>
                <a:uLnTx/>
                <a:uFillTx/>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b="0" i="0" u="none" strike="noStrike" kern="1200" cap="none" spc="0" normalizeH="0" baseline="0">
              <a:ln>
                <a:noFill/>
              </a:ln>
              <a:solidFill>
                <a:srgbClr val="898989"/>
              </a:solidFill>
              <a:effectLst/>
              <a:uLnTx/>
              <a:uFillTx/>
              <a:ea typeface="+mn-ea"/>
              <a:cs typeface="+mn-cs"/>
            </a:endParaRPr>
          </a:p>
        </p:txBody>
      </p:sp>
    </p:spTree>
    <p:extLst>
      <p:ext uri="{BB962C8B-B14F-4D97-AF65-F5344CB8AC3E}">
        <p14:creationId xmlns:p14="http://schemas.microsoft.com/office/powerpoint/2010/main" val="2921420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312AE00-A91F-42F8-BA3C-E28EEED8D2AD}"/>
              </a:ext>
            </a:extLst>
          </p:cNvPr>
          <p:cNvSpPr>
            <a:spLocks noGrp="1"/>
          </p:cNvSpPr>
          <p:nvPr>
            <p:ph type="title"/>
          </p:nvPr>
        </p:nvSpPr>
        <p:spPr/>
        <p:txBody>
          <a:bodyPr/>
          <a:lstStyle/>
          <a:p>
            <a:r>
              <a:rPr lang="en-US"/>
              <a:t>Notes:</a:t>
            </a:r>
          </a:p>
        </p:txBody>
      </p:sp>
      <p:sp>
        <p:nvSpPr>
          <p:cNvPr id="3" name="Tartalom helye 2">
            <a:extLst>
              <a:ext uri="{FF2B5EF4-FFF2-40B4-BE49-F238E27FC236}">
                <a16:creationId xmlns:a16="http://schemas.microsoft.com/office/drawing/2014/main" id="{DA1073FC-9CA3-4D52-BD00-1424A3ADD8B5}"/>
              </a:ext>
            </a:extLst>
          </p:cNvPr>
          <p:cNvSpPr>
            <a:spLocks noGrp="1"/>
          </p:cNvSpPr>
          <p:nvPr>
            <p:ph idx="1"/>
          </p:nvPr>
        </p:nvSpPr>
        <p:spPr>
          <a:xfrm>
            <a:off x="838200" y="1307939"/>
            <a:ext cx="10515600" cy="4411374"/>
          </a:xfrm>
        </p:spPr>
        <p:txBody>
          <a:bodyPr>
            <a:normAutofit/>
          </a:bodyPr>
          <a:lstStyle/>
          <a:p>
            <a:r>
              <a:rPr lang="en-US" sz="2400" dirty="0"/>
              <a:t>FI and money market cannot coexist</a:t>
            </a:r>
          </a:p>
          <a:p>
            <a:r>
              <a:rPr lang="en-US" sz="2400" dirty="0"/>
              <a:t>Bank runs are rational</a:t>
            </a:r>
          </a:p>
          <a:p>
            <a:r>
              <a:rPr lang="en-US" sz="2400" dirty="0"/>
              <a:t>Solution (?!):</a:t>
            </a:r>
          </a:p>
          <a:p>
            <a:pPr lvl="1"/>
            <a:r>
              <a:rPr lang="en-US" sz="2400" dirty="0"/>
              <a:t>Narrow banking</a:t>
            </a:r>
          </a:p>
          <a:p>
            <a:pPr lvl="1"/>
            <a:r>
              <a:rPr lang="en-US" sz="2400" dirty="0"/>
              <a:t>Suspension of withdrawal</a:t>
            </a:r>
          </a:p>
          <a:p>
            <a:pPr lvl="1"/>
            <a:r>
              <a:rPr lang="en-US" sz="2400" dirty="0"/>
              <a:t>Lender of last resort</a:t>
            </a:r>
          </a:p>
          <a:p>
            <a:pPr lvl="1"/>
            <a:r>
              <a:rPr lang="en-US" sz="2400" dirty="0"/>
              <a:t>Deposit insurance</a:t>
            </a:r>
          </a:p>
          <a:p>
            <a:pPr marL="0" indent="0">
              <a:buNone/>
            </a:pPr>
            <a:r>
              <a:rPr lang="en-US" sz="2400" dirty="0">
                <a:solidFill>
                  <a:srgbClr val="FF0000"/>
                </a:solidFill>
              </a:rPr>
              <a:t>How do banks beat money market?</a:t>
            </a:r>
          </a:p>
          <a:p>
            <a:pPr marL="0" indent="0">
              <a:buNone/>
            </a:pPr>
            <a:r>
              <a:rPr lang="en-US" sz="2400" dirty="0">
                <a:solidFill>
                  <a:srgbClr val="FF0000"/>
                </a:solidFill>
              </a:rPr>
              <a:t>Role of information asymmetry?</a:t>
            </a:r>
          </a:p>
          <a:p>
            <a:pPr marL="0" indent="0">
              <a:buNone/>
            </a:pPr>
            <a:r>
              <a:rPr lang="en-US" sz="2400" dirty="0">
                <a:solidFill>
                  <a:srgbClr val="FF0000"/>
                </a:solidFill>
              </a:rPr>
              <a:t>Role of diversification!</a:t>
            </a:r>
          </a:p>
        </p:txBody>
      </p:sp>
      <p:sp>
        <p:nvSpPr>
          <p:cNvPr id="4" name="Dia számának helye 3">
            <a:extLst>
              <a:ext uri="{FF2B5EF4-FFF2-40B4-BE49-F238E27FC236}">
                <a16:creationId xmlns:a16="http://schemas.microsoft.com/office/drawing/2014/main" id="{EBA1F050-8109-4375-B7B0-F233E46825C9}"/>
              </a:ext>
            </a:extLst>
          </p:cNvPr>
          <p:cNvSpPr>
            <a:spLocks noGrp="1"/>
          </p:cNvSpPr>
          <p:nvPr>
            <p:ph type="sldNum" sz="quarter" idx="12"/>
          </p:nvPr>
        </p:nvSpPr>
        <p:spPr/>
        <p:txBody>
          <a:bodyPr/>
          <a:lstStyle/>
          <a:p>
            <a:pPr>
              <a:defRPr/>
            </a:pPr>
            <a:fld id="{2AC3E3C3-5984-494D-A44E-6E7D6FEAE8D6}" type="slidenum">
              <a:rPr lang="en-US" altLang="en-US" smtClean="0"/>
              <a:pPr>
                <a:defRPr/>
              </a:pPr>
              <a:t>16</a:t>
            </a:fld>
            <a:endParaRPr lang="en-US" altLang="en-US"/>
          </a:p>
        </p:txBody>
      </p:sp>
    </p:spTree>
    <p:extLst>
      <p:ext uri="{BB962C8B-B14F-4D97-AF65-F5344CB8AC3E}">
        <p14:creationId xmlns:p14="http://schemas.microsoft.com/office/powerpoint/2010/main" val="3876263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AA4D9EE-BE46-4017-8461-5C124A72705F}"/>
              </a:ext>
            </a:extLst>
          </p:cNvPr>
          <p:cNvSpPr>
            <a:spLocks noGrp="1"/>
          </p:cNvSpPr>
          <p:nvPr>
            <p:ph type="title"/>
          </p:nvPr>
        </p:nvSpPr>
        <p:spPr/>
        <p:txBody>
          <a:bodyPr/>
          <a:lstStyle/>
          <a:p>
            <a:r>
              <a:rPr lang="en-US" dirty="0"/>
              <a:t>Answers</a:t>
            </a:r>
          </a:p>
        </p:txBody>
      </p:sp>
      <mc:AlternateContent xmlns:mc="http://schemas.openxmlformats.org/markup-compatibility/2006" xmlns:a14="http://schemas.microsoft.com/office/drawing/2010/main">
        <mc:Choice Requires="a14">
          <p:sp>
            <p:nvSpPr>
              <p:cNvPr id="3" name="Tartalom helye 2">
                <a:extLst>
                  <a:ext uri="{FF2B5EF4-FFF2-40B4-BE49-F238E27FC236}">
                    <a16:creationId xmlns:a16="http://schemas.microsoft.com/office/drawing/2014/main" id="{6BF78E67-3E1C-40E2-A318-32C91A3E808B}"/>
                  </a:ext>
                </a:extLst>
              </p:cNvPr>
              <p:cNvSpPr>
                <a:spLocks noGrp="1"/>
              </p:cNvSpPr>
              <p:nvPr>
                <p:ph idx="1"/>
              </p:nvPr>
            </p:nvSpPr>
            <p:spPr>
              <a:xfrm>
                <a:off x="838200" y="1307592"/>
                <a:ext cx="10515600" cy="4713287"/>
              </a:xfrm>
            </p:spPr>
            <p:txBody>
              <a:bodyPr/>
              <a:lstStyle/>
              <a:p>
                <a:pPr marL="0" indent="0">
                  <a:buNone/>
                </a:pPr>
                <a:r>
                  <a:rPr lang="en-US" sz="2000" dirty="0"/>
                  <a:t>I.	Bond supply: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1</m:t>
                        </m:r>
                      </m:sub>
                    </m:sSub>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𝐼</m:t>
                    </m:r>
                    <m:r>
                      <a:rPr lang="en-US" sz="2000" b="0" i="1" smtClean="0">
                        <a:latin typeface="Cambria Math" panose="02040503050406030204" pitchFamily="18" charset="0"/>
                        <a:ea typeface="Cambria Math" panose="02040503050406030204" pitchFamily="18" charset="0"/>
                      </a:rPr>
                      <m:t>=</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sSub>
                          <m:sSubPr>
                            <m:ctrlPr>
                              <a:rPr lang="en-US" sz="2000" i="1" smtClean="0">
                                <a:latin typeface="Cambria Math" panose="02040503050406030204" pitchFamily="18" charset="0"/>
                              </a:rPr>
                            </m:ctrlPr>
                          </m:sSubPr>
                          <m:e>
                            <m:r>
                              <a:rPr lang="en-US" sz="2000" i="1" smtClean="0">
                                <a:latin typeface="Cambria Math" panose="02040503050406030204" pitchFamily="18" charset="0"/>
                              </a:rPr>
                              <m:t>𝑝</m:t>
                            </m:r>
                          </m:e>
                          <m:sub>
                            <m:r>
                              <a:rPr lang="en-US" sz="2000" b="0" i="1" smtClean="0">
                                <a:latin typeface="Cambria Math" panose="02040503050406030204" pitchFamily="18" charset="0"/>
                              </a:rPr>
                              <m:t>2</m:t>
                            </m:r>
                          </m:sub>
                        </m:sSub>
                      </m:e>
                    </m:d>
                  </m:oMath>
                </a14:m>
                <a:r>
                  <a:rPr lang="en-US" sz="2000" dirty="0">
                    <a:ea typeface="Cambria Math" panose="02040503050406030204" pitchFamily="18" charset="0"/>
                  </a:rPr>
                  <a:t>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𝐼</m:t>
                    </m:r>
                  </m:oMath>
                </a14:m>
                <a:r>
                  <a:rPr lang="en-US" sz="2000" dirty="0"/>
                  <a:t>;</a:t>
                </a:r>
              </a:p>
              <a:p>
                <a:pPr marL="0" indent="0">
                  <a:buNone/>
                </a:pPr>
                <a:r>
                  <a:rPr lang="en-US" sz="2000" dirty="0"/>
                  <a:t>	Bond demand: </a:t>
                </a:r>
                <a14:m>
                  <m:oMath xmlns:m="http://schemas.openxmlformats.org/officeDocument/2006/math">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𝐼</m:t>
                        </m:r>
                      </m:e>
                    </m:d>
                  </m:oMath>
                </a14:m>
                <a:r>
                  <a:rPr lang="en-US" sz="2000" dirty="0">
                    <a:ea typeface="Cambria Math" panose="02040503050406030204" pitchFamily="18" charset="0"/>
                  </a:rPr>
                  <a:t>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sSub>
                      <m:sSubPr>
                        <m:ctrlPr>
                          <a:rPr lang="en-US" sz="2000" i="1" smtClean="0">
                            <a:latin typeface="Cambria Math" panose="02040503050406030204" pitchFamily="18" charset="0"/>
                          </a:rPr>
                        </m:ctrlPr>
                      </m:sSubPr>
                      <m:e>
                        <m:r>
                          <a:rPr lang="en-US" sz="2000" i="1" smtClean="0">
                            <a:latin typeface="Cambria Math" panose="02040503050406030204" pitchFamily="18" charset="0"/>
                          </a:rPr>
                          <m:t>𝑝</m:t>
                        </m:r>
                      </m:e>
                      <m:sub>
                        <m:r>
                          <a:rPr lang="en-US" sz="2000" i="1" smtClean="0">
                            <a:latin typeface="Cambria Math" panose="02040503050406030204" pitchFamily="18" charset="0"/>
                          </a:rPr>
                          <m:t>2</m:t>
                        </m:r>
                      </m:sub>
                    </m:sSub>
                  </m:oMath>
                </a14:m>
                <a:r>
                  <a:rPr lang="en-US" sz="2000" dirty="0"/>
                  <a:t>;</a:t>
                </a:r>
              </a:p>
              <a:p>
                <a:pPr marL="0" indent="0">
                  <a:buNone/>
                </a:pPr>
                <a:r>
                  <a:rPr lang="en-US" sz="2000" b="0" dirty="0"/>
                  <a:t>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𝐼</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smtClean="0">
                            <a:latin typeface="Cambria Math" panose="02040503050406030204" pitchFamily="18" charset="0"/>
                          </a:rPr>
                        </m:ctrlPr>
                      </m:sSubPr>
                      <m:e>
                        <m:r>
                          <a:rPr lang="en-US" sz="2000" i="1" smtClean="0">
                            <a:latin typeface="Cambria Math" panose="02040503050406030204" pitchFamily="18" charset="0"/>
                          </a:rPr>
                          <m:t>𝑝</m:t>
                        </m:r>
                      </m:e>
                      <m:sub>
                        <m:r>
                          <a:rPr lang="en-US" sz="2000" i="1" smtClean="0">
                            <a:latin typeface="Cambria Math" panose="02040503050406030204" pitchFamily="18" charset="0"/>
                          </a:rPr>
                          <m:t>2</m:t>
                        </m:r>
                      </m:sub>
                    </m:sSub>
                  </m:oMath>
                </a14:m>
                <a:endParaRPr lang="en-US" sz="2000" dirty="0"/>
              </a:p>
              <a:p>
                <a:pPr marL="0" indent="0">
                  <a:buNone/>
                </a:pPr>
                <a:r>
                  <a:rPr lang="en-US" sz="2000" dirty="0"/>
                  <a:t>II.	AD securities</a:t>
                </a:r>
              </a:p>
              <a:p>
                <a:pPr marL="0" indent="0">
                  <a:buNone/>
                </a:pPr>
                <a:r>
                  <a:rPr lang="en-US" sz="2000" b="0" dirty="0"/>
                  <a:t>	</a:t>
                </a:r>
                <a14:m>
                  <m:oMath xmlns:m="http://schemas.openxmlformats.org/officeDocument/2006/math">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max</m:t>
                        </m:r>
                      </m:fNa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𝐸</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𝑈</m:t>
                                </m:r>
                              </m:e>
                            </m:d>
                            <m:r>
                              <a:rPr lang="en-US" sz="2000" b="0" i="1" smtClean="0">
                                <a:latin typeface="Cambria Math" panose="02040503050406030204" pitchFamily="18" charset="0"/>
                              </a:rPr>
                              <m:t>= </m:t>
                            </m:r>
                            <m:r>
                              <a:rPr lang="en-US" sz="2000" b="0" i="1" smtClean="0">
                                <a:latin typeface="Cambria Math" panose="02040503050406030204" pitchFamily="18" charset="0"/>
                              </a:rPr>
                              <m:t>𝑝</m:t>
                            </m:r>
                          </m:e>
                          <m:sub>
                            <m:r>
                              <a:rPr lang="en-US" sz="2000" b="0" i="1" smtClean="0">
                                <a:latin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𝑢</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1</m:t>
                                </m:r>
                              </m:sub>
                            </m:sSub>
                          </m:e>
                        </m:d>
                        <m:r>
                          <a:rPr lang="en-US" sz="2000" b="0" i="1" smtClean="0">
                            <a:latin typeface="Cambria Math" panose="02040503050406030204" pitchFamily="18" charset="0"/>
                            <a:ea typeface="Cambria Math" panose="02040503050406030204" pitchFamily="18" charset="0"/>
                          </a:rPr>
                          <m:t>+</m:t>
                        </m:r>
                      </m:e>
                    </m:func>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2</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𝑢</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2</m:t>
                            </m:r>
                          </m:sub>
                        </m:sSub>
                      </m:e>
                    </m:d>
                  </m:oMath>
                </a14:m>
                <a:endParaRPr lang="en-US" sz="2000" b="0" dirty="0">
                  <a:ea typeface="Cambria Math" panose="02040503050406030204" pitchFamily="18" charset="0"/>
                </a:endParaRPr>
              </a:p>
              <a:p>
                <a:pPr marL="0" indent="0">
                  <a:buNone/>
                </a:pPr>
                <a:r>
                  <a:rPr lang="en-US" sz="2000" dirty="0"/>
                  <a:t>	</a:t>
                </a:r>
                <a:r>
                  <a:rPr lang="en-US" sz="2000" dirty="0" err="1"/>
                  <a:t>s.t.</a:t>
                </a:r>
                <a:r>
                  <a:rPr lang="en-US" sz="2000" dirty="0"/>
                  <a:t> </a:t>
                </a:r>
                <a14:m>
                  <m:oMath xmlns:m="http://schemas.openxmlformats.org/officeDocument/2006/math">
                    <m:sSub>
                      <m:sSubPr>
                        <m:ctrlPr>
                          <a:rPr lang="en-US" sz="2000" i="1" smtClean="0">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𝜋</m:t>
                        </m:r>
                      </m:e>
                      <m:sub>
                        <m:r>
                          <a:rPr lang="en-US" sz="2000" b="0" i="1" smtClean="0">
                            <a:latin typeface="Cambria Math" panose="02040503050406030204" pitchFamily="18" charset="0"/>
                          </a:rPr>
                          <m:t>1</m:t>
                        </m:r>
                      </m:sub>
                    </m:sSub>
                    <m:r>
                      <a:rPr lang="en-US" sz="2000" i="1" smtClean="0">
                        <a:latin typeface="Cambria Math" panose="02040503050406030204" pitchFamily="18" charset="0"/>
                        <a:ea typeface="Cambria Math" panose="02040503050406030204" pitchFamily="18" charset="0"/>
                      </a:rPr>
                      <m:t>∙</m:t>
                    </m:r>
                  </m:oMath>
                </a14:m>
                <a:r>
                  <a:rPr lang="en-US" sz="2000" dirty="0">
                    <a:ea typeface="Cambria Math" panose="02040503050406030204" pitchFamily="18" charset="0"/>
                  </a:rPr>
                  <a:t>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𝐶</m:t>
                        </m:r>
                      </m:e>
                      <m:sub>
                        <m:r>
                          <a:rPr lang="en-US" sz="2000" i="1" smtClean="0">
                            <a:latin typeface="Cambria Math" panose="02040503050406030204" pitchFamily="18" charset="0"/>
                            <a:ea typeface="Cambria Math" panose="02040503050406030204" pitchFamily="18" charset="0"/>
                          </a:rPr>
                          <m:t>1</m:t>
                        </m:r>
                      </m:sub>
                    </m:sSub>
                  </m:oMath>
                </a14:m>
                <a:r>
                  <a:rPr lang="en-US" sz="2000" dirty="0"/>
                  <a:t>+ </a:t>
                </a:r>
                <a14:m>
                  <m:oMath xmlns:m="http://schemas.openxmlformats.org/officeDocument/2006/math">
                    <m:sSub>
                      <m:sSubPr>
                        <m:ctrlPr>
                          <a:rPr lang="en-US" sz="2000" i="1" smtClean="0">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𝜋</m:t>
                        </m:r>
                      </m:e>
                      <m:sub>
                        <m:r>
                          <a:rPr lang="en-US" sz="2000" b="0" i="1" smtClean="0">
                            <a:latin typeface="Cambria Math" panose="02040503050406030204" pitchFamily="18" charset="0"/>
                            <a:ea typeface="Cambria Math" panose="02040503050406030204" pitchFamily="18" charset="0"/>
                          </a:rPr>
                          <m:t>2</m:t>
                        </m:r>
                      </m:sub>
                    </m:sSub>
                    <m:r>
                      <a:rPr lang="en-US" sz="2000" i="1" smtClean="0">
                        <a:latin typeface="Cambria Math" panose="02040503050406030204" pitchFamily="18" charset="0"/>
                        <a:ea typeface="Cambria Math" panose="02040503050406030204" pitchFamily="18" charset="0"/>
                      </a:rPr>
                      <m:t>∙</m:t>
                    </m:r>
                  </m:oMath>
                </a14:m>
                <a:r>
                  <a:rPr lang="en-US" sz="2000" dirty="0">
                    <a:ea typeface="Cambria Math" panose="02040503050406030204" pitchFamily="18" charset="0"/>
                  </a:rPr>
                  <a:t>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2</m:t>
                        </m:r>
                      </m:sub>
                    </m:sSub>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m:t>
                    </m:r>
                  </m:oMath>
                </a14:m>
                <a:endParaRPr lang="en-US" sz="2000" b="0" dirty="0">
                  <a:ea typeface="Cambria Math" panose="02040503050406030204" pitchFamily="18" charset="0"/>
                </a:endParaRPr>
              </a:p>
              <a:p>
                <a:pPr marL="0" indent="0">
                  <a:buNone/>
                </a:pPr>
                <a:r>
                  <a:rPr lang="en-US" sz="2000" dirty="0">
                    <a:ea typeface="Cambria Math" panose="02040503050406030204" pitchFamily="18" charset="0"/>
                  </a:rPr>
                  <a:t>	FOC: </a:t>
                </a:r>
                <a14:m>
                  <m:oMath xmlns:m="http://schemas.openxmlformats.org/officeDocument/2006/math">
                    <m:f>
                      <m:fPr>
                        <m:ctrlPr>
                          <a:rPr lang="en-US" sz="2000" i="1" smtClean="0">
                            <a:latin typeface="Cambria Math" panose="02040503050406030204" pitchFamily="18" charset="0"/>
                            <a:ea typeface="Cambria Math" panose="02040503050406030204" pitchFamily="18" charset="0"/>
                          </a:rPr>
                        </m:ctrlPr>
                      </m:fPr>
                      <m:num>
                        <m:sSup>
                          <m:sSupPr>
                            <m:ctrlPr>
                              <a:rPr lang="en-US" sz="200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𝑢</m:t>
                            </m:r>
                          </m:e>
                          <m:sup>
                            <m:r>
                              <a:rPr lang="en-US" sz="2000" b="0" i="1" smtClean="0">
                                <a:latin typeface="Cambria Math" panose="02040503050406030204" pitchFamily="18" charset="0"/>
                                <a:ea typeface="Cambria Math" panose="02040503050406030204" pitchFamily="18" charset="0"/>
                              </a:rPr>
                              <m:t>,</m:t>
                            </m:r>
                          </m:sup>
                        </m:sSup>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2</m:t>
                            </m:r>
                          </m:sub>
                        </m:sSub>
                        <m:r>
                          <a:rPr lang="en-US" sz="2000" b="0" i="1" smtClean="0">
                            <a:latin typeface="Cambria Math" panose="02040503050406030204" pitchFamily="18" charset="0"/>
                            <a:ea typeface="Cambria Math" panose="02040503050406030204" pitchFamily="18" charset="0"/>
                          </a:rPr>
                          <m:t>)</m:t>
                        </m:r>
                      </m:num>
                      <m:den>
                        <m:sSup>
                          <m:sSupPr>
                            <m:ctrlPr>
                              <a:rPr lang="en-US" sz="2000" i="1" smtClean="0">
                                <a:latin typeface="Cambria Math" panose="02040503050406030204" pitchFamily="18" charset="0"/>
                                <a:ea typeface="Cambria Math" panose="02040503050406030204" pitchFamily="18" charset="0"/>
                              </a:rPr>
                            </m:ctrlPr>
                          </m:sSupPr>
                          <m:e>
                            <m:r>
                              <a:rPr lang="en-US" sz="2000" i="1" smtClean="0">
                                <a:latin typeface="Cambria Math" panose="02040503050406030204" pitchFamily="18" charset="0"/>
                                <a:ea typeface="Cambria Math" panose="02040503050406030204" pitchFamily="18" charset="0"/>
                              </a:rPr>
                              <m:t>𝑢</m:t>
                            </m:r>
                          </m:e>
                          <m:sup>
                            <m:r>
                              <a:rPr lang="en-US" sz="2000" b="0" i="1" smtClean="0">
                                <a:latin typeface="Cambria Math" panose="02040503050406030204" pitchFamily="18" charset="0"/>
                                <a:ea typeface="Cambria Math" panose="02040503050406030204" pitchFamily="18" charset="0"/>
                              </a:rPr>
                              <m:t>,</m:t>
                            </m:r>
                          </m:sup>
                        </m:sSup>
                        <m:r>
                          <a:rPr lang="en-US" sz="2000" i="1" smtClean="0">
                            <a:latin typeface="Cambria Math" panose="02040503050406030204" pitchFamily="18" charset="0"/>
                            <a:ea typeface="Cambria Math" panose="02040503050406030204" pitchFamily="18" charset="0"/>
                          </a:rPr>
                          <m:t>(</m:t>
                        </m:r>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𝐶</m:t>
                            </m:r>
                          </m:e>
                          <m:sub>
                            <m:r>
                              <a:rPr lang="en-US" sz="2000" i="1" smtClean="0">
                                <a:latin typeface="Cambria Math" panose="02040503050406030204" pitchFamily="18" charset="0"/>
                                <a:ea typeface="Cambria Math" panose="02040503050406030204" pitchFamily="18" charset="0"/>
                              </a:rPr>
                              <m:t>1</m:t>
                            </m:r>
                          </m:sub>
                        </m:sSub>
                        <m:r>
                          <a:rPr lang="en-US" sz="2000" i="1" smtClean="0">
                            <a:latin typeface="Cambria Math" panose="02040503050406030204" pitchFamily="18" charset="0"/>
                            <a:ea typeface="Cambria Math" panose="02040503050406030204" pitchFamily="18" charset="0"/>
                          </a:rPr>
                          <m:t>)</m:t>
                        </m:r>
                      </m:den>
                    </m:f>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𝑝</m:t>
                            </m:r>
                          </m:e>
                          <m:sub>
                            <m:r>
                              <a:rPr lang="en-US" sz="2000" b="0" i="1" smtClean="0">
                                <a:latin typeface="Cambria Math" panose="02040503050406030204" pitchFamily="18" charset="0"/>
                                <a:ea typeface="Cambria Math" panose="02040503050406030204" pitchFamily="18" charset="0"/>
                              </a:rPr>
                              <m:t>2</m:t>
                            </m:r>
                          </m:sub>
                        </m:sSub>
                      </m:num>
                      <m:den>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𝑝</m:t>
                            </m:r>
                          </m:e>
                          <m:sub>
                            <m:r>
                              <a:rPr lang="en-US" sz="2000" b="0" i="1" smtClean="0">
                                <a:latin typeface="Cambria Math" panose="02040503050406030204" pitchFamily="18" charset="0"/>
                                <a:ea typeface="Cambria Math" panose="02040503050406030204" pitchFamily="18" charset="0"/>
                              </a:rPr>
                              <m:t>1</m:t>
                            </m:r>
                          </m:sub>
                        </m:sSub>
                      </m:den>
                    </m:f>
                    <m:r>
                      <a:rPr lang="en-US" sz="2000" b="0" i="1" smtClean="0">
                        <a:latin typeface="Cambria Math" panose="02040503050406030204" pitchFamily="18" charset="0"/>
                        <a:ea typeface="Cambria Math" panose="02040503050406030204" pitchFamily="18" charset="0"/>
                      </a:rPr>
                      <m:t>∙</m:t>
                    </m:r>
                    <m:f>
                      <m:fPr>
                        <m:ctrlPr>
                          <a:rPr lang="en-US" sz="2000" i="1" smtClean="0">
                            <a:latin typeface="Cambria Math" panose="02040503050406030204" pitchFamily="18" charset="0"/>
                            <a:ea typeface="Cambria Math" panose="02040503050406030204" pitchFamily="18" charset="0"/>
                          </a:rPr>
                        </m:ctrlPr>
                      </m:fPr>
                      <m:num>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𝜋</m:t>
                            </m:r>
                          </m:e>
                          <m:sub>
                            <m:r>
                              <a:rPr lang="en-US" sz="2000" b="0" i="1" smtClean="0">
                                <a:latin typeface="Cambria Math" panose="02040503050406030204" pitchFamily="18" charset="0"/>
                                <a:ea typeface="Cambria Math" panose="02040503050406030204" pitchFamily="18" charset="0"/>
                              </a:rPr>
                              <m:t>1</m:t>
                            </m:r>
                          </m:sub>
                        </m:sSub>
                      </m:num>
                      <m:den>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𝜋</m:t>
                            </m:r>
                          </m:e>
                          <m:sub>
                            <m:r>
                              <a:rPr lang="en-US" sz="2000" b="0" i="1" smtClean="0">
                                <a:latin typeface="Cambria Math" panose="02040503050406030204" pitchFamily="18" charset="0"/>
                                <a:ea typeface="Cambria Math" panose="02040503050406030204" pitchFamily="18" charset="0"/>
                              </a:rPr>
                              <m:t>2</m:t>
                            </m:r>
                          </m:sub>
                        </m:sSub>
                      </m:den>
                    </m:f>
                  </m:oMath>
                </a14:m>
                <a:endParaRPr lang="en-US" sz="2000" b="0" dirty="0">
                  <a:ea typeface="Cambria Math" panose="02040503050406030204" pitchFamily="18" charset="0"/>
                </a:endParaRPr>
              </a:p>
              <a:p>
                <a:pPr marL="0" indent="0">
                  <a:buNone/>
                </a:pPr>
                <a:r>
                  <a:rPr lang="en-US" sz="2000" dirty="0">
                    <a:ea typeface="Cambria Math" panose="02040503050406030204" pitchFamily="18" charset="0"/>
                  </a:rPr>
                  <a:t>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𝜋</m:t>
                        </m:r>
                      </m:e>
                      <m:sub>
                        <m:r>
                          <a:rPr lang="en-US" sz="2000" b="0" i="1" smtClean="0">
                            <a:latin typeface="Cambria Math" panose="02040503050406030204" pitchFamily="18" charset="0"/>
                            <a:ea typeface="Cambria Math" panose="02040503050406030204" pitchFamily="18" charset="0"/>
                          </a:rPr>
                          <m:t>1</m:t>
                        </m:r>
                      </m:sub>
                    </m:sSub>
                  </m:oMath>
                </a14:m>
                <a:r>
                  <a:rPr lang="en-US" sz="2000" b="0" dirty="0">
                    <a:ea typeface="Cambria Math" panose="02040503050406030204" pitchFamily="18" charset="0"/>
                  </a:rPr>
                  <a:t>=</a:t>
                </a:r>
                <a:r>
                  <a:rPr lang="en-US" sz="2000" dirty="0">
                    <a:ea typeface="Cambria Math" panose="02040503050406030204" pitchFamily="18" charset="0"/>
                  </a:rPr>
                  <a:t>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𝑝</m:t>
                        </m:r>
                      </m:e>
                      <m:sub>
                        <m:r>
                          <a:rPr lang="en-US" sz="2000" i="1" smtClean="0">
                            <a:latin typeface="Cambria Math" panose="02040503050406030204" pitchFamily="18" charset="0"/>
                            <a:ea typeface="Cambria Math" panose="02040503050406030204" pitchFamily="18" charset="0"/>
                          </a:rPr>
                          <m:t>1</m:t>
                        </m:r>
                      </m:sub>
                    </m:sSub>
                  </m:oMath>
                </a14:m>
                <a:r>
                  <a:rPr lang="en-US" sz="2000" b="0" dirty="0">
                    <a:ea typeface="Cambria Math" panose="02040503050406030204" pitchFamily="18" charset="0"/>
                  </a:rPr>
                  <a:t>;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𝜋</m:t>
                        </m:r>
                      </m:e>
                      <m:sub>
                        <m:r>
                          <a:rPr lang="en-US" sz="2000" i="1" smtClean="0">
                            <a:latin typeface="Cambria Math" panose="02040503050406030204" pitchFamily="18" charset="0"/>
                            <a:ea typeface="Cambria Math" panose="02040503050406030204" pitchFamily="18" charset="0"/>
                          </a:rPr>
                          <m:t>2</m:t>
                        </m:r>
                      </m:sub>
                    </m:sSub>
                  </m:oMath>
                </a14:m>
                <a:r>
                  <a:rPr lang="en-US" sz="2000" b="0" dirty="0">
                    <a:ea typeface="Cambria Math" panose="02040503050406030204" pitchFamily="18" charset="0"/>
                  </a:rPr>
                  <a:t>=</a:t>
                </a:r>
                <a:r>
                  <a:rPr lang="en-US" sz="2000" dirty="0">
                    <a:ea typeface="Cambria Math" panose="02040503050406030204" pitchFamily="18" charset="0"/>
                  </a:rPr>
                  <a:t> </a:t>
                </a:r>
                <a14:m>
                  <m:oMath xmlns:m="http://schemas.openxmlformats.org/officeDocument/2006/math">
                    <m:f>
                      <m:fPr>
                        <m:ctrlPr>
                          <a:rPr lang="en-US" sz="2000" i="1" smtClean="0">
                            <a:latin typeface="Cambria Math" panose="02040503050406030204" pitchFamily="18" charset="0"/>
                            <a:ea typeface="Cambria Math" panose="02040503050406030204" pitchFamily="18" charset="0"/>
                          </a:rPr>
                        </m:ctrlPr>
                      </m:fPr>
                      <m:num>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𝑝</m:t>
                            </m:r>
                          </m:e>
                          <m:sub>
                            <m:r>
                              <a:rPr lang="en-US" sz="2000" i="1" smtClean="0">
                                <a:latin typeface="Cambria Math" panose="02040503050406030204" pitchFamily="18" charset="0"/>
                                <a:ea typeface="Cambria Math" panose="02040503050406030204" pitchFamily="18" charset="0"/>
                              </a:rPr>
                              <m:t>2</m:t>
                            </m:r>
                          </m:sub>
                        </m:sSub>
                      </m:num>
                      <m:den>
                        <m:r>
                          <a:rPr lang="en-US" sz="2000" b="0" i="1" smtClean="0">
                            <a:latin typeface="Cambria Math" panose="02040503050406030204" pitchFamily="18" charset="0"/>
                            <a:ea typeface="Cambria Math" panose="02040503050406030204" pitchFamily="18" charset="0"/>
                          </a:rPr>
                          <m:t>𝑅</m:t>
                        </m:r>
                      </m:den>
                    </m:f>
                  </m:oMath>
                </a14:m>
                <a:endParaRPr lang="en-US" sz="2000" b="0" dirty="0">
                  <a:ea typeface="Cambria Math" panose="02040503050406030204" pitchFamily="18" charset="0"/>
                </a:endParaRPr>
              </a:p>
              <a:p>
                <a:pPr marL="0" indent="0">
                  <a:buNone/>
                </a:pPr>
                <a:r>
                  <a:rPr lang="en-US" sz="3200" dirty="0">
                    <a:ea typeface="Cambria Math" panose="02040503050406030204" pitchFamily="18" charset="0"/>
                  </a:rPr>
                  <a:t>	</a:t>
                </a:r>
                <a14:m>
                  <m:oMath xmlns:m="http://schemas.openxmlformats.org/officeDocument/2006/math">
                    <m:f>
                      <m:fPr>
                        <m:ctrlPr>
                          <a:rPr lang="en-US" sz="2000" i="1" smtClean="0">
                            <a:latin typeface="Cambria Math" panose="02040503050406030204" pitchFamily="18" charset="0"/>
                            <a:ea typeface="Cambria Math" panose="02040503050406030204" pitchFamily="18" charset="0"/>
                          </a:rPr>
                        </m:ctrlPr>
                      </m:fPr>
                      <m:num>
                        <m:sSup>
                          <m:sSupPr>
                            <m:ctrlPr>
                              <a:rPr lang="en-US" sz="2000" i="1" smtClean="0">
                                <a:latin typeface="Cambria Math" panose="02040503050406030204" pitchFamily="18" charset="0"/>
                                <a:ea typeface="Cambria Math" panose="02040503050406030204" pitchFamily="18" charset="0"/>
                              </a:rPr>
                            </m:ctrlPr>
                          </m:sSupPr>
                          <m:e>
                            <m:r>
                              <a:rPr lang="en-US" sz="2000" i="1" smtClean="0">
                                <a:latin typeface="Cambria Math" panose="02040503050406030204" pitchFamily="18" charset="0"/>
                                <a:ea typeface="Cambria Math" panose="02040503050406030204" pitchFamily="18" charset="0"/>
                              </a:rPr>
                              <m:t>𝑢</m:t>
                            </m:r>
                          </m:e>
                          <m:sup>
                            <m:r>
                              <a:rPr lang="en-US" sz="2000" b="0" i="1" smtClean="0">
                                <a:latin typeface="Cambria Math" panose="02040503050406030204" pitchFamily="18" charset="0"/>
                                <a:ea typeface="Cambria Math" panose="02040503050406030204" pitchFamily="18" charset="0"/>
                              </a:rPr>
                              <m:t>,</m:t>
                            </m:r>
                          </m:sup>
                        </m:sSup>
                        <m:r>
                          <a:rPr lang="en-US" sz="2000" i="1" smtClean="0">
                            <a:latin typeface="Cambria Math" panose="02040503050406030204" pitchFamily="18" charset="0"/>
                            <a:ea typeface="Cambria Math" panose="02040503050406030204" pitchFamily="18" charset="0"/>
                          </a:rPr>
                          <m:t>(</m:t>
                        </m:r>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𝐶</m:t>
                            </m:r>
                          </m:e>
                          <m:sub>
                            <m:r>
                              <a:rPr lang="en-US" sz="2000" i="1" smtClean="0">
                                <a:latin typeface="Cambria Math" panose="02040503050406030204" pitchFamily="18" charset="0"/>
                                <a:ea typeface="Cambria Math" panose="02040503050406030204" pitchFamily="18" charset="0"/>
                              </a:rPr>
                              <m:t>1</m:t>
                            </m:r>
                          </m:sub>
                        </m:sSub>
                        <m:r>
                          <a:rPr lang="en-US" sz="2000" i="1" smtClean="0">
                            <a:latin typeface="Cambria Math" panose="02040503050406030204" pitchFamily="18" charset="0"/>
                            <a:ea typeface="Cambria Math" panose="02040503050406030204" pitchFamily="18" charset="0"/>
                          </a:rPr>
                          <m:t>)</m:t>
                        </m:r>
                      </m:num>
                      <m:den>
                        <m:sSup>
                          <m:sSupPr>
                            <m:ctrlPr>
                              <a:rPr lang="en-US" sz="2000" i="1" smtClean="0">
                                <a:latin typeface="Cambria Math" panose="02040503050406030204" pitchFamily="18" charset="0"/>
                                <a:ea typeface="Cambria Math" panose="02040503050406030204" pitchFamily="18" charset="0"/>
                              </a:rPr>
                            </m:ctrlPr>
                          </m:sSupPr>
                          <m:e>
                            <m:r>
                              <a:rPr lang="en-US" sz="2000" i="1" smtClean="0">
                                <a:latin typeface="Cambria Math" panose="02040503050406030204" pitchFamily="18" charset="0"/>
                                <a:ea typeface="Cambria Math" panose="02040503050406030204" pitchFamily="18" charset="0"/>
                              </a:rPr>
                              <m:t>𝑢</m:t>
                            </m:r>
                          </m:e>
                          <m:sup>
                            <m:r>
                              <a:rPr lang="en-US" sz="2000" b="0" i="1" smtClean="0">
                                <a:latin typeface="Cambria Math" panose="02040503050406030204" pitchFamily="18" charset="0"/>
                                <a:ea typeface="Cambria Math" panose="02040503050406030204" pitchFamily="18" charset="0"/>
                              </a:rPr>
                              <m:t>,</m:t>
                            </m:r>
                          </m:sup>
                        </m:sSup>
                        <m:r>
                          <a:rPr lang="en-US" sz="2000" i="1" smtClean="0">
                            <a:latin typeface="Cambria Math" panose="02040503050406030204" pitchFamily="18" charset="0"/>
                            <a:ea typeface="Cambria Math" panose="02040503050406030204" pitchFamily="18" charset="0"/>
                          </a:rPr>
                          <m:t>(</m:t>
                        </m:r>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𝐶</m:t>
                            </m:r>
                          </m:e>
                          <m:sub>
                            <m:r>
                              <a:rPr lang="en-US" sz="2000" b="0" i="1" smtClean="0">
                                <a:latin typeface="Cambria Math" panose="02040503050406030204" pitchFamily="18" charset="0"/>
                                <a:ea typeface="Cambria Math" panose="02040503050406030204" pitchFamily="18" charset="0"/>
                              </a:rPr>
                              <m:t>2</m:t>
                            </m:r>
                          </m:sub>
                        </m:sSub>
                        <m:r>
                          <a:rPr lang="en-US" sz="2000" i="1" smtClean="0">
                            <a:latin typeface="Cambria Math" panose="02040503050406030204" pitchFamily="18" charset="0"/>
                            <a:ea typeface="Cambria Math" panose="02040503050406030204" pitchFamily="18" charset="0"/>
                          </a:rPr>
                          <m:t>)</m:t>
                        </m:r>
                      </m:den>
                    </m:f>
                    <m:r>
                      <a:rPr lang="en-US" sz="2000" i="1" smtClean="0">
                        <a:latin typeface="Cambria Math" panose="02040503050406030204" pitchFamily="18" charset="0"/>
                        <a:ea typeface="Cambria Math" panose="02040503050406030204" pitchFamily="18" charset="0"/>
                      </a:rPr>
                      <m:t>=</m:t>
                    </m:r>
                  </m:oMath>
                </a14:m>
                <a:r>
                  <a:rPr lang="en-US" sz="2000" i="1" dirty="0">
                    <a:latin typeface="Cambria Math" panose="02040503050406030204" pitchFamily="18" charset="0"/>
                    <a:ea typeface="Cambria Math" panose="02040503050406030204" pitchFamily="18" charset="0"/>
                  </a:rPr>
                  <a:t>R</a:t>
                </a:r>
              </a:p>
              <a:p>
                <a:pPr marL="0" indent="0">
                  <a:buNone/>
                </a:pPr>
                <a:endParaRPr lang="en-US" dirty="0"/>
              </a:p>
              <a:p>
                <a:pPr marL="0" indent="0">
                  <a:buNone/>
                </a:pPr>
                <a:endParaRPr lang="en-US" dirty="0"/>
              </a:p>
              <a:p>
                <a:pPr marL="0" indent="0">
                  <a:buNone/>
                </a:pPr>
                <a:endParaRPr lang="en-US" dirty="0"/>
              </a:p>
            </p:txBody>
          </p:sp>
        </mc:Choice>
        <mc:Fallback xmlns="">
          <p:sp>
            <p:nvSpPr>
              <p:cNvPr id="3" name="Tartalom helye 2">
                <a:extLst>
                  <a:ext uri="{FF2B5EF4-FFF2-40B4-BE49-F238E27FC236}">
                    <a16:creationId xmlns:a16="http://schemas.microsoft.com/office/drawing/2014/main" id="{6BF78E67-3E1C-40E2-A318-32C91A3E808B}"/>
                  </a:ext>
                </a:extLst>
              </p:cNvPr>
              <p:cNvSpPr>
                <a:spLocks noGrp="1" noRot="1" noChangeAspect="1" noMove="1" noResize="1" noEditPoints="1" noAdjustHandles="1" noChangeArrowheads="1" noChangeShapeType="1" noTextEdit="1"/>
              </p:cNvSpPr>
              <p:nvPr>
                <p:ph idx="1"/>
              </p:nvPr>
            </p:nvSpPr>
            <p:spPr>
              <a:xfrm>
                <a:off x="838200" y="1307592"/>
                <a:ext cx="10515600" cy="4713287"/>
              </a:xfrm>
              <a:blipFill>
                <a:blip r:embed="rId2"/>
                <a:stretch>
                  <a:fillRect l="-638" t="-1423"/>
                </a:stretch>
              </a:blipFill>
            </p:spPr>
            <p:txBody>
              <a:bodyPr/>
              <a:lstStyle/>
              <a:p>
                <a:r>
                  <a:rPr lang="hu-HU">
                    <a:noFill/>
                  </a:rPr>
                  <a:t> </a:t>
                </a:r>
              </a:p>
            </p:txBody>
          </p:sp>
        </mc:Fallback>
      </mc:AlternateContent>
      <p:sp>
        <p:nvSpPr>
          <p:cNvPr id="4" name="Dia számának helye 3">
            <a:extLst>
              <a:ext uri="{FF2B5EF4-FFF2-40B4-BE49-F238E27FC236}">
                <a16:creationId xmlns:a16="http://schemas.microsoft.com/office/drawing/2014/main" id="{29271DD4-928E-4B69-A1A7-6BA6B8F5DF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C3E3C3-5984-494D-A44E-6E7D6FEAE8D6}" type="slidenum">
              <a:rPr kumimoji="0" lang="en-US" altLang="en-US" b="0" i="0" u="none" strike="noStrike" kern="1200" cap="none" spc="0" normalizeH="0" baseline="0" smtClean="0">
                <a:ln>
                  <a:noFill/>
                </a:ln>
                <a:solidFill>
                  <a:srgbClr val="898989"/>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altLang="en-US" b="0" i="0" u="none" strike="noStrike" kern="1200" cap="none" spc="0" normalizeH="0" baseline="0">
              <a:ln>
                <a:noFill/>
              </a:ln>
              <a:solidFill>
                <a:srgbClr val="898989"/>
              </a:solidFill>
              <a:effectLst/>
              <a:uLnTx/>
              <a:uFillTx/>
              <a:ea typeface="+mn-ea"/>
              <a:cs typeface="+mn-cs"/>
            </a:endParaRPr>
          </a:p>
        </p:txBody>
      </p:sp>
    </p:spTree>
    <p:extLst>
      <p:ext uri="{BB962C8B-B14F-4D97-AF65-F5344CB8AC3E}">
        <p14:creationId xmlns:p14="http://schemas.microsoft.com/office/powerpoint/2010/main" val="2027874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artalom helye 2">
            <a:extLst>
              <a:ext uri="{FF2B5EF4-FFF2-40B4-BE49-F238E27FC236}">
                <a16:creationId xmlns:a16="http://schemas.microsoft.com/office/drawing/2014/main" id="{593E8F47-5F7A-4AB1-A73E-228F06ACA18B}"/>
              </a:ext>
            </a:extLst>
          </p:cNvPr>
          <p:cNvSpPr>
            <a:spLocks noGrp="1"/>
          </p:cNvSpPr>
          <p:nvPr>
            <p:ph idx="1"/>
          </p:nvPr>
        </p:nvSpPr>
        <p:spPr>
          <a:xfrm>
            <a:off x="838200" y="1307592"/>
            <a:ext cx="10515600" cy="4900168"/>
          </a:xfrm>
        </p:spPr>
        <p:txBody>
          <a:bodyPr/>
          <a:lstStyle/>
          <a:p>
            <a:r>
              <a:rPr lang="en-US" sz="2400" dirty="0"/>
              <a:t>Banks relate to market inefficiencies</a:t>
            </a:r>
          </a:p>
          <a:p>
            <a:r>
              <a:rPr lang="en-US" sz="2400" dirty="0"/>
              <a:t>Banking system is fragile, the reason being the special structure of banks’ balance sheet</a:t>
            </a:r>
            <a:r>
              <a:rPr lang="hu-HU" sz="2400" dirty="0"/>
              <a:t>s</a:t>
            </a:r>
            <a:r>
              <a:rPr lang="en-US" sz="2400" dirty="0"/>
              <a:t> (Fractional Reserve System)</a:t>
            </a:r>
          </a:p>
          <a:p>
            <a:r>
              <a:rPr lang="en-US" sz="2400" dirty="0"/>
              <a:t>FRS is in the core of banking!</a:t>
            </a:r>
          </a:p>
          <a:p>
            <a:r>
              <a:rPr lang="en-US" sz="2400" dirty="0"/>
              <a:t>Certain risks can be managed by the banking system only</a:t>
            </a:r>
          </a:p>
          <a:p>
            <a:pPr lvl="1"/>
            <a:r>
              <a:rPr lang="en-US" sz="2000" dirty="0"/>
              <a:t>that requires financing on the asset side</a:t>
            </a:r>
          </a:p>
          <a:p>
            <a:r>
              <a:rPr lang="en-US" sz="2400" dirty="0"/>
              <a:t>Entrepreneurs’ interest is to create a coalition in order to get cheaper external financing</a:t>
            </a:r>
          </a:p>
          <a:p>
            <a:pPr marL="0" indent="0">
              <a:buNone/>
            </a:pPr>
            <a:r>
              <a:rPr lang="en-US" sz="4000" dirty="0"/>
              <a:t>Further question?</a:t>
            </a:r>
          </a:p>
          <a:p>
            <a:r>
              <a:rPr lang="en-US" sz="2400" dirty="0"/>
              <a:t>Why do banks use special products on asset/liability side? (loans, deposits)?</a:t>
            </a:r>
          </a:p>
        </p:txBody>
      </p:sp>
      <p:sp>
        <p:nvSpPr>
          <p:cNvPr id="4" name="Dia számának helye 3">
            <a:extLst>
              <a:ext uri="{FF2B5EF4-FFF2-40B4-BE49-F238E27FC236}">
                <a16:creationId xmlns:a16="http://schemas.microsoft.com/office/drawing/2014/main" id="{3E92DBF7-A3C3-4EAA-8D89-83EF3316F478}"/>
              </a:ext>
            </a:extLst>
          </p:cNvPr>
          <p:cNvSpPr>
            <a:spLocks noGrp="1"/>
          </p:cNvSpPr>
          <p:nvPr>
            <p:ph type="sldNum" sz="quarter" idx="12"/>
          </p:nvPr>
        </p:nvSpPr>
        <p:spPr/>
        <p:txBody>
          <a:bodyPr/>
          <a:lstStyle/>
          <a:p>
            <a:pPr>
              <a:defRPr/>
            </a:pPr>
            <a:fld id="{2AC3E3C3-5984-494D-A44E-6E7D6FEAE8D6}" type="slidenum">
              <a:rPr lang="en-US" altLang="en-US" smtClean="0"/>
              <a:pPr>
                <a:defRPr/>
              </a:pPr>
              <a:t>18</a:t>
            </a:fld>
            <a:endParaRPr lang="en-US" altLang="en-US"/>
          </a:p>
        </p:txBody>
      </p:sp>
      <p:sp>
        <p:nvSpPr>
          <p:cNvPr id="5" name="Rectangle 2">
            <a:extLst>
              <a:ext uri="{FF2B5EF4-FFF2-40B4-BE49-F238E27FC236}">
                <a16:creationId xmlns:a16="http://schemas.microsoft.com/office/drawing/2014/main" id="{AB70B7DD-EB30-442A-A79C-4F91F770C5E7}"/>
              </a:ext>
            </a:extLst>
          </p:cNvPr>
          <p:cNvSpPr>
            <a:spLocks noGrp="1" noChangeArrowheads="1"/>
          </p:cNvSpPr>
          <p:nvPr>
            <p:ph type="title"/>
          </p:nvPr>
        </p:nvSpPr>
        <p:spPr>
          <a:xfrm>
            <a:off x="841248" y="365760"/>
            <a:ext cx="10515600" cy="813816"/>
          </a:xfrm>
        </p:spPr>
        <p:txBody>
          <a:bodyPr>
            <a:normAutofit/>
          </a:bodyPr>
          <a:lstStyle/>
          <a:p>
            <a:pPr eaLnBrk="1" hangingPunct="1"/>
            <a:r>
              <a:rPr lang="en-US" altLang="hu-HU" dirty="0"/>
              <a:t>What have we learned so far:</a:t>
            </a:r>
          </a:p>
        </p:txBody>
      </p:sp>
    </p:spTree>
    <p:extLst>
      <p:ext uri="{BB962C8B-B14F-4D97-AF65-F5344CB8AC3E}">
        <p14:creationId xmlns:p14="http://schemas.microsoft.com/office/powerpoint/2010/main" val="197256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831BC-FCEC-4FE1-9BA4-0128230812B1}"/>
              </a:ext>
            </a:extLst>
          </p:cNvPr>
          <p:cNvSpPr>
            <a:spLocks noGrp="1"/>
          </p:cNvSpPr>
          <p:nvPr>
            <p:ph type="title"/>
          </p:nvPr>
        </p:nvSpPr>
        <p:spPr/>
        <p:txBody>
          <a:bodyPr/>
          <a:lstStyle/>
          <a:p>
            <a:r>
              <a:rPr lang="en-US" dirty="0"/>
              <a:t>Financial Institutions from an </a:t>
            </a:r>
          </a:p>
        </p:txBody>
      </p:sp>
      <p:sp>
        <p:nvSpPr>
          <p:cNvPr id="3" name="Content Placeholder 2">
            <a:extLst>
              <a:ext uri="{FF2B5EF4-FFF2-40B4-BE49-F238E27FC236}">
                <a16:creationId xmlns:a16="http://schemas.microsoft.com/office/drawing/2014/main" id="{2FF4939E-E86C-4255-ACE8-600CAE0A8D24}"/>
              </a:ext>
            </a:extLst>
          </p:cNvPr>
          <p:cNvSpPr>
            <a:spLocks noGrp="1"/>
          </p:cNvSpPr>
          <p:nvPr>
            <p:ph idx="1"/>
          </p:nvPr>
        </p:nvSpPr>
        <p:spPr>
          <a:xfrm>
            <a:off x="1250830" y="2053087"/>
            <a:ext cx="10102970" cy="4123876"/>
          </a:xfrm>
        </p:spPr>
        <p:txBody>
          <a:bodyPr>
            <a:normAutofit/>
          </a:bodyPr>
          <a:lstStyle/>
          <a:p>
            <a:r>
              <a:rPr lang="en-US" dirty="0">
                <a:cs typeface="Arial"/>
              </a:rPr>
              <a:t>Accounting -&gt; IFRS9</a:t>
            </a:r>
          </a:p>
          <a:p>
            <a:r>
              <a:rPr lang="en-US" dirty="0">
                <a:cs typeface="Arial"/>
              </a:rPr>
              <a:t>Legal -&gt; HIT</a:t>
            </a:r>
          </a:p>
          <a:p>
            <a:r>
              <a:rPr lang="en-US" dirty="0">
                <a:cs typeface="Arial"/>
              </a:rPr>
              <a:t>IT -&gt; Core systems and payment infrastructure</a:t>
            </a:r>
          </a:p>
          <a:p>
            <a:r>
              <a:rPr lang="en-US" dirty="0">
                <a:cs typeface="Arial"/>
              </a:rPr>
              <a:t>Organizational</a:t>
            </a:r>
          </a:p>
          <a:p>
            <a:pPr marL="0" indent="0">
              <a:buNone/>
            </a:pPr>
            <a:r>
              <a:rPr lang="en-US" dirty="0">
                <a:cs typeface="Arial"/>
              </a:rPr>
              <a:t>perspective.</a:t>
            </a:r>
          </a:p>
        </p:txBody>
      </p:sp>
      <p:sp>
        <p:nvSpPr>
          <p:cNvPr id="4" name="Dia számának helye 1">
            <a:extLst>
              <a:ext uri="{FF2B5EF4-FFF2-40B4-BE49-F238E27FC236}">
                <a16:creationId xmlns:a16="http://schemas.microsoft.com/office/drawing/2014/main" id="{25899C24-81E4-4A16-B0FB-AE622F4EEACB}"/>
              </a:ext>
            </a:extLst>
          </p:cNvPr>
          <p:cNvSpPr>
            <a:spLocks noGrp="1"/>
          </p:cNvSpPr>
          <p:nvPr>
            <p:ph type="sldNum" sz="quarter" idx="12"/>
          </p:nvPr>
        </p:nvSpPr>
        <p:spPr>
          <a:xfrm>
            <a:off x="8610600" y="6356350"/>
            <a:ext cx="2743200" cy="365125"/>
          </a:xfrm>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8E3395-0D00-4997-A8B3-B5FC5B61BE62}"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b="0" i="0" u="none" strike="noStrike" kern="1200" cap="none" spc="0" normalizeH="0" baseline="0" dirty="0">
              <a:ln>
                <a:noFill/>
              </a:ln>
              <a:solidFill>
                <a:srgbClr val="898989"/>
              </a:solidFill>
              <a:effectLst/>
              <a:uLnTx/>
              <a:uFillTx/>
              <a:latin typeface="+mn-lt"/>
              <a:ea typeface="+mn-ea"/>
              <a:cs typeface="+mn-cs"/>
            </a:endParaRPr>
          </a:p>
        </p:txBody>
      </p:sp>
    </p:spTree>
    <p:extLst>
      <p:ext uri="{BB962C8B-B14F-4D97-AF65-F5344CB8AC3E}">
        <p14:creationId xmlns:p14="http://schemas.microsoft.com/office/powerpoint/2010/main" val="2583541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Dátum helye 1"/>
          <p:cNvSpPr txBox="1">
            <a:spLocks noGrp="1"/>
          </p:cNvSpPr>
          <p:nvPr/>
        </p:nvSpPr>
        <p:spPr bwMode="auto">
          <a:xfrm>
            <a:off x="1524001" y="6564314"/>
            <a:ext cx="1000125"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AB4FB2CC-18B5-477C-9D45-BF6CEFEE373F}" type="datetime1">
              <a:rPr kumimoji="0" lang="en-US" altLang="hu-HU" sz="1200" b="0" i="0" u="none" strike="noStrike" kern="1200" cap="none" spc="0" normalizeH="0" baseline="0" smtClean="0">
                <a:ln>
                  <a:noFill/>
                </a:ln>
                <a:solidFill>
                  <a:srgbClr val="FFFFFF"/>
                </a:solidFill>
                <a:effectLst/>
                <a:uLnTx/>
                <a:uFillTx/>
                <a:latin typeface="Calibri" panose="020F0502020204030204" pitchFamily="34"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3/25/2024</a:t>
            </a:fld>
            <a:endParaRPr kumimoji="0" lang="en-US" altLang="hu-HU" sz="1200" b="0" i="0" u="none" strike="noStrike" kern="1200" cap="none" spc="0" normalizeH="0" baseline="0" dirty="0">
              <a:ln>
                <a:noFill/>
              </a:ln>
              <a:solidFill>
                <a:srgbClr val="FFFFFF"/>
              </a:solidFill>
              <a:effectLst/>
              <a:uLnTx/>
              <a:uFillTx/>
              <a:latin typeface="Calibri" panose="020F0502020204030204" pitchFamily="34" charset="0"/>
              <a:ea typeface="+mn-ea"/>
              <a:cs typeface="+mn-cs"/>
            </a:endParaRPr>
          </a:p>
        </p:txBody>
      </p:sp>
      <p:sp>
        <p:nvSpPr>
          <p:cNvPr id="5124" name="Szövegdoboz 4"/>
          <p:cNvSpPr txBox="1">
            <a:spLocks noChangeArrowheads="1"/>
          </p:cNvSpPr>
          <p:nvPr/>
        </p:nvSpPr>
        <p:spPr bwMode="auto">
          <a:xfrm>
            <a:off x="841248" y="365757"/>
            <a:ext cx="10512552" cy="813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0" fontAlgn="base">
              <a:lnSpc>
                <a:spcPct val="90000"/>
              </a:lnSpc>
              <a:spcBef>
                <a:spcPct val="0"/>
              </a:spcBef>
              <a:spcAft>
                <a:spcPct val="0"/>
              </a:spcAft>
              <a:defRPr/>
            </a:pPr>
            <a:r>
              <a:rPr lang="en-US" altLang="hu-HU" sz="4400" dirty="0">
                <a:latin typeface="+mj-lt"/>
                <a:ea typeface="+mj-ea"/>
                <a:cs typeface="+mj-cs"/>
              </a:rPr>
              <a:t>Income sources of a financial institution</a:t>
            </a:r>
          </a:p>
        </p:txBody>
      </p:sp>
      <p:sp>
        <p:nvSpPr>
          <p:cNvPr id="5125" name="Szövegdoboz 5"/>
          <p:cNvSpPr txBox="1">
            <a:spLocks noChangeArrowheads="1"/>
          </p:cNvSpPr>
          <p:nvPr/>
        </p:nvSpPr>
        <p:spPr bwMode="auto">
          <a:xfrm>
            <a:off x="1524000" y="1"/>
            <a:ext cx="28575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hu-HU" altLang="hu-HU" sz="1200" b="1" i="0" u="none" strike="noStrike" kern="1200" cap="none" spc="0" normalizeH="0" baseline="0" noProof="0">
                <a:ln>
                  <a:noFill/>
                </a:ln>
                <a:solidFill>
                  <a:srgbClr val="FFFFFF"/>
                </a:solidFill>
                <a:effectLst/>
                <a:uLnTx/>
                <a:uFillTx/>
                <a:latin typeface="Calibri" panose="020F0502020204030204" pitchFamily="34" charset="0"/>
                <a:ea typeface="+mn-ea"/>
                <a:cs typeface="+mn-cs"/>
              </a:rPr>
              <a:t>A bank jövedelmezősége</a:t>
            </a:r>
          </a:p>
        </p:txBody>
      </p:sp>
      <p:sp>
        <p:nvSpPr>
          <p:cNvPr id="5126" name="Szövegdoboz 6"/>
          <p:cNvSpPr txBox="1">
            <a:spLocks noChangeArrowheads="1"/>
          </p:cNvSpPr>
          <p:nvPr/>
        </p:nvSpPr>
        <p:spPr bwMode="auto">
          <a:xfrm>
            <a:off x="838200" y="1307592"/>
            <a:ext cx="10512552"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Calibri" panose="020F0502020204030204" pitchFamily="34" charset="0"/>
              <a:buAutoNum type="arabicPeriod"/>
              <a:tabLst/>
              <a:defRPr/>
            </a:pPr>
            <a:r>
              <a:rPr kumimoji="0" lang="en-US" altLang="hu-HU" sz="2000" b="0" i="0" u="none" strike="noStrike" kern="1200" cap="none" spc="0" normalizeH="0" baseline="0" dirty="0">
                <a:ln>
                  <a:noFill/>
                </a:ln>
                <a:solidFill>
                  <a:srgbClr val="000000"/>
                </a:solidFill>
                <a:effectLst/>
                <a:uLnTx/>
                <a:uFillTx/>
                <a:latin typeface="Calibri" panose="020F0502020204030204" pitchFamily="34" charset="0"/>
              </a:rPr>
              <a:t>Transactional services</a:t>
            </a:r>
          </a:p>
          <a:p>
            <a:pPr marL="800100" marR="0" lvl="1"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hu-HU" sz="2000" b="0" i="0" u="none" strike="noStrike" kern="1200" cap="none" spc="0" normalizeH="0" baseline="0" dirty="0">
                <a:ln>
                  <a:noFill/>
                </a:ln>
                <a:solidFill>
                  <a:srgbClr val="000000"/>
                </a:solidFill>
                <a:effectLst/>
                <a:uLnTx/>
                <a:uFillTx/>
                <a:latin typeface="Calibri" panose="020F0502020204030204" pitchFamily="34" charset="0"/>
              </a:rPr>
              <a:t>Account management</a:t>
            </a:r>
          </a:p>
          <a:p>
            <a:pPr marL="800100" marR="0" lvl="1"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lang="en-US" altLang="hu-HU" sz="2000" dirty="0">
                <a:solidFill>
                  <a:srgbClr val="000000"/>
                </a:solidFill>
                <a:latin typeface="Calibri" panose="020F0502020204030204" pitchFamily="34" charset="0"/>
              </a:rPr>
              <a:t>Payment services</a:t>
            </a:r>
            <a:endParaRPr kumimoji="0" lang="en-US" altLang="hu-HU" sz="2000" b="0" i="0" u="none" strike="noStrike" kern="1200" cap="none" spc="0" normalizeH="0" baseline="0" dirty="0">
              <a:ln>
                <a:noFill/>
              </a:ln>
              <a:solidFill>
                <a:srgbClr val="000000"/>
              </a:solidFill>
              <a:effectLst/>
              <a:uLnTx/>
              <a:uFillTx/>
              <a:latin typeface="Calibri" panose="020F0502020204030204" pitchFamily="34" charset="0"/>
            </a:endParaRPr>
          </a:p>
          <a:p>
            <a:pPr lvl="2" fontAlgn="base">
              <a:spcBef>
                <a:spcPct val="0"/>
              </a:spcBef>
              <a:spcAft>
                <a:spcPct val="0"/>
              </a:spcAft>
              <a:buFont typeface="Wingdings" panose="05000000000000000000" pitchFamily="2" charset="2"/>
              <a:buChar char="Ø"/>
              <a:defRPr/>
            </a:pPr>
            <a:r>
              <a:rPr lang="en-US" altLang="hu-HU" sz="2000" dirty="0">
                <a:solidFill>
                  <a:srgbClr val="000000"/>
                </a:solidFill>
                <a:latin typeface="Calibri" panose="020F0502020204030204" pitchFamily="34" charset="0"/>
              </a:rPr>
              <a:t>Safe services</a:t>
            </a:r>
            <a:endParaRPr kumimoji="0" lang="en-US" altLang="hu-HU" sz="2000" b="0" i="0" u="none" strike="noStrike" kern="1200" cap="none" spc="0" normalizeH="0" baseline="0" dirty="0">
              <a:ln>
                <a:noFill/>
              </a:ln>
              <a:solidFill>
                <a:srgbClr val="000000"/>
              </a:solidFill>
              <a:effectLst/>
              <a:uLnTx/>
              <a:uFillTx/>
              <a:latin typeface="Calibri" panose="020F0502020204030204" pitchFamily="34" charset="0"/>
            </a:endParaRPr>
          </a:p>
          <a:p>
            <a:pPr marL="800100" marR="0" lvl="1"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hu-HU" sz="2000" b="0" i="0" u="none" strike="noStrike" kern="1200" cap="none" spc="0" normalizeH="0" baseline="0" dirty="0">
                <a:ln>
                  <a:noFill/>
                </a:ln>
                <a:solidFill>
                  <a:srgbClr val="000000"/>
                </a:solidFill>
                <a:effectLst/>
                <a:uLnTx/>
                <a:uFillTx/>
                <a:latin typeface="Calibri" panose="020F0502020204030204" pitchFamily="34" charset="0"/>
              </a:rPr>
              <a:t>Sale of financial securities</a:t>
            </a:r>
          </a:p>
          <a:p>
            <a:pPr marL="800100" marR="0" lvl="1"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hu-HU" sz="2000" b="0" i="0" u="none" strike="noStrike" kern="1200" cap="none" spc="0" normalizeH="0" baseline="0" dirty="0">
                <a:ln>
                  <a:noFill/>
                </a:ln>
                <a:solidFill>
                  <a:srgbClr val="000000"/>
                </a:solidFill>
                <a:effectLst/>
                <a:uLnTx/>
                <a:uFillTx/>
                <a:latin typeface="Calibri" panose="020F0502020204030204" pitchFamily="34" charset="0"/>
              </a:rPr>
              <a:t>Exchange of currencies</a:t>
            </a:r>
          </a:p>
          <a:p>
            <a:pPr marL="800100" marR="0" lvl="1"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lang="en-US" altLang="hu-HU" sz="2000" dirty="0">
                <a:solidFill>
                  <a:srgbClr val="000000"/>
                </a:solidFill>
                <a:latin typeface="Calibri" panose="020F0502020204030204" pitchFamily="34" charset="0"/>
              </a:rPr>
              <a:t>Wealth management</a:t>
            </a:r>
            <a:endParaRPr kumimoji="0" lang="en-US" altLang="hu-HU" sz="2000" b="0" i="0" u="none" strike="noStrike" kern="1200" cap="none" spc="0" normalizeH="0" baseline="0" dirty="0">
              <a:ln>
                <a:noFill/>
              </a:ln>
              <a:solidFill>
                <a:srgbClr val="000000"/>
              </a:solidFill>
              <a:effectLst/>
              <a:uLnTx/>
              <a:uFillTx/>
              <a:latin typeface="Calibri" panose="020F0502020204030204" pitchFamily="34" charset="0"/>
            </a:endParaRPr>
          </a:p>
          <a:p>
            <a:pPr marL="800100" marR="0" lvl="1"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altLang="hu-HU" sz="2000" b="0" i="0" u="none" strike="noStrike" kern="1200" cap="none" spc="0" normalizeH="0" baseline="0" dirty="0">
              <a:ln>
                <a:noFill/>
              </a:ln>
              <a:solidFill>
                <a:srgbClr val="000000"/>
              </a:solidFill>
              <a:effectLst/>
              <a:uLnTx/>
              <a:uFillTx/>
              <a:latin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 typeface="Calibri" panose="020F0502020204030204" pitchFamily="34" charset="0"/>
              <a:buAutoNum type="arabicPeriod"/>
              <a:tabLst/>
              <a:defRPr/>
            </a:pPr>
            <a:r>
              <a:rPr kumimoji="0" lang="en-US" altLang="hu-HU" sz="2000" b="0" i="0" u="none" strike="noStrike" kern="1200" cap="none" spc="0" normalizeH="0" baseline="0" dirty="0">
                <a:ln>
                  <a:noFill/>
                </a:ln>
                <a:solidFill>
                  <a:srgbClr val="000000"/>
                </a:solidFill>
                <a:effectLst/>
                <a:uLnTx/>
                <a:uFillTx/>
                <a:latin typeface="Calibri" panose="020F0502020204030204" pitchFamily="34" charset="0"/>
              </a:rPr>
              <a:t> Asset-side services -&gt; Risk undertakings</a:t>
            </a:r>
          </a:p>
          <a:p>
            <a:pPr marL="800100" marR="0" lvl="1"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lang="en-US" altLang="hu-HU" sz="2000" dirty="0">
                <a:solidFill>
                  <a:srgbClr val="000000"/>
                </a:solidFill>
                <a:latin typeface="Calibri" panose="020F0502020204030204" pitchFamily="34" charset="0"/>
              </a:rPr>
              <a:t>Granting loans</a:t>
            </a:r>
            <a:r>
              <a:rPr kumimoji="0" lang="en-US" altLang="hu-HU" sz="2000" b="0" i="0" u="none" strike="noStrike" kern="1200" cap="none" spc="0" normalizeH="0" baseline="0" dirty="0">
                <a:ln>
                  <a:noFill/>
                </a:ln>
                <a:solidFill>
                  <a:srgbClr val="000000"/>
                </a:solidFill>
                <a:effectLst/>
                <a:uLnTx/>
                <a:uFillTx/>
                <a:latin typeface="Calibri" panose="020F0502020204030204" pitchFamily="34" charset="0"/>
              </a:rPr>
              <a:t> -&gt; Credit risk</a:t>
            </a:r>
          </a:p>
          <a:p>
            <a:pPr marL="800100" marR="0" lvl="1"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lang="en-US" altLang="hu-HU" sz="2000" dirty="0">
                <a:solidFill>
                  <a:srgbClr val="000000"/>
                </a:solidFill>
                <a:latin typeface="Calibri" panose="020F0502020204030204" pitchFamily="34" charset="0"/>
              </a:rPr>
              <a:t>Trading on own accounts</a:t>
            </a:r>
            <a:r>
              <a:rPr kumimoji="0" lang="en-US" altLang="hu-HU" sz="2000" b="0" i="0" u="none" strike="noStrike" kern="1200" cap="none" spc="0" normalizeH="0" baseline="0" dirty="0">
                <a:ln>
                  <a:noFill/>
                </a:ln>
                <a:solidFill>
                  <a:srgbClr val="000000"/>
                </a:solidFill>
                <a:effectLst/>
                <a:uLnTx/>
                <a:uFillTx/>
                <a:latin typeface="Calibri" panose="020F0502020204030204" pitchFamily="34" charset="0"/>
              </a:rPr>
              <a:t> -&gt; Market risk</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hu-HU" sz="2000" b="0" i="0" u="none" strike="noStrike" kern="1200" cap="none" spc="0" normalizeH="0" baseline="0" dirty="0">
              <a:ln>
                <a:noFill/>
              </a:ln>
              <a:solidFill>
                <a:srgbClr val="000000"/>
              </a:solidFill>
              <a:effectLst/>
              <a:uLnTx/>
              <a:uFillTx/>
              <a:latin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hu-HU" sz="2000" b="0" i="0" u="none" strike="noStrike" kern="1200" cap="none" spc="0" normalizeH="0" baseline="0" dirty="0">
                <a:ln>
                  <a:noFill/>
                </a:ln>
                <a:solidFill>
                  <a:srgbClr val="000000"/>
                </a:solidFill>
                <a:effectLst/>
                <a:uLnTx/>
                <a:uFillTx/>
                <a:latin typeface="Calibri" panose="020F0502020204030204" pitchFamily="34" charset="0"/>
              </a:rPr>
              <a:t>3. </a:t>
            </a:r>
            <a:r>
              <a:rPr kumimoji="0" lang="hu-HU" altLang="hu-HU" sz="2000" b="0" i="0" u="none" strike="noStrike" kern="1200" cap="none" spc="0" normalizeH="0" baseline="0" dirty="0" err="1">
                <a:ln>
                  <a:noFill/>
                </a:ln>
                <a:solidFill>
                  <a:srgbClr val="000000"/>
                </a:solidFill>
                <a:effectLst/>
                <a:uLnTx/>
                <a:uFillTx/>
                <a:latin typeface="Calibri" panose="020F0502020204030204" pitchFamily="34" charset="0"/>
              </a:rPr>
              <a:t>Liability</a:t>
            </a:r>
            <a:r>
              <a:rPr kumimoji="0" lang="en-US" altLang="hu-HU" sz="2000" b="0" i="0" u="none" strike="noStrike" kern="1200" cap="none" spc="0" normalizeH="0" baseline="0" dirty="0">
                <a:ln>
                  <a:noFill/>
                </a:ln>
                <a:solidFill>
                  <a:srgbClr val="000000"/>
                </a:solidFill>
                <a:effectLst/>
                <a:uLnTx/>
                <a:uFillTx/>
                <a:latin typeface="Calibri" panose="020F0502020204030204" pitchFamily="34" charset="0"/>
              </a:rPr>
              <a:t>-side services</a:t>
            </a:r>
          </a:p>
          <a:p>
            <a:pPr marL="800100" marR="0" lvl="1"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hu-HU" sz="2000" b="0" i="0" u="none" strike="noStrike" kern="1200" cap="none" spc="0" normalizeH="0" baseline="0" dirty="0">
                <a:ln>
                  <a:noFill/>
                </a:ln>
                <a:solidFill>
                  <a:srgbClr val="000000"/>
                </a:solidFill>
                <a:effectLst/>
                <a:uLnTx/>
                <a:uFillTx/>
                <a:latin typeface="Calibri" panose="020F0502020204030204" pitchFamily="34" charset="0"/>
              </a:rPr>
              <a:t> </a:t>
            </a:r>
            <a:r>
              <a:rPr lang="en-US" altLang="hu-HU" sz="2000" dirty="0">
                <a:solidFill>
                  <a:srgbClr val="000000"/>
                </a:solidFill>
                <a:latin typeface="Calibri" panose="020F0502020204030204" pitchFamily="34" charset="0"/>
              </a:rPr>
              <a:t>Deposits</a:t>
            </a:r>
            <a:endParaRPr kumimoji="0" lang="en-US" altLang="hu-HU" sz="2000" b="0" i="0" u="none" strike="noStrike" kern="1200" cap="none" spc="0" normalizeH="0" baseline="0" dirty="0">
              <a:ln>
                <a:noFill/>
              </a:ln>
              <a:solidFill>
                <a:srgbClr val="000000"/>
              </a:solidFill>
              <a:effectLst/>
              <a:uLnTx/>
              <a:uFillTx/>
              <a:latin typeface="Calibri" panose="020F0502020204030204" pitchFamily="34" charset="0"/>
            </a:endParaRPr>
          </a:p>
        </p:txBody>
      </p:sp>
      <p:sp>
        <p:nvSpPr>
          <p:cNvPr id="5127" name="Dia számának helye 1"/>
          <p:cNvSpPr>
            <a:spLocks noGrp="1"/>
          </p:cNvSpPr>
          <p:nvPr>
            <p:ph type="sldNum" sz="quarter" idx="12"/>
          </p:nvPr>
        </p:nvSpPr>
        <p:spPr>
          <a:xfrm>
            <a:off x="8607552" y="6381751"/>
            <a:ext cx="2743200" cy="365125"/>
          </a:xfrm>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8E3395-0D00-4997-A8B3-B5FC5B61BE62}"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b="0" i="0" u="none" strike="noStrike" kern="1200" cap="none" spc="0" normalizeH="0" baseline="0" dirty="0">
              <a:ln>
                <a:noFill/>
              </a:ln>
              <a:solidFill>
                <a:srgbClr val="898989"/>
              </a:solidFill>
              <a:effectLst/>
              <a:uLnTx/>
              <a:uFillTx/>
              <a:latin typeface="+mn-lt"/>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841245" y="365760"/>
            <a:ext cx="10515600" cy="813816"/>
          </a:xfrm>
        </p:spPr>
        <p:txBody>
          <a:bodyPr/>
          <a:lstStyle/>
          <a:p>
            <a:pPr eaLnBrk="1" hangingPunct="1"/>
            <a:r>
              <a:rPr lang="en-US" altLang="hu-HU" dirty="0"/>
              <a:t>Organization of a bank</a:t>
            </a:r>
          </a:p>
        </p:txBody>
      </p:sp>
      <p:sp>
        <p:nvSpPr>
          <p:cNvPr id="24579" name="Rectangle 3"/>
          <p:cNvSpPr>
            <a:spLocks noGrp="1" noChangeArrowheads="1"/>
          </p:cNvSpPr>
          <p:nvPr>
            <p:ph type="body" sz="half" idx="1"/>
          </p:nvPr>
        </p:nvSpPr>
        <p:spPr>
          <a:xfrm>
            <a:off x="841245" y="1307592"/>
            <a:ext cx="3810000" cy="5043488"/>
          </a:xfrm>
        </p:spPr>
        <p:txBody>
          <a:bodyPr/>
          <a:lstStyle/>
          <a:p>
            <a:pPr eaLnBrk="1" hangingPunct="1">
              <a:lnSpc>
                <a:spcPct val="80000"/>
              </a:lnSpc>
            </a:pPr>
            <a:r>
              <a:rPr lang="en-US" altLang="hu-HU" sz="2200" dirty="0"/>
              <a:t>Business services</a:t>
            </a:r>
          </a:p>
          <a:p>
            <a:pPr lvl="1" eaLnBrk="1" hangingPunct="1">
              <a:lnSpc>
                <a:spcPct val="80000"/>
              </a:lnSpc>
            </a:pPr>
            <a:r>
              <a:rPr lang="en-US" altLang="hu-HU" sz="1800" dirty="0"/>
              <a:t>Front Office</a:t>
            </a:r>
          </a:p>
          <a:p>
            <a:pPr lvl="2" eaLnBrk="1" hangingPunct="1">
              <a:lnSpc>
                <a:spcPct val="80000"/>
              </a:lnSpc>
            </a:pPr>
            <a:r>
              <a:rPr lang="en-US" altLang="hu-HU" sz="1600" dirty="0"/>
              <a:t>Large Corporates</a:t>
            </a:r>
          </a:p>
          <a:p>
            <a:pPr lvl="2" eaLnBrk="1" hangingPunct="1">
              <a:lnSpc>
                <a:spcPct val="80000"/>
              </a:lnSpc>
            </a:pPr>
            <a:r>
              <a:rPr lang="en-US" altLang="hu-HU" sz="1600" dirty="0"/>
              <a:t>Project financing</a:t>
            </a:r>
          </a:p>
          <a:p>
            <a:pPr lvl="2" eaLnBrk="1" hangingPunct="1">
              <a:lnSpc>
                <a:spcPct val="80000"/>
              </a:lnSpc>
            </a:pPr>
            <a:r>
              <a:rPr lang="en-US" altLang="hu-HU" sz="1600" dirty="0"/>
              <a:t>SME</a:t>
            </a:r>
          </a:p>
          <a:p>
            <a:pPr lvl="2" eaLnBrk="1" hangingPunct="1">
              <a:lnSpc>
                <a:spcPct val="80000"/>
              </a:lnSpc>
            </a:pPr>
            <a:r>
              <a:rPr lang="en-US" altLang="hu-HU" sz="1600" dirty="0"/>
              <a:t>Retail</a:t>
            </a:r>
          </a:p>
          <a:p>
            <a:pPr lvl="2" eaLnBrk="1" hangingPunct="1">
              <a:lnSpc>
                <a:spcPct val="80000"/>
              </a:lnSpc>
            </a:pPr>
            <a:r>
              <a:rPr lang="en-US" altLang="hu-HU" sz="1600" dirty="0"/>
              <a:t>Treasury</a:t>
            </a:r>
          </a:p>
          <a:p>
            <a:pPr lvl="1" eaLnBrk="1" hangingPunct="1">
              <a:lnSpc>
                <a:spcPct val="80000"/>
              </a:lnSpc>
            </a:pPr>
            <a:r>
              <a:rPr lang="en-US" altLang="hu-HU" sz="1800" dirty="0"/>
              <a:t>Mid Office</a:t>
            </a:r>
          </a:p>
          <a:p>
            <a:pPr lvl="2" eaLnBrk="1" hangingPunct="1">
              <a:lnSpc>
                <a:spcPct val="80000"/>
              </a:lnSpc>
            </a:pPr>
            <a:r>
              <a:rPr lang="en-US" altLang="hu-HU" sz="1600" dirty="0"/>
              <a:t>Risk Management</a:t>
            </a:r>
          </a:p>
          <a:p>
            <a:pPr lvl="2" eaLnBrk="1" hangingPunct="1">
              <a:lnSpc>
                <a:spcPct val="80000"/>
              </a:lnSpc>
            </a:pPr>
            <a:r>
              <a:rPr lang="en-US" altLang="hu-HU" sz="1600" dirty="0"/>
              <a:t>Controlling</a:t>
            </a:r>
          </a:p>
          <a:p>
            <a:pPr lvl="2" eaLnBrk="1" hangingPunct="1">
              <a:lnSpc>
                <a:spcPct val="80000"/>
              </a:lnSpc>
            </a:pPr>
            <a:r>
              <a:rPr lang="en-US" altLang="hu-HU" sz="1600" dirty="0"/>
              <a:t>Process management</a:t>
            </a:r>
          </a:p>
          <a:p>
            <a:pPr lvl="2" eaLnBrk="1" hangingPunct="1">
              <a:lnSpc>
                <a:spcPct val="80000"/>
              </a:lnSpc>
            </a:pPr>
            <a:r>
              <a:rPr lang="en-US" altLang="hu-HU" sz="1600" dirty="0"/>
              <a:t>Product-management</a:t>
            </a:r>
          </a:p>
          <a:p>
            <a:pPr lvl="1" eaLnBrk="1" hangingPunct="1">
              <a:lnSpc>
                <a:spcPct val="80000"/>
              </a:lnSpc>
            </a:pPr>
            <a:r>
              <a:rPr lang="en-US" altLang="hu-HU" sz="1800" dirty="0"/>
              <a:t>Back Office</a:t>
            </a:r>
          </a:p>
          <a:p>
            <a:pPr lvl="2" eaLnBrk="1" hangingPunct="1">
              <a:lnSpc>
                <a:spcPct val="80000"/>
              </a:lnSpc>
            </a:pPr>
            <a:r>
              <a:rPr lang="en-US" altLang="hu-HU" sz="1600" dirty="0"/>
              <a:t>Credit Control</a:t>
            </a:r>
          </a:p>
          <a:p>
            <a:pPr lvl="2" eaLnBrk="1" hangingPunct="1">
              <a:lnSpc>
                <a:spcPct val="80000"/>
              </a:lnSpc>
            </a:pPr>
            <a:r>
              <a:rPr lang="en-US" altLang="hu-HU" sz="1600" dirty="0"/>
              <a:t>Loan Administration</a:t>
            </a:r>
          </a:p>
          <a:p>
            <a:pPr lvl="2" eaLnBrk="1" hangingPunct="1">
              <a:lnSpc>
                <a:spcPct val="80000"/>
              </a:lnSpc>
            </a:pPr>
            <a:r>
              <a:rPr lang="en-US" altLang="hu-HU" sz="1600" dirty="0"/>
              <a:t>Payments</a:t>
            </a:r>
          </a:p>
          <a:p>
            <a:pPr lvl="2" eaLnBrk="1" hangingPunct="1">
              <a:lnSpc>
                <a:spcPct val="80000"/>
              </a:lnSpc>
            </a:pPr>
            <a:r>
              <a:rPr lang="en-US" altLang="hu-HU" sz="1600" dirty="0"/>
              <a:t>Custody</a:t>
            </a:r>
          </a:p>
          <a:p>
            <a:pPr lvl="2" eaLnBrk="1" hangingPunct="1">
              <a:lnSpc>
                <a:spcPct val="80000"/>
              </a:lnSpc>
            </a:pPr>
            <a:r>
              <a:rPr lang="en-US" altLang="hu-HU" sz="1600" dirty="0"/>
              <a:t>Card Management</a:t>
            </a:r>
          </a:p>
          <a:p>
            <a:pPr marL="693737" lvl="2" indent="0" eaLnBrk="1" hangingPunct="1">
              <a:lnSpc>
                <a:spcPct val="80000"/>
              </a:lnSpc>
              <a:buNone/>
            </a:pPr>
            <a:endParaRPr lang="en-US" altLang="hu-HU" sz="1900" dirty="0"/>
          </a:p>
          <a:p>
            <a:pPr lvl="2" eaLnBrk="1" hangingPunct="1">
              <a:lnSpc>
                <a:spcPct val="80000"/>
              </a:lnSpc>
            </a:pPr>
            <a:endParaRPr lang="en-US" altLang="hu-HU" sz="1900" dirty="0"/>
          </a:p>
        </p:txBody>
      </p:sp>
      <p:sp>
        <p:nvSpPr>
          <p:cNvPr id="24580" name="Rectangle 4"/>
          <p:cNvSpPr>
            <a:spLocks noGrp="1" noChangeArrowheads="1"/>
          </p:cNvSpPr>
          <p:nvPr>
            <p:ph type="body" sz="half" idx="2"/>
          </p:nvPr>
        </p:nvSpPr>
        <p:spPr>
          <a:xfrm>
            <a:off x="6096000" y="1307592"/>
            <a:ext cx="4244975" cy="5043487"/>
          </a:xfrm>
        </p:spPr>
        <p:txBody>
          <a:bodyPr/>
          <a:lstStyle/>
          <a:p>
            <a:pPr eaLnBrk="1" hangingPunct="1">
              <a:lnSpc>
                <a:spcPct val="80000"/>
              </a:lnSpc>
            </a:pPr>
            <a:r>
              <a:rPr lang="en-US" altLang="hu-HU" sz="2200" dirty="0"/>
              <a:t>Supporting areas</a:t>
            </a:r>
          </a:p>
          <a:p>
            <a:pPr lvl="1" eaLnBrk="1" hangingPunct="1">
              <a:lnSpc>
                <a:spcPct val="80000"/>
              </a:lnSpc>
            </a:pPr>
            <a:r>
              <a:rPr lang="en-US" altLang="hu-HU" sz="1800" dirty="0"/>
              <a:t>IT</a:t>
            </a:r>
          </a:p>
          <a:p>
            <a:pPr lvl="2" eaLnBrk="1" hangingPunct="1">
              <a:lnSpc>
                <a:spcPct val="80000"/>
              </a:lnSpc>
            </a:pPr>
            <a:r>
              <a:rPr lang="en-US" altLang="hu-HU" sz="1800" dirty="0"/>
              <a:t>Core systems:</a:t>
            </a:r>
          </a:p>
          <a:p>
            <a:pPr lvl="3" eaLnBrk="1" hangingPunct="1">
              <a:lnSpc>
                <a:spcPct val="80000"/>
              </a:lnSpc>
            </a:pPr>
            <a:r>
              <a:rPr lang="en-US" altLang="hu-HU" sz="1600" dirty="0"/>
              <a:t>Account services</a:t>
            </a:r>
          </a:p>
          <a:p>
            <a:pPr lvl="3" eaLnBrk="1" hangingPunct="1">
              <a:lnSpc>
                <a:spcPct val="80000"/>
              </a:lnSpc>
            </a:pPr>
            <a:r>
              <a:rPr lang="en-US" altLang="hu-HU" sz="1600" dirty="0"/>
              <a:t>Card services</a:t>
            </a:r>
          </a:p>
          <a:p>
            <a:pPr lvl="3" eaLnBrk="1" hangingPunct="1">
              <a:lnSpc>
                <a:spcPct val="80000"/>
              </a:lnSpc>
            </a:pPr>
            <a:r>
              <a:rPr lang="en-US" altLang="hu-HU" sz="1600" dirty="0"/>
              <a:t>Trade finance system</a:t>
            </a:r>
          </a:p>
          <a:p>
            <a:pPr lvl="3" eaLnBrk="1" hangingPunct="1">
              <a:lnSpc>
                <a:spcPct val="80000"/>
              </a:lnSpc>
            </a:pPr>
            <a:r>
              <a:rPr lang="en-US" altLang="hu-HU" sz="1600" dirty="0"/>
              <a:t>…</a:t>
            </a:r>
          </a:p>
          <a:p>
            <a:pPr lvl="2" eaLnBrk="1" hangingPunct="1">
              <a:lnSpc>
                <a:spcPct val="80000"/>
              </a:lnSpc>
            </a:pPr>
            <a:r>
              <a:rPr lang="en-US" altLang="hu-HU" sz="1800" dirty="0"/>
              <a:t>Front End systems</a:t>
            </a:r>
          </a:p>
          <a:p>
            <a:pPr lvl="2" eaLnBrk="1" hangingPunct="1">
              <a:lnSpc>
                <a:spcPct val="80000"/>
              </a:lnSpc>
            </a:pPr>
            <a:r>
              <a:rPr lang="en-US" altLang="hu-HU" sz="1800" dirty="0"/>
              <a:t>Data warehouse</a:t>
            </a:r>
          </a:p>
          <a:p>
            <a:pPr lvl="1" eaLnBrk="1" hangingPunct="1">
              <a:lnSpc>
                <a:spcPct val="80000"/>
              </a:lnSpc>
            </a:pPr>
            <a:r>
              <a:rPr lang="en-US" altLang="hu-HU" sz="1800" dirty="0"/>
              <a:t>HR</a:t>
            </a:r>
          </a:p>
          <a:p>
            <a:pPr lvl="1" eaLnBrk="1" hangingPunct="1">
              <a:lnSpc>
                <a:spcPct val="80000"/>
              </a:lnSpc>
            </a:pPr>
            <a:r>
              <a:rPr lang="en-US" altLang="hu-HU" sz="1800" dirty="0"/>
              <a:t>Legal</a:t>
            </a:r>
          </a:p>
          <a:p>
            <a:pPr lvl="1" eaLnBrk="1" hangingPunct="1">
              <a:lnSpc>
                <a:spcPct val="80000"/>
              </a:lnSpc>
            </a:pPr>
            <a:r>
              <a:rPr lang="en-US" altLang="hu-HU" sz="1800" dirty="0"/>
              <a:t>Marketing</a:t>
            </a:r>
          </a:p>
        </p:txBody>
      </p:sp>
      <p:sp>
        <p:nvSpPr>
          <p:cNvPr id="5" name="Dia számának helye 1">
            <a:extLst>
              <a:ext uri="{FF2B5EF4-FFF2-40B4-BE49-F238E27FC236}">
                <a16:creationId xmlns:a16="http://schemas.microsoft.com/office/drawing/2014/main" id="{2BC4C4E9-FD59-4430-B6D7-BD985F10B60E}"/>
              </a:ext>
            </a:extLst>
          </p:cNvPr>
          <p:cNvSpPr>
            <a:spLocks noGrp="1"/>
          </p:cNvSpPr>
          <p:nvPr>
            <p:ph type="sldNum" sz="quarter" idx="12"/>
          </p:nvPr>
        </p:nvSpPr>
        <p:spPr>
          <a:xfrm>
            <a:off x="8610600" y="6356350"/>
            <a:ext cx="2743200" cy="365125"/>
          </a:xfrm>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8E3395-0D00-4997-A8B3-B5FC5B61BE62}"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b="0" i="0" u="none" strike="noStrike" kern="1200" cap="none" spc="0" normalizeH="0" baseline="0" dirty="0">
              <a:ln>
                <a:noFill/>
              </a:ln>
              <a:solidFill>
                <a:srgbClr val="898989"/>
              </a:solidFill>
              <a:effectLst/>
              <a:uLnTx/>
              <a:uFillTx/>
              <a:latin typeface="+mn-lt"/>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Title 3"/>
          <p:cNvSpPr txBox="1">
            <a:spLocks/>
          </p:cNvSpPr>
          <p:nvPr/>
        </p:nvSpPr>
        <p:spPr>
          <a:xfrm>
            <a:off x="1954214" y="274638"/>
            <a:ext cx="8713787" cy="741362"/>
          </a:xfrm>
          <a:prstGeom prst="rect">
            <a:avLst/>
          </a:prstGeom>
        </p:spPr>
        <p:txBody>
          <a:bodyPr/>
          <a:lstStyle/>
          <a:p>
            <a:pPr eaLnBrk="0" hangingPunct="0">
              <a:defRPr/>
            </a:pPr>
            <a:r>
              <a:rPr lang="hu-HU" kern="0" dirty="0">
                <a:latin typeface="+mj-lt"/>
                <a:ea typeface="+mj-ea"/>
                <a:cs typeface="+mj-cs"/>
              </a:rPr>
              <a:t>B</a:t>
            </a:r>
            <a:r>
              <a:rPr lang="en-GB" kern="0" dirty="0" err="1">
                <a:latin typeface="+mj-lt"/>
                <a:ea typeface="+mj-ea"/>
                <a:cs typeface="+mj-cs"/>
              </a:rPr>
              <a:t>ank</a:t>
            </a:r>
            <a:r>
              <a:rPr lang="en-GB" kern="0" dirty="0">
                <a:latin typeface="+mj-lt"/>
                <a:ea typeface="+mj-ea"/>
                <a:cs typeface="+mj-cs"/>
              </a:rPr>
              <a:t> business and balance-sheet risk</a:t>
            </a:r>
            <a:br>
              <a:rPr lang="en-GB" kern="0" dirty="0">
                <a:latin typeface="+mj-lt"/>
                <a:ea typeface="+mj-ea"/>
                <a:cs typeface="+mj-cs"/>
              </a:rPr>
            </a:br>
            <a:r>
              <a:rPr lang="hu-HU" kern="0" dirty="0">
                <a:latin typeface="+mj-lt"/>
                <a:ea typeface="+mj-ea"/>
                <a:cs typeface="+mj-cs"/>
              </a:rPr>
              <a:t>P</a:t>
            </a:r>
            <a:r>
              <a:rPr lang="en-GB" kern="0" dirty="0" err="1">
                <a:latin typeface="+mj-lt"/>
                <a:ea typeface="+mj-ea"/>
                <a:cs typeface="+mj-cs"/>
              </a:rPr>
              <a:t>roducts</a:t>
            </a:r>
            <a:r>
              <a:rPr lang="en-GB" kern="0" dirty="0">
                <a:latin typeface="+mj-lt"/>
                <a:ea typeface="+mj-ea"/>
                <a:cs typeface="+mj-cs"/>
              </a:rPr>
              <a:t> and their B/S, P&amp;L- and risk implications</a:t>
            </a:r>
            <a:endParaRPr lang="en-GB" kern="0" baseline="30000" dirty="0">
              <a:latin typeface="+mj-lt"/>
              <a:ea typeface="+mj-ea"/>
              <a:cs typeface="+mj-cs"/>
            </a:endParaRPr>
          </a:p>
        </p:txBody>
      </p:sp>
      <p:cxnSp>
        <p:nvCxnSpPr>
          <p:cNvPr id="21" name="Straight Connector 20"/>
          <p:cNvCxnSpPr/>
          <p:nvPr/>
        </p:nvCxnSpPr>
        <p:spPr bwMode="auto">
          <a:xfrm>
            <a:off x="2000251" y="6219825"/>
            <a:ext cx="8145463" cy="0"/>
          </a:xfrm>
          <a:prstGeom prst="line">
            <a:avLst/>
          </a:prstGeom>
          <a:noFill/>
          <a:ln w="9525" cap="flat" cmpd="sng" algn="ctr">
            <a:solidFill>
              <a:schemeClr val="tx1"/>
            </a:solidFill>
            <a:prstDash val="solid"/>
            <a:round/>
            <a:headEnd type="none" w="med" len="med"/>
            <a:tailEnd type="none" w="med" len="med"/>
          </a:ln>
          <a:effectLst/>
        </p:spPr>
      </p:cxnSp>
      <p:sp>
        <p:nvSpPr>
          <p:cNvPr id="36" name="Rectangle 35"/>
          <p:cNvSpPr/>
          <p:nvPr/>
        </p:nvSpPr>
        <p:spPr bwMode="auto">
          <a:xfrm>
            <a:off x="2291286" y="1493838"/>
            <a:ext cx="1350150" cy="765032"/>
          </a:xfrm>
          <a:prstGeom prst="rect">
            <a:avLst/>
          </a:prstGeom>
          <a:solidFill>
            <a:schemeClr val="bg1"/>
          </a:solidFill>
          <a:ln>
            <a:solidFill>
              <a:schemeClr val="bg1"/>
            </a:solidFill>
          </a:ln>
        </p:spPr>
        <p:txBody>
          <a:bodyPr wrap="square" tIns="0" bIns="0" rtlCol="0" anchor="ctr" anchorCtr="0">
            <a:noAutofit/>
          </a:bodyPr>
          <a:lstStyle/>
          <a:p>
            <a:pPr algn="ctr">
              <a:tabLst>
                <a:tab pos="179388" algn="l"/>
                <a:tab pos="354013" algn="l"/>
                <a:tab pos="5299075" algn="r"/>
              </a:tabLst>
            </a:pPr>
            <a:endParaRPr lang="de-DE" sz="1600" dirty="0">
              <a:solidFill>
                <a:srgbClr val="000000"/>
              </a:solidFill>
              <a:latin typeface="Trebuchet MS" pitchFamily="34" charset="0"/>
            </a:endParaRPr>
          </a:p>
        </p:txBody>
      </p:sp>
      <p:graphicFrame>
        <p:nvGraphicFramePr>
          <p:cNvPr id="8" name="Table 7"/>
          <p:cNvGraphicFramePr>
            <a:graphicFrameLocks noGrp="1"/>
          </p:cNvGraphicFramePr>
          <p:nvPr>
            <p:extLst>
              <p:ext uri="{D42A27DB-BD31-4B8C-83A1-F6EECF244321}">
                <p14:modId xmlns:p14="http://schemas.microsoft.com/office/powerpoint/2010/main" val="2348006565"/>
              </p:ext>
            </p:extLst>
          </p:nvPr>
        </p:nvGraphicFramePr>
        <p:xfrm>
          <a:off x="2000249" y="1089025"/>
          <a:ext cx="8145464" cy="5059680"/>
        </p:xfrm>
        <a:graphic>
          <a:graphicData uri="http://schemas.openxmlformats.org/drawingml/2006/table">
            <a:tbl>
              <a:tblPr firstRow="1" bandRow="1">
                <a:tableStyleId>{5C22544A-7EE6-4342-B048-85BDC9FD1C3A}</a:tableStyleId>
              </a:tblPr>
              <a:tblGrid>
                <a:gridCol w="2205542">
                  <a:extLst>
                    <a:ext uri="{9D8B030D-6E8A-4147-A177-3AD203B41FA5}">
                      <a16:colId xmlns:a16="http://schemas.microsoft.com/office/drawing/2014/main" val="20000"/>
                    </a:ext>
                  </a:extLst>
                </a:gridCol>
                <a:gridCol w="1980220">
                  <a:extLst>
                    <a:ext uri="{9D8B030D-6E8A-4147-A177-3AD203B41FA5}">
                      <a16:colId xmlns:a16="http://schemas.microsoft.com/office/drawing/2014/main" val="20001"/>
                    </a:ext>
                  </a:extLst>
                </a:gridCol>
                <a:gridCol w="2385265">
                  <a:extLst>
                    <a:ext uri="{9D8B030D-6E8A-4147-A177-3AD203B41FA5}">
                      <a16:colId xmlns:a16="http://schemas.microsoft.com/office/drawing/2014/main" val="20002"/>
                    </a:ext>
                  </a:extLst>
                </a:gridCol>
                <a:gridCol w="1574437">
                  <a:extLst>
                    <a:ext uri="{9D8B030D-6E8A-4147-A177-3AD203B41FA5}">
                      <a16:colId xmlns:a16="http://schemas.microsoft.com/office/drawing/2014/main" val="20003"/>
                    </a:ext>
                  </a:extLst>
                </a:gridCol>
              </a:tblGrid>
              <a:tr h="243429">
                <a:tc>
                  <a:txBody>
                    <a:bodyPr/>
                    <a:lstStyle/>
                    <a:p>
                      <a:r>
                        <a:rPr lang="de-DE" sz="1000" dirty="0">
                          <a:latin typeface="Trebuchet MS" pitchFamily="34" charset="0"/>
                        </a:rPr>
                        <a:t>Service or function</a:t>
                      </a:r>
                    </a:p>
                  </a:txBody>
                  <a:tcPr/>
                </a:tc>
                <a:tc>
                  <a:txBody>
                    <a:bodyPr/>
                    <a:lstStyle/>
                    <a:p>
                      <a:r>
                        <a:rPr lang="de-DE" sz="1000" dirty="0">
                          <a:latin typeface="Trebuchet MS" pitchFamily="34" charset="0"/>
                        </a:rPr>
                        <a:t>Balance sheet</a:t>
                      </a:r>
                    </a:p>
                  </a:txBody>
                  <a:tcPr/>
                </a:tc>
                <a:tc>
                  <a:txBody>
                    <a:bodyPr/>
                    <a:lstStyle/>
                    <a:p>
                      <a:r>
                        <a:rPr lang="de-DE" sz="1000" dirty="0">
                          <a:latin typeface="Trebuchet MS" pitchFamily="34" charset="0"/>
                        </a:rPr>
                        <a:t>Revenue generated</a:t>
                      </a:r>
                    </a:p>
                  </a:txBody>
                  <a:tcPr/>
                </a:tc>
                <a:tc>
                  <a:txBody>
                    <a:bodyPr/>
                    <a:lstStyle/>
                    <a:p>
                      <a:r>
                        <a:rPr lang="de-DE" sz="1000" dirty="0">
                          <a:latin typeface="Trebuchet MS" pitchFamily="34" charset="0"/>
                        </a:rPr>
                        <a:t>Risk</a:t>
                      </a:r>
                    </a:p>
                  </a:txBody>
                  <a:tcPr/>
                </a:tc>
                <a:extLst>
                  <a:ext uri="{0D108BD9-81ED-4DB2-BD59-A6C34878D82A}">
                    <a16:rowId xmlns:a16="http://schemas.microsoft.com/office/drawing/2014/main" val="10000"/>
                  </a:ext>
                </a:extLst>
              </a:tr>
              <a:tr h="243429">
                <a:tc gridSpan="4">
                  <a:txBody>
                    <a:bodyPr/>
                    <a:lstStyle/>
                    <a:p>
                      <a:r>
                        <a:rPr lang="de-DE" sz="1000" dirty="0">
                          <a:latin typeface="Trebuchet MS" pitchFamily="34" charset="0"/>
                        </a:rPr>
                        <a:t>Lending</a:t>
                      </a:r>
                    </a:p>
                  </a:txBody>
                  <a:tcPr/>
                </a:tc>
                <a:tc hMerge="1">
                  <a:txBody>
                    <a:bodyPr/>
                    <a:lstStyle/>
                    <a:p>
                      <a:endParaRPr lang="de-DE" sz="1000" dirty="0">
                        <a:latin typeface="Trebuchet MS" pitchFamily="34" charset="0"/>
                      </a:endParaRPr>
                    </a:p>
                  </a:txBody>
                  <a:tcPr/>
                </a:tc>
                <a:tc hMerge="1">
                  <a:txBody>
                    <a:bodyPr/>
                    <a:lstStyle/>
                    <a:p>
                      <a:endParaRPr lang="de-DE"/>
                    </a:p>
                  </a:txBody>
                  <a:tcPr/>
                </a:tc>
                <a:tc hMerge="1">
                  <a:txBody>
                    <a:bodyPr/>
                    <a:lstStyle/>
                    <a:p>
                      <a:endParaRPr lang="de-DE" sz="1000" dirty="0">
                        <a:latin typeface="Trebuchet MS" pitchFamily="34" charset="0"/>
                      </a:endParaRPr>
                    </a:p>
                  </a:txBody>
                  <a:tcPr/>
                </a:tc>
                <a:extLst>
                  <a:ext uri="{0D108BD9-81ED-4DB2-BD59-A6C34878D82A}">
                    <a16:rowId xmlns:a16="http://schemas.microsoft.com/office/drawing/2014/main" val="10001"/>
                  </a:ext>
                </a:extLst>
              </a:tr>
              <a:tr h="243429">
                <a:tc>
                  <a:txBody>
                    <a:bodyPr/>
                    <a:lstStyle/>
                    <a:p>
                      <a:r>
                        <a:rPr lang="de-DE" sz="1000" dirty="0">
                          <a:latin typeface="Trebuchet MS" pitchFamily="34" charset="0"/>
                        </a:rPr>
                        <a:t>Retail, commercial, mortgage,</a:t>
                      </a:r>
                      <a:r>
                        <a:rPr lang="de-DE" sz="1000" baseline="0" dirty="0">
                          <a:latin typeface="Trebuchet MS" pitchFamily="34" charset="0"/>
                        </a:rPr>
                        <a:t> project finance</a:t>
                      </a:r>
                      <a:endParaRPr lang="de-DE" sz="1000" dirty="0">
                        <a:latin typeface="Trebuchet MS" pitchFamily="34" charset="0"/>
                      </a:endParaRPr>
                    </a:p>
                  </a:txBody>
                  <a:tcPr/>
                </a:tc>
                <a:tc>
                  <a:txBody>
                    <a:bodyPr/>
                    <a:lstStyle/>
                    <a:p>
                      <a:r>
                        <a:rPr lang="de-DE" sz="1000" dirty="0">
                          <a:latin typeface="Trebuchet MS" pitchFamily="34" charset="0"/>
                        </a:rPr>
                        <a:t>Assets</a:t>
                      </a:r>
                    </a:p>
                  </a:txBody>
                  <a:tcPr/>
                </a:tc>
                <a:tc>
                  <a:txBody>
                    <a:bodyPr/>
                    <a:lstStyle/>
                    <a:p>
                      <a:r>
                        <a:rPr lang="de-DE" sz="1000" dirty="0">
                          <a:latin typeface="Trebuchet MS" pitchFamily="34" charset="0"/>
                        </a:rPr>
                        <a:t>Interest income, fees</a:t>
                      </a:r>
                    </a:p>
                  </a:txBody>
                  <a:tcPr/>
                </a:tc>
                <a:tc>
                  <a:txBody>
                    <a:bodyPr/>
                    <a:lstStyle/>
                    <a:p>
                      <a:r>
                        <a:rPr lang="de-DE" sz="1000" dirty="0">
                          <a:latin typeface="Trebuchet MS" pitchFamily="34" charset="0"/>
                        </a:rPr>
                        <a:t>Credit, Market</a:t>
                      </a:r>
                    </a:p>
                  </a:txBody>
                  <a:tcPr/>
                </a:tc>
                <a:extLst>
                  <a:ext uri="{0D108BD9-81ED-4DB2-BD59-A6C34878D82A}">
                    <a16:rowId xmlns:a16="http://schemas.microsoft.com/office/drawing/2014/main" val="10002"/>
                  </a:ext>
                </a:extLst>
              </a:tr>
              <a:tr h="243429">
                <a:tc>
                  <a:txBody>
                    <a:bodyPr/>
                    <a:lstStyle/>
                    <a:p>
                      <a:r>
                        <a:rPr lang="de-DE" sz="1000" dirty="0">
                          <a:latin typeface="Trebuchet MS" pitchFamily="34" charset="0"/>
                        </a:rPr>
                        <a:t>Trade finance, credit cards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000" dirty="0">
                          <a:latin typeface="Trebuchet MS" pitchFamily="34" charset="0"/>
                        </a:rPr>
                        <a:t>Assets</a:t>
                      </a:r>
                    </a:p>
                  </a:txBody>
                  <a:tcPr/>
                </a:tc>
                <a:tc>
                  <a:txBody>
                    <a:bodyPr/>
                    <a:lstStyle/>
                    <a:p>
                      <a:r>
                        <a:rPr lang="de-DE" sz="1000" dirty="0">
                          <a:latin typeface="Trebuchet MS" pitchFamily="34" charset="0"/>
                        </a:rPr>
                        <a:t>Interest income, fees</a:t>
                      </a:r>
                    </a:p>
                  </a:txBody>
                  <a:tcPr/>
                </a:tc>
                <a:tc>
                  <a:txBody>
                    <a:bodyPr/>
                    <a:lstStyle/>
                    <a:p>
                      <a:r>
                        <a:rPr lang="de-DE" sz="1000" dirty="0">
                          <a:latin typeface="Trebuchet MS" pitchFamily="34" charset="0"/>
                        </a:rPr>
                        <a:t>Credit, Market, Operat.</a:t>
                      </a:r>
                    </a:p>
                  </a:txBody>
                  <a:tcPr/>
                </a:tc>
                <a:extLst>
                  <a:ext uri="{0D108BD9-81ED-4DB2-BD59-A6C34878D82A}">
                    <a16:rowId xmlns:a16="http://schemas.microsoft.com/office/drawing/2014/main" val="10003"/>
                  </a:ext>
                </a:extLst>
              </a:tr>
              <a:tr h="243429">
                <a:tc>
                  <a:txBody>
                    <a:bodyPr/>
                    <a:lstStyle/>
                    <a:p>
                      <a:r>
                        <a:rPr lang="de-DE" sz="1000" dirty="0">
                          <a:latin typeface="Trebuchet MS" pitchFamily="34" charset="0"/>
                        </a:rPr>
                        <a:t>Lending, Syndicated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000" dirty="0">
                          <a:latin typeface="Trebuchet MS" pitchFamily="34" charset="0"/>
                        </a:rPr>
                        <a:t>Assets</a:t>
                      </a:r>
                    </a:p>
                  </a:txBody>
                  <a:tcPr/>
                </a:tc>
                <a:tc>
                  <a:txBody>
                    <a:bodyPr/>
                    <a:lstStyle/>
                    <a:p>
                      <a:r>
                        <a:rPr lang="de-DE" sz="1000" dirty="0">
                          <a:latin typeface="Trebuchet MS" pitchFamily="34" charset="0"/>
                        </a:rPr>
                        <a:t>Trading, interest incoem, fees</a:t>
                      </a:r>
                    </a:p>
                  </a:txBody>
                  <a:tcPr/>
                </a:tc>
                <a:tc>
                  <a:txBody>
                    <a:bodyPr/>
                    <a:lstStyle/>
                    <a:p>
                      <a:r>
                        <a:rPr lang="de-DE" sz="1000" dirty="0">
                          <a:latin typeface="Trebuchet MS" pitchFamily="34" charset="0"/>
                        </a:rPr>
                        <a:t>Credit,</a:t>
                      </a:r>
                      <a:r>
                        <a:rPr lang="de-DE" sz="1000" baseline="0" dirty="0">
                          <a:latin typeface="Trebuchet MS" pitchFamily="34" charset="0"/>
                        </a:rPr>
                        <a:t> Market</a:t>
                      </a:r>
                      <a:endParaRPr lang="de-DE" sz="1000" dirty="0">
                        <a:latin typeface="Trebuchet MS" pitchFamily="34" charset="0"/>
                      </a:endParaRPr>
                    </a:p>
                  </a:txBody>
                  <a:tcPr/>
                </a:tc>
                <a:extLst>
                  <a:ext uri="{0D108BD9-81ED-4DB2-BD59-A6C34878D82A}">
                    <a16:rowId xmlns:a16="http://schemas.microsoft.com/office/drawing/2014/main" val="10004"/>
                  </a:ext>
                </a:extLst>
              </a:tr>
              <a:tr h="243429">
                <a:tc gridSpan="4">
                  <a:txBody>
                    <a:bodyPr/>
                    <a:lstStyle/>
                    <a:p>
                      <a:r>
                        <a:rPr lang="de-DE" sz="1000" dirty="0">
                          <a:latin typeface="Trebuchet MS" pitchFamily="34" charset="0"/>
                        </a:rPr>
                        <a:t>Cash Management</a:t>
                      </a:r>
                    </a:p>
                  </a:txBody>
                  <a:tcPr/>
                </a:tc>
                <a:tc hMerge="1">
                  <a:txBody>
                    <a:bodyPr/>
                    <a:lstStyle/>
                    <a:p>
                      <a:endParaRPr lang="de-DE" sz="1000" dirty="0">
                        <a:latin typeface="Trebuchet MS" pitchFamily="34" charset="0"/>
                      </a:endParaRPr>
                    </a:p>
                  </a:txBody>
                  <a:tcPr/>
                </a:tc>
                <a:tc hMerge="1">
                  <a:txBody>
                    <a:bodyPr/>
                    <a:lstStyle/>
                    <a:p>
                      <a:endParaRPr lang="de-DE"/>
                    </a:p>
                  </a:txBody>
                  <a:tcPr/>
                </a:tc>
                <a:tc hMerge="1">
                  <a:txBody>
                    <a:bodyPr/>
                    <a:lstStyle/>
                    <a:p>
                      <a:endParaRPr lang="de-DE" sz="1000" dirty="0">
                        <a:latin typeface="Trebuchet MS" pitchFamily="34" charset="0"/>
                      </a:endParaRPr>
                    </a:p>
                  </a:txBody>
                  <a:tcPr/>
                </a:tc>
                <a:extLst>
                  <a:ext uri="{0D108BD9-81ED-4DB2-BD59-A6C34878D82A}">
                    <a16:rowId xmlns:a16="http://schemas.microsoft.com/office/drawing/2014/main" val="10005"/>
                  </a:ext>
                </a:extLst>
              </a:tr>
              <a:tr h="243429">
                <a:tc>
                  <a:txBody>
                    <a:bodyPr/>
                    <a:lstStyle/>
                    <a:p>
                      <a:r>
                        <a:rPr lang="de-DE" sz="1000" dirty="0">
                          <a:latin typeface="Trebuchet MS" pitchFamily="34" charset="0"/>
                        </a:rPr>
                        <a:t>Processing</a:t>
                      </a:r>
                    </a:p>
                  </a:txBody>
                  <a:tcPr/>
                </a:tc>
                <a:tc>
                  <a:txBody>
                    <a:bodyPr/>
                    <a:lstStyle/>
                    <a:p>
                      <a:r>
                        <a:rPr lang="de-DE" sz="1000" dirty="0">
                          <a:latin typeface="Trebuchet MS" pitchFamily="34" charset="0"/>
                        </a:rPr>
                        <a:t>Asset</a:t>
                      </a:r>
                      <a:r>
                        <a:rPr lang="de-DE" sz="1000" baseline="0" dirty="0">
                          <a:latin typeface="Trebuchet MS" pitchFamily="34" charset="0"/>
                        </a:rPr>
                        <a:t> [balance &lt;0], Liabilities [balance &gt;0]</a:t>
                      </a:r>
                      <a:endParaRPr lang="de-DE" sz="1000" dirty="0">
                        <a:latin typeface="Trebuchet MS" pitchFamily="34" charset="0"/>
                      </a:endParaRPr>
                    </a:p>
                  </a:txBody>
                  <a:tcPr/>
                </a:tc>
                <a:tc>
                  <a:txBody>
                    <a:bodyPr/>
                    <a:lstStyle/>
                    <a:p>
                      <a:r>
                        <a:rPr lang="de-DE" sz="1000" dirty="0">
                          <a:latin typeface="Trebuchet MS" pitchFamily="34" charset="0"/>
                        </a:rPr>
                        <a:t>Fees</a:t>
                      </a:r>
                    </a:p>
                  </a:txBody>
                  <a:tcPr/>
                </a:tc>
                <a:tc>
                  <a:txBody>
                    <a:bodyPr/>
                    <a:lstStyle/>
                    <a:p>
                      <a:r>
                        <a:rPr lang="de-DE" sz="1000" dirty="0">
                          <a:latin typeface="Trebuchet MS" pitchFamily="34" charset="0"/>
                        </a:rPr>
                        <a:t>Operational</a:t>
                      </a:r>
                    </a:p>
                  </a:txBody>
                  <a:tcPr/>
                </a:tc>
                <a:extLst>
                  <a:ext uri="{0D108BD9-81ED-4DB2-BD59-A6C34878D82A}">
                    <a16:rowId xmlns:a16="http://schemas.microsoft.com/office/drawing/2014/main" val="10006"/>
                  </a:ext>
                </a:extLst>
              </a:tr>
              <a:tr h="243429">
                <a:tc>
                  <a:txBody>
                    <a:bodyPr/>
                    <a:lstStyle/>
                    <a:p>
                      <a:r>
                        <a:rPr lang="de-DE" sz="1000" dirty="0">
                          <a:latin typeface="Trebuchet MS" pitchFamily="34" charset="0"/>
                        </a:rPr>
                        <a:t>Payments</a:t>
                      </a:r>
                    </a:p>
                  </a:txBody>
                  <a:tcPr/>
                </a:tc>
                <a:tc>
                  <a:txBody>
                    <a:bodyPr/>
                    <a:lstStyle/>
                    <a:p>
                      <a:endParaRPr lang="de-DE" sz="1000" dirty="0">
                        <a:latin typeface="Trebuchet MS" pitchFamily="34" charset="0"/>
                      </a:endParaRPr>
                    </a:p>
                  </a:txBody>
                  <a:tcPr/>
                </a:tc>
                <a:tc>
                  <a:txBody>
                    <a:bodyPr/>
                    <a:lstStyle/>
                    <a:p>
                      <a:r>
                        <a:rPr lang="de-DE" sz="1000" dirty="0">
                          <a:latin typeface="Trebuchet MS" pitchFamily="34" charset="0"/>
                        </a:rPr>
                        <a:t>Fees</a:t>
                      </a:r>
                    </a:p>
                  </a:txBody>
                  <a:tcPr/>
                </a:tc>
                <a:tc>
                  <a:txBody>
                    <a:bodyPr/>
                    <a:lstStyle/>
                    <a:p>
                      <a:r>
                        <a:rPr lang="de-DE" sz="1000" dirty="0">
                          <a:latin typeface="Trebuchet MS" pitchFamily="34" charset="0"/>
                        </a:rPr>
                        <a:t>Credit, Operational</a:t>
                      </a:r>
                    </a:p>
                  </a:txBody>
                  <a:tcPr/>
                </a:tc>
                <a:extLst>
                  <a:ext uri="{0D108BD9-81ED-4DB2-BD59-A6C34878D82A}">
                    <a16:rowId xmlns:a16="http://schemas.microsoft.com/office/drawing/2014/main" val="10007"/>
                  </a:ext>
                </a:extLst>
              </a:tr>
              <a:tr h="243429">
                <a:tc>
                  <a:txBody>
                    <a:bodyPr/>
                    <a:lstStyle/>
                    <a:p>
                      <a:r>
                        <a:rPr lang="de-DE" sz="1000" dirty="0">
                          <a:latin typeface="Trebuchet MS" pitchFamily="34" charset="0"/>
                        </a:rPr>
                        <a:t>Custodians</a:t>
                      </a:r>
                    </a:p>
                  </a:txBody>
                  <a:tcPr/>
                </a:tc>
                <a:tc>
                  <a:txBody>
                    <a:bodyPr/>
                    <a:lstStyle/>
                    <a:p>
                      <a:r>
                        <a:rPr lang="de-DE" sz="1000" dirty="0">
                          <a:latin typeface="Trebuchet MS" pitchFamily="34" charset="0"/>
                        </a:rPr>
                        <a:t>---------</a:t>
                      </a:r>
                    </a:p>
                  </a:txBody>
                  <a:tcPr/>
                </a:tc>
                <a:tc>
                  <a:txBody>
                    <a:bodyPr/>
                    <a:lstStyle/>
                    <a:p>
                      <a:r>
                        <a:rPr lang="de-DE" sz="1000" dirty="0">
                          <a:latin typeface="Trebuchet MS" pitchFamily="34" charset="0"/>
                        </a:rPr>
                        <a:t>Fees</a:t>
                      </a:r>
                    </a:p>
                  </a:txBody>
                  <a:tcPr/>
                </a:tc>
                <a:tc>
                  <a:txBody>
                    <a:bodyPr/>
                    <a:lstStyle/>
                    <a:p>
                      <a:r>
                        <a:rPr lang="de-DE" sz="1000" dirty="0">
                          <a:latin typeface="Trebuchet MS" pitchFamily="34" charset="0"/>
                        </a:rPr>
                        <a:t>Credit, Operational</a:t>
                      </a:r>
                    </a:p>
                  </a:txBody>
                  <a:tcPr/>
                </a:tc>
                <a:extLst>
                  <a:ext uri="{0D108BD9-81ED-4DB2-BD59-A6C34878D82A}">
                    <a16:rowId xmlns:a16="http://schemas.microsoft.com/office/drawing/2014/main" val="10008"/>
                  </a:ext>
                </a:extLst>
              </a:tr>
              <a:tr h="243429">
                <a:tc>
                  <a:txBody>
                    <a:bodyPr/>
                    <a:lstStyle/>
                    <a:p>
                      <a:r>
                        <a:rPr lang="de-DE" sz="1000" dirty="0">
                          <a:latin typeface="Trebuchet MS" pitchFamily="34" charset="0"/>
                        </a:rPr>
                        <a:t>Private banking</a:t>
                      </a:r>
                    </a:p>
                  </a:txBody>
                  <a:tcPr/>
                </a:tc>
                <a:tc>
                  <a:txBody>
                    <a:bodyPr/>
                    <a:lstStyle/>
                    <a:p>
                      <a:r>
                        <a:rPr lang="de-DE" sz="1000" dirty="0">
                          <a:latin typeface="Trebuchet MS" pitchFamily="34" charset="0"/>
                        </a:rPr>
                        <a:t>---------</a:t>
                      </a:r>
                    </a:p>
                  </a:txBody>
                  <a:tcPr/>
                </a:tc>
                <a:tc>
                  <a:txBody>
                    <a:bodyPr/>
                    <a:lstStyle/>
                    <a:p>
                      <a:r>
                        <a:rPr lang="de-DE" sz="1000" dirty="0">
                          <a:latin typeface="Trebuchet MS" pitchFamily="34" charset="0"/>
                        </a:rPr>
                        <a:t>Commission</a:t>
                      </a:r>
                      <a:r>
                        <a:rPr lang="de-DE" sz="1000" baseline="0" dirty="0">
                          <a:latin typeface="Trebuchet MS" pitchFamily="34" charset="0"/>
                        </a:rPr>
                        <a:t> income, interest income, fees</a:t>
                      </a:r>
                      <a:endParaRPr lang="de-DE" sz="1000" dirty="0">
                        <a:latin typeface="Trebuchet MS" pitchFamily="34" charset="0"/>
                      </a:endParaRPr>
                    </a:p>
                  </a:txBody>
                  <a:tcPr/>
                </a:tc>
                <a:tc>
                  <a:txBody>
                    <a:bodyPr/>
                    <a:lstStyle/>
                    <a:p>
                      <a:r>
                        <a:rPr lang="de-DE" sz="1000" dirty="0">
                          <a:latin typeface="Trebuchet MS" pitchFamily="34" charset="0"/>
                        </a:rPr>
                        <a:t>Operational</a:t>
                      </a:r>
                    </a:p>
                  </a:txBody>
                  <a:tcPr/>
                </a:tc>
                <a:extLst>
                  <a:ext uri="{0D108BD9-81ED-4DB2-BD59-A6C34878D82A}">
                    <a16:rowId xmlns:a16="http://schemas.microsoft.com/office/drawing/2014/main" val="10009"/>
                  </a:ext>
                </a:extLst>
              </a:tr>
              <a:tr h="243429">
                <a:tc>
                  <a:txBody>
                    <a:bodyPr/>
                    <a:lstStyle/>
                    <a:p>
                      <a:r>
                        <a:rPr lang="de-DE" sz="1000" dirty="0">
                          <a:latin typeface="Trebuchet MS" pitchFamily="34" charset="0"/>
                        </a:rPr>
                        <a:t>Asset management</a:t>
                      </a:r>
                    </a:p>
                  </a:txBody>
                  <a:tcPr/>
                </a:tc>
                <a:tc>
                  <a:txBody>
                    <a:bodyPr/>
                    <a:lstStyle/>
                    <a:p>
                      <a:r>
                        <a:rPr lang="de-DE" sz="1000" dirty="0">
                          <a:latin typeface="Trebuchet MS" pitchFamily="34" charset="0"/>
                        </a:rPr>
                        <a:t>----------</a:t>
                      </a:r>
                    </a:p>
                  </a:txBody>
                  <a:tcPr/>
                </a:tc>
                <a:tc>
                  <a:txBody>
                    <a:bodyPr/>
                    <a:lstStyle/>
                    <a:p>
                      <a:r>
                        <a:rPr lang="de-DE" sz="1000" dirty="0">
                          <a:latin typeface="Trebuchet MS" pitchFamily="34" charset="0"/>
                        </a:rPr>
                        <a:t>Fees, Performance</a:t>
                      </a:r>
                      <a:r>
                        <a:rPr lang="de-DE" sz="1000" baseline="0" dirty="0">
                          <a:latin typeface="Trebuchet MS" pitchFamily="34" charset="0"/>
                        </a:rPr>
                        <a:t> payments</a:t>
                      </a:r>
                      <a:endParaRPr lang="de-DE" sz="1000" dirty="0">
                        <a:latin typeface="Trebuchet MS" pitchFamily="34" charset="0"/>
                      </a:endParaRPr>
                    </a:p>
                  </a:txBody>
                  <a:tcPr/>
                </a:tc>
                <a:tc>
                  <a:txBody>
                    <a:bodyPr/>
                    <a:lstStyle/>
                    <a:p>
                      <a:r>
                        <a:rPr lang="de-DE" sz="1000" dirty="0">
                          <a:latin typeface="Trebuchet MS" pitchFamily="34" charset="0"/>
                        </a:rPr>
                        <a:t>Credit, Market, Operational</a:t>
                      </a:r>
                    </a:p>
                  </a:txBody>
                  <a:tcPr/>
                </a:tc>
                <a:extLst>
                  <a:ext uri="{0D108BD9-81ED-4DB2-BD59-A6C34878D82A}">
                    <a16:rowId xmlns:a16="http://schemas.microsoft.com/office/drawing/2014/main" val="10010"/>
                  </a:ext>
                </a:extLst>
              </a:tr>
              <a:tr h="243429">
                <a:tc gridSpan="4">
                  <a:txBody>
                    <a:bodyPr/>
                    <a:lstStyle/>
                    <a:p>
                      <a:r>
                        <a:rPr lang="de-DE" sz="1000" dirty="0">
                          <a:latin typeface="Trebuchet MS" pitchFamily="34" charset="0"/>
                        </a:rPr>
                        <a:t>Capital markets</a:t>
                      </a:r>
                    </a:p>
                  </a:txBody>
                  <a:tcPr/>
                </a:tc>
                <a:tc hMerge="1">
                  <a:txBody>
                    <a:bodyPr/>
                    <a:lstStyle/>
                    <a:p>
                      <a:endParaRPr lang="de-DE" sz="1000" dirty="0">
                        <a:latin typeface="Trebuchet MS" pitchFamily="34" charset="0"/>
                      </a:endParaRPr>
                    </a:p>
                  </a:txBody>
                  <a:tcPr/>
                </a:tc>
                <a:tc hMerge="1">
                  <a:txBody>
                    <a:bodyPr/>
                    <a:lstStyle/>
                    <a:p>
                      <a:endParaRPr lang="de-DE"/>
                    </a:p>
                  </a:txBody>
                  <a:tcPr/>
                </a:tc>
                <a:tc hMerge="1">
                  <a:txBody>
                    <a:bodyPr/>
                    <a:lstStyle/>
                    <a:p>
                      <a:endParaRPr lang="de-DE" sz="1000" dirty="0">
                        <a:latin typeface="Trebuchet MS" pitchFamily="34" charset="0"/>
                      </a:endParaRPr>
                    </a:p>
                  </a:txBody>
                  <a:tcPr/>
                </a:tc>
                <a:extLst>
                  <a:ext uri="{0D108BD9-81ED-4DB2-BD59-A6C34878D82A}">
                    <a16:rowId xmlns:a16="http://schemas.microsoft.com/office/drawing/2014/main" val="10011"/>
                  </a:ext>
                </a:extLst>
              </a:tr>
              <a:tr h="243429">
                <a:tc>
                  <a:txBody>
                    <a:bodyPr/>
                    <a:lstStyle/>
                    <a:p>
                      <a:r>
                        <a:rPr lang="de-DE" sz="1000" dirty="0">
                          <a:latin typeface="Trebuchet MS" pitchFamily="34" charset="0"/>
                        </a:rPr>
                        <a:t>M&amp;A</a:t>
                      </a:r>
                    </a:p>
                  </a:txBody>
                  <a:tcPr/>
                </a:tc>
                <a:tc>
                  <a:txBody>
                    <a:bodyPr/>
                    <a:lstStyle/>
                    <a:p>
                      <a:r>
                        <a:rPr lang="de-DE" sz="1000" dirty="0">
                          <a:latin typeface="Trebuchet MS" pitchFamily="34" charset="0"/>
                        </a:rPr>
                        <a:t>----------</a:t>
                      </a:r>
                    </a:p>
                  </a:txBody>
                  <a:tcPr/>
                </a:tc>
                <a:tc>
                  <a:txBody>
                    <a:bodyPr/>
                    <a:lstStyle/>
                    <a:p>
                      <a:r>
                        <a:rPr lang="de-DE" sz="1000" dirty="0">
                          <a:latin typeface="Trebuchet MS" pitchFamily="34" charset="0"/>
                        </a:rPr>
                        <a:t>Fees</a:t>
                      </a:r>
                    </a:p>
                  </a:txBody>
                  <a:tcPr/>
                </a:tc>
                <a:tc>
                  <a:txBody>
                    <a:bodyPr/>
                    <a:lstStyle/>
                    <a:p>
                      <a:endParaRPr lang="de-DE" sz="1000" dirty="0">
                        <a:latin typeface="Trebuchet MS" pitchFamily="34" charset="0"/>
                      </a:endParaRPr>
                    </a:p>
                  </a:txBody>
                  <a:tcPr/>
                </a:tc>
                <a:extLst>
                  <a:ext uri="{0D108BD9-81ED-4DB2-BD59-A6C34878D82A}">
                    <a16:rowId xmlns:a16="http://schemas.microsoft.com/office/drawing/2014/main" val="10012"/>
                  </a:ext>
                </a:extLst>
              </a:tr>
              <a:tr h="243429">
                <a:tc>
                  <a:txBody>
                    <a:bodyPr/>
                    <a:lstStyle/>
                    <a:p>
                      <a:r>
                        <a:rPr lang="de-DE" sz="1000" dirty="0">
                          <a:latin typeface="Trebuchet MS" pitchFamily="34" charset="0"/>
                        </a:rPr>
                        <a:t>Corporate finance</a:t>
                      </a:r>
                    </a:p>
                  </a:txBody>
                  <a:tcPr/>
                </a:tc>
                <a:tc>
                  <a:txBody>
                    <a:bodyPr/>
                    <a:lstStyle/>
                    <a:p>
                      <a:r>
                        <a:rPr lang="de-DE" sz="1000" dirty="0">
                          <a:latin typeface="Trebuchet MS" pitchFamily="34" charset="0"/>
                        </a:rPr>
                        <a:t>Aseets</a:t>
                      </a:r>
                      <a:r>
                        <a:rPr lang="de-DE" sz="1000" baseline="0" dirty="0">
                          <a:latin typeface="Trebuchet MS" pitchFamily="34" charset="0"/>
                        </a:rPr>
                        <a:t> (if banks lends), </a:t>
                      </a:r>
                      <a:endParaRPr lang="de-DE" sz="1000" dirty="0">
                        <a:latin typeface="Trebuchet MS" pitchFamily="34" charset="0"/>
                      </a:endParaRPr>
                    </a:p>
                  </a:txBody>
                  <a:tcPr/>
                </a:tc>
                <a:tc>
                  <a:txBody>
                    <a:bodyPr/>
                    <a:lstStyle/>
                    <a:p>
                      <a:r>
                        <a:rPr lang="de-DE" sz="1000" dirty="0">
                          <a:latin typeface="Trebuchet MS" pitchFamily="34" charset="0"/>
                        </a:rPr>
                        <a:t>Fees, Interest income (if bank lends)</a:t>
                      </a:r>
                    </a:p>
                  </a:txBody>
                  <a:tcPr/>
                </a:tc>
                <a:tc>
                  <a:txBody>
                    <a:bodyPr/>
                    <a:lstStyle/>
                    <a:p>
                      <a:endParaRPr lang="de-DE" sz="1000" dirty="0">
                        <a:latin typeface="Trebuchet MS" pitchFamily="34" charset="0"/>
                      </a:endParaRPr>
                    </a:p>
                  </a:txBody>
                  <a:tcPr/>
                </a:tc>
                <a:extLst>
                  <a:ext uri="{0D108BD9-81ED-4DB2-BD59-A6C34878D82A}">
                    <a16:rowId xmlns:a16="http://schemas.microsoft.com/office/drawing/2014/main" val="10013"/>
                  </a:ext>
                </a:extLst>
              </a:tr>
              <a:tr h="243429">
                <a:tc>
                  <a:txBody>
                    <a:bodyPr/>
                    <a:lstStyle/>
                    <a:p>
                      <a:r>
                        <a:rPr lang="de-DE" sz="1000" dirty="0">
                          <a:latin typeface="Trebuchet MS" pitchFamily="34" charset="0"/>
                        </a:rPr>
                        <a:t>Trading (Equities, Foreign exchange, Derivatives)</a:t>
                      </a:r>
                    </a:p>
                  </a:txBody>
                  <a:tcPr/>
                </a:tc>
                <a:tc>
                  <a:txBody>
                    <a:bodyPr/>
                    <a:lstStyle/>
                    <a:p>
                      <a:r>
                        <a:rPr lang="de-DE" sz="1000" dirty="0">
                          <a:latin typeface="Trebuchet MS" pitchFamily="34" charset="0"/>
                        </a:rPr>
                        <a:t>Assets</a:t>
                      </a:r>
                      <a:r>
                        <a:rPr lang="de-DE" sz="1000" baseline="0" dirty="0">
                          <a:latin typeface="Trebuchet MS" pitchFamily="34" charset="0"/>
                        </a:rPr>
                        <a:t> (long, MV &gt; 0)</a:t>
                      </a:r>
                    </a:p>
                    <a:p>
                      <a:pPr marL="0" marR="0" indent="0" algn="l" defTabSz="914400" rtl="0" eaLnBrk="1" fontAlgn="auto" latinLnBrk="0" hangingPunct="1">
                        <a:lnSpc>
                          <a:spcPct val="100000"/>
                        </a:lnSpc>
                        <a:spcBef>
                          <a:spcPts val="0"/>
                        </a:spcBef>
                        <a:spcAft>
                          <a:spcPts val="0"/>
                        </a:spcAft>
                        <a:buClrTx/>
                        <a:buSzTx/>
                        <a:buFontTx/>
                        <a:buNone/>
                        <a:tabLst/>
                        <a:defRPr/>
                      </a:pPr>
                      <a:r>
                        <a:rPr lang="de-DE" sz="1000" dirty="0">
                          <a:latin typeface="Trebuchet MS" pitchFamily="34" charset="0"/>
                        </a:rPr>
                        <a:t>Liabilities </a:t>
                      </a:r>
                      <a:r>
                        <a:rPr lang="de-DE" sz="1000" baseline="0" dirty="0">
                          <a:latin typeface="Trebuchet MS" pitchFamily="34" charset="0"/>
                        </a:rPr>
                        <a:t>(short, MV&lt;0)</a:t>
                      </a:r>
                    </a:p>
                  </a:txBody>
                  <a:tcPr/>
                </a:tc>
                <a:tc>
                  <a:txBody>
                    <a:bodyPr/>
                    <a:lstStyle/>
                    <a:p>
                      <a:r>
                        <a:rPr lang="de-DE" sz="1000" dirty="0">
                          <a:latin typeface="Trebuchet MS" pitchFamily="34" charset="0"/>
                        </a:rPr>
                        <a:t>Trading income, fees</a:t>
                      </a:r>
                    </a:p>
                  </a:txBody>
                  <a:tcPr/>
                </a:tc>
                <a:tc>
                  <a:txBody>
                    <a:bodyPr/>
                    <a:lstStyle/>
                    <a:p>
                      <a:r>
                        <a:rPr lang="de-DE" sz="1000" dirty="0">
                          <a:latin typeface="Trebuchet MS" pitchFamily="34" charset="0"/>
                        </a:rPr>
                        <a:t>Credit, Market, Operational</a:t>
                      </a:r>
                    </a:p>
                  </a:txBody>
                  <a:tcPr/>
                </a:tc>
                <a:extLst>
                  <a:ext uri="{0D108BD9-81ED-4DB2-BD59-A6C34878D82A}">
                    <a16:rowId xmlns:a16="http://schemas.microsoft.com/office/drawing/2014/main" val="10014"/>
                  </a:ext>
                </a:extLst>
              </a:tr>
              <a:tr h="243429">
                <a:tc>
                  <a:txBody>
                    <a:bodyPr/>
                    <a:lstStyle/>
                    <a:p>
                      <a:r>
                        <a:rPr lang="de-DE" sz="1000" dirty="0">
                          <a:latin typeface="Trebuchet MS" pitchFamily="34" charset="0"/>
                        </a:rPr>
                        <a:t>Trading (Bonds)</a:t>
                      </a:r>
                    </a:p>
                  </a:txBody>
                  <a:tcPr/>
                </a:tc>
                <a:tc>
                  <a:txBody>
                    <a:bodyPr/>
                    <a:lstStyle/>
                    <a:p>
                      <a:r>
                        <a:rPr lang="de-DE" sz="1000" dirty="0">
                          <a:latin typeface="Trebuchet MS" pitchFamily="34" charset="0"/>
                        </a:rPr>
                        <a:t>Assets</a:t>
                      </a:r>
                      <a:r>
                        <a:rPr lang="de-DE" sz="1000" baseline="0" dirty="0">
                          <a:latin typeface="Trebuchet MS" pitchFamily="34" charset="0"/>
                        </a:rPr>
                        <a:t> (long), </a:t>
                      </a:r>
                      <a:r>
                        <a:rPr lang="de-DE" sz="1000" dirty="0">
                          <a:latin typeface="Trebuchet MS" pitchFamily="34" charset="0"/>
                        </a:rPr>
                        <a:t>Liabilities </a:t>
                      </a:r>
                      <a:r>
                        <a:rPr lang="de-DE" sz="1000" baseline="0" dirty="0">
                          <a:latin typeface="Trebuchet MS" pitchFamily="34" charset="0"/>
                        </a:rPr>
                        <a:t>(short)</a:t>
                      </a:r>
                    </a:p>
                  </a:txBody>
                  <a:tcPr/>
                </a:tc>
                <a:tc>
                  <a:txBody>
                    <a:bodyPr/>
                    <a:lstStyle/>
                    <a:p>
                      <a:r>
                        <a:rPr lang="de-DE" sz="1000" dirty="0">
                          <a:latin typeface="Trebuchet MS" pitchFamily="34" charset="0"/>
                        </a:rPr>
                        <a:t>Trading income, interest income, fees</a:t>
                      </a:r>
                    </a:p>
                  </a:txBody>
                  <a:tcPr/>
                </a:tc>
                <a:tc>
                  <a:txBody>
                    <a:bodyPr/>
                    <a:lstStyle/>
                    <a:p>
                      <a:endParaRPr lang="de-DE" sz="1000" dirty="0">
                        <a:latin typeface="Trebuchet MS" pitchFamily="34" charset="0"/>
                      </a:endParaRPr>
                    </a:p>
                  </a:txBody>
                  <a:tcPr/>
                </a:tc>
                <a:extLst>
                  <a:ext uri="{0D108BD9-81ED-4DB2-BD59-A6C34878D82A}">
                    <a16:rowId xmlns:a16="http://schemas.microsoft.com/office/drawing/2014/main" val="10015"/>
                  </a:ext>
                </a:extLst>
              </a:tr>
              <a:tr h="243429">
                <a:tc>
                  <a:txBody>
                    <a:bodyPr/>
                    <a:lstStyle/>
                    <a:p>
                      <a:r>
                        <a:rPr lang="de-DE" sz="1000" dirty="0">
                          <a:latin typeface="Trebuchet MS" pitchFamily="34" charset="0"/>
                        </a:rPr>
                        <a:t>Depositing</a:t>
                      </a:r>
                      <a:r>
                        <a:rPr lang="de-DE" sz="1000" baseline="0" dirty="0">
                          <a:latin typeface="Trebuchet MS" pitchFamily="34" charset="0"/>
                        </a:rPr>
                        <a:t> </a:t>
                      </a:r>
                      <a:r>
                        <a:rPr lang="de-DE" sz="1000" dirty="0">
                          <a:latin typeface="Trebuchet MS" pitchFamily="34" charset="0"/>
                        </a:rPr>
                        <a:t>(Retail,</a:t>
                      </a:r>
                      <a:r>
                        <a:rPr lang="de-DE" sz="1000" baseline="0" dirty="0">
                          <a:latin typeface="Trebuchet MS" pitchFamily="34" charset="0"/>
                        </a:rPr>
                        <a:t> Corporate, Public sector, Interbank)</a:t>
                      </a:r>
                      <a:endParaRPr lang="de-DE" sz="1000" dirty="0">
                        <a:latin typeface="Trebuchet MS" pitchFamily="34" charset="0"/>
                      </a:endParaRPr>
                    </a:p>
                  </a:txBody>
                  <a:tcPr/>
                </a:tc>
                <a:tc>
                  <a:txBody>
                    <a:bodyPr/>
                    <a:lstStyle/>
                    <a:p>
                      <a:r>
                        <a:rPr lang="de-DE" sz="1000" dirty="0">
                          <a:latin typeface="Trebuchet MS" pitchFamily="34" charset="0"/>
                        </a:rPr>
                        <a:t>Liabilities</a:t>
                      </a:r>
                    </a:p>
                  </a:txBody>
                  <a:tcPr/>
                </a:tc>
                <a:tc>
                  <a:txBody>
                    <a:bodyPr/>
                    <a:lstStyle/>
                    <a:p>
                      <a:r>
                        <a:rPr lang="de-DE" sz="1000" dirty="0">
                          <a:latin typeface="Trebuchet MS" pitchFamily="34" charset="0"/>
                        </a:rPr>
                        <a:t>Interest income</a:t>
                      </a:r>
                    </a:p>
                  </a:txBody>
                  <a:tcPr/>
                </a:tc>
                <a:tc>
                  <a:txBody>
                    <a:bodyPr/>
                    <a:lstStyle/>
                    <a:p>
                      <a:r>
                        <a:rPr lang="de-DE" sz="1000" dirty="0">
                          <a:latin typeface="Trebuchet MS" pitchFamily="34" charset="0"/>
                        </a:rPr>
                        <a:t>Liquidity risk</a:t>
                      </a:r>
                    </a:p>
                  </a:txBody>
                  <a:tcPr/>
                </a:tc>
                <a:extLst>
                  <a:ext uri="{0D108BD9-81ED-4DB2-BD59-A6C34878D82A}">
                    <a16:rowId xmlns:a16="http://schemas.microsoft.com/office/drawing/2014/main" val="10016"/>
                  </a:ext>
                </a:extLst>
              </a:tr>
            </a:tbl>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Slide Number Placeholder 12"/>
          <p:cNvSpPr>
            <a:spLocks noGrp="1"/>
          </p:cNvSpPr>
          <p:nvPr>
            <p:ph type="sldNum" sz="quarter" idx="4"/>
          </p:nvPr>
        </p:nvSpPr>
        <p:spPr>
          <a:xfrm>
            <a:off x="8295801" y="6356350"/>
            <a:ext cx="416399" cy="365125"/>
          </a:xfrm>
          <a:prstGeom prst="rect">
            <a:avLst/>
          </a:prstGeom>
        </p:spPr>
        <p:txBody>
          <a:bodyPr vert="horz" lIns="91440" tIns="45720" rIns="91440" bIns="45720" rtlCol="0" anchor="ctr"/>
          <a:lstStyle>
            <a:defPPr>
              <a:defRPr lang="de-DE"/>
            </a:defPPr>
            <a:lvl1pPr algn="r" rtl="0" fontAlgn="base">
              <a:spcBef>
                <a:spcPct val="0"/>
              </a:spcBef>
              <a:spcAft>
                <a:spcPct val="0"/>
              </a:spcAft>
              <a:defRPr sz="800"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D4222BFC-8070-2749-ADD2-48D4133FB3EC}" type="slidenum">
              <a:rPr lang="en-GB" smtClean="0"/>
              <a:pPr/>
              <a:t>23</a:t>
            </a:fld>
            <a:endParaRPr lang="en-GB" dirty="0"/>
          </a:p>
        </p:txBody>
      </p:sp>
      <p:sp>
        <p:nvSpPr>
          <p:cNvPr id="36" name="Rectangle 35"/>
          <p:cNvSpPr/>
          <p:nvPr/>
        </p:nvSpPr>
        <p:spPr bwMode="auto">
          <a:xfrm>
            <a:off x="2291286" y="1493838"/>
            <a:ext cx="1350150" cy="765032"/>
          </a:xfrm>
          <a:prstGeom prst="rect">
            <a:avLst/>
          </a:prstGeom>
          <a:solidFill>
            <a:schemeClr val="bg1"/>
          </a:solidFill>
          <a:ln>
            <a:solidFill>
              <a:schemeClr val="bg1"/>
            </a:solidFill>
          </a:ln>
        </p:spPr>
        <p:txBody>
          <a:bodyPr wrap="square" tIns="0" bIns="0" rtlCol="0" anchor="ctr" anchorCtr="0">
            <a:noAutofit/>
          </a:bodyPr>
          <a:lstStyle/>
          <a:p>
            <a:pPr algn="ctr">
              <a:tabLst>
                <a:tab pos="179388" algn="l"/>
                <a:tab pos="354013" algn="l"/>
                <a:tab pos="5299075" algn="r"/>
              </a:tabLst>
            </a:pPr>
            <a:endParaRPr lang="de-DE" sz="1600" dirty="0">
              <a:solidFill>
                <a:srgbClr val="000000"/>
              </a:solidFill>
              <a:latin typeface="Trebuchet MS" pitchFamily="34" charset="0"/>
            </a:endParaRPr>
          </a:p>
        </p:txBody>
      </p:sp>
      <p:sp>
        <p:nvSpPr>
          <p:cNvPr id="8" name="Rectangle 4"/>
          <p:cNvSpPr>
            <a:spLocks noChangeArrowheads="1"/>
          </p:cNvSpPr>
          <p:nvPr/>
        </p:nvSpPr>
        <p:spPr bwMode="auto">
          <a:xfrm>
            <a:off x="2120901" y="1374776"/>
            <a:ext cx="1908175" cy="250825"/>
          </a:xfrm>
          <a:prstGeom prst="chevron">
            <a:avLst>
              <a:gd name="adj" fmla="val 0"/>
            </a:avLst>
          </a:prstGeom>
          <a:solidFill>
            <a:srgbClr val="FFFF00"/>
          </a:solidFill>
          <a:ln w="25400">
            <a:solidFill>
              <a:srgbClr val="7E99AA">
                <a:lumMod val="50000"/>
              </a:srgbClr>
            </a:solidFill>
            <a:miter lim="800000"/>
            <a:headEnd/>
            <a:tailEnd/>
          </a:ln>
          <a:effectLst/>
        </p:spPr>
        <p:txBody>
          <a:bodyPr anchor="ctr"/>
          <a:lstStyle/>
          <a:p>
            <a:pPr marL="174625" lvl="1" indent="-174625">
              <a:lnSpc>
                <a:spcPct val="90000"/>
              </a:lnSpc>
              <a:buClr>
                <a:srgbClr val="314C6A"/>
              </a:buClr>
              <a:buFont typeface="+mj-lt"/>
              <a:buAutoNum type="arabicPeriod"/>
              <a:defRPr/>
            </a:pPr>
            <a:r>
              <a:rPr lang="en-GB" sz="1000" kern="0" dirty="0">
                <a:solidFill>
                  <a:srgbClr val="000000"/>
                </a:solidFill>
                <a:latin typeface="Trebuchet MS" pitchFamily="34" charset="0"/>
                <a:ea typeface="ＭＳ Ｐゴシック" pitchFamily="-108" charset="-128"/>
                <a:cs typeface="Arial" pitchFamily="34" charset="0"/>
              </a:rPr>
              <a:t>Retail &amp; SME</a:t>
            </a:r>
          </a:p>
        </p:txBody>
      </p:sp>
      <p:sp>
        <p:nvSpPr>
          <p:cNvPr id="10" name="Rectangle 4"/>
          <p:cNvSpPr>
            <a:spLocks noChangeArrowheads="1"/>
          </p:cNvSpPr>
          <p:nvPr/>
        </p:nvSpPr>
        <p:spPr bwMode="auto">
          <a:xfrm>
            <a:off x="4154489" y="1374776"/>
            <a:ext cx="1908175" cy="250825"/>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2"/>
              <a:defRPr/>
            </a:pPr>
            <a:r>
              <a:rPr lang="en-GB" sz="1000" kern="0" dirty="0">
                <a:solidFill>
                  <a:srgbClr val="000000"/>
                </a:solidFill>
                <a:latin typeface="Trebuchet MS" pitchFamily="34" charset="0"/>
                <a:ea typeface="ＭＳ Ｐゴシック" pitchFamily="-108" charset="-128"/>
                <a:cs typeface="Arial" pitchFamily="34" charset="0"/>
              </a:rPr>
              <a:t>Corporate</a:t>
            </a:r>
          </a:p>
        </p:txBody>
      </p:sp>
      <p:sp>
        <p:nvSpPr>
          <p:cNvPr id="11" name="Rectangle 4"/>
          <p:cNvSpPr>
            <a:spLocks noChangeArrowheads="1"/>
          </p:cNvSpPr>
          <p:nvPr/>
        </p:nvSpPr>
        <p:spPr bwMode="auto">
          <a:xfrm>
            <a:off x="6188076" y="1374776"/>
            <a:ext cx="1908175" cy="250825"/>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3"/>
              <a:defRPr/>
            </a:pPr>
            <a:r>
              <a:rPr lang="en-GB" sz="1000" kern="0" dirty="0">
                <a:solidFill>
                  <a:srgbClr val="000000"/>
                </a:solidFill>
                <a:latin typeface="Trebuchet MS" pitchFamily="34" charset="0"/>
                <a:ea typeface="ＭＳ Ｐゴシック" pitchFamily="-108" charset="-128"/>
                <a:cs typeface="Arial" pitchFamily="34" charset="0"/>
              </a:rPr>
              <a:t>Asset-based Finance</a:t>
            </a:r>
          </a:p>
        </p:txBody>
      </p:sp>
      <p:sp>
        <p:nvSpPr>
          <p:cNvPr id="14" name="Rectangle 4"/>
          <p:cNvSpPr>
            <a:spLocks noChangeArrowheads="1"/>
          </p:cNvSpPr>
          <p:nvPr/>
        </p:nvSpPr>
        <p:spPr bwMode="auto">
          <a:xfrm>
            <a:off x="8221664" y="1374776"/>
            <a:ext cx="1908175" cy="250825"/>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4"/>
              <a:defRPr/>
            </a:pPr>
            <a:r>
              <a:rPr lang="en-GB" sz="1000" kern="0" dirty="0">
                <a:solidFill>
                  <a:srgbClr val="000000"/>
                </a:solidFill>
                <a:latin typeface="Trebuchet MS" pitchFamily="34" charset="0"/>
                <a:ea typeface="ＭＳ Ｐゴシック" pitchFamily="-108" charset="-128"/>
                <a:cs typeface="Arial" pitchFamily="34" charset="0"/>
              </a:rPr>
              <a:t>Financial Institutions</a:t>
            </a:r>
          </a:p>
        </p:txBody>
      </p:sp>
      <p:sp>
        <p:nvSpPr>
          <p:cNvPr id="15" name="Rectangle 4"/>
          <p:cNvSpPr>
            <a:spLocks noChangeArrowheads="1"/>
          </p:cNvSpPr>
          <p:nvPr/>
        </p:nvSpPr>
        <p:spPr bwMode="auto">
          <a:xfrm>
            <a:off x="2117726"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Borrowing (client’s view)</a:t>
            </a:r>
          </a:p>
        </p:txBody>
      </p:sp>
      <p:sp>
        <p:nvSpPr>
          <p:cNvPr id="16" name="Rectangle 4"/>
          <p:cNvSpPr>
            <a:spLocks noChangeArrowheads="1"/>
          </p:cNvSpPr>
          <p:nvPr/>
        </p:nvSpPr>
        <p:spPr bwMode="auto">
          <a:xfrm>
            <a:off x="4152901"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Payment</a:t>
            </a:r>
          </a:p>
        </p:txBody>
      </p:sp>
      <p:sp>
        <p:nvSpPr>
          <p:cNvPr id="17" name="Rectangle 4"/>
          <p:cNvSpPr>
            <a:spLocks noChangeArrowheads="1"/>
          </p:cNvSpPr>
          <p:nvPr/>
        </p:nvSpPr>
        <p:spPr bwMode="auto">
          <a:xfrm>
            <a:off x="6186489"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Investment (client’s view)</a:t>
            </a:r>
          </a:p>
        </p:txBody>
      </p:sp>
      <p:sp>
        <p:nvSpPr>
          <p:cNvPr id="18" name="Rectangle 4"/>
          <p:cNvSpPr>
            <a:spLocks noChangeArrowheads="1"/>
          </p:cNvSpPr>
          <p:nvPr/>
        </p:nvSpPr>
        <p:spPr bwMode="auto">
          <a:xfrm>
            <a:off x="8221664"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0" lvl="1" indent="-179388"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Services &amp; Extras</a:t>
            </a:r>
          </a:p>
        </p:txBody>
      </p:sp>
      <p:cxnSp>
        <p:nvCxnSpPr>
          <p:cNvPr id="19" name="Straight Connector 51"/>
          <p:cNvCxnSpPr>
            <a:cxnSpLocks noChangeShapeType="1"/>
          </p:cNvCxnSpPr>
          <p:nvPr/>
        </p:nvCxnSpPr>
        <p:spPr bwMode="auto">
          <a:xfrm>
            <a:off x="2117726" y="1998663"/>
            <a:ext cx="8012113" cy="0"/>
          </a:xfrm>
          <a:prstGeom prst="line">
            <a:avLst/>
          </a:prstGeom>
          <a:noFill/>
          <a:ln w="12700" algn="ctr">
            <a:solidFill>
              <a:schemeClr val="tx1"/>
            </a:solidFill>
            <a:round/>
            <a:headEnd/>
            <a:tailEnd/>
          </a:ln>
        </p:spPr>
      </p:cxnSp>
      <p:sp>
        <p:nvSpPr>
          <p:cNvPr id="20" name="Rectangle 19"/>
          <p:cNvSpPr/>
          <p:nvPr/>
        </p:nvSpPr>
        <p:spPr bwMode="auto">
          <a:xfrm>
            <a:off x="8221664" y="2370138"/>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Government Securities</a:t>
            </a:r>
          </a:p>
        </p:txBody>
      </p:sp>
      <p:sp>
        <p:nvSpPr>
          <p:cNvPr id="23" name="Rectangle 22"/>
          <p:cNvSpPr/>
          <p:nvPr/>
        </p:nvSpPr>
        <p:spPr bwMode="auto">
          <a:xfrm>
            <a:off x="6186489" y="2370138"/>
            <a:ext cx="1908175" cy="215900"/>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Saving Deposits</a:t>
            </a:r>
          </a:p>
        </p:txBody>
      </p:sp>
      <p:sp>
        <p:nvSpPr>
          <p:cNvPr id="24" name="Rectangle 23"/>
          <p:cNvSpPr/>
          <p:nvPr/>
        </p:nvSpPr>
        <p:spPr bwMode="auto">
          <a:xfrm>
            <a:off x="4152901" y="2370138"/>
            <a:ext cx="1908175" cy="215900"/>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Current account (-)</a:t>
            </a:r>
          </a:p>
        </p:txBody>
      </p:sp>
      <p:sp>
        <p:nvSpPr>
          <p:cNvPr id="25" name="Rectangle 24"/>
          <p:cNvSpPr/>
          <p:nvPr/>
        </p:nvSpPr>
        <p:spPr bwMode="auto">
          <a:xfrm>
            <a:off x="2117726" y="2370138"/>
            <a:ext cx="1908175" cy="215900"/>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Loans\Overdraft Facility</a:t>
            </a:r>
          </a:p>
        </p:txBody>
      </p:sp>
      <p:sp>
        <p:nvSpPr>
          <p:cNvPr id="26" name="Rectangle 25"/>
          <p:cNvSpPr/>
          <p:nvPr/>
        </p:nvSpPr>
        <p:spPr bwMode="auto">
          <a:xfrm>
            <a:off x="6186489" y="2922588"/>
            <a:ext cx="1908175" cy="215900"/>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Certificates</a:t>
            </a:r>
          </a:p>
        </p:txBody>
      </p:sp>
      <p:sp>
        <p:nvSpPr>
          <p:cNvPr id="27" name="Rectangle 26"/>
          <p:cNvSpPr/>
          <p:nvPr/>
        </p:nvSpPr>
        <p:spPr bwMode="auto">
          <a:xfrm>
            <a:off x="8221664" y="2922588"/>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Investment funds Saving Plan</a:t>
            </a:r>
          </a:p>
        </p:txBody>
      </p:sp>
      <p:sp>
        <p:nvSpPr>
          <p:cNvPr id="28" name="Rectangle 27"/>
          <p:cNvSpPr/>
          <p:nvPr/>
        </p:nvSpPr>
        <p:spPr bwMode="auto">
          <a:xfrm>
            <a:off x="2117726" y="2922588"/>
            <a:ext cx="1908175" cy="215900"/>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Loans\Car</a:t>
            </a:r>
          </a:p>
        </p:txBody>
      </p:sp>
      <p:sp>
        <p:nvSpPr>
          <p:cNvPr id="29" name="Rectangle 28"/>
          <p:cNvSpPr/>
          <p:nvPr/>
        </p:nvSpPr>
        <p:spPr bwMode="auto">
          <a:xfrm>
            <a:off x="8221664" y="3198813"/>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Wealth Management</a:t>
            </a:r>
          </a:p>
        </p:txBody>
      </p:sp>
      <p:sp>
        <p:nvSpPr>
          <p:cNvPr id="30" name="Rectangle 29"/>
          <p:cNvSpPr/>
          <p:nvPr/>
        </p:nvSpPr>
        <p:spPr bwMode="auto">
          <a:xfrm>
            <a:off x="2117726" y="3198813"/>
            <a:ext cx="1908175" cy="215900"/>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Loans\CreditCard</a:t>
            </a:r>
          </a:p>
        </p:txBody>
      </p:sp>
      <p:sp>
        <p:nvSpPr>
          <p:cNvPr id="31" name="Rectangle 30"/>
          <p:cNvSpPr/>
          <p:nvPr/>
        </p:nvSpPr>
        <p:spPr bwMode="auto">
          <a:xfrm>
            <a:off x="8221664" y="3475038"/>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Custody</a:t>
            </a:r>
          </a:p>
        </p:txBody>
      </p:sp>
      <p:sp>
        <p:nvSpPr>
          <p:cNvPr id="32" name="Rectangle 31"/>
          <p:cNvSpPr/>
          <p:nvPr/>
        </p:nvSpPr>
        <p:spPr bwMode="auto">
          <a:xfrm>
            <a:off x="2117726" y="3475038"/>
            <a:ext cx="1908175" cy="215900"/>
          </a:xfrm>
          <a:prstGeom prst="rect">
            <a:avLst/>
          </a:prstGeom>
          <a:solidFill>
            <a:schemeClr val="accent6">
              <a:lumMod val="40000"/>
              <a:lumOff val="60000"/>
            </a:schemeClr>
          </a:solid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Mortgages\Fixed-rate</a:t>
            </a:r>
          </a:p>
        </p:txBody>
      </p:sp>
      <p:sp>
        <p:nvSpPr>
          <p:cNvPr id="33" name="Rectangle 32"/>
          <p:cNvSpPr/>
          <p:nvPr/>
        </p:nvSpPr>
        <p:spPr bwMode="auto">
          <a:xfrm>
            <a:off x="2117726" y="3751263"/>
            <a:ext cx="1908175" cy="215900"/>
          </a:xfrm>
          <a:prstGeom prst="rect">
            <a:avLst/>
          </a:prstGeom>
          <a:solidFill>
            <a:schemeClr val="accent6">
              <a:lumMod val="40000"/>
              <a:lumOff val="60000"/>
            </a:schemeClr>
          </a:solid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Mortgages\Variable-rate</a:t>
            </a:r>
          </a:p>
        </p:txBody>
      </p:sp>
      <p:sp>
        <p:nvSpPr>
          <p:cNvPr id="34" name="Rectangle 33"/>
          <p:cNvSpPr/>
          <p:nvPr/>
        </p:nvSpPr>
        <p:spPr bwMode="auto">
          <a:xfrm>
            <a:off x="2117726" y="4303713"/>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Mortgages\Rate Locker</a:t>
            </a:r>
          </a:p>
        </p:txBody>
      </p:sp>
      <p:sp>
        <p:nvSpPr>
          <p:cNvPr id="35" name="Rectangle 34"/>
          <p:cNvSpPr/>
          <p:nvPr/>
        </p:nvSpPr>
        <p:spPr bwMode="auto">
          <a:xfrm>
            <a:off x="2117726" y="4579938"/>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Mortgages\ Securitis. Blocker</a:t>
            </a:r>
          </a:p>
        </p:txBody>
      </p:sp>
      <p:sp>
        <p:nvSpPr>
          <p:cNvPr id="37" name="Rectangle 36"/>
          <p:cNvSpPr/>
          <p:nvPr/>
        </p:nvSpPr>
        <p:spPr bwMode="auto">
          <a:xfrm>
            <a:off x="2117726" y="4027488"/>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Mortgages\Pre-payment Option</a:t>
            </a:r>
          </a:p>
        </p:txBody>
      </p:sp>
      <p:sp>
        <p:nvSpPr>
          <p:cNvPr id="38" name="Rectangle 37"/>
          <p:cNvSpPr/>
          <p:nvPr/>
        </p:nvSpPr>
        <p:spPr bwMode="auto">
          <a:xfrm>
            <a:off x="6388101" y="4005264"/>
            <a:ext cx="925513" cy="612775"/>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Unsecured Deposits from</a:t>
            </a:r>
            <a:br>
              <a:rPr lang="de-DE" sz="1000" dirty="0">
                <a:latin typeface="Trebuchet MS" pitchFamily="34" charset="0"/>
                <a:ea typeface="ＭＳ Ｐゴシック" pitchFamily="-108" charset="-128"/>
              </a:rPr>
            </a:br>
            <a:r>
              <a:rPr lang="de-DE" sz="1000" dirty="0">
                <a:latin typeface="Trebuchet MS" pitchFamily="34" charset="0"/>
                <a:ea typeface="ＭＳ Ｐゴシック" pitchFamily="-108" charset="-128"/>
              </a:rPr>
              <a:t>customers</a:t>
            </a:r>
          </a:p>
        </p:txBody>
      </p:sp>
      <p:sp>
        <p:nvSpPr>
          <p:cNvPr id="39" name="Rectangle 38"/>
          <p:cNvSpPr/>
          <p:nvPr/>
        </p:nvSpPr>
        <p:spPr bwMode="auto">
          <a:xfrm>
            <a:off x="6388101" y="4618038"/>
            <a:ext cx="925513" cy="309562"/>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Securitised Liabilities</a:t>
            </a:r>
          </a:p>
        </p:txBody>
      </p:sp>
      <p:sp>
        <p:nvSpPr>
          <p:cNvPr id="40" name="Rectangle 39"/>
          <p:cNvSpPr/>
          <p:nvPr/>
        </p:nvSpPr>
        <p:spPr bwMode="auto">
          <a:xfrm>
            <a:off x="5462588" y="4316414"/>
            <a:ext cx="925512" cy="611187"/>
          </a:xfrm>
          <a:prstGeom prst="rect">
            <a:avLst/>
          </a:prstGeom>
          <a:solidFill>
            <a:schemeClr val="accent6">
              <a:lumMod val="40000"/>
              <a:lumOff val="60000"/>
            </a:schemeClr>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Mortgages (property-secured loans)</a:t>
            </a:r>
          </a:p>
        </p:txBody>
      </p:sp>
      <p:sp>
        <p:nvSpPr>
          <p:cNvPr id="41" name="Rectangle 40"/>
          <p:cNvSpPr/>
          <p:nvPr/>
        </p:nvSpPr>
        <p:spPr bwMode="auto">
          <a:xfrm>
            <a:off x="5462588" y="4008439"/>
            <a:ext cx="925512" cy="287337"/>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Other Claims</a:t>
            </a:r>
          </a:p>
        </p:txBody>
      </p:sp>
      <p:sp>
        <p:nvSpPr>
          <p:cNvPr id="42" name="Rectangle 41"/>
          <p:cNvSpPr/>
          <p:nvPr/>
        </p:nvSpPr>
        <p:spPr bwMode="auto">
          <a:xfrm>
            <a:off x="8221664" y="2646363"/>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Investment funds</a:t>
            </a:r>
          </a:p>
        </p:txBody>
      </p:sp>
      <p:sp>
        <p:nvSpPr>
          <p:cNvPr id="43" name="Rectangle 42"/>
          <p:cNvSpPr/>
          <p:nvPr/>
        </p:nvSpPr>
        <p:spPr bwMode="auto">
          <a:xfrm>
            <a:off x="6186489" y="2646363"/>
            <a:ext cx="1908175" cy="215900"/>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Term Deposits/ Saving certif.</a:t>
            </a:r>
          </a:p>
        </p:txBody>
      </p:sp>
      <p:sp>
        <p:nvSpPr>
          <p:cNvPr id="44" name="Rectangle 43"/>
          <p:cNvSpPr/>
          <p:nvPr/>
        </p:nvSpPr>
        <p:spPr bwMode="auto">
          <a:xfrm>
            <a:off x="2117726" y="2646363"/>
            <a:ext cx="1908175" cy="215900"/>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Loans\Consumption</a:t>
            </a:r>
          </a:p>
        </p:txBody>
      </p:sp>
      <p:sp>
        <p:nvSpPr>
          <p:cNvPr id="45" name="Rectangle 44"/>
          <p:cNvSpPr/>
          <p:nvPr/>
        </p:nvSpPr>
        <p:spPr bwMode="auto">
          <a:xfrm>
            <a:off x="4152901" y="2646363"/>
            <a:ext cx="1908175" cy="215900"/>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nSpc>
                <a:spcPct val="90000"/>
              </a:lnSpc>
              <a:defRPr/>
            </a:pPr>
            <a:r>
              <a:rPr lang="de-DE" sz="1000" dirty="0">
                <a:latin typeface="Trebuchet MS" pitchFamily="34" charset="0"/>
                <a:ea typeface="ＭＳ Ｐゴシック" pitchFamily="-108" charset="-128"/>
              </a:rPr>
              <a:t>Current account (+)</a:t>
            </a:r>
          </a:p>
        </p:txBody>
      </p:sp>
      <p:sp>
        <p:nvSpPr>
          <p:cNvPr id="46" name="Rectangle 4"/>
          <p:cNvSpPr>
            <a:spLocks noChangeArrowheads="1"/>
          </p:cNvSpPr>
          <p:nvPr/>
        </p:nvSpPr>
        <p:spPr bwMode="auto">
          <a:xfrm>
            <a:off x="5473700" y="3752851"/>
            <a:ext cx="933450" cy="252413"/>
          </a:xfrm>
          <a:prstGeom prst="chevron">
            <a:avLst>
              <a:gd name="adj" fmla="val 0"/>
            </a:avLst>
          </a:prstGeom>
          <a:solidFill>
            <a:srgbClr val="FFFFFF"/>
          </a:solidFill>
          <a:ln w="25400">
            <a:no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Assets</a:t>
            </a:r>
          </a:p>
        </p:txBody>
      </p:sp>
      <p:sp>
        <p:nvSpPr>
          <p:cNvPr id="47" name="Rectangle 4"/>
          <p:cNvSpPr>
            <a:spLocks noChangeArrowheads="1"/>
          </p:cNvSpPr>
          <p:nvPr/>
        </p:nvSpPr>
        <p:spPr bwMode="auto">
          <a:xfrm>
            <a:off x="6388100" y="3752851"/>
            <a:ext cx="933450" cy="252413"/>
          </a:xfrm>
          <a:prstGeom prst="chevron">
            <a:avLst>
              <a:gd name="adj" fmla="val 0"/>
            </a:avLst>
          </a:prstGeom>
          <a:solidFill>
            <a:srgbClr val="FFFFFF"/>
          </a:solidFill>
          <a:ln w="25400">
            <a:no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Liabilities</a:t>
            </a:r>
          </a:p>
        </p:txBody>
      </p:sp>
      <p:sp>
        <p:nvSpPr>
          <p:cNvPr id="4" name="Title 3">
            <a:extLst>
              <a:ext uri="{FF2B5EF4-FFF2-40B4-BE49-F238E27FC236}">
                <a16:creationId xmlns:a16="http://schemas.microsoft.com/office/drawing/2014/main" id="{FC25065E-52A9-CD64-F97E-4023FBF3EC07}"/>
              </a:ext>
            </a:extLst>
          </p:cNvPr>
          <p:cNvSpPr txBox="1">
            <a:spLocks/>
          </p:cNvSpPr>
          <p:nvPr/>
        </p:nvSpPr>
        <p:spPr>
          <a:xfrm>
            <a:off x="1954214" y="274638"/>
            <a:ext cx="8713787" cy="741362"/>
          </a:xfrm>
          <a:prstGeom prst="rect">
            <a:avLst/>
          </a:prstGeom>
        </p:spPr>
        <p:txBody>
          <a:bodyPr/>
          <a:lstStyle/>
          <a:p>
            <a:pPr eaLnBrk="0" hangingPunct="0">
              <a:defRPr/>
            </a:pPr>
            <a:r>
              <a:rPr lang="hu-HU" kern="0" dirty="0">
                <a:latin typeface="+mj-lt"/>
                <a:ea typeface="+mj-ea"/>
                <a:cs typeface="+mj-cs"/>
              </a:rPr>
              <a:t>B</a:t>
            </a:r>
            <a:r>
              <a:rPr lang="en-GB" kern="0" dirty="0" err="1">
                <a:latin typeface="+mj-lt"/>
                <a:ea typeface="+mj-ea"/>
                <a:cs typeface="+mj-cs"/>
              </a:rPr>
              <a:t>ank</a:t>
            </a:r>
            <a:r>
              <a:rPr lang="en-GB" kern="0" dirty="0">
                <a:latin typeface="+mj-lt"/>
                <a:ea typeface="+mj-ea"/>
                <a:cs typeface="+mj-cs"/>
              </a:rPr>
              <a:t> business and balance-sheet risk</a:t>
            </a:r>
            <a:br>
              <a:rPr lang="en-GB" kern="0" dirty="0">
                <a:latin typeface="+mj-lt"/>
                <a:ea typeface="+mj-ea"/>
                <a:cs typeface="+mj-cs"/>
              </a:rPr>
            </a:br>
            <a:r>
              <a:rPr lang="hu-HU" kern="0" dirty="0">
                <a:latin typeface="+mj-lt"/>
                <a:ea typeface="+mj-ea"/>
                <a:cs typeface="+mj-cs"/>
              </a:rPr>
              <a:t>P</a:t>
            </a:r>
            <a:r>
              <a:rPr lang="en-GB" kern="0" dirty="0" err="1">
                <a:latin typeface="+mj-lt"/>
                <a:ea typeface="+mj-ea"/>
                <a:cs typeface="+mj-cs"/>
              </a:rPr>
              <a:t>roducts</a:t>
            </a:r>
            <a:r>
              <a:rPr lang="en-GB" kern="0" dirty="0">
                <a:latin typeface="+mj-lt"/>
                <a:ea typeface="+mj-ea"/>
                <a:cs typeface="+mj-cs"/>
              </a:rPr>
              <a:t> and their B/S, P&amp;L- and risk implications</a:t>
            </a:r>
            <a:endParaRPr lang="en-GB" kern="0" baseline="30000" dirty="0">
              <a:latin typeface="+mj-lt"/>
              <a:ea typeface="+mj-ea"/>
              <a:cs typeface="+mj-cs"/>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Slide Number Placeholder 12"/>
          <p:cNvSpPr>
            <a:spLocks noGrp="1"/>
          </p:cNvSpPr>
          <p:nvPr>
            <p:ph type="sldNum" sz="quarter" idx="4"/>
          </p:nvPr>
        </p:nvSpPr>
        <p:spPr>
          <a:xfrm>
            <a:off x="8295801" y="6356350"/>
            <a:ext cx="416399" cy="365125"/>
          </a:xfrm>
          <a:prstGeom prst="rect">
            <a:avLst/>
          </a:prstGeom>
        </p:spPr>
        <p:txBody>
          <a:bodyPr vert="horz" lIns="91440" tIns="45720" rIns="91440" bIns="45720" rtlCol="0" anchor="ctr"/>
          <a:lstStyle>
            <a:defPPr>
              <a:defRPr lang="de-DE"/>
            </a:defPPr>
            <a:lvl1pPr algn="r" rtl="0" fontAlgn="base">
              <a:spcBef>
                <a:spcPct val="0"/>
              </a:spcBef>
              <a:spcAft>
                <a:spcPct val="0"/>
              </a:spcAft>
              <a:defRPr sz="800"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D4222BFC-8070-2749-ADD2-48D4133FB3EC}" type="slidenum">
              <a:rPr lang="en-GB" smtClean="0"/>
              <a:pPr/>
              <a:t>24</a:t>
            </a:fld>
            <a:endParaRPr lang="en-GB" dirty="0"/>
          </a:p>
        </p:txBody>
      </p:sp>
      <p:sp>
        <p:nvSpPr>
          <p:cNvPr id="48" name="Rectangle 4"/>
          <p:cNvSpPr>
            <a:spLocks noChangeArrowheads="1"/>
          </p:cNvSpPr>
          <p:nvPr/>
        </p:nvSpPr>
        <p:spPr bwMode="auto">
          <a:xfrm>
            <a:off x="2120901" y="1374776"/>
            <a:ext cx="1908175" cy="250825"/>
          </a:xfrm>
          <a:prstGeom prst="chevron">
            <a:avLst>
              <a:gd name="adj" fmla="val 0"/>
            </a:avLst>
          </a:prstGeom>
          <a:noFill/>
          <a:ln w="25400">
            <a:solidFill>
              <a:srgbClr val="7E99AA">
                <a:lumMod val="50000"/>
              </a:srgbClr>
            </a:solidFill>
            <a:miter lim="800000"/>
            <a:headEnd/>
            <a:tailEnd/>
          </a:ln>
          <a:effectLst/>
        </p:spPr>
        <p:txBody>
          <a:bodyPr anchor="ctr"/>
          <a:lstStyle/>
          <a:p>
            <a:pPr marL="174625" lvl="1" indent="-174625">
              <a:lnSpc>
                <a:spcPct val="90000"/>
              </a:lnSpc>
              <a:buClr>
                <a:srgbClr val="314C6A"/>
              </a:buClr>
              <a:buFont typeface="+mj-lt"/>
              <a:buAutoNum type="arabicPeriod"/>
              <a:defRPr/>
            </a:pPr>
            <a:r>
              <a:rPr lang="en-GB" sz="1000" kern="0" dirty="0">
                <a:solidFill>
                  <a:srgbClr val="000000"/>
                </a:solidFill>
                <a:latin typeface="Trebuchet MS" pitchFamily="34" charset="0"/>
                <a:ea typeface="ＭＳ Ｐゴシック" pitchFamily="-108" charset="-128"/>
                <a:cs typeface="Arial" pitchFamily="34" charset="0"/>
              </a:rPr>
              <a:t>Retail &amp; SME</a:t>
            </a:r>
          </a:p>
        </p:txBody>
      </p:sp>
      <p:sp>
        <p:nvSpPr>
          <p:cNvPr id="49" name="Rectangle 4"/>
          <p:cNvSpPr>
            <a:spLocks noChangeArrowheads="1"/>
          </p:cNvSpPr>
          <p:nvPr/>
        </p:nvSpPr>
        <p:spPr bwMode="auto">
          <a:xfrm>
            <a:off x="4154489" y="1374776"/>
            <a:ext cx="1908175" cy="250825"/>
          </a:xfrm>
          <a:prstGeom prst="chevron">
            <a:avLst>
              <a:gd name="adj" fmla="val 0"/>
            </a:avLst>
          </a:prstGeom>
          <a:solidFill>
            <a:srgbClr val="FFFF00"/>
          </a:solid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2"/>
              <a:defRPr/>
            </a:pPr>
            <a:r>
              <a:rPr lang="en-GB" sz="1000" kern="0" dirty="0">
                <a:solidFill>
                  <a:srgbClr val="000000"/>
                </a:solidFill>
                <a:latin typeface="Trebuchet MS" pitchFamily="34" charset="0"/>
                <a:ea typeface="ＭＳ Ｐゴシック" pitchFamily="-108" charset="-128"/>
                <a:cs typeface="Arial" pitchFamily="34" charset="0"/>
              </a:rPr>
              <a:t>Corporate</a:t>
            </a:r>
          </a:p>
        </p:txBody>
      </p:sp>
      <p:sp>
        <p:nvSpPr>
          <p:cNvPr id="50" name="Rectangle 4"/>
          <p:cNvSpPr>
            <a:spLocks noChangeArrowheads="1"/>
          </p:cNvSpPr>
          <p:nvPr/>
        </p:nvSpPr>
        <p:spPr bwMode="auto">
          <a:xfrm>
            <a:off x="6188076" y="1374776"/>
            <a:ext cx="1908175" cy="250825"/>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3"/>
              <a:defRPr/>
            </a:pPr>
            <a:r>
              <a:rPr lang="en-GB" sz="1000" kern="0" dirty="0">
                <a:solidFill>
                  <a:srgbClr val="000000"/>
                </a:solidFill>
                <a:latin typeface="Trebuchet MS" pitchFamily="34" charset="0"/>
                <a:ea typeface="ＭＳ Ｐゴシック" pitchFamily="-108" charset="-128"/>
                <a:cs typeface="Arial" pitchFamily="34" charset="0"/>
              </a:rPr>
              <a:t>Asset-based Finance</a:t>
            </a:r>
          </a:p>
        </p:txBody>
      </p:sp>
      <p:sp>
        <p:nvSpPr>
          <p:cNvPr id="51" name="Rectangle 4"/>
          <p:cNvSpPr>
            <a:spLocks noChangeArrowheads="1"/>
          </p:cNvSpPr>
          <p:nvPr/>
        </p:nvSpPr>
        <p:spPr bwMode="auto">
          <a:xfrm>
            <a:off x="8221664" y="1374776"/>
            <a:ext cx="1908175" cy="250825"/>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4"/>
              <a:defRPr/>
            </a:pPr>
            <a:r>
              <a:rPr lang="en-GB" sz="1000" kern="0" dirty="0">
                <a:solidFill>
                  <a:srgbClr val="000000"/>
                </a:solidFill>
                <a:latin typeface="Trebuchet MS" pitchFamily="34" charset="0"/>
                <a:ea typeface="ＭＳ Ｐゴシック" pitchFamily="-108" charset="-128"/>
                <a:cs typeface="Arial" pitchFamily="34" charset="0"/>
              </a:rPr>
              <a:t>Financial Institutions</a:t>
            </a:r>
          </a:p>
        </p:txBody>
      </p:sp>
      <p:sp>
        <p:nvSpPr>
          <p:cNvPr id="52" name="Rectangle 4"/>
          <p:cNvSpPr>
            <a:spLocks noChangeArrowheads="1"/>
          </p:cNvSpPr>
          <p:nvPr/>
        </p:nvSpPr>
        <p:spPr bwMode="auto">
          <a:xfrm>
            <a:off x="4152901"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Payment</a:t>
            </a:r>
          </a:p>
        </p:txBody>
      </p:sp>
      <p:sp>
        <p:nvSpPr>
          <p:cNvPr id="53" name="Rectangle 4"/>
          <p:cNvSpPr>
            <a:spLocks noChangeArrowheads="1"/>
          </p:cNvSpPr>
          <p:nvPr/>
        </p:nvSpPr>
        <p:spPr bwMode="auto">
          <a:xfrm>
            <a:off x="8221664"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0" lvl="1" indent="-179388"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Services &amp; Extras</a:t>
            </a:r>
          </a:p>
        </p:txBody>
      </p:sp>
      <p:sp>
        <p:nvSpPr>
          <p:cNvPr id="54" name="Rectangle 53"/>
          <p:cNvSpPr/>
          <p:nvPr/>
        </p:nvSpPr>
        <p:spPr bwMode="auto">
          <a:xfrm>
            <a:off x="8221664" y="2370138"/>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Capital market financing</a:t>
            </a:r>
          </a:p>
        </p:txBody>
      </p:sp>
      <p:sp>
        <p:nvSpPr>
          <p:cNvPr id="55" name="Rectangle 54"/>
          <p:cNvSpPr/>
          <p:nvPr/>
        </p:nvSpPr>
        <p:spPr bwMode="auto">
          <a:xfrm>
            <a:off x="6186489" y="2370138"/>
            <a:ext cx="1908175" cy="215900"/>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Money market deposits</a:t>
            </a:r>
          </a:p>
        </p:txBody>
      </p:sp>
      <p:sp>
        <p:nvSpPr>
          <p:cNvPr id="56" name="Rectangle 55"/>
          <p:cNvSpPr/>
          <p:nvPr/>
        </p:nvSpPr>
        <p:spPr bwMode="auto">
          <a:xfrm>
            <a:off x="4152901" y="2370138"/>
            <a:ext cx="1908175" cy="215900"/>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Corporate account (-)</a:t>
            </a:r>
          </a:p>
        </p:txBody>
      </p:sp>
      <p:sp>
        <p:nvSpPr>
          <p:cNvPr id="57" name="Rectangle 56"/>
          <p:cNvSpPr/>
          <p:nvPr/>
        </p:nvSpPr>
        <p:spPr bwMode="auto">
          <a:xfrm>
            <a:off x="2117726" y="2370138"/>
            <a:ext cx="1908175" cy="215900"/>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Bank financing (loans, leases)</a:t>
            </a:r>
          </a:p>
        </p:txBody>
      </p:sp>
      <p:sp>
        <p:nvSpPr>
          <p:cNvPr id="58" name="Rectangle 57"/>
          <p:cNvSpPr/>
          <p:nvPr/>
        </p:nvSpPr>
        <p:spPr bwMode="auto">
          <a:xfrm>
            <a:off x="6186489" y="2922588"/>
            <a:ext cx="1908175" cy="215900"/>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Certificates</a:t>
            </a:r>
          </a:p>
        </p:txBody>
      </p:sp>
      <p:sp>
        <p:nvSpPr>
          <p:cNvPr id="59" name="Rectangle 58"/>
          <p:cNvSpPr/>
          <p:nvPr/>
        </p:nvSpPr>
        <p:spPr bwMode="auto">
          <a:xfrm>
            <a:off x="8221664" y="2922588"/>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latin typeface="Trebuchet MS" pitchFamily="34" charset="0"/>
                <a:ea typeface="ＭＳ Ｐゴシック" pitchFamily="-108" charset="-128"/>
              </a:rPr>
              <a:t>Payment services </a:t>
            </a:r>
          </a:p>
        </p:txBody>
      </p:sp>
      <p:sp>
        <p:nvSpPr>
          <p:cNvPr id="60" name="Rectangle 59"/>
          <p:cNvSpPr/>
          <p:nvPr/>
        </p:nvSpPr>
        <p:spPr bwMode="auto">
          <a:xfrm>
            <a:off x="2117726" y="2922588"/>
            <a:ext cx="1908175" cy="215900"/>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Export and trade finance</a:t>
            </a:r>
          </a:p>
        </p:txBody>
      </p:sp>
      <p:sp>
        <p:nvSpPr>
          <p:cNvPr id="61" name="Rectangle 60"/>
          <p:cNvSpPr/>
          <p:nvPr/>
        </p:nvSpPr>
        <p:spPr bwMode="auto">
          <a:xfrm>
            <a:off x="8221664" y="3198813"/>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latin typeface="Trebuchet MS" pitchFamily="34" charset="0"/>
                <a:ea typeface="ＭＳ Ｐゴシック" pitchFamily="-108" charset="-128"/>
              </a:rPr>
              <a:t>Cash pooling</a:t>
            </a:r>
          </a:p>
        </p:txBody>
      </p:sp>
      <p:sp>
        <p:nvSpPr>
          <p:cNvPr id="62" name="Rectangle 61"/>
          <p:cNvSpPr/>
          <p:nvPr/>
        </p:nvSpPr>
        <p:spPr bwMode="auto">
          <a:xfrm>
            <a:off x="8221664" y="3475038"/>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latin typeface="Trebuchet MS" pitchFamily="34" charset="0"/>
                <a:ea typeface="ＭＳ Ｐゴシック" pitchFamily="-108" charset="-128"/>
              </a:rPr>
              <a:t>Treasury management</a:t>
            </a:r>
            <a:endParaRPr lang="de-DE" sz="1000" dirty="0">
              <a:latin typeface="Trebuchet MS" pitchFamily="34" charset="0"/>
              <a:ea typeface="ＭＳ Ｐゴシック" pitchFamily="-108" charset="-128"/>
            </a:endParaRPr>
          </a:p>
        </p:txBody>
      </p:sp>
      <p:sp>
        <p:nvSpPr>
          <p:cNvPr id="63" name="Rectangle 62"/>
          <p:cNvSpPr/>
          <p:nvPr/>
        </p:nvSpPr>
        <p:spPr bwMode="auto">
          <a:xfrm>
            <a:off x="8221664" y="2646363"/>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Advisory services</a:t>
            </a:r>
          </a:p>
        </p:txBody>
      </p:sp>
      <p:sp>
        <p:nvSpPr>
          <p:cNvPr id="64" name="Rectangle 63"/>
          <p:cNvSpPr/>
          <p:nvPr/>
        </p:nvSpPr>
        <p:spPr bwMode="auto">
          <a:xfrm>
            <a:off x="6186489" y="2646363"/>
            <a:ext cx="1908175" cy="215900"/>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Term Deposits</a:t>
            </a:r>
          </a:p>
        </p:txBody>
      </p:sp>
      <p:sp>
        <p:nvSpPr>
          <p:cNvPr id="65" name="Rectangle 64"/>
          <p:cNvSpPr/>
          <p:nvPr/>
        </p:nvSpPr>
        <p:spPr bwMode="auto">
          <a:xfrm>
            <a:off x="2117726" y="2646363"/>
            <a:ext cx="1908175" cy="215900"/>
          </a:xfrm>
          <a:prstGeom prst="rect">
            <a:avLst/>
          </a:prstGeom>
          <a:solidFill>
            <a:srgbClr val="6E81C5"/>
          </a:solidFill>
          <a:ln w="9525" cap="flat" cmpd="sng" algn="ctr">
            <a:solidFill>
              <a:schemeClr val="bg1">
                <a:lumMod val="75000"/>
              </a:schemeClr>
            </a:solidFill>
            <a:prstDash val="solid"/>
            <a:round/>
            <a:headEnd type="none" w="med" len="med"/>
            <a:tailEnd type="none" w="med" len="med"/>
          </a:ln>
          <a:effectLst/>
        </p:spPr>
        <p:txBody>
          <a:bodyPr lIns="180000" tIns="72000" rIns="72000" bIns="72000" anchor="ctr"/>
          <a:lstStyle/>
          <a:p>
            <a:pPr>
              <a:lnSpc>
                <a:spcPct val="90000"/>
              </a:lnSpc>
              <a:defRPr/>
            </a:pPr>
            <a:r>
              <a:rPr lang="de-DE" sz="1000" dirty="0">
                <a:solidFill>
                  <a:schemeClr val="bg1"/>
                </a:solidFill>
                <a:latin typeface="Trebuchet MS" pitchFamily="34" charset="0"/>
                <a:ea typeface="ＭＳ Ｐゴシック" pitchFamily="-108" charset="-128"/>
              </a:rPr>
              <a:t>Promissory note bonds</a:t>
            </a:r>
          </a:p>
        </p:txBody>
      </p:sp>
      <p:sp>
        <p:nvSpPr>
          <p:cNvPr id="66" name="Rectangle 65"/>
          <p:cNvSpPr/>
          <p:nvPr/>
        </p:nvSpPr>
        <p:spPr bwMode="auto">
          <a:xfrm>
            <a:off x="4152901" y="2646363"/>
            <a:ext cx="1908175" cy="215900"/>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Corporate account (+)</a:t>
            </a:r>
          </a:p>
        </p:txBody>
      </p:sp>
      <p:sp>
        <p:nvSpPr>
          <p:cNvPr id="67" name="Rectangle 4"/>
          <p:cNvSpPr>
            <a:spLocks noChangeArrowheads="1"/>
          </p:cNvSpPr>
          <p:nvPr/>
        </p:nvSpPr>
        <p:spPr bwMode="auto">
          <a:xfrm>
            <a:off x="2120901" y="1685926"/>
            <a:ext cx="1547813" cy="252413"/>
          </a:xfrm>
          <a:prstGeom prst="chevron">
            <a:avLst>
              <a:gd name="adj" fmla="val 0"/>
            </a:avLst>
          </a:prstGeom>
          <a:noFill/>
          <a:ln w="12700">
            <a:solidFill>
              <a:srgbClr val="7E99AA">
                <a:lumMod val="50000"/>
              </a:srgbClr>
            </a:solidFill>
            <a:miter lim="800000"/>
            <a:headEnd/>
            <a:tailEnd/>
          </a:ln>
          <a:effectLst/>
        </p:spPr>
        <p:txBody>
          <a:bodyPr tIns="36000" bIns="36000"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Financing</a:t>
            </a:r>
          </a:p>
        </p:txBody>
      </p:sp>
      <p:sp>
        <p:nvSpPr>
          <p:cNvPr id="68" name="Rectangle 4"/>
          <p:cNvSpPr>
            <a:spLocks noChangeArrowheads="1"/>
          </p:cNvSpPr>
          <p:nvPr/>
        </p:nvSpPr>
        <p:spPr bwMode="auto">
          <a:xfrm>
            <a:off x="3735388" y="1685926"/>
            <a:ext cx="1547812" cy="252413"/>
          </a:xfrm>
          <a:prstGeom prst="chevron">
            <a:avLst>
              <a:gd name="adj" fmla="val 0"/>
            </a:avLst>
          </a:prstGeom>
          <a:solidFill>
            <a:srgbClr val="FFFFFF"/>
          </a:solidFill>
          <a:ln w="12700">
            <a:solidFill>
              <a:srgbClr val="7E99AA">
                <a:lumMod val="50000"/>
              </a:srgbClr>
            </a:solidFill>
            <a:miter lim="800000"/>
            <a:headEnd/>
            <a:tailEnd/>
          </a:ln>
          <a:effectLst/>
        </p:spPr>
        <p:txBody>
          <a:bodyPr tIns="36000" bIns="36000" anchor="ctr"/>
          <a:lstStyle/>
          <a:p>
            <a:pPr marL="228600" lvl="1" indent="-228600"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Cash Management</a:t>
            </a:r>
          </a:p>
        </p:txBody>
      </p:sp>
      <p:sp>
        <p:nvSpPr>
          <p:cNvPr id="69" name="Rectangle 4"/>
          <p:cNvSpPr>
            <a:spLocks noChangeArrowheads="1"/>
          </p:cNvSpPr>
          <p:nvPr/>
        </p:nvSpPr>
        <p:spPr bwMode="auto">
          <a:xfrm>
            <a:off x="5351463" y="1685926"/>
            <a:ext cx="1547812" cy="252413"/>
          </a:xfrm>
          <a:prstGeom prst="chevron">
            <a:avLst>
              <a:gd name="adj" fmla="val 0"/>
            </a:avLst>
          </a:prstGeom>
          <a:solidFill>
            <a:srgbClr val="FFFFFF"/>
          </a:solidFill>
          <a:ln w="12700">
            <a:solidFill>
              <a:srgbClr val="7E99AA">
                <a:lumMod val="50000"/>
              </a:srgbClr>
            </a:solidFill>
            <a:miter lim="800000"/>
            <a:headEnd/>
            <a:tailEnd/>
          </a:ln>
          <a:effectLst/>
        </p:spPr>
        <p:txBody>
          <a:bodyPr tIns="36000" bIns="36000" anchor="ctr"/>
          <a:lstStyle/>
          <a:p>
            <a:pPr marL="228600" lvl="1" indent="-228600"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Asset Management</a:t>
            </a:r>
          </a:p>
        </p:txBody>
      </p:sp>
      <p:sp>
        <p:nvSpPr>
          <p:cNvPr id="70" name="Rectangle 4"/>
          <p:cNvSpPr>
            <a:spLocks noChangeArrowheads="1"/>
          </p:cNvSpPr>
          <p:nvPr/>
        </p:nvSpPr>
        <p:spPr bwMode="auto">
          <a:xfrm>
            <a:off x="8582026" y="1685926"/>
            <a:ext cx="1547813" cy="252413"/>
          </a:xfrm>
          <a:prstGeom prst="chevron">
            <a:avLst>
              <a:gd name="adj" fmla="val 0"/>
            </a:avLst>
          </a:prstGeom>
          <a:solidFill>
            <a:srgbClr val="FFFFFF"/>
          </a:solidFill>
          <a:ln w="12700">
            <a:solidFill>
              <a:srgbClr val="7E99AA">
                <a:lumMod val="50000"/>
              </a:srgbClr>
            </a:solidFill>
            <a:miter lim="800000"/>
            <a:headEnd/>
            <a:tailEnd/>
          </a:ln>
          <a:effectLst/>
        </p:spPr>
        <p:txBody>
          <a:bodyPr tIns="36000" bIns="36000" anchor="ctr"/>
          <a:lstStyle/>
          <a:p>
            <a:pPr marL="228600" lvl="1" indent="-228600"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Risk Management</a:t>
            </a:r>
          </a:p>
        </p:txBody>
      </p:sp>
      <p:sp>
        <p:nvSpPr>
          <p:cNvPr id="71" name="Rectangle 4"/>
          <p:cNvSpPr>
            <a:spLocks noChangeArrowheads="1"/>
          </p:cNvSpPr>
          <p:nvPr/>
        </p:nvSpPr>
        <p:spPr bwMode="auto">
          <a:xfrm>
            <a:off x="6965950" y="1685926"/>
            <a:ext cx="1549400" cy="252413"/>
          </a:xfrm>
          <a:prstGeom prst="chevron">
            <a:avLst>
              <a:gd name="adj" fmla="val 0"/>
            </a:avLst>
          </a:prstGeom>
          <a:solidFill>
            <a:srgbClr val="FFFFFF"/>
          </a:solidFill>
          <a:ln w="12700">
            <a:solidFill>
              <a:srgbClr val="7E99AA">
                <a:lumMod val="50000"/>
              </a:srgbClr>
            </a:solidFill>
            <a:miter lim="800000"/>
            <a:headEnd/>
            <a:tailEnd/>
          </a:ln>
          <a:effectLst/>
        </p:spPr>
        <p:txBody>
          <a:bodyPr lIns="144000" tIns="36000" bIns="36000" anchor="ctr"/>
          <a:lstStyle/>
          <a:p>
            <a:pPr marL="228600" lvl="1" indent="-228600"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International Business</a:t>
            </a:r>
          </a:p>
        </p:txBody>
      </p:sp>
      <p:cxnSp>
        <p:nvCxnSpPr>
          <p:cNvPr id="72" name="Straight Connector 138"/>
          <p:cNvCxnSpPr>
            <a:cxnSpLocks noChangeShapeType="1"/>
          </p:cNvCxnSpPr>
          <p:nvPr/>
        </p:nvCxnSpPr>
        <p:spPr bwMode="auto">
          <a:xfrm>
            <a:off x="2117726" y="1998663"/>
            <a:ext cx="8012113" cy="0"/>
          </a:xfrm>
          <a:prstGeom prst="line">
            <a:avLst/>
          </a:prstGeom>
          <a:noFill/>
          <a:ln w="12700" algn="ctr">
            <a:solidFill>
              <a:schemeClr val="tx1"/>
            </a:solidFill>
            <a:round/>
            <a:headEnd/>
            <a:tailEnd/>
          </a:ln>
        </p:spPr>
      </p:cxnSp>
      <p:sp>
        <p:nvSpPr>
          <p:cNvPr id="73" name="Oval 139"/>
          <p:cNvSpPr>
            <a:spLocks noChangeArrowheads="1"/>
          </p:cNvSpPr>
          <p:nvPr/>
        </p:nvSpPr>
        <p:spPr bwMode="auto">
          <a:xfrm>
            <a:off x="2197100" y="1752600"/>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74" name="Isosceles Triangle 140"/>
          <p:cNvSpPr>
            <a:spLocks noChangeArrowheads="1"/>
          </p:cNvSpPr>
          <p:nvPr/>
        </p:nvSpPr>
        <p:spPr bwMode="auto">
          <a:xfrm>
            <a:off x="3822700" y="1752600"/>
            <a:ext cx="107950" cy="107950"/>
          </a:xfrm>
          <a:prstGeom prst="triangle">
            <a:avLst>
              <a:gd name="adj" fmla="val 50000"/>
            </a:avLst>
          </a:prstGeom>
          <a:solidFill>
            <a:schemeClr val="tx1"/>
          </a:solidFill>
          <a:ln w="9525" algn="ctr">
            <a:noFill/>
            <a:miter lim="800000"/>
            <a:headEnd/>
            <a:tailEnd/>
          </a:ln>
        </p:spPr>
        <p:txBody>
          <a:bodyPr lIns="0" tIns="0" rIns="0" bIns="0" anchor="ctr"/>
          <a:lstStyle/>
          <a:p>
            <a:pPr algn="ctr"/>
            <a:endParaRPr lang="en-US"/>
          </a:p>
        </p:txBody>
      </p:sp>
      <p:sp>
        <p:nvSpPr>
          <p:cNvPr id="75" name="Diamond 141"/>
          <p:cNvSpPr>
            <a:spLocks noChangeArrowheads="1"/>
          </p:cNvSpPr>
          <p:nvPr/>
        </p:nvSpPr>
        <p:spPr bwMode="auto">
          <a:xfrm>
            <a:off x="5411788" y="1765300"/>
            <a:ext cx="107950" cy="107950"/>
          </a:xfrm>
          <a:prstGeom prst="diamond">
            <a:avLst/>
          </a:prstGeom>
          <a:solidFill>
            <a:schemeClr val="tx1"/>
          </a:solidFill>
          <a:ln w="9525" algn="ctr">
            <a:noFill/>
            <a:miter lim="800000"/>
            <a:headEnd/>
            <a:tailEnd/>
          </a:ln>
        </p:spPr>
        <p:txBody>
          <a:bodyPr lIns="0" tIns="0" rIns="0" bIns="0" anchor="ctr"/>
          <a:lstStyle/>
          <a:p>
            <a:pPr algn="ctr"/>
            <a:endParaRPr lang="en-US"/>
          </a:p>
        </p:txBody>
      </p:sp>
      <p:sp>
        <p:nvSpPr>
          <p:cNvPr id="76" name="Oval 142"/>
          <p:cNvSpPr>
            <a:spLocks noChangeArrowheads="1"/>
          </p:cNvSpPr>
          <p:nvPr/>
        </p:nvSpPr>
        <p:spPr bwMode="auto">
          <a:xfrm>
            <a:off x="6991350" y="1751013"/>
            <a:ext cx="107950" cy="107950"/>
          </a:xfrm>
          <a:prstGeom prst="ellipse">
            <a:avLst/>
          </a:prstGeom>
          <a:noFill/>
          <a:ln w="9525" algn="ctr">
            <a:solidFill>
              <a:schemeClr val="tx1"/>
            </a:solidFill>
            <a:miter lim="800000"/>
            <a:headEnd/>
            <a:tailEnd/>
          </a:ln>
        </p:spPr>
        <p:txBody>
          <a:bodyPr lIns="0" tIns="0" rIns="0" bIns="0" anchor="ctr"/>
          <a:lstStyle/>
          <a:p>
            <a:pPr algn="ctr"/>
            <a:endParaRPr lang="en-US"/>
          </a:p>
        </p:txBody>
      </p:sp>
      <p:sp>
        <p:nvSpPr>
          <p:cNvPr id="77" name="Isosceles Triangle 143"/>
          <p:cNvSpPr>
            <a:spLocks noChangeArrowheads="1"/>
          </p:cNvSpPr>
          <p:nvPr/>
        </p:nvSpPr>
        <p:spPr bwMode="auto">
          <a:xfrm>
            <a:off x="8675688" y="1765300"/>
            <a:ext cx="107950" cy="107950"/>
          </a:xfrm>
          <a:prstGeom prst="triangle">
            <a:avLst>
              <a:gd name="adj" fmla="val 50000"/>
            </a:avLst>
          </a:prstGeom>
          <a:noFill/>
          <a:ln w="9525" algn="ctr">
            <a:solidFill>
              <a:schemeClr val="tx1"/>
            </a:solidFill>
            <a:miter lim="800000"/>
            <a:headEnd/>
            <a:tailEnd/>
          </a:ln>
        </p:spPr>
        <p:txBody>
          <a:bodyPr lIns="0" tIns="0" rIns="0" bIns="0" anchor="ctr"/>
          <a:lstStyle/>
          <a:p>
            <a:pPr algn="ctr"/>
            <a:endParaRPr lang="en-US"/>
          </a:p>
        </p:txBody>
      </p:sp>
      <p:sp>
        <p:nvSpPr>
          <p:cNvPr id="78" name="Oval 144"/>
          <p:cNvSpPr>
            <a:spLocks noChangeArrowheads="1"/>
          </p:cNvSpPr>
          <p:nvPr/>
        </p:nvSpPr>
        <p:spPr bwMode="auto">
          <a:xfrm>
            <a:off x="2136775" y="2419350"/>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79" name="Oval 145"/>
          <p:cNvSpPr>
            <a:spLocks noChangeArrowheads="1"/>
          </p:cNvSpPr>
          <p:nvPr/>
        </p:nvSpPr>
        <p:spPr bwMode="auto">
          <a:xfrm>
            <a:off x="2136775" y="2705100"/>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80" name="Oval 148"/>
          <p:cNvSpPr>
            <a:spLocks noChangeArrowheads="1"/>
          </p:cNvSpPr>
          <p:nvPr/>
        </p:nvSpPr>
        <p:spPr bwMode="auto">
          <a:xfrm>
            <a:off x="8258175" y="2419350"/>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81" name="Oval 149"/>
          <p:cNvSpPr>
            <a:spLocks noChangeArrowheads="1"/>
          </p:cNvSpPr>
          <p:nvPr/>
        </p:nvSpPr>
        <p:spPr bwMode="auto">
          <a:xfrm>
            <a:off x="8258175" y="2705100"/>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82" name="Isosceles Triangle 150"/>
          <p:cNvSpPr>
            <a:spLocks noChangeArrowheads="1"/>
          </p:cNvSpPr>
          <p:nvPr/>
        </p:nvSpPr>
        <p:spPr bwMode="auto">
          <a:xfrm>
            <a:off x="4179888" y="2419350"/>
            <a:ext cx="107950" cy="107950"/>
          </a:xfrm>
          <a:prstGeom prst="triangle">
            <a:avLst>
              <a:gd name="adj" fmla="val 50000"/>
            </a:avLst>
          </a:prstGeom>
          <a:solidFill>
            <a:schemeClr val="tx1"/>
          </a:solidFill>
          <a:ln w="9525" algn="ctr">
            <a:noFill/>
            <a:miter lim="800000"/>
            <a:headEnd/>
            <a:tailEnd/>
          </a:ln>
        </p:spPr>
        <p:txBody>
          <a:bodyPr lIns="0" tIns="0" rIns="0" bIns="0" anchor="ctr"/>
          <a:lstStyle/>
          <a:p>
            <a:pPr algn="ctr"/>
            <a:endParaRPr lang="en-US"/>
          </a:p>
        </p:txBody>
      </p:sp>
      <p:sp>
        <p:nvSpPr>
          <p:cNvPr id="83" name="Isosceles Triangle 151"/>
          <p:cNvSpPr>
            <a:spLocks noChangeArrowheads="1"/>
          </p:cNvSpPr>
          <p:nvPr/>
        </p:nvSpPr>
        <p:spPr bwMode="auto">
          <a:xfrm>
            <a:off x="4179888" y="2686050"/>
            <a:ext cx="107950" cy="107950"/>
          </a:xfrm>
          <a:prstGeom prst="triangle">
            <a:avLst>
              <a:gd name="adj" fmla="val 50000"/>
            </a:avLst>
          </a:prstGeom>
          <a:solidFill>
            <a:schemeClr val="tx1"/>
          </a:solidFill>
          <a:ln w="9525" algn="ctr">
            <a:noFill/>
            <a:miter lim="800000"/>
            <a:headEnd/>
            <a:tailEnd/>
          </a:ln>
        </p:spPr>
        <p:txBody>
          <a:bodyPr lIns="0" tIns="0" rIns="0" bIns="0" anchor="ctr"/>
          <a:lstStyle/>
          <a:p>
            <a:pPr algn="ctr"/>
            <a:endParaRPr lang="en-US"/>
          </a:p>
        </p:txBody>
      </p:sp>
      <p:sp>
        <p:nvSpPr>
          <p:cNvPr id="84" name="Rectangle 83"/>
          <p:cNvSpPr/>
          <p:nvPr/>
        </p:nvSpPr>
        <p:spPr bwMode="auto">
          <a:xfrm>
            <a:off x="8221664" y="3759200"/>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latin typeface="Trebuchet MS" pitchFamily="34" charset="0"/>
                <a:ea typeface="ＭＳ Ｐゴシック" pitchFamily="-108" charset="-128"/>
              </a:rPr>
              <a:t>Information management</a:t>
            </a:r>
            <a:endParaRPr lang="de-DE" sz="1000" dirty="0">
              <a:latin typeface="Trebuchet MS" pitchFamily="34" charset="0"/>
              <a:ea typeface="ＭＳ Ｐゴシック" pitchFamily="-108" charset="-128"/>
            </a:endParaRPr>
          </a:p>
        </p:txBody>
      </p:sp>
      <p:sp>
        <p:nvSpPr>
          <p:cNvPr id="85" name="Isosceles Triangle 154"/>
          <p:cNvSpPr>
            <a:spLocks noChangeArrowheads="1"/>
          </p:cNvSpPr>
          <p:nvPr/>
        </p:nvSpPr>
        <p:spPr bwMode="auto">
          <a:xfrm>
            <a:off x="8255000" y="2965450"/>
            <a:ext cx="107950" cy="107950"/>
          </a:xfrm>
          <a:prstGeom prst="triangle">
            <a:avLst>
              <a:gd name="adj" fmla="val 50000"/>
            </a:avLst>
          </a:prstGeom>
          <a:solidFill>
            <a:schemeClr val="tx1"/>
          </a:solidFill>
          <a:ln w="9525" algn="ctr">
            <a:noFill/>
            <a:miter lim="800000"/>
            <a:headEnd/>
            <a:tailEnd/>
          </a:ln>
        </p:spPr>
        <p:txBody>
          <a:bodyPr lIns="0" tIns="0" rIns="0" bIns="0" anchor="ctr"/>
          <a:lstStyle/>
          <a:p>
            <a:pPr algn="ctr"/>
            <a:endParaRPr lang="en-US"/>
          </a:p>
        </p:txBody>
      </p:sp>
      <p:sp>
        <p:nvSpPr>
          <p:cNvPr id="86" name="Isosceles Triangle 155"/>
          <p:cNvSpPr>
            <a:spLocks noChangeArrowheads="1"/>
          </p:cNvSpPr>
          <p:nvPr/>
        </p:nvSpPr>
        <p:spPr bwMode="auto">
          <a:xfrm>
            <a:off x="8255000" y="3236913"/>
            <a:ext cx="107950" cy="107950"/>
          </a:xfrm>
          <a:prstGeom prst="triangle">
            <a:avLst>
              <a:gd name="adj" fmla="val 50000"/>
            </a:avLst>
          </a:prstGeom>
          <a:solidFill>
            <a:schemeClr val="tx1"/>
          </a:solidFill>
          <a:ln w="9525" algn="ctr">
            <a:noFill/>
            <a:miter lim="800000"/>
            <a:headEnd/>
            <a:tailEnd/>
          </a:ln>
        </p:spPr>
        <p:txBody>
          <a:bodyPr lIns="0" tIns="0" rIns="0" bIns="0" anchor="ctr"/>
          <a:lstStyle/>
          <a:p>
            <a:pPr algn="ctr"/>
            <a:endParaRPr lang="en-US"/>
          </a:p>
        </p:txBody>
      </p:sp>
      <p:sp>
        <p:nvSpPr>
          <p:cNvPr id="87" name="Isosceles Triangle 156"/>
          <p:cNvSpPr>
            <a:spLocks noChangeArrowheads="1"/>
          </p:cNvSpPr>
          <p:nvPr/>
        </p:nvSpPr>
        <p:spPr bwMode="auto">
          <a:xfrm>
            <a:off x="8255000" y="3517900"/>
            <a:ext cx="107950" cy="107950"/>
          </a:xfrm>
          <a:prstGeom prst="triangle">
            <a:avLst>
              <a:gd name="adj" fmla="val 50000"/>
            </a:avLst>
          </a:prstGeom>
          <a:solidFill>
            <a:schemeClr val="tx1"/>
          </a:solidFill>
          <a:ln w="9525" algn="ctr">
            <a:noFill/>
            <a:miter lim="800000"/>
            <a:headEnd/>
            <a:tailEnd/>
          </a:ln>
        </p:spPr>
        <p:txBody>
          <a:bodyPr lIns="0" tIns="0" rIns="0" bIns="0" anchor="ctr"/>
          <a:lstStyle/>
          <a:p>
            <a:pPr algn="ctr"/>
            <a:endParaRPr lang="en-US"/>
          </a:p>
        </p:txBody>
      </p:sp>
      <p:sp>
        <p:nvSpPr>
          <p:cNvPr id="88" name="Isosceles Triangle 157"/>
          <p:cNvSpPr>
            <a:spLocks noChangeArrowheads="1"/>
          </p:cNvSpPr>
          <p:nvPr/>
        </p:nvSpPr>
        <p:spPr bwMode="auto">
          <a:xfrm>
            <a:off x="8255000" y="3803650"/>
            <a:ext cx="107950" cy="107950"/>
          </a:xfrm>
          <a:prstGeom prst="triangle">
            <a:avLst>
              <a:gd name="adj" fmla="val 50000"/>
            </a:avLst>
          </a:prstGeom>
          <a:solidFill>
            <a:schemeClr val="tx1"/>
          </a:solidFill>
          <a:ln w="9525" algn="ctr">
            <a:noFill/>
            <a:miter lim="800000"/>
            <a:headEnd/>
            <a:tailEnd/>
          </a:ln>
        </p:spPr>
        <p:txBody>
          <a:bodyPr lIns="0" tIns="0" rIns="0" bIns="0" anchor="ctr"/>
          <a:lstStyle/>
          <a:p>
            <a:pPr algn="ctr"/>
            <a:endParaRPr lang="en-US"/>
          </a:p>
        </p:txBody>
      </p:sp>
      <p:sp>
        <p:nvSpPr>
          <p:cNvPr id="89" name="Rectangle 4"/>
          <p:cNvSpPr>
            <a:spLocks noChangeArrowheads="1"/>
          </p:cNvSpPr>
          <p:nvPr/>
        </p:nvSpPr>
        <p:spPr bwMode="auto">
          <a:xfrm>
            <a:off x="5473700" y="3752851"/>
            <a:ext cx="933450" cy="252413"/>
          </a:xfrm>
          <a:prstGeom prst="chevron">
            <a:avLst>
              <a:gd name="adj" fmla="val 0"/>
            </a:avLst>
          </a:prstGeom>
          <a:solidFill>
            <a:srgbClr val="FFFFFF"/>
          </a:solidFill>
          <a:ln w="25400">
            <a:no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Assets</a:t>
            </a:r>
          </a:p>
        </p:txBody>
      </p:sp>
      <p:sp>
        <p:nvSpPr>
          <p:cNvPr id="90" name="Rectangle 4"/>
          <p:cNvSpPr>
            <a:spLocks noChangeArrowheads="1"/>
          </p:cNvSpPr>
          <p:nvPr/>
        </p:nvSpPr>
        <p:spPr bwMode="auto">
          <a:xfrm>
            <a:off x="6388100" y="3752851"/>
            <a:ext cx="933450" cy="252413"/>
          </a:xfrm>
          <a:prstGeom prst="chevron">
            <a:avLst>
              <a:gd name="adj" fmla="val 0"/>
            </a:avLst>
          </a:prstGeom>
          <a:solidFill>
            <a:srgbClr val="FFFFFF"/>
          </a:solidFill>
          <a:ln w="25400">
            <a:no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Liabilities</a:t>
            </a:r>
          </a:p>
        </p:txBody>
      </p:sp>
      <p:sp>
        <p:nvSpPr>
          <p:cNvPr id="91" name="Rectangle 90"/>
          <p:cNvSpPr/>
          <p:nvPr/>
        </p:nvSpPr>
        <p:spPr bwMode="auto">
          <a:xfrm>
            <a:off x="8221664" y="4318000"/>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latin typeface="Trebuchet MS" pitchFamily="34" charset="0"/>
                <a:ea typeface="ＭＳ Ｐゴシック" pitchFamily="-108" charset="-128"/>
              </a:rPr>
              <a:t>Money market funds</a:t>
            </a:r>
            <a:endParaRPr lang="de-DE" sz="1000" dirty="0">
              <a:latin typeface="Trebuchet MS" pitchFamily="34" charset="0"/>
              <a:ea typeface="ＭＳ Ｐゴシック" pitchFamily="-108" charset="-128"/>
            </a:endParaRPr>
          </a:p>
        </p:txBody>
      </p:sp>
      <p:sp>
        <p:nvSpPr>
          <p:cNvPr id="92" name="Rectangle 91"/>
          <p:cNvSpPr/>
          <p:nvPr/>
        </p:nvSpPr>
        <p:spPr bwMode="auto">
          <a:xfrm>
            <a:off x="8221664" y="4613275"/>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latin typeface="Trebuchet MS" pitchFamily="34" charset="0"/>
                <a:ea typeface="ＭＳ Ｐゴシック" pitchFamily="-108" charset="-128"/>
              </a:rPr>
              <a:t>Third party securities</a:t>
            </a:r>
            <a:endParaRPr lang="de-DE" sz="1000" dirty="0">
              <a:latin typeface="Trebuchet MS" pitchFamily="34" charset="0"/>
              <a:ea typeface="ＭＳ Ｐゴシック" pitchFamily="-108" charset="-128"/>
            </a:endParaRPr>
          </a:p>
        </p:txBody>
      </p:sp>
      <p:sp>
        <p:nvSpPr>
          <p:cNvPr id="93" name="Rectangle 92"/>
          <p:cNvSpPr/>
          <p:nvPr/>
        </p:nvSpPr>
        <p:spPr bwMode="auto">
          <a:xfrm>
            <a:off x="8221664" y="4930775"/>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latin typeface="Trebuchet MS" pitchFamily="34" charset="0"/>
                <a:ea typeface="ＭＳ Ｐゴシック" pitchFamily="-108" charset="-128"/>
              </a:rPr>
              <a:t>Custody</a:t>
            </a:r>
            <a:endParaRPr lang="de-DE" sz="1000" dirty="0">
              <a:latin typeface="Trebuchet MS" pitchFamily="34" charset="0"/>
              <a:ea typeface="ＭＳ Ｐゴシック" pitchFamily="-108" charset="-128"/>
            </a:endParaRPr>
          </a:p>
        </p:txBody>
      </p:sp>
      <p:sp>
        <p:nvSpPr>
          <p:cNvPr id="94" name="Rectangle 93"/>
          <p:cNvSpPr/>
          <p:nvPr/>
        </p:nvSpPr>
        <p:spPr bwMode="auto">
          <a:xfrm>
            <a:off x="8221664" y="5235575"/>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latin typeface="Trebuchet MS" pitchFamily="34" charset="0"/>
                <a:ea typeface="ＭＳ Ｐゴシック" pitchFamily="-108" charset="-128"/>
              </a:rPr>
              <a:t>Company Pension Scheme</a:t>
            </a:r>
            <a:endParaRPr lang="de-DE" sz="1000" dirty="0">
              <a:latin typeface="Trebuchet MS" pitchFamily="34" charset="0"/>
              <a:ea typeface="ＭＳ Ｐゴシック" pitchFamily="-108" charset="-128"/>
            </a:endParaRPr>
          </a:p>
        </p:txBody>
      </p:sp>
      <p:sp>
        <p:nvSpPr>
          <p:cNvPr id="95" name="Rectangle 94"/>
          <p:cNvSpPr/>
          <p:nvPr/>
        </p:nvSpPr>
        <p:spPr bwMode="auto">
          <a:xfrm>
            <a:off x="8221664" y="5540375"/>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latin typeface="Trebuchet MS" pitchFamily="34" charset="0"/>
                <a:ea typeface="ＭＳ Ｐゴシック" pitchFamily="-108" charset="-128"/>
              </a:rPr>
              <a:t>Working time accounts</a:t>
            </a:r>
            <a:endParaRPr lang="de-DE" sz="1000" dirty="0">
              <a:latin typeface="Trebuchet MS" pitchFamily="34" charset="0"/>
              <a:ea typeface="ＭＳ Ｐゴシック" pitchFamily="-108" charset="-128"/>
            </a:endParaRPr>
          </a:p>
        </p:txBody>
      </p:sp>
      <p:sp>
        <p:nvSpPr>
          <p:cNvPr id="96" name="Rectangle 95"/>
          <p:cNvSpPr/>
          <p:nvPr/>
        </p:nvSpPr>
        <p:spPr bwMode="auto">
          <a:xfrm>
            <a:off x="6186489" y="3201988"/>
            <a:ext cx="1908175" cy="215900"/>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latin typeface="Trebuchet MS" pitchFamily="34" charset="0"/>
                <a:ea typeface="ＭＳ Ｐゴシック" pitchFamily="-108" charset="-128"/>
              </a:rPr>
              <a:t>Bank’s own debt issuances</a:t>
            </a:r>
            <a:endParaRPr lang="de-DE" sz="1000" dirty="0">
              <a:latin typeface="Trebuchet MS" pitchFamily="34" charset="0"/>
              <a:ea typeface="ＭＳ Ｐゴシック" pitchFamily="-108" charset="-128"/>
            </a:endParaRPr>
          </a:p>
        </p:txBody>
      </p:sp>
      <p:sp>
        <p:nvSpPr>
          <p:cNvPr id="97" name="Rectangle 96"/>
          <p:cNvSpPr/>
          <p:nvPr/>
        </p:nvSpPr>
        <p:spPr bwMode="auto">
          <a:xfrm>
            <a:off x="6388101" y="4945064"/>
            <a:ext cx="925513" cy="288925"/>
          </a:xfrm>
          <a:prstGeom prst="rect">
            <a:avLst/>
          </a:prstGeom>
          <a:solidFill>
            <a:schemeClr val="accent2">
              <a:lumMod val="75000"/>
            </a:schemeClr>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Equity</a:t>
            </a:r>
          </a:p>
        </p:txBody>
      </p:sp>
      <p:sp>
        <p:nvSpPr>
          <p:cNvPr id="98" name="Diamond 172"/>
          <p:cNvSpPr>
            <a:spLocks noChangeArrowheads="1"/>
          </p:cNvSpPr>
          <p:nvPr/>
        </p:nvSpPr>
        <p:spPr bwMode="auto">
          <a:xfrm>
            <a:off x="6218238" y="2405063"/>
            <a:ext cx="107950" cy="107950"/>
          </a:xfrm>
          <a:prstGeom prst="diamond">
            <a:avLst/>
          </a:prstGeom>
          <a:solidFill>
            <a:schemeClr val="tx1"/>
          </a:solidFill>
          <a:ln w="9525" algn="ctr">
            <a:noFill/>
            <a:miter lim="800000"/>
            <a:headEnd/>
            <a:tailEnd/>
          </a:ln>
        </p:spPr>
        <p:txBody>
          <a:bodyPr lIns="0" tIns="0" rIns="0" bIns="0" anchor="ctr"/>
          <a:lstStyle/>
          <a:p>
            <a:pPr algn="ctr"/>
            <a:endParaRPr lang="en-US"/>
          </a:p>
        </p:txBody>
      </p:sp>
      <p:sp>
        <p:nvSpPr>
          <p:cNvPr id="99" name="Diamond 173"/>
          <p:cNvSpPr>
            <a:spLocks noChangeArrowheads="1"/>
          </p:cNvSpPr>
          <p:nvPr/>
        </p:nvSpPr>
        <p:spPr bwMode="auto">
          <a:xfrm>
            <a:off x="6218238" y="2679700"/>
            <a:ext cx="107950" cy="107950"/>
          </a:xfrm>
          <a:prstGeom prst="diamond">
            <a:avLst/>
          </a:prstGeom>
          <a:solidFill>
            <a:schemeClr val="tx1"/>
          </a:solidFill>
          <a:ln w="9525" algn="ctr">
            <a:noFill/>
            <a:miter lim="800000"/>
            <a:headEnd/>
            <a:tailEnd/>
          </a:ln>
        </p:spPr>
        <p:txBody>
          <a:bodyPr lIns="0" tIns="0" rIns="0" bIns="0" anchor="ctr"/>
          <a:lstStyle/>
          <a:p>
            <a:pPr algn="ctr"/>
            <a:endParaRPr lang="en-US"/>
          </a:p>
        </p:txBody>
      </p:sp>
      <p:sp>
        <p:nvSpPr>
          <p:cNvPr id="100" name="Diamond 174"/>
          <p:cNvSpPr>
            <a:spLocks noChangeArrowheads="1"/>
          </p:cNvSpPr>
          <p:nvPr/>
        </p:nvSpPr>
        <p:spPr bwMode="auto">
          <a:xfrm>
            <a:off x="6218238" y="2962275"/>
            <a:ext cx="107950" cy="107950"/>
          </a:xfrm>
          <a:prstGeom prst="diamond">
            <a:avLst/>
          </a:prstGeom>
          <a:solidFill>
            <a:schemeClr val="tx1"/>
          </a:solidFill>
          <a:ln w="9525" algn="ctr">
            <a:noFill/>
            <a:miter lim="800000"/>
            <a:headEnd/>
            <a:tailEnd/>
          </a:ln>
        </p:spPr>
        <p:txBody>
          <a:bodyPr lIns="0" tIns="0" rIns="0" bIns="0" anchor="ctr"/>
          <a:lstStyle/>
          <a:p>
            <a:pPr algn="ctr"/>
            <a:endParaRPr lang="en-US"/>
          </a:p>
        </p:txBody>
      </p:sp>
      <p:sp>
        <p:nvSpPr>
          <p:cNvPr id="101" name="Diamond 175"/>
          <p:cNvSpPr>
            <a:spLocks noChangeArrowheads="1"/>
          </p:cNvSpPr>
          <p:nvPr/>
        </p:nvSpPr>
        <p:spPr bwMode="auto">
          <a:xfrm>
            <a:off x="6218238" y="3255963"/>
            <a:ext cx="107950" cy="107950"/>
          </a:xfrm>
          <a:prstGeom prst="diamond">
            <a:avLst/>
          </a:prstGeom>
          <a:solidFill>
            <a:schemeClr val="tx1"/>
          </a:solidFill>
          <a:ln w="9525" algn="ctr">
            <a:noFill/>
            <a:miter lim="800000"/>
            <a:headEnd/>
            <a:tailEnd/>
          </a:ln>
        </p:spPr>
        <p:txBody>
          <a:bodyPr lIns="0" tIns="0" rIns="0" bIns="0" anchor="ctr"/>
          <a:lstStyle/>
          <a:p>
            <a:pPr algn="ctr"/>
            <a:endParaRPr lang="en-US"/>
          </a:p>
        </p:txBody>
      </p:sp>
      <p:sp>
        <p:nvSpPr>
          <p:cNvPr id="102" name="Diamond 176"/>
          <p:cNvSpPr>
            <a:spLocks noChangeArrowheads="1"/>
          </p:cNvSpPr>
          <p:nvPr/>
        </p:nvSpPr>
        <p:spPr bwMode="auto">
          <a:xfrm>
            <a:off x="8259763" y="4360863"/>
            <a:ext cx="107950" cy="107950"/>
          </a:xfrm>
          <a:prstGeom prst="diamond">
            <a:avLst/>
          </a:prstGeom>
          <a:solidFill>
            <a:schemeClr val="tx1"/>
          </a:solidFill>
          <a:ln w="9525" algn="ctr">
            <a:noFill/>
            <a:miter lim="800000"/>
            <a:headEnd/>
            <a:tailEnd/>
          </a:ln>
        </p:spPr>
        <p:txBody>
          <a:bodyPr lIns="0" tIns="0" rIns="0" bIns="0" anchor="ctr"/>
          <a:lstStyle/>
          <a:p>
            <a:pPr algn="ctr"/>
            <a:endParaRPr lang="en-US"/>
          </a:p>
        </p:txBody>
      </p:sp>
      <p:sp>
        <p:nvSpPr>
          <p:cNvPr id="103" name="Diamond 177"/>
          <p:cNvSpPr>
            <a:spLocks noChangeArrowheads="1"/>
          </p:cNvSpPr>
          <p:nvPr/>
        </p:nvSpPr>
        <p:spPr bwMode="auto">
          <a:xfrm>
            <a:off x="8259763" y="4652963"/>
            <a:ext cx="107950" cy="107950"/>
          </a:xfrm>
          <a:prstGeom prst="diamond">
            <a:avLst/>
          </a:prstGeom>
          <a:solidFill>
            <a:schemeClr val="tx1"/>
          </a:solidFill>
          <a:ln w="9525" algn="ctr">
            <a:noFill/>
            <a:miter lim="800000"/>
            <a:headEnd/>
            <a:tailEnd/>
          </a:ln>
        </p:spPr>
        <p:txBody>
          <a:bodyPr lIns="0" tIns="0" rIns="0" bIns="0" anchor="ctr"/>
          <a:lstStyle/>
          <a:p>
            <a:pPr algn="ctr"/>
            <a:endParaRPr lang="en-US"/>
          </a:p>
        </p:txBody>
      </p:sp>
      <p:sp>
        <p:nvSpPr>
          <p:cNvPr id="104" name="Diamond 178"/>
          <p:cNvSpPr>
            <a:spLocks noChangeArrowheads="1"/>
          </p:cNvSpPr>
          <p:nvPr/>
        </p:nvSpPr>
        <p:spPr bwMode="auto">
          <a:xfrm>
            <a:off x="8259763" y="4976813"/>
            <a:ext cx="107950" cy="107950"/>
          </a:xfrm>
          <a:prstGeom prst="diamond">
            <a:avLst/>
          </a:prstGeom>
          <a:solidFill>
            <a:schemeClr val="tx1"/>
          </a:solidFill>
          <a:ln w="9525" algn="ctr">
            <a:noFill/>
            <a:miter lim="800000"/>
            <a:headEnd/>
            <a:tailEnd/>
          </a:ln>
        </p:spPr>
        <p:txBody>
          <a:bodyPr lIns="0" tIns="0" rIns="0" bIns="0" anchor="ctr"/>
          <a:lstStyle/>
          <a:p>
            <a:pPr algn="ctr"/>
            <a:endParaRPr lang="en-US"/>
          </a:p>
        </p:txBody>
      </p:sp>
      <p:sp>
        <p:nvSpPr>
          <p:cNvPr id="105" name="Diamond 179"/>
          <p:cNvSpPr>
            <a:spLocks noChangeArrowheads="1"/>
          </p:cNvSpPr>
          <p:nvPr/>
        </p:nvSpPr>
        <p:spPr bwMode="auto">
          <a:xfrm>
            <a:off x="8259763" y="5287963"/>
            <a:ext cx="107950" cy="107950"/>
          </a:xfrm>
          <a:prstGeom prst="diamond">
            <a:avLst/>
          </a:prstGeom>
          <a:solidFill>
            <a:schemeClr val="tx1"/>
          </a:solidFill>
          <a:ln w="9525" algn="ctr">
            <a:noFill/>
            <a:miter lim="800000"/>
            <a:headEnd/>
            <a:tailEnd/>
          </a:ln>
        </p:spPr>
        <p:txBody>
          <a:bodyPr lIns="0" tIns="0" rIns="0" bIns="0" anchor="ctr"/>
          <a:lstStyle/>
          <a:p>
            <a:pPr algn="ctr"/>
            <a:endParaRPr lang="en-US"/>
          </a:p>
        </p:txBody>
      </p:sp>
      <p:sp>
        <p:nvSpPr>
          <p:cNvPr id="106" name="Diamond 180"/>
          <p:cNvSpPr>
            <a:spLocks noChangeArrowheads="1"/>
          </p:cNvSpPr>
          <p:nvPr/>
        </p:nvSpPr>
        <p:spPr bwMode="auto">
          <a:xfrm>
            <a:off x="8259763" y="5592763"/>
            <a:ext cx="107950" cy="107950"/>
          </a:xfrm>
          <a:prstGeom prst="diamond">
            <a:avLst/>
          </a:prstGeom>
          <a:solidFill>
            <a:schemeClr val="tx1"/>
          </a:solidFill>
          <a:ln w="9525" algn="ctr">
            <a:noFill/>
            <a:miter lim="800000"/>
            <a:headEnd/>
            <a:tailEnd/>
          </a:ln>
        </p:spPr>
        <p:txBody>
          <a:bodyPr lIns="0" tIns="0" rIns="0" bIns="0" anchor="ctr"/>
          <a:lstStyle/>
          <a:p>
            <a:pPr algn="ctr"/>
            <a:endParaRPr lang="en-US"/>
          </a:p>
        </p:txBody>
      </p:sp>
      <p:sp>
        <p:nvSpPr>
          <p:cNvPr id="107" name="Oval 182"/>
          <p:cNvSpPr>
            <a:spLocks noChangeArrowheads="1"/>
          </p:cNvSpPr>
          <p:nvPr/>
        </p:nvSpPr>
        <p:spPr bwMode="auto">
          <a:xfrm>
            <a:off x="2139950" y="2970213"/>
            <a:ext cx="107950" cy="107950"/>
          </a:xfrm>
          <a:prstGeom prst="ellipse">
            <a:avLst/>
          </a:prstGeom>
          <a:noFill/>
          <a:ln w="9525" algn="ctr">
            <a:solidFill>
              <a:schemeClr val="tx1"/>
            </a:solidFill>
            <a:miter lim="800000"/>
            <a:headEnd/>
            <a:tailEnd/>
          </a:ln>
        </p:spPr>
        <p:txBody>
          <a:bodyPr lIns="0" tIns="0" rIns="0" bIns="0" anchor="ctr"/>
          <a:lstStyle/>
          <a:p>
            <a:pPr algn="ctr"/>
            <a:endParaRPr lang="en-US"/>
          </a:p>
        </p:txBody>
      </p:sp>
      <p:sp>
        <p:nvSpPr>
          <p:cNvPr id="108" name="Rectangle 107"/>
          <p:cNvSpPr/>
          <p:nvPr/>
        </p:nvSpPr>
        <p:spPr bwMode="auto">
          <a:xfrm>
            <a:off x="8221664" y="5834063"/>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latin typeface="Trebuchet MS" pitchFamily="34" charset="0"/>
                <a:ea typeface="ＭＳ Ｐゴシック" pitchFamily="-108" charset="-128"/>
              </a:rPr>
              <a:t>Payment services</a:t>
            </a:r>
            <a:endParaRPr lang="de-DE" sz="1000" dirty="0">
              <a:latin typeface="Trebuchet MS" pitchFamily="34" charset="0"/>
              <a:ea typeface="ＭＳ Ｐゴシック" pitchFamily="-108" charset="-128"/>
            </a:endParaRPr>
          </a:p>
        </p:txBody>
      </p:sp>
      <p:sp>
        <p:nvSpPr>
          <p:cNvPr id="109" name="Rectangle 108"/>
          <p:cNvSpPr/>
          <p:nvPr/>
        </p:nvSpPr>
        <p:spPr bwMode="auto">
          <a:xfrm>
            <a:off x="8221664" y="6138863"/>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latin typeface="Trebuchet MS" pitchFamily="34" charset="0"/>
                <a:ea typeface="ＭＳ Ｐゴシック" pitchFamily="-108" charset="-128"/>
              </a:rPr>
              <a:t>Documentary business</a:t>
            </a:r>
            <a:endParaRPr lang="de-DE" sz="1000" dirty="0">
              <a:latin typeface="Trebuchet MS" pitchFamily="34" charset="0"/>
              <a:ea typeface="ＭＳ Ｐゴシック" pitchFamily="-108" charset="-128"/>
            </a:endParaRPr>
          </a:p>
        </p:txBody>
      </p:sp>
      <p:sp>
        <p:nvSpPr>
          <p:cNvPr id="110" name="Oval 185"/>
          <p:cNvSpPr>
            <a:spLocks noChangeArrowheads="1"/>
          </p:cNvSpPr>
          <p:nvPr/>
        </p:nvSpPr>
        <p:spPr bwMode="auto">
          <a:xfrm>
            <a:off x="8262938" y="5886450"/>
            <a:ext cx="107950" cy="107950"/>
          </a:xfrm>
          <a:prstGeom prst="ellipse">
            <a:avLst/>
          </a:prstGeom>
          <a:noFill/>
          <a:ln w="9525" algn="ctr">
            <a:solidFill>
              <a:schemeClr val="tx1"/>
            </a:solidFill>
            <a:miter lim="800000"/>
            <a:headEnd/>
            <a:tailEnd/>
          </a:ln>
        </p:spPr>
        <p:txBody>
          <a:bodyPr lIns="0" tIns="0" rIns="0" bIns="0" anchor="ctr"/>
          <a:lstStyle/>
          <a:p>
            <a:pPr algn="ctr"/>
            <a:endParaRPr lang="en-US"/>
          </a:p>
        </p:txBody>
      </p:sp>
      <p:sp>
        <p:nvSpPr>
          <p:cNvPr id="111" name="Oval 186"/>
          <p:cNvSpPr>
            <a:spLocks noChangeArrowheads="1"/>
          </p:cNvSpPr>
          <p:nvPr/>
        </p:nvSpPr>
        <p:spPr bwMode="auto">
          <a:xfrm>
            <a:off x="8262938" y="6186488"/>
            <a:ext cx="107950" cy="107950"/>
          </a:xfrm>
          <a:prstGeom prst="ellipse">
            <a:avLst/>
          </a:prstGeom>
          <a:noFill/>
          <a:ln w="9525" algn="ctr">
            <a:solidFill>
              <a:schemeClr val="tx1"/>
            </a:solidFill>
            <a:miter lim="800000"/>
            <a:headEnd/>
            <a:tailEnd/>
          </a:ln>
        </p:spPr>
        <p:txBody>
          <a:bodyPr lIns="0" tIns="0" rIns="0" bIns="0" anchor="ctr"/>
          <a:lstStyle/>
          <a:p>
            <a:pPr algn="ctr"/>
            <a:endParaRPr lang="en-US"/>
          </a:p>
        </p:txBody>
      </p:sp>
      <p:sp>
        <p:nvSpPr>
          <p:cNvPr id="112" name="Rectangle 111"/>
          <p:cNvSpPr/>
          <p:nvPr/>
        </p:nvSpPr>
        <p:spPr bwMode="auto">
          <a:xfrm>
            <a:off x="8221664" y="4043363"/>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latin typeface="Trebuchet MS" pitchFamily="34" charset="0"/>
                <a:ea typeface="ＭＳ Ｐゴシック" pitchFamily="-108" charset="-128"/>
              </a:rPr>
              <a:t>Portals and Frontends</a:t>
            </a:r>
            <a:endParaRPr lang="de-DE" sz="1000" dirty="0">
              <a:latin typeface="Trebuchet MS" pitchFamily="34" charset="0"/>
              <a:ea typeface="ＭＳ Ｐゴシック" pitchFamily="-108" charset="-128"/>
            </a:endParaRPr>
          </a:p>
        </p:txBody>
      </p:sp>
      <p:sp>
        <p:nvSpPr>
          <p:cNvPr id="113" name="Isosceles Triangle 188"/>
          <p:cNvSpPr>
            <a:spLocks noChangeArrowheads="1"/>
          </p:cNvSpPr>
          <p:nvPr/>
        </p:nvSpPr>
        <p:spPr bwMode="auto">
          <a:xfrm>
            <a:off x="8255000" y="4087813"/>
            <a:ext cx="107950" cy="107950"/>
          </a:xfrm>
          <a:prstGeom prst="triangle">
            <a:avLst>
              <a:gd name="adj" fmla="val 50000"/>
            </a:avLst>
          </a:prstGeom>
          <a:solidFill>
            <a:schemeClr val="tx1"/>
          </a:solidFill>
          <a:ln w="9525" algn="ctr">
            <a:noFill/>
            <a:miter lim="800000"/>
            <a:headEnd/>
            <a:tailEnd/>
          </a:ln>
        </p:spPr>
        <p:txBody>
          <a:bodyPr lIns="0" tIns="0" rIns="0" bIns="0" anchor="ctr"/>
          <a:lstStyle/>
          <a:p>
            <a:pPr algn="ctr"/>
            <a:endParaRPr lang="en-US"/>
          </a:p>
        </p:txBody>
      </p:sp>
      <p:sp>
        <p:nvSpPr>
          <p:cNvPr id="114" name="Rectangle 113"/>
          <p:cNvSpPr/>
          <p:nvPr/>
        </p:nvSpPr>
        <p:spPr bwMode="auto">
          <a:xfrm>
            <a:off x="4152901" y="2922588"/>
            <a:ext cx="1908175" cy="215900"/>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solidFill>
                  <a:schemeClr val="bg1"/>
                </a:solidFill>
                <a:latin typeface="Trebuchet MS" pitchFamily="34" charset="0"/>
                <a:ea typeface="ＭＳ Ｐゴシック" pitchFamily="-108" charset="-128"/>
              </a:rPr>
              <a:t>Currencies</a:t>
            </a:r>
          </a:p>
        </p:txBody>
      </p:sp>
      <p:sp>
        <p:nvSpPr>
          <p:cNvPr id="115" name="Oval 191"/>
          <p:cNvSpPr>
            <a:spLocks noChangeArrowheads="1"/>
          </p:cNvSpPr>
          <p:nvPr/>
        </p:nvSpPr>
        <p:spPr bwMode="auto">
          <a:xfrm>
            <a:off x="4194175" y="2962275"/>
            <a:ext cx="107950" cy="107950"/>
          </a:xfrm>
          <a:prstGeom prst="ellipse">
            <a:avLst/>
          </a:prstGeom>
          <a:noFill/>
          <a:ln w="9525" algn="ctr">
            <a:solidFill>
              <a:schemeClr val="tx1"/>
            </a:solidFill>
            <a:miter lim="800000"/>
            <a:headEnd/>
            <a:tailEnd/>
          </a:ln>
        </p:spPr>
        <p:txBody>
          <a:bodyPr lIns="0" tIns="0" rIns="0" bIns="0" anchor="ctr"/>
          <a:lstStyle/>
          <a:p>
            <a:pPr algn="ctr"/>
            <a:endParaRPr lang="en-US"/>
          </a:p>
        </p:txBody>
      </p:sp>
      <p:sp>
        <p:nvSpPr>
          <p:cNvPr id="116" name="Rectangle 115"/>
          <p:cNvSpPr/>
          <p:nvPr/>
        </p:nvSpPr>
        <p:spPr bwMode="auto">
          <a:xfrm>
            <a:off x="5449888" y="4945064"/>
            <a:ext cx="925512" cy="288925"/>
          </a:xfrm>
          <a:prstGeom prst="rect">
            <a:avLst/>
          </a:prstGeom>
          <a:solidFill>
            <a:srgbClr val="6E81C5"/>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Promissory note loans</a:t>
            </a:r>
          </a:p>
        </p:txBody>
      </p:sp>
      <p:sp>
        <p:nvSpPr>
          <p:cNvPr id="117" name="Rectangle 116"/>
          <p:cNvSpPr/>
          <p:nvPr/>
        </p:nvSpPr>
        <p:spPr bwMode="auto">
          <a:xfrm>
            <a:off x="5449888" y="5245101"/>
            <a:ext cx="925512" cy="288925"/>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Trading</a:t>
            </a:r>
            <a:br>
              <a:rPr lang="de-DE" sz="1000" dirty="0">
                <a:solidFill>
                  <a:schemeClr val="bg1"/>
                </a:solidFill>
                <a:latin typeface="Trebuchet MS" pitchFamily="34" charset="0"/>
                <a:ea typeface="ＭＳ Ｐゴシック" pitchFamily="-108" charset="-128"/>
              </a:rPr>
            </a:br>
            <a:r>
              <a:rPr lang="de-DE" sz="1000" dirty="0">
                <a:solidFill>
                  <a:schemeClr val="bg1"/>
                </a:solidFill>
                <a:latin typeface="Trebuchet MS" pitchFamily="34" charset="0"/>
                <a:ea typeface="ＭＳ Ｐゴシック" pitchFamily="-108" charset="-128"/>
              </a:rPr>
              <a:t>assets</a:t>
            </a:r>
          </a:p>
        </p:txBody>
      </p:sp>
      <p:sp>
        <p:nvSpPr>
          <p:cNvPr id="118" name="Rectangle 117"/>
          <p:cNvSpPr/>
          <p:nvPr/>
        </p:nvSpPr>
        <p:spPr bwMode="auto">
          <a:xfrm>
            <a:off x="6400801" y="5245101"/>
            <a:ext cx="925513" cy="288925"/>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Trading</a:t>
            </a:r>
            <a:br>
              <a:rPr lang="de-DE" sz="1000" dirty="0">
                <a:solidFill>
                  <a:schemeClr val="bg1"/>
                </a:solidFill>
                <a:latin typeface="Trebuchet MS" pitchFamily="34" charset="0"/>
                <a:ea typeface="ＭＳ Ｐゴシック" pitchFamily="-108" charset="-128"/>
              </a:rPr>
            </a:br>
            <a:r>
              <a:rPr lang="de-DE" sz="1000" dirty="0">
                <a:solidFill>
                  <a:schemeClr val="bg1"/>
                </a:solidFill>
                <a:latin typeface="Trebuchet MS" pitchFamily="34" charset="0"/>
                <a:ea typeface="ＭＳ Ｐゴシック" pitchFamily="-108" charset="-128"/>
              </a:rPr>
              <a:t>liabilities</a:t>
            </a:r>
          </a:p>
        </p:txBody>
      </p:sp>
      <p:sp>
        <p:nvSpPr>
          <p:cNvPr id="119" name="Rectangle 118"/>
          <p:cNvSpPr/>
          <p:nvPr/>
        </p:nvSpPr>
        <p:spPr bwMode="auto">
          <a:xfrm>
            <a:off x="8221664" y="6421438"/>
            <a:ext cx="1908175" cy="215900"/>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solidFill>
                  <a:schemeClr val="bg1"/>
                </a:solidFill>
                <a:latin typeface="Trebuchet MS" pitchFamily="34" charset="0"/>
                <a:ea typeface="ＭＳ Ｐゴシック" pitchFamily="-108" charset="-128"/>
              </a:rPr>
              <a:t>Derivatives</a:t>
            </a:r>
            <a:endParaRPr lang="de-DE" sz="1000" dirty="0">
              <a:solidFill>
                <a:schemeClr val="bg1"/>
              </a:solidFill>
              <a:latin typeface="Trebuchet MS" pitchFamily="34" charset="0"/>
              <a:ea typeface="ＭＳ Ｐゴシック" pitchFamily="-108" charset="-128"/>
            </a:endParaRPr>
          </a:p>
        </p:txBody>
      </p:sp>
      <p:sp>
        <p:nvSpPr>
          <p:cNvPr id="120" name="Isosceles Triangle 198"/>
          <p:cNvSpPr>
            <a:spLocks noChangeArrowheads="1"/>
          </p:cNvSpPr>
          <p:nvPr/>
        </p:nvSpPr>
        <p:spPr bwMode="auto">
          <a:xfrm>
            <a:off x="8266113" y="6451600"/>
            <a:ext cx="107950" cy="107950"/>
          </a:xfrm>
          <a:prstGeom prst="triangle">
            <a:avLst>
              <a:gd name="adj" fmla="val 50000"/>
            </a:avLst>
          </a:prstGeom>
          <a:noFill/>
          <a:ln w="9525" algn="ctr">
            <a:solidFill>
              <a:schemeClr val="tx1"/>
            </a:solidFill>
            <a:miter lim="800000"/>
            <a:headEnd/>
            <a:tailEnd/>
          </a:ln>
        </p:spPr>
        <p:txBody>
          <a:bodyPr lIns="0" tIns="0" rIns="0" bIns="0" anchor="ctr"/>
          <a:lstStyle/>
          <a:p>
            <a:pPr algn="ctr"/>
            <a:endParaRPr lang="en-US"/>
          </a:p>
        </p:txBody>
      </p:sp>
      <p:sp>
        <p:nvSpPr>
          <p:cNvPr id="121" name="Rectangle 120"/>
          <p:cNvSpPr/>
          <p:nvPr/>
        </p:nvSpPr>
        <p:spPr bwMode="auto">
          <a:xfrm>
            <a:off x="6186489" y="3473450"/>
            <a:ext cx="1908175" cy="215900"/>
          </a:xfrm>
          <a:prstGeom prst="rect">
            <a:avLst/>
          </a:prstGeom>
          <a:solidFill>
            <a:schemeClr val="accent2">
              <a:lumMod val="75000"/>
            </a:schemeClr>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solidFill>
                  <a:schemeClr val="bg1"/>
                </a:solidFill>
                <a:latin typeface="Trebuchet MS" pitchFamily="34" charset="0"/>
                <a:ea typeface="ＭＳ Ｐゴシック" pitchFamily="-108" charset="-128"/>
              </a:rPr>
              <a:t>Bank’s own equity issuances</a:t>
            </a:r>
            <a:endParaRPr lang="de-DE" sz="1000" dirty="0">
              <a:solidFill>
                <a:schemeClr val="bg1"/>
              </a:solidFill>
              <a:latin typeface="Trebuchet MS" pitchFamily="34" charset="0"/>
              <a:ea typeface="ＭＳ Ｐゴシック" pitchFamily="-108" charset="-128"/>
            </a:endParaRPr>
          </a:p>
        </p:txBody>
      </p:sp>
      <p:sp>
        <p:nvSpPr>
          <p:cNvPr id="122" name="Diamond 200"/>
          <p:cNvSpPr>
            <a:spLocks noChangeArrowheads="1"/>
          </p:cNvSpPr>
          <p:nvPr/>
        </p:nvSpPr>
        <p:spPr bwMode="auto">
          <a:xfrm>
            <a:off x="6218238" y="3527425"/>
            <a:ext cx="107950" cy="107950"/>
          </a:xfrm>
          <a:prstGeom prst="diamond">
            <a:avLst/>
          </a:prstGeom>
          <a:solidFill>
            <a:schemeClr val="tx1"/>
          </a:solidFill>
          <a:ln w="9525" algn="ctr">
            <a:noFill/>
            <a:miter lim="800000"/>
            <a:headEnd/>
            <a:tailEnd/>
          </a:ln>
        </p:spPr>
        <p:txBody>
          <a:bodyPr lIns="0" tIns="0" rIns="0" bIns="0" anchor="ctr"/>
          <a:lstStyle/>
          <a:p>
            <a:pPr algn="ctr"/>
            <a:endParaRPr lang="en-US"/>
          </a:p>
        </p:txBody>
      </p:sp>
      <p:sp>
        <p:nvSpPr>
          <p:cNvPr id="123" name="Rectangle 122"/>
          <p:cNvSpPr/>
          <p:nvPr/>
        </p:nvSpPr>
        <p:spPr bwMode="auto">
          <a:xfrm>
            <a:off x="6388101" y="4005264"/>
            <a:ext cx="925513" cy="612775"/>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Unsecured Deposits from</a:t>
            </a:r>
            <a:br>
              <a:rPr lang="de-DE" sz="1000" dirty="0">
                <a:latin typeface="Trebuchet MS" pitchFamily="34" charset="0"/>
                <a:ea typeface="ＭＳ Ｐゴシック" pitchFamily="-108" charset="-128"/>
              </a:rPr>
            </a:br>
            <a:r>
              <a:rPr lang="de-DE" sz="1000" dirty="0">
                <a:latin typeface="Trebuchet MS" pitchFamily="34" charset="0"/>
                <a:ea typeface="ＭＳ Ｐゴシック" pitchFamily="-108" charset="-128"/>
              </a:rPr>
              <a:t>customers</a:t>
            </a:r>
          </a:p>
        </p:txBody>
      </p:sp>
      <p:sp>
        <p:nvSpPr>
          <p:cNvPr id="124" name="Rectangle 123"/>
          <p:cNvSpPr/>
          <p:nvPr/>
        </p:nvSpPr>
        <p:spPr bwMode="auto">
          <a:xfrm>
            <a:off x="6388101" y="4618038"/>
            <a:ext cx="925513" cy="309562"/>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Securitised Liabilities</a:t>
            </a:r>
          </a:p>
        </p:txBody>
      </p:sp>
      <p:sp>
        <p:nvSpPr>
          <p:cNvPr id="125" name="Rectangle 124"/>
          <p:cNvSpPr/>
          <p:nvPr/>
        </p:nvSpPr>
        <p:spPr bwMode="auto">
          <a:xfrm>
            <a:off x="5462588" y="4316414"/>
            <a:ext cx="925512" cy="611187"/>
          </a:xfrm>
          <a:prstGeom prst="rect">
            <a:avLst/>
          </a:prstGeom>
          <a:solidFill>
            <a:schemeClr val="accent6">
              <a:lumMod val="40000"/>
              <a:lumOff val="60000"/>
            </a:schemeClr>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Mortgages (property-secured loans)</a:t>
            </a:r>
          </a:p>
        </p:txBody>
      </p:sp>
      <p:sp>
        <p:nvSpPr>
          <p:cNvPr id="126" name="Rectangle 125"/>
          <p:cNvSpPr/>
          <p:nvPr/>
        </p:nvSpPr>
        <p:spPr bwMode="auto">
          <a:xfrm>
            <a:off x="5462588" y="4008439"/>
            <a:ext cx="925512" cy="287337"/>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Other Claims</a:t>
            </a:r>
          </a:p>
        </p:txBody>
      </p:sp>
      <p:sp>
        <p:nvSpPr>
          <p:cNvPr id="127" name="Rectangle 4"/>
          <p:cNvSpPr>
            <a:spLocks noChangeArrowheads="1"/>
          </p:cNvSpPr>
          <p:nvPr/>
        </p:nvSpPr>
        <p:spPr bwMode="auto">
          <a:xfrm>
            <a:off x="2117726"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Borrowing (client’s view)</a:t>
            </a:r>
          </a:p>
        </p:txBody>
      </p:sp>
      <p:sp>
        <p:nvSpPr>
          <p:cNvPr id="128" name="Rectangle 4"/>
          <p:cNvSpPr>
            <a:spLocks noChangeArrowheads="1"/>
          </p:cNvSpPr>
          <p:nvPr/>
        </p:nvSpPr>
        <p:spPr bwMode="auto">
          <a:xfrm>
            <a:off x="6186489"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Investment (client’s view)</a:t>
            </a:r>
          </a:p>
        </p:txBody>
      </p:sp>
      <p:sp>
        <p:nvSpPr>
          <p:cNvPr id="130" name="Slide Number Placeholder 9"/>
          <p:cNvSpPr txBox="1">
            <a:spLocks/>
          </p:cNvSpPr>
          <p:nvPr/>
        </p:nvSpPr>
        <p:spPr>
          <a:xfrm>
            <a:off x="9972202" y="6508751"/>
            <a:ext cx="416399" cy="365125"/>
          </a:xfrm>
          <a:prstGeom prst="rect">
            <a:avLst/>
          </a:prstGeom>
        </p:spPr>
        <p:txBody>
          <a:bodyPr vert="horz" lIns="91440" tIns="45720" rIns="91440" bIns="45720" rtlCol="0" anchor="ctr"/>
          <a:lstStyle/>
          <a:p>
            <a:pPr algn="r" fontAlgn="base">
              <a:spcBef>
                <a:spcPct val="0"/>
              </a:spcBef>
              <a:spcAft>
                <a:spcPct val="0"/>
              </a:spcAft>
              <a:defRPr/>
            </a:pPr>
            <a:fld id="{D4222BFC-8070-2749-ADD2-48D4133FB3EC}" type="slidenum">
              <a:rPr lang="en-GB" sz="800"/>
              <a:pPr algn="r" fontAlgn="base">
                <a:spcBef>
                  <a:spcPct val="0"/>
                </a:spcBef>
                <a:spcAft>
                  <a:spcPct val="0"/>
                </a:spcAft>
                <a:defRPr/>
              </a:pPr>
              <a:t>24</a:t>
            </a:fld>
            <a:endParaRPr lang="en-GB" sz="800" dirty="0"/>
          </a:p>
        </p:txBody>
      </p:sp>
      <p:sp>
        <p:nvSpPr>
          <p:cNvPr id="2" name="Title 3">
            <a:extLst>
              <a:ext uri="{FF2B5EF4-FFF2-40B4-BE49-F238E27FC236}">
                <a16:creationId xmlns:a16="http://schemas.microsoft.com/office/drawing/2014/main" id="{CB1B3BC3-6D8F-9594-34D8-B6D11C93606B}"/>
              </a:ext>
            </a:extLst>
          </p:cNvPr>
          <p:cNvSpPr txBox="1">
            <a:spLocks/>
          </p:cNvSpPr>
          <p:nvPr/>
        </p:nvSpPr>
        <p:spPr>
          <a:xfrm>
            <a:off x="1954214" y="274638"/>
            <a:ext cx="8713787" cy="741362"/>
          </a:xfrm>
          <a:prstGeom prst="rect">
            <a:avLst/>
          </a:prstGeom>
        </p:spPr>
        <p:txBody>
          <a:bodyPr/>
          <a:lstStyle/>
          <a:p>
            <a:pPr eaLnBrk="0" hangingPunct="0">
              <a:defRPr/>
            </a:pPr>
            <a:r>
              <a:rPr lang="hu-HU" kern="0" dirty="0">
                <a:latin typeface="+mj-lt"/>
                <a:ea typeface="+mj-ea"/>
                <a:cs typeface="+mj-cs"/>
              </a:rPr>
              <a:t>B</a:t>
            </a:r>
            <a:r>
              <a:rPr lang="en-GB" kern="0" dirty="0" err="1">
                <a:latin typeface="+mj-lt"/>
                <a:ea typeface="+mj-ea"/>
                <a:cs typeface="+mj-cs"/>
              </a:rPr>
              <a:t>ank</a:t>
            </a:r>
            <a:r>
              <a:rPr lang="en-GB" kern="0" dirty="0">
                <a:latin typeface="+mj-lt"/>
                <a:ea typeface="+mj-ea"/>
                <a:cs typeface="+mj-cs"/>
              </a:rPr>
              <a:t> business and balance-sheet risk</a:t>
            </a:r>
            <a:br>
              <a:rPr lang="en-GB" kern="0" dirty="0">
                <a:latin typeface="+mj-lt"/>
                <a:ea typeface="+mj-ea"/>
                <a:cs typeface="+mj-cs"/>
              </a:rPr>
            </a:br>
            <a:r>
              <a:rPr lang="hu-HU" kern="0" dirty="0">
                <a:latin typeface="+mj-lt"/>
                <a:ea typeface="+mj-ea"/>
                <a:cs typeface="+mj-cs"/>
              </a:rPr>
              <a:t>P</a:t>
            </a:r>
            <a:r>
              <a:rPr lang="en-GB" kern="0" dirty="0" err="1">
                <a:latin typeface="+mj-lt"/>
                <a:ea typeface="+mj-ea"/>
                <a:cs typeface="+mj-cs"/>
              </a:rPr>
              <a:t>roducts</a:t>
            </a:r>
            <a:r>
              <a:rPr lang="en-GB" kern="0" dirty="0">
                <a:latin typeface="+mj-lt"/>
                <a:ea typeface="+mj-ea"/>
                <a:cs typeface="+mj-cs"/>
              </a:rPr>
              <a:t> and their B/S, P&amp;L- and risk implications</a:t>
            </a:r>
            <a:endParaRPr lang="en-GB" kern="0" baseline="30000" dirty="0">
              <a:latin typeface="+mj-lt"/>
              <a:ea typeface="+mj-ea"/>
              <a:cs typeface="+mj-cs"/>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Slide Number Placeholder 12"/>
          <p:cNvSpPr>
            <a:spLocks noGrp="1"/>
          </p:cNvSpPr>
          <p:nvPr>
            <p:ph type="sldNum" sz="quarter" idx="4"/>
          </p:nvPr>
        </p:nvSpPr>
        <p:spPr>
          <a:xfrm>
            <a:off x="8295801" y="6356350"/>
            <a:ext cx="416399" cy="365125"/>
          </a:xfrm>
          <a:prstGeom prst="rect">
            <a:avLst/>
          </a:prstGeom>
        </p:spPr>
        <p:txBody>
          <a:bodyPr vert="horz" lIns="91440" tIns="45720" rIns="91440" bIns="45720" rtlCol="0" anchor="ctr"/>
          <a:lstStyle>
            <a:defPPr>
              <a:defRPr lang="de-DE"/>
            </a:defPPr>
            <a:lvl1pPr algn="r" rtl="0" fontAlgn="base">
              <a:spcBef>
                <a:spcPct val="0"/>
              </a:spcBef>
              <a:spcAft>
                <a:spcPct val="0"/>
              </a:spcAft>
              <a:defRPr sz="800"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D4222BFC-8070-2749-ADD2-48D4133FB3EC}" type="slidenum">
              <a:rPr lang="en-GB" smtClean="0"/>
              <a:pPr/>
              <a:t>25</a:t>
            </a:fld>
            <a:endParaRPr lang="en-GB" dirty="0"/>
          </a:p>
        </p:txBody>
      </p:sp>
      <p:sp>
        <p:nvSpPr>
          <p:cNvPr id="6" name="Rectangle 5"/>
          <p:cNvSpPr/>
          <p:nvPr/>
        </p:nvSpPr>
        <p:spPr bwMode="auto">
          <a:xfrm>
            <a:off x="2117726" y="4068763"/>
            <a:ext cx="1908175" cy="215900"/>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Repo (spot purchase)</a:t>
            </a:r>
          </a:p>
        </p:txBody>
      </p:sp>
      <p:sp>
        <p:nvSpPr>
          <p:cNvPr id="7" name="Rectangle 4"/>
          <p:cNvSpPr>
            <a:spLocks noChangeArrowheads="1"/>
          </p:cNvSpPr>
          <p:nvPr/>
        </p:nvSpPr>
        <p:spPr bwMode="auto">
          <a:xfrm>
            <a:off x="2120901" y="1374776"/>
            <a:ext cx="1908175" cy="250825"/>
          </a:xfrm>
          <a:prstGeom prst="chevron">
            <a:avLst>
              <a:gd name="adj" fmla="val 0"/>
            </a:avLst>
          </a:prstGeom>
          <a:noFill/>
          <a:ln w="25400">
            <a:solidFill>
              <a:srgbClr val="7E99AA">
                <a:lumMod val="50000"/>
              </a:srgbClr>
            </a:solidFill>
            <a:miter lim="800000"/>
            <a:headEnd/>
            <a:tailEnd/>
          </a:ln>
          <a:effectLst/>
        </p:spPr>
        <p:txBody>
          <a:bodyPr anchor="ctr"/>
          <a:lstStyle/>
          <a:p>
            <a:pPr marL="174625" lvl="1" indent="-174625">
              <a:lnSpc>
                <a:spcPct val="90000"/>
              </a:lnSpc>
              <a:buClr>
                <a:srgbClr val="314C6A"/>
              </a:buClr>
              <a:buFont typeface="+mj-lt"/>
              <a:buAutoNum type="arabicPeriod"/>
              <a:defRPr/>
            </a:pPr>
            <a:r>
              <a:rPr lang="en-GB" sz="1000" kern="0" dirty="0">
                <a:solidFill>
                  <a:srgbClr val="000000"/>
                </a:solidFill>
                <a:latin typeface="Trebuchet MS" pitchFamily="34" charset="0"/>
                <a:ea typeface="ＭＳ Ｐゴシック" pitchFamily="-108" charset="-128"/>
                <a:cs typeface="Arial" pitchFamily="34" charset="0"/>
              </a:rPr>
              <a:t>Retail &amp; SME</a:t>
            </a:r>
          </a:p>
        </p:txBody>
      </p:sp>
      <p:sp>
        <p:nvSpPr>
          <p:cNvPr id="8" name="Rectangle 4"/>
          <p:cNvSpPr>
            <a:spLocks noChangeArrowheads="1"/>
          </p:cNvSpPr>
          <p:nvPr/>
        </p:nvSpPr>
        <p:spPr bwMode="auto">
          <a:xfrm>
            <a:off x="4154489" y="1374776"/>
            <a:ext cx="1908175" cy="250825"/>
          </a:xfrm>
          <a:prstGeom prst="chevron">
            <a:avLst>
              <a:gd name="adj" fmla="val 0"/>
            </a:avLst>
          </a:prstGeom>
          <a:no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2"/>
              <a:defRPr/>
            </a:pPr>
            <a:r>
              <a:rPr lang="en-GB" sz="1000" kern="0" dirty="0">
                <a:solidFill>
                  <a:srgbClr val="000000"/>
                </a:solidFill>
                <a:latin typeface="Trebuchet MS" pitchFamily="34" charset="0"/>
                <a:ea typeface="ＭＳ Ｐゴシック" pitchFamily="-108" charset="-128"/>
                <a:cs typeface="Arial" pitchFamily="34" charset="0"/>
              </a:rPr>
              <a:t>Corporate</a:t>
            </a:r>
          </a:p>
        </p:txBody>
      </p:sp>
      <p:sp>
        <p:nvSpPr>
          <p:cNvPr id="9" name="Rectangle 4"/>
          <p:cNvSpPr>
            <a:spLocks noChangeArrowheads="1"/>
          </p:cNvSpPr>
          <p:nvPr/>
        </p:nvSpPr>
        <p:spPr bwMode="auto">
          <a:xfrm>
            <a:off x="6188076" y="1374776"/>
            <a:ext cx="1908175" cy="250825"/>
          </a:xfrm>
          <a:prstGeom prst="chevron">
            <a:avLst>
              <a:gd name="adj" fmla="val 0"/>
            </a:avLst>
          </a:prstGeom>
          <a:solidFill>
            <a:srgbClr val="FFFF00"/>
          </a:solid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3"/>
              <a:defRPr/>
            </a:pPr>
            <a:r>
              <a:rPr lang="en-GB" sz="1000" kern="0" dirty="0">
                <a:solidFill>
                  <a:srgbClr val="000000"/>
                </a:solidFill>
                <a:latin typeface="Trebuchet MS" pitchFamily="34" charset="0"/>
                <a:ea typeface="ＭＳ Ｐゴシック" pitchFamily="-108" charset="-128"/>
                <a:cs typeface="Arial" pitchFamily="34" charset="0"/>
              </a:rPr>
              <a:t>Asset-based Finance</a:t>
            </a:r>
          </a:p>
        </p:txBody>
      </p:sp>
      <p:sp>
        <p:nvSpPr>
          <p:cNvPr id="10" name="Rectangle 4"/>
          <p:cNvSpPr>
            <a:spLocks noChangeArrowheads="1"/>
          </p:cNvSpPr>
          <p:nvPr/>
        </p:nvSpPr>
        <p:spPr bwMode="auto">
          <a:xfrm>
            <a:off x="8221664" y="1374776"/>
            <a:ext cx="1908175" cy="250825"/>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4"/>
              <a:defRPr/>
            </a:pPr>
            <a:r>
              <a:rPr lang="en-GB" sz="1000" kern="0" dirty="0">
                <a:solidFill>
                  <a:srgbClr val="000000"/>
                </a:solidFill>
                <a:latin typeface="Trebuchet MS" pitchFamily="34" charset="0"/>
                <a:ea typeface="ＭＳ Ｐゴシック" pitchFamily="-108" charset="-128"/>
                <a:cs typeface="Arial" pitchFamily="34" charset="0"/>
              </a:rPr>
              <a:t>Financial Institutions</a:t>
            </a:r>
          </a:p>
        </p:txBody>
      </p:sp>
      <p:sp>
        <p:nvSpPr>
          <p:cNvPr id="11" name="Rectangle 4"/>
          <p:cNvSpPr>
            <a:spLocks noChangeArrowheads="1"/>
          </p:cNvSpPr>
          <p:nvPr/>
        </p:nvSpPr>
        <p:spPr bwMode="auto">
          <a:xfrm>
            <a:off x="4152901"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Payment</a:t>
            </a:r>
          </a:p>
        </p:txBody>
      </p:sp>
      <p:sp>
        <p:nvSpPr>
          <p:cNvPr id="14" name="Rectangle 4"/>
          <p:cNvSpPr>
            <a:spLocks noChangeArrowheads="1"/>
          </p:cNvSpPr>
          <p:nvPr/>
        </p:nvSpPr>
        <p:spPr bwMode="auto">
          <a:xfrm>
            <a:off x="8221664"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0" lvl="1" indent="-179388"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Services &amp; Extras</a:t>
            </a:r>
          </a:p>
        </p:txBody>
      </p:sp>
      <p:sp>
        <p:nvSpPr>
          <p:cNvPr id="15" name="Rectangle 14"/>
          <p:cNvSpPr/>
          <p:nvPr/>
        </p:nvSpPr>
        <p:spPr bwMode="auto">
          <a:xfrm>
            <a:off x="8221664" y="2370138"/>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Investment funds</a:t>
            </a:r>
          </a:p>
        </p:txBody>
      </p:sp>
      <p:sp>
        <p:nvSpPr>
          <p:cNvPr id="16" name="Rectangle 15"/>
          <p:cNvSpPr/>
          <p:nvPr/>
        </p:nvSpPr>
        <p:spPr bwMode="auto">
          <a:xfrm>
            <a:off x="6186489" y="2370138"/>
            <a:ext cx="1908175" cy="215900"/>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Pfandbrief</a:t>
            </a:r>
          </a:p>
        </p:txBody>
      </p:sp>
      <p:sp>
        <p:nvSpPr>
          <p:cNvPr id="17" name="Rectangle 16"/>
          <p:cNvSpPr/>
          <p:nvPr/>
        </p:nvSpPr>
        <p:spPr bwMode="auto">
          <a:xfrm>
            <a:off x="2117726" y="2370138"/>
            <a:ext cx="1908175" cy="215900"/>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Finance leases (real estate)</a:t>
            </a:r>
          </a:p>
        </p:txBody>
      </p:sp>
      <p:sp>
        <p:nvSpPr>
          <p:cNvPr id="18" name="Rectangle 17"/>
          <p:cNvSpPr/>
          <p:nvPr/>
        </p:nvSpPr>
        <p:spPr bwMode="auto">
          <a:xfrm>
            <a:off x="6186489" y="2922588"/>
            <a:ext cx="1908175" cy="215900"/>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Public sector Pfandbrief</a:t>
            </a:r>
          </a:p>
        </p:txBody>
      </p:sp>
      <p:sp>
        <p:nvSpPr>
          <p:cNvPr id="19" name="Rectangle 18"/>
          <p:cNvSpPr/>
          <p:nvPr/>
        </p:nvSpPr>
        <p:spPr bwMode="auto">
          <a:xfrm>
            <a:off x="2117726" y="2922588"/>
            <a:ext cx="1908175" cy="215900"/>
          </a:xfrm>
          <a:prstGeom prst="rect">
            <a:avLst/>
          </a:prstGeom>
          <a:solidFill>
            <a:schemeClr val="accent6">
              <a:lumMod val="40000"/>
              <a:lumOff val="60000"/>
            </a:schemeClr>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Real estate loans</a:t>
            </a:r>
          </a:p>
        </p:txBody>
      </p:sp>
      <p:sp>
        <p:nvSpPr>
          <p:cNvPr id="20" name="Rectangle 19"/>
          <p:cNvSpPr/>
          <p:nvPr/>
        </p:nvSpPr>
        <p:spPr bwMode="auto">
          <a:xfrm>
            <a:off x="6186489" y="2646363"/>
            <a:ext cx="1908175" cy="215900"/>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Ship Pfandbrief</a:t>
            </a:r>
          </a:p>
        </p:txBody>
      </p:sp>
      <p:sp>
        <p:nvSpPr>
          <p:cNvPr id="23" name="Rectangle 22"/>
          <p:cNvSpPr/>
          <p:nvPr/>
        </p:nvSpPr>
        <p:spPr bwMode="auto">
          <a:xfrm>
            <a:off x="2117726" y="2646363"/>
            <a:ext cx="1908175" cy="215900"/>
          </a:xfrm>
          <a:prstGeom prst="rect">
            <a:avLst/>
          </a:prstGeom>
          <a:solidFill>
            <a:srgbClr val="DCB958"/>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solidFill>
                  <a:schemeClr val="bg1"/>
                </a:solidFill>
                <a:latin typeface="Trebuchet MS" pitchFamily="34" charset="0"/>
                <a:ea typeface="ＭＳ Ｐゴシック" pitchFamily="-108" charset="-128"/>
              </a:rPr>
              <a:t>Operating leases</a:t>
            </a:r>
          </a:p>
        </p:txBody>
      </p:sp>
      <p:sp>
        <p:nvSpPr>
          <p:cNvPr id="24" name="Rectangle 4"/>
          <p:cNvSpPr>
            <a:spLocks noChangeArrowheads="1"/>
          </p:cNvSpPr>
          <p:nvPr/>
        </p:nvSpPr>
        <p:spPr bwMode="auto">
          <a:xfrm>
            <a:off x="2120901" y="1685926"/>
            <a:ext cx="1547813" cy="252413"/>
          </a:xfrm>
          <a:prstGeom prst="chevron">
            <a:avLst>
              <a:gd name="adj" fmla="val 0"/>
            </a:avLst>
          </a:prstGeom>
          <a:noFill/>
          <a:ln w="12700">
            <a:solidFill>
              <a:srgbClr val="7E99AA">
                <a:lumMod val="50000"/>
              </a:srgbClr>
            </a:solidFill>
            <a:miter lim="800000"/>
            <a:headEnd/>
            <a:tailEnd/>
          </a:ln>
          <a:effectLst/>
        </p:spPr>
        <p:txBody>
          <a:bodyPr tIns="36000" bIns="36000"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  Asset Mgt &amp; Leasing</a:t>
            </a:r>
          </a:p>
        </p:txBody>
      </p:sp>
      <p:sp>
        <p:nvSpPr>
          <p:cNvPr id="25" name="Rectangle 4"/>
          <p:cNvSpPr>
            <a:spLocks noChangeArrowheads="1"/>
          </p:cNvSpPr>
          <p:nvPr/>
        </p:nvSpPr>
        <p:spPr bwMode="auto">
          <a:xfrm>
            <a:off x="3735388" y="1685926"/>
            <a:ext cx="1547812" cy="252413"/>
          </a:xfrm>
          <a:prstGeom prst="chevron">
            <a:avLst>
              <a:gd name="adj" fmla="val 0"/>
            </a:avLst>
          </a:prstGeom>
          <a:solidFill>
            <a:srgbClr val="FFFFFF"/>
          </a:solidFill>
          <a:ln w="12700">
            <a:solidFill>
              <a:srgbClr val="7E99AA">
                <a:lumMod val="50000"/>
              </a:srgbClr>
            </a:solidFill>
            <a:miter lim="800000"/>
            <a:headEnd/>
            <a:tailEnd/>
          </a:ln>
          <a:effectLst/>
        </p:spPr>
        <p:txBody>
          <a:bodyPr tIns="36000" bIns="36000" anchor="ctr"/>
          <a:lstStyle/>
          <a:p>
            <a:pPr marL="228600" lvl="1" indent="-228600"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Real Estate Finance</a:t>
            </a:r>
          </a:p>
        </p:txBody>
      </p:sp>
      <p:sp>
        <p:nvSpPr>
          <p:cNvPr id="26" name="Rectangle 4"/>
          <p:cNvSpPr>
            <a:spLocks noChangeArrowheads="1"/>
          </p:cNvSpPr>
          <p:nvPr/>
        </p:nvSpPr>
        <p:spPr bwMode="auto">
          <a:xfrm>
            <a:off x="5351463" y="1685926"/>
            <a:ext cx="1547812" cy="252413"/>
          </a:xfrm>
          <a:prstGeom prst="chevron">
            <a:avLst>
              <a:gd name="adj" fmla="val 0"/>
            </a:avLst>
          </a:prstGeom>
          <a:solidFill>
            <a:srgbClr val="FFFFFF"/>
          </a:solidFill>
          <a:ln w="12700">
            <a:solidFill>
              <a:srgbClr val="7E99AA">
                <a:lumMod val="50000"/>
              </a:srgbClr>
            </a:solidFill>
            <a:miter lim="800000"/>
            <a:headEnd/>
            <a:tailEnd/>
          </a:ln>
          <a:effectLst/>
        </p:spPr>
        <p:txBody>
          <a:bodyPr tIns="36000" bIns="36000" anchor="ctr"/>
          <a:lstStyle/>
          <a:p>
            <a:pPr marL="228600" lvl="1" indent="-228600"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Ship Finance</a:t>
            </a:r>
          </a:p>
        </p:txBody>
      </p:sp>
      <p:sp>
        <p:nvSpPr>
          <p:cNvPr id="27" name="Rectangle 4"/>
          <p:cNvSpPr>
            <a:spLocks noChangeArrowheads="1"/>
          </p:cNvSpPr>
          <p:nvPr/>
        </p:nvSpPr>
        <p:spPr bwMode="auto">
          <a:xfrm>
            <a:off x="6965950" y="1685926"/>
            <a:ext cx="1549400" cy="252413"/>
          </a:xfrm>
          <a:prstGeom prst="chevron">
            <a:avLst>
              <a:gd name="adj" fmla="val 0"/>
            </a:avLst>
          </a:prstGeom>
          <a:solidFill>
            <a:srgbClr val="FFFFFF"/>
          </a:solidFill>
          <a:ln w="12700">
            <a:solidFill>
              <a:srgbClr val="7E99AA">
                <a:lumMod val="50000"/>
              </a:srgbClr>
            </a:solidFill>
            <a:miter lim="800000"/>
            <a:headEnd/>
            <a:tailEnd/>
          </a:ln>
          <a:effectLst/>
        </p:spPr>
        <p:txBody>
          <a:bodyPr lIns="144000" tIns="36000" bIns="36000" anchor="ctr"/>
          <a:lstStyle/>
          <a:p>
            <a:pPr marL="228600" lvl="1" indent="-228600"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Public Finance</a:t>
            </a:r>
          </a:p>
        </p:txBody>
      </p:sp>
      <p:cxnSp>
        <p:nvCxnSpPr>
          <p:cNvPr id="28" name="Straight Connector 138"/>
          <p:cNvCxnSpPr>
            <a:cxnSpLocks noChangeShapeType="1"/>
          </p:cNvCxnSpPr>
          <p:nvPr/>
        </p:nvCxnSpPr>
        <p:spPr bwMode="auto">
          <a:xfrm>
            <a:off x="2117726" y="1998663"/>
            <a:ext cx="8012113" cy="0"/>
          </a:xfrm>
          <a:prstGeom prst="line">
            <a:avLst/>
          </a:prstGeom>
          <a:noFill/>
          <a:ln w="12700" algn="ctr">
            <a:solidFill>
              <a:schemeClr val="tx1"/>
            </a:solidFill>
            <a:round/>
            <a:headEnd/>
            <a:tailEnd/>
          </a:ln>
        </p:spPr>
      </p:cxnSp>
      <p:sp>
        <p:nvSpPr>
          <p:cNvPr id="29" name="Oval 139"/>
          <p:cNvSpPr>
            <a:spLocks noChangeArrowheads="1"/>
          </p:cNvSpPr>
          <p:nvPr/>
        </p:nvSpPr>
        <p:spPr bwMode="auto">
          <a:xfrm>
            <a:off x="2197100" y="1752600"/>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30" name="Isosceles Triangle 140"/>
          <p:cNvSpPr>
            <a:spLocks noChangeArrowheads="1"/>
          </p:cNvSpPr>
          <p:nvPr/>
        </p:nvSpPr>
        <p:spPr bwMode="auto">
          <a:xfrm>
            <a:off x="3822700" y="1752600"/>
            <a:ext cx="107950" cy="107950"/>
          </a:xfrm>
          <a:prstGeom prst="triangle">
            <a:avLst>
              <a:gd name="adj" fmla="val 50000"/>
            </a:avLst>
          </a:prstGeom>
          <a:solidFill>
            <a:schemeClr val="tx1"/>
          </a:solidFill>
          <a:ln w="9525" algn="ctr">
            <a:noFill/>
            <a:miter lim="800000"/>
            <a:headEnd/>
            <a:tailEnd/>
          </a:ln>
        </p:spPr>
        <p:txBody>
          <a:bodyPr lIns="0" tIns="0" rIns="0" bIns="0" anchor="ctr"/>
          <a:lstStyle/>
          <a:p>
            <a:pPr algn="ctr"/>
            <a:endParaRPr lang="en-US"/>
          </a:p>
        </p:txBody>
      </p:sp>
      <p:sp>
        <p:nvSpPr>
          <p:cNvPr id="31" name="Diamond 141"/>
          <p:cNvSpPr>
            <a:spLocks noChangeArrowheads="1"/>
          </p:cNvSpPr>
          <p:nvPr/>
        </p:nvSpPr>
        <p:spPr bwMode="auto">
          <a:xfrm>
            <a:off x="5411788" y="1765300"/>
            <a:ext cx="107950" cy="107950"/>
          </a:xfrm>
          <a:prstGeom prst="diamond">
            <a:avLst/>
          </a:prstGeom>
          <a:solidFill>
            <a:schemeClr val="tx1"/>
          </a:solidFill>
          <a:ln w="9525" algn="ctr">
            <a:noFill/>
            <a:miter lim="800000"/>
            <a:headEnd/>
            <a:tailEnd/>
          </a:ln>
        </p:spPr>
        <p:txBody>
          <a:bodyPr lIns="0" tIns="0" rIns="0" bIns="0" anchor="ctr"/>
          <a:lstStyle/>
          <a:p>
            <a:pPr algn="ctr"/>
            <a:endParaRPr lang="en-US"/>
          </a:p>
        </p:txBody>
      </p:sp>
      <p:sp>
        <p:nvSpPr>
          <p:cNvPr id="32" name="Oval 142"/>
          <p:cNvSpPr>
            <a:spLocks noChangeArrowheads="1"/>
          </p:cNvSpPr>
          <p:nvPr/>
        </p:nvSpPr>
        <p:spPr bwMode="auto">
          <a:xfrm>
            <a:off x="6991350" y="1751013"/>
            <a:ext cx="107950" cy="107950"/>
          </a:xfrm>
          <a:prstGeom prst="ellipse">
            <a:avLst/>
          </a:prstGeom>
          <a:noFill/>
          <a:ln w="9525" algn="ctr">
            <a:solidFill>
              <a:schemeClr val="tx1"/>
            </a:solidFill>
            <a:miter lim="800000"/>
            <a:headEnd/>
            <a:tailEnd/>
          </a:ln>
        </p:spPr>
        <p:txBody>
          <a:bodyPr lIns="0" tIns="0" rIns="0" bIns="0" anchor="ctr"/>
          <a:lstStyle/>
          <a:p>
            <a:pPr algn="ctr"/>
            <a:endParaRPr lang="en-US"/>
          </a:p>
        </p:txBody>
      </p:sp>
      <p:sp>
        <p:nvSpPr>
          <p:cNvPr id="33" name="Oval 144"/>
          <p:cNvSpPr>
            <a:spLocks noChangeArrowheads="1"/>
          </p:cNvSpPr>
          <p:nvPr/>
        </p:nvSpPr>
        <p:spPr bwMode="auto">
          <a:xfrm>
            <a:off x="2136775" y="2419350"/>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34" name="Oval 145"/>
          <p:cNvSpPr>
            <a:spLocks noChangeArrowheads="1"/>
          </p:cNvSpPr>
          <p:nvPr/>
        </p:nvSpPr>
        <p:spPr bwMode="auto">
          <a:xfrm>
            <a:off x="2136775" y="2705100"/>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35" name="Oval 148"/>
          <p:cNvSpPr>
            <a:spLocks noChangeArrowheads="1"/>
          </p:cNvSpPr>
          <p:nvPr/>
        </p:nvSpPr>
        <p:spPr bwMode="auto">
          <a:xfrm>
            <a:off x="8258175" y="2419350"/>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36" name="Rectangle 4"/>
          <p:cNvSpPr>
            <a:spLocks noChangeArrowheads="1"/>
          </p:cNvSpPr>
          <p:nvPr/>
        </p:nvSpPr>
        <p:spPr bwMode="auto">
          <a:xfrm>
            <a:off x="5473700" y="3752851"/>
            <a:ext cx="933450" cy="252413"/>
          </a:xfrm>
          <a:prstGeom prst="chevron">
            <a:avLst>
              <a:gd name="adj" fmla="val 0"/>
            </a:avLst>
          </a:prstGeom>
          <a:solidFill>
            <a:srgbClr val="FFFFFF"/>
          </a:solidFill>
          <a:ln w="25400">
            <a:no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Assets</a:t>
            </a:r>
          </a:p>
        </p:txBody>
      </p:sp>
      <p:sp>
        <p:nvSpPr>
          <p:cNvPr id="37" name="Rectangle 4"/>
          <p:cNvSpPr>
            <a:spLocks noChangeArrowheads="1"/>
          </p:cNvSpPr>
          <p:nvPr/>
        </p:nvSpPr>
        <p:spPr bwMode="auto">
          <a:xfrm>
            <a:off x="6388100" y="3752851"/>
            <a:ext cx="933450" cy="252413"/>
          </a:xfrm>
          <a:prstGeom prst="chevron">
            <a:avLst>
              <a:gd name="adj" fmla="val 0"/>
            </a:avLst>
          </a:prstGeom>
          <a:solidFill>
            <a:srgbClr val="FFFFFF"/>
          </a:solidFill>
          <a:ln w="25400">
            <a:no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Liabilities</a:t>
            </a:r>
          </a:p>
        </p:txBody>
      </p:sp>
      <p:sp>
        <p:nvSpPr>
          <p:cNvPr id="38" name="Rectangle 37"/>
          <p:cNvSpPr/>
          <p:nvPr/>
        </p:nvSpPr>
        <p:spPr bwMode="auto">
          <a:xfrm>
            <a:off x="6186489" y="3201988"/>
            <a:ext cx="1908175" cy="215900"/>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err="1">
                <a:latin typeface="Trebuchet MS" pitchFamily="34" charset="0"/>
                <a:ea typeface="ＭＳ Ｐゴシック" pitchFamily="-108" charset="-128"/>
              </a:rPr>
              <a:t>Lettres</a:t>
            </a:r>
            <a:r>
              <a:rPr lang="en-GB" sz="1000" dirty="0">
                <a:latin typeface="Trebuchet MS" pitchFamily="34" charset="0"/>
                <a:ea typeface="ＭＳ Ｐゴシック" pitchFamily="-108" charset="-128"/>
              </a:rPr>
              <a:t> de Gage </a:t>
            </a:r>
            <a:r>
              <a:rPr lang="en-GB" sz="1000" dirty="0" err="1">
                <a:latin typeface="Trebuchet MS" pitchFamily="34" charset="0"/>
                <a:ea typeface="ＭＳ Ｐゴシック" pitchFamily="-108" charset="-128"/>
              </a:rPr>
              <a:t>Publiques</a:t>
            </a:r>
            <a:endParaRPr lang="de-DE" sz="1000" dirty="0">
              <a:latin typeface="Trebuchet MS" pitchFamily="34" charset="0"/>
              <a:ea typeface="ＭＳ Ｐゴシック" pitchFamily="-108" charset="-128"/>
            </a:endParaRPr>
          </a:p>
        </p:txBody>
      </p:sp>
      <p:sp>
        <p:nvSpPr>
          <p:cNvPr id="39" name="Diamond 173"/>
          <p:cNvSpPr>
            <a:spLocks noChangeArrowheads="1"/>
          </p:cNvSpPr>
          <p:nvPr/>
        </p:nvSpPr>
        <p:spPr bwMode="auto">
          <a:xfrm>
            <a:off x="6218238" y="2679700"/>
            <a:ext cx="107950" cy="107950"/>
          </a:xfrm>
          <a:prstGeom prst="diamond">
            <a:avLst/>
          </a:prstGeom>
          <a:solidFill>
            <a:schemeClr val="tx1"/>
          </a:solidFill>
          <a:ln w="9525" algn="ctr">
            <a:noFill/>
            <a:miter lim="800000"/>
            <a:headEnd/>
            <a:tailEnd/>
          </a:ln>
        </p:spPr>
        <p:txBody>
          <a:bodyPr lIns="0" tIns="0" rIns="0" bIns="0" anchor="ctr"/>
          <a:lstStyle/>
          <a:p>
            <a:pPr algn="ctr"/>
            <a:endParaRPr lang="en-US"/>
          </a:p>
        </p:txBody>
      </p:sp>
      <p:sp>
        <p:nvSpPr>
          <p:cNvPr id="40" name="Rectangle 39"/>
          <p:cNvSpPr/>
          <p:nvPr/>
        </p:nvSpPr>
        <p:spPr bwMode="auto">
          <a:xfrm>
            <a:off x="5449888" y="5557838"/>
            <a:ext cx="925512" cy="576262"/>
          </a:xfrm>
          <a:prstGeom prst="rect">
            <a:avLst/>
          </a:prstGeom>
          <a:solidFill>
            <a:srgbClr val="DCB95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Other assets</a:t>
            </a:r>
          </a:p>
        </p:txBody>
      </p:sp>
      <p:sp>
        <p:nvSpPr>
          <p:cNvPr id="41" name="Isosceles Triangle 86"/>
          <p:cNvSpPr>
            <a:spLocks noChangeArrowheads="1"/>
          </p:cNvSpPr>
          <p:nvPr/>
        </p:nvSpPr>
        <p:spPr bwMode="auto">
          <a:xfrm>
            <a:off x="2136775" y="2959100"/>
            <a:ext cx="107950" cy="107950"/>
          </a:xfrm>
          <a:prstGeom prst="triangle">
            <a:avLst>
              <a:gd name="adj" fmla="val 50000"/>
            </a:avLst>
          </a:prstGeom>
          <a:solidFill>
            <a:schemeClr val="tx1"/>
          </a:solidFill>
          <a:ln w="9525" algn="ctr">
            <a:noFill/>
            <a:miter lim="800000"/>
            <a:headEnd/>
            <a:tailEnd/>
          </a:ln>
        </p:spPr>
        <p:txBody>
          <a:bodyPr lIns="0" tIns="0" rIns="0" bIns="0" anchor="ctr"/>
          <a:lstStyle/>
          <a:p>
            <a:pPr algn="ctr"/>
            <a:endParaRPr lang="en-US"/>
          </a:p>
        </p:txBody>
      </p:sp>
      <p:sp>
        <p:nvSpPr>
          <p:cNvPr id="42" name="Isosceles Triangle 87"/>
          <p:cNvSpPr>
            <a:spLocks noChangeArrowheads="1"/>
          </p:cNvSpPr>
          <p:nvPr/>
        </p:nvSpPr>
        <p:spPr bwMode="auto">
          <a:xfrm>
            <a:off x="6223000" y="2425700"/>
            <a:ext cx="107950" cy="107950"/>
          </a:xfrm>
          <a:prstGeom prst="triangle">
            <a:avLst>
              <a:gd name="adj" fmla="val 50000"/>
            </a:avLst>
          </a:prstGeom>
          <a:solidFill>
            <a:schemeClr val="tx1"/>
          </a:solidFill>
          <a:ln w="9525" algn="ctr">
            <a:noFill/>
            <a:miter lim="800000"/>
            <a:headEnd/>
            <a:tailEnd/>
          </a:ln>
        </p:spPr>
        <p:txBody>
          <a:bodyPr lIns="0" tIns="0" rIns="0" bIns="0" anchor="ctr"/>
          <a:lstStyle/>
          <a:p>
            <a:pPr algn="ctr"/>
            <a:endParaRPr lang="en-US"/>
          </a:p>
        </p:txBody>
      </p:sp>
      <p:sp>
        <p:nvSpPr>
          <p:cNvPr id="43" name="Rectangle 42"/>
          <p:cNvSpPr/>
          <p:nvPr/>
        </p:nvSpPr>
        <p:spPr bwMode="auto">
          <a:xfrm>
            <a:off x="2117726" y="3198813"/>
            <a:ext cx="1908175" cy="215900"/>
          </a:xfrm>
          <a:prstGeom prst="rect">
            <a:avLst/>
          </a:prstGeom>
          <a:solidFill>
            <a:schemeClr val="accent6">
              <a:lumMod val="40000"/>
              <a:lumOff val="60000"/>
            </a:schemeClr>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Ship loans</a:t>
            </a:r>
          </a:p>
        </p:txBody>
      </p:sp>
      <p:sp>
        <p:nvSpPr>
          <p:cNvPr id="44" name="Diamond 90"/>
          <p:cNvSpPr>
            <a:spLocks noChangeArrowheads="1"/>
          </p:cNvSpPr>
          <p:nvPr/>
        </p:nvSpPr>
        <p:spPr bwMode="auto">
          <a:xfrm>
            <a:off x="2144713" y="3246438"/>
            <a:ext cx="107950" cy="107950"/>
          </a:xfrm>
          <a:prstGeom prst="diamond">
            <a:avLst/>
          </a:prstGeom>
          <a:solidFill>
            <a:schemeClr val="tx1"/>
          </a:solidFill>
          <a:ln w="9525" algn="ctr">
            <a:noFill/>
            <a:miter lim="800000"/>
            <a:headEnd/>
            <a:tailEnd/>
          </a:ln>
        </p:spPr>
        <p:txBody>
          <a:bodyPr lIns="0" tIns="0" rIns="0" bIns="0" anchor="ctr"/>
          <a:lstStyle/>
          <a:p>
            <a:pPr algn="ctr"/>
            <a:endParaRPr lang="en-US"/>
          </a:p>
        </p:txBody>
      </p:sp>
      <p:sp>
        <p:nvSpPr>
          <p:cNvPr id="45" name="Rectangle 44"/>
          <p:cNvSpPr/>
          <p:nvPr/>
        </p:nvSpPr>
        <p:spPr bwMode="auto">
          <a:xfrm>
            <a:off x="2117726" y="3475038"/>
            <a:ext cx="1908175" cy="215900"/>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Unsecured loans</a:t>
            </a:r>
          </a:p>
        </p:txBody>
      </p:sp>
      <p:sp>
        <p:nvSpPr>
          <p:cNvPr id="46" name="Oval 92"/>
          <p:cNvSpPr>
            <a:spLocks noChangeArrowheads="1"/>
          </p:cNvSpPr>
          <p:nvPr/>
        </p:nvSpPr>
        <p:spPr bwMode="auto">
          <a:xfrm>
            <a:off x="2136775" y="3524250"/>
            <a:ext cx="107950" cy="107950"/>
          </a:xfrm>
          <a:prstGeom prst="ellipse">
            <a:avLst/>
          </a:prstGeom>
          <a:noFill/>
          <a:ln w="9525" algn="ctr">
            <a:solidFill>
              <a:schemeClr val="tx1"/>
            </a:solidFill>
            <a:miter lim="800000"/>
            <a:headEnd/>
            <a:tailEnd/>
          </a:ln>
        </p:spPr>
        <p:txBody>
          <a:bodyPr lIns="0" tIns="0" rIns="0" bIns="0" anchor="ctr"/>
          <a:lstStyle/>
          <a:p>
            <a:pPr algn="ctr"/>
            <a:endParaRPr lang="en-US"/>
          </a:p>
        </p:txBody>
      </p:sp>
      <p:sp>
        <p:nvSpPr>
          <p:cNvPr id="47" name="Rectangle 46"/>
          <p:cNvSpPr/>
          <p:nvPr/>
        </p:nvSpPr>
        <p:spPr bwMode="auto">
          <a:xfrm>
            <a:off x="2117726" y="3789363"/>
            <a:ext cx="1908175" cy="215900"/>
          </a:xfrm>
          <a:prstGeom prst="rect">
            <a:avLst/>
          </a:prstGeom>
          <a:solidFill>
            <a:schemeClr val="accent6">
              <a:lumMod val="40000"/>
              <a:lumOff val="60000"/>
            </a:schemeClr>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RE/ infrastructure loans</a:t>
            </a:r>
          </a:p>
        </p:txBody>
      </p:sp>
      <p:sp>
        <p:nvSpPr>
          <p:cNvPr id="48" name="Oval 95"/>
          <p:cNvSpPr>
            <a:spLocks noChangeArrowheads="1"/>
          </p:cNvSpPr>
          <p:nvPr/>
        </p:nvSpPr>
        <p:spPr bwMode="auto">
          <a:xfrm>
            <a:off x="2136775" y="3835400"/>
            <a:ext cx="107950" cy="107950"/>
          </a:xfrm>
          <a:prstGeom prst="ellipse">
            <a:avLst/>
          </a:prstGeom>
          <a:noFill/>
          <a:ln w="9525" algn="ctr">
            <a:solidFill>
              <a:schemeClr val="tx1"/>
            </a:solidFill>
            <a:miter lim="800000"/>
            <a:headEnd/>
            <a:tailEnd/>
          </a:ln>
        </p:spPr>
        <p:txBody>
          <a:bodyPr lIns="0" tIns="0" rIns="0" bIns="0" anchor="ctr"/>
          <a:lstStyle/>
          <a:p>
            <a:pPr algn="ctr"/>
            <a:endParaRPr lang="en-US"/>
          </a:p>
        </p:txBody>
      </p:sp>
      <p:sp>
        <p:nvSpPr>
          <p:cNvPr id="49" name="Oval 96"/>
          <p:cNvSpPr>
            <a:spLocks noChangeArrowheads="1"/>
          </p:cNvSpPr>
          <p:nvPr/>
        </p:nvSpPr>
        <p:spPr bwMode="auto">
          <a:xfrm>
            <a:off x="6221413" y="2962275"/>
            <a:ext cx="107950" cy="107950"/>
          </a:xfrm>
          <a:prstGeom prst="ellipse">
            <a:avLst/>
          </a:prstGeom>
          <a:noFill/>
          <a:ln w="9525" algn="ctr">
            <a:solidFill>
              <a:schemeClr val="tx1"/>
            </a:solidFill>
            <a:miter lim="800000"/>
            <a:headEnd/>
            <a:tailEnd/>
          </a:ln>
        </p:spPr>
        <p:txBody>
          <a:bodyPr lIns="0" tIns="0" rIns="0" bIns="0" anchor="ctr"/>
          <a:lstStyle/>
          <a:p>
            <a:pPr algn="ctr"/>
            <a:endParaRPr lang="en-US"/>
          </a:p>
        </p:txBody>
      </p:sp>
      <p:sp>
        <p:nvSpPr>
          <p:cNvPr id="50" name="Oval 97"/>
          <p:cNvSpPr>
            <a:spLocks noChangeArrowheads="1"/>
          </p:cNvSpPr>
          <p:nvPr/>
        </p:nvSpPr>
        <p:spPr bwMode="auto">
          <a:xfrm>
            <a:off x="6221413" y="3244850"/>
            <a:ext cx="107950" cy="107950"/>
          </a:xfrm>
          <a:prstGeom prst="ellipse">
            <a:avLst/>
          </a:prstGeom>
          <a:noFill/>
          <a:ln w="9525" algn="ctr">
            <a:solidFill>
              <a:schemeClr val="tx1"/>
            </a:solidFill>
            <a:miter lim="800000"/>
            <a:headEnd/>
            <a:tailEnd/>
          </a:ln>
        </p:spPr>
        <p:txBody>
          <a:bodyPr lIns="0" tIns="0" rIns="0" bIns="0" anchor="ctr"/>
          <a:lstStyle/>
          <a:p>
            <a:pPr algn="ctr"/>
            <a:endParaRPr lang="en-US"/>
          </a:p>
        </p:txBody>
      </p:sp>
      <p:sp>
        <p:nvSpPr>
          <p:cNvPr id="51" name="Rectangle 50"/>
          <p:cNvSpPr/>
          <p:nvPr/>
        </p:nvSpPr>
        <p:spPr bwMode="auto">
          <a:xfrm>
            <a:off x="6186489" y="3481388"/>
            <a:ext cx="1908175" cy="215900"/>
          </a:xfrm>
          <a:prstGeom prst="rect">
            <a:avLst/>
          </a:prstGeom>
          <a:solidFill>
            <a:srgbClr val="3F7141"/>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solidFill>
                  <a:schemeClr val="bg1"/>
                </a:solidFill>
                <a:latin typeface="Trebuchet MS" pitchFamily="34" charset="0"/>
                <a:ea typeface="ＭＳ Ｐゴシック" pitchFamily="-108" charset="-128"/>
              </a:rPr>
              <a:t>Repo (spot sale)</a:t>
            </a:r>
            <a:endParaRPr lang="de-DE" sz="1000" dirty="0">
              <a:solidFill>
                <a:schemeClr val="bg1"/>
              </a:solidFill>
              <a:latin typeface="Trebuchet MS" pitchFamily="34" charset="0"/>
              <a:ea typeface="ＭＳ Ｐゴシック" pitchFamily="-108" charset="-128"/>
            </a:endParaRPr>
          </a:p>
        </p:txBody>
      </p:sp>
      <p:sp>
        <p:nvSpPr>
          <p:cNvPr id="52" name="Rectangle 51"/>
          <p:cNvSpPr/>
          <p:nvPr/>
        </p:nvSpPr>
        <p:spPr bwMode="auto">
          <a:xfrm>
            <a:off x="6400801" y="5557838"/>
            <a:ext cx="925513" cy="576262"/>
          </a:xfrm>
          <a:prstGeom prst="rect">
            <a:avLst/>
          </a:prstGeom>
          <a:solidFill>
            <a:srgbClr val="3F714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Secured deposits  from customers</a:t>
            </a:r>
          </a:p>
        </p:txBody>
      </p:sp>
      <p:sp>
        <p:nvSpPr>
          <p:cNvPr id="53" name="Oval 105"/>
          <p:cNvSpPr>
            <a:spLocks noChangeArrowheads="1"/>
          </p:cNvSpPr>
          <p:nvPr/>
        </p:nvSpPr>
        <p:spPr bwMode="auto">
          <a:xfrm>
            <a:off x="6221413" y="3530600"/>
            <a:ext cx="107950" cy="107950"/>
          </a:xfrm>
          <a:prstGeom prst="ellipse">
            <a:avLst/>
          </a:prstGeom>
          <a:noFill/>
          <a:ln w="9525" algn="ctr">
            <a:solidFill>
              <a:schemeClr val="tx1"/>
            </a:solidFill>
            <a:miter lim="800000"/>
            <a:headEnd/>
            <a:tailEnd/>
          </a:ln>
        </p:spPr>
        <p:txBody>
          <a:bodyPr lIns="0" tIns="0" rIns="0" bIns="0" anchor="ctr"/>
          <a:lstStyle/>
          <a:p>
            <a:pPr algn="ctr"/>
            <a:endParaRPr lang="en-US"/>
          </a:p>
        </p:txBody>
      </p:sp>
      <p:sp>
        <p:nvSpPr>
          <p:cNvPr id="54" name="Oval 99"/>
          <p:cNvSpPr>
            <a:spLocks noChangeArrowheads="1"/>
          </p:cNvSpPr>
          <p:nvPr/>
        </p:nvSpPr>
        <p:spPr bwMode="auto">
          <a:xfrm>
            <a:off x="2136775" y="4117975"/>
            <a:ext cx="107950" cy="107950"/>
          </a:xfrm>
          <a:prstGeom prst="ellipse">
            <a:avLst/>
          </a:prstGeom>
          <a:noFill/>
          <a:ln w="9525" algn="ctr">
            <a:solidFill>
              <a:schemeClr val="tx1"/>
            </a:solidFill>
            <a:miter lim="800000"/>
            <a:headEnd/>
            <a:tailEnd/>
          </a:ln>
        </p:spPr>
        <p:txBody>
          <a:bodyPr lIns="0" tIns="0" rIns="0" bIns="0" anchor="ctr"/>
          <a:lstStyle/>
          <a:p>
            <a:pPr algn="ctr"/>
            <a:endParaRPr lang="en-US"/>
          </a:p>
        </p:txBody>
      </p:sp>
      <p:sp>
        <p:nvSpPr>
          <p:cNvPr id="55" name="Rectangle 54"/>
          <p:cNvSpPr/>
          <p:nvPr/>
        </p:nvSpPr>
        <p:spPr bwMode="auto">
          <a:xfrm>
            <a:off x="6388101" y="4945064"/>
            <a:ext cx="925513" cy="288925"/>
          </a:xfrm>
          <a:prstGeom prst="rect">
            <a:avLst/>
          </a:prstGeom>
          <a:solidFill>
            <a:schemeClr val="accent2">
              <a:lumMod val="75000"/>
            </a:schemeClr>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Equity</a:t>
            </a:r>
          </a:p>
        </p:txBody>
      </p:sp>
      <p:sp>
        <p:nvSpPr>
          <p:cNvPr id="56" name="Rectangle 55"/>
          <p:cNvSpPr/>
          <p:nvPr/>
        </p:nvSpPr>
        <p:spPr bwMode="auto">
          <a:xfrm>
            <a:off x="5449888" y="4945064"/>
            <a:ext cx="925512" cy="288925"/>
          </a:xfrm>
          <a:prstGeom prst="rect">
            <a:avLst/>
          </a:prstGeom>
          <a:solidFill>
            <a:srgbClr val="6E81C5"/>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Promissory note loans</a:t>
            </a:r>
          </a:p>
        </p:txBody>
      </p:sp>
      <p:sp>
        <p:nvSpPr>
          <p:cNvPr id="57" name="Rectangle 56"/>
          <p:cNvSpPr/>
          <p:nvPr/>
        </p:nvSpPr>
        <p:spPr bwMode="auto">
          <a:xfrm>
            <a:off x="6388101" y="4005264"/>
            <a:ext cx="925513" cy="612775"/>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Unsecured Deposits from</a:t>
            </a:r>
            <a:br>
              <a:rPr lang="de-DE" sz="1000" dirty="0">
                <a:latin typeface="Trebuchet MS" pitchFamily="34" charset="0"/>
                <a:ea typeface="ＭＳ Ｐゴシック" pitchFamily="-108" charset="-128"/>
              </a:rPr>
            </a:br>
            <a:r>
              <a:rPr lang="de-DE" sz="1000" dirty="0">
                <a:latin typeface="Trebuchet MS" pitchFamily="34" charset="0"/>
                <a:ea typeface="ＭＳ Ｐゴシック" pitchFamily="-108" charset="-128"/>
              </a:rPr>
              <a:t>customers</a:t>
            </a:r>
          </a:p>
        </p:txBody>
      </p:sp>
      <p:sp>
        <p:nvSpPr>
          <p:cNvPr id="58" name="Rectangle 57"/>
          <p:cNvSpPr/>
          <p:nvPr/>
        </p:nvSpPr>
        <p:spPr bwMode="auto">
          <a:xfrm>
            <a:off x="6388101" y="4618038"/>
            <a:ext cx="925513" cy="309562"/>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Securitised Liabilities</a:t>
            </a:r>
          </a:p>
        </p:txBody>
      </p:sp>
      <p:sp>
        <p:nvSpPr>
          <p:cNvPr id="59" name="Rectangle 58"/>
          <p:cNvSpPr/>
          <p:nvPr/>
        </p:nvSpPr>
        <p:spPr bwMode="auto">
          <a:xfrm>
            <a:off x="5462588" y="4316414"/>
            <a:ext cx="925512" cy="611187"/>
          </a:xfrm>
          <a:prstGeom prst="rect">
            <a:avLst/>
          </a:prstGeom>
          <a:solidFill>
            <a:schemeClr val="accent6">
              <a:lumMod val="40000"/>
              <a:lumOff val="60000"/>
            </a:schemeClr>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Mortgages (property-secured loans)</a:t>
            </a:r>
          </a:p>
        </p:txBody>
      </p:sp>
      <p:sp>
        <p:nvSpPr>
          <p:cNvPr id="60" name="Rectangle 59"/>
          <p:cNvSpPr/>
          <p:nvPr/>
        </p:nvSpPr>
        <p:spPr bwMode="auto">
          <a:xfrm>
            <a:off x="5462588" y="4008439"/>
            <a:ext cx="925512" cy="287337"/>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Other Claims</a:t>
            </a:r>
          </a:p>
        </p:txBody>
      </p:sp>
      <p:sp>
        <p:nvSpPr>
          <p:cNvPr id="61" name="Rectangle 60"/>
          <p:cNvSpPr/>
          <p:nvPr/>
        </p:nvSpPr>
        <p:spPr bwMode="auto">
          <a:xfrm>
            <a:off x="5449888" y="5245101"/>
            <a:ext cx="925512" cy="288925"/>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Trading</a:t>
            </a:r>
            <a:br>
              <a:rPr lang="de-DE" sz="1000" dirty="0">
                <a:solidFill>
                  <a:schemeClr val="bg1"/>
                </a:solidFill>
                <a:latin typeface="Trebuchet MS" pitchFamily="34" charset="0"/>
                <a:ea typeface="ＭＳ Ｐゴシック" pitchFamily="-108" charset="-128"/>
              </a:rPr>
            </a:br>
            <a:r>
              <a:rPr lang="de-DE" sz="1000" dirty="0">
                <a:solidFill>
                  <a:schemeClr val="bg1"/>
                </a:solidFill>
                <a:latin typeface="Trebuchet MS" pitchFamily="34" charset="0"/>
                <a:ea typeface="ＭＳ Ｐゴシック" pitchFamily="-108" charset="-128"/>
              </a:rPr>
              <a:t>assets</a:t>
            </a:r>
          </a:p>
        </p:txBody>
      </p:sp>
      <p:sp>
        <p:nvSpPr>
          <p:cNvPr id="62" name="Rectangle 61"/>
          <p:cNvSpPr/>
          <p:nvPr/>
        </p:nvSpPr>
        <p:spPr bwMode="auto">
          <a:xfrm>
            <a:off x="6400801" y="5245101"/>
            <a:ext cx="925513" cy="288925"/>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Trading</a:t>
            </a:r>
            <a:br>
              <a:rPr lang="de-DE" sz="1000" dirty="0">
                <a:solidFill>
                  <a:schemeClr val="bg1"/>
                </a:solidFill>
                <a:latin typeface="Trebuchet MS" pitchFamily="34" charset="0"/>
                <a:ea typeface="ＭＳ Ｐゴシック" pitchFamily="-108" charset="-128"/>
              </a:rPr>
            </a:br>
            <a:r>
              <a:rPr lang="de-DE" sz="1000" dirty="0">
                <a:solidFill>
                  <a:schemeClr val="bg1"/>
                </a:solidFill>
                <a:latin typeface="Trebuchet MS" pitchFamily="34" charset="0"/>
                <a:ea typeface="ＭＳ Ｐゴシック" pitchFamily="-108" charset="-128"/>
              </a:rPr>
              <a:t>liabilities</a:t>
            </a:r>
          </a:p>
        </p:txBody>
      </p:sp>
      <p:sp>
        <p:nvSpPr>
          <p:cNvPr id="63" name="Rectangle 4"/>
          <p:cNvSpPr>
            <a:spLocks noChangeArrowheads="1"/>
          </p:cNvSpPr>
          <p:nvPr/>
        </p:nvSpPr>
        <p:spPr bwMode="auto">
          <a:xfrm>
            <a:off x="2117726"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Borrowing (client’s view)</a:t>
            </a:r>
          </a:p>
        </p:txBody>
      </p:sp>
      <p:sp>
        <p:nvSpPr>
          <p:cNvPr id="64" name="Rectangle 4"/>
          <p:cNvSpPr>
            <a:spLocks noChangeArrowheads="1"/>
          </p:cNvSpPr>
          <p:nvPr/>
        </p:nvSpPr>
        <p:spPr bwMode="auto">
          <a:xfrm>
            <a:off x="6186489"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Investment (client’s view)</a:t>
            </a:r>
          </a:p>
        </p:txBody>
      </p:sp>
      <p:sp>
        <p:nvSpPr>
          <p:cNvPr id="2" name="Title 3">
            <a:extLst>
              <a:ext uri="{FF2B5EF4-FFF2-40B4-BE49-F238E27FC236}">
                <a16:creationId xmlns:a16="http://schemas.microsoft.com/office/drawing/2014/main" id="{29A1EF92-BA27-9BEC-53FE-E2F1E214A94C}"/>
              </a:ext>
            </a:extLst>
          </p:cNvPr>
          <p:cNvSpPr txBox="1">
            <a:spLocks/>
          </p:cNvSpPr>
          <p:nvPr/>
        </p:nvSpPr>
        <p:spPr>
          <a:xfrm>
            <a:off x="1954214" y="274638"/>
            <a:ext cx="8713787" cy="741362"/>
          </a:xfrm>
          <a:prstGeom prst="rect">
            <a:avLst/>
          </a:prstGeom>
        </p:spPr>
        <p:txBody>
          <a:bodyPr/>
          <a:lstStyle/>
          <a:p>
            <a:pPr eaLnBrk="0" hangingPunct="0">
              <a:defRPr/>
            </a:pPr>
            <a:r>
              <a:rPr lang="hu-HU" kern="0" dirty="0">
                <a:latin typeface="+mj-lt"/>
                <a:ea typeface="+mj-ea"/>
                <a:cs typeface="+mj-cs"/>
              </a:rPr>
              <a:t>B</a:t>
            </a:r>
            <a:r>
              <a:rPr lang="en-GB" kern="0" dirty="0" err="1">
                <a:latin typeface="+mj-lt"/>
                <a:ea typeface="+mj-ea"/>
                <a:cs typeface="+mj-cs"/>
              </a:rPr>
              <a:t>ank</a:t>
            </a:r>
            <a:r>
              <a:rPr lang="en-GB" kern="0" dirty="0">
                <a:latin typeface="+mj-lt"/>
                <a:ea typeface="+mj-ea"/>
                <a:cs typeface="+mj-cs"/>
              </a:rPr>
              <a:t> business and balance-sheet risk</a:t>
            </a:r>
            <a:br>
              <a:rPr lang="en-GB" kern="0" dirty="0">
                <a:latin typeface="+mj-lt"/>
                <a:ea typeface="+mj-ea"/>
                <a:cs typeface="+mj-cs"/>
              </a:rPr>
            </a:br>
            <a:r>
              <a:rPr lang="hu-HU" kern="0" dirty="0">
                <a:latin typeface="+mj-lt"/>
                <a:ea typeface="+mj-ea"/>
                <a:cs typeface="+mj-cs"/>
              </a:rPr>
              <a:t>P</a:t>
            </a:r>
            <a:r>
              <a:rPr lang="en-GB" kern="0" dirty="0" err="1">
                <a:latin typeface="+mj-lt"/>
                <a:ea typeface="+mj-ea"/>
                <a:cs typeface="+mj-cs"/>
              </a:rPr>
              <a:t>roducts</a:t>
            </a:r>
            <a:r>
              <a:rPr lang="en-GB" kern="0" dirty="0">
                <a:latin typeface="+mj-lt"/>
                <a:ea typeface="+mj-ea"/>
                <a:cs typeface="+mj-cs"/>
              </a:rPr>
              <a:t> and their B/S, P&amp;L- and risk implications</a:t>
            </a:r>
            <a:endParaRPr lang="en-GB" kern="0" baseline="30000" dirty="0">
              <a:latin typeface="+mj-lt"/>
              <a:ea typeface="+mj-ea"/>
              <a:cs typeface="+mj-cs"/>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Slide Number Placeholder 12"/>
          <p:cNvSpPr>
            <a:spLocks noGrp="1"/>
          </p:cNvSpPr>
          <p:nvPr>
            <p:ph type="sldNum" sz="quarter" idx="4"/>
          </p:nvPr>
        </p:nvSpPr>
        <p:spPr>
          <a:xfrm>
            <a:off x="8295801" y="6356350"/>
            <a:ext cx="416399" cy="365125"/>
          </a:xfrm>
          <a:prstGeom prst="rect">
            <a:avLst/>
          </a:prstGeom>
        </p:spPr>
        <p:txBody>
          <a:bodyPr vert="horz" lIns="91440" tIns="45720" rIns="91440" bIns="45720" rtlCol="0" anchor="ctr"/>
          <a:lstStyle>
            <a:defPPr>
              <a:defRPr lang="de-DE"/>
            </a:defPPr>
            <a:lvl1pPr algn="r" rtl="0" fontAlgn="base">
              <a:spcBef>
                <a:spcPct val="0"/>
              </a:spcBef>
              <a:spcAft>
                <a:spcPct val="0"/>
              </a:spcAft>
              <a:defRPr sz="800"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D4222BFC-8070-2749-ADD2-48D4133FB3EC}" type="slidenum">
              <a:rPr lang="en-GB" smtClean="0"/>
              <a:pPr/>
              <a:t>26</a:t>
            </a:fld>
            <a:endParaRPr lang="en-GB" dirty="0"/>
          </a:p>
        </p:txBody>
      </p:sp>
      <p:sp>
        <p:nvSpPr>
          <p:cNvPr id="6" name="Rectangle 4"/>
          <p:cNvSpPr>
            <a:spLocks noChangeArrowheads="1"/>
          </p:cNvSpPr>
          <p:nvPr/>
        </p:nvSpPr>
        <p:spPr bwMode="auto">
          <a:xfrm>
            <a:off x="2120901" y="1374776"/>
            <a:ext cx="1908175" cy="250825"/>
          </a:xfrm>
          <a:prstGeom prst="chevron">
            <a:avLst>
              <a:gd name="adj" fmla="val 0"/>
            </a:avLst>
          </a:prstGeom>
          <a:noFill/>
          <a:ln w="25400">
            <a:solidFill>
              <a:srgbClr val="7E99AA">
                <a:lumMod val="50000"/>
              </a:srgbClr>
            </a:solidFill>
            <a:miter lim="800000"/>
            <a:headEnd/>
            <a:tailEnd/>
          </a:ln>
          <a:effectLst/>
        </p:spPr>
        <p:txBody>
          <a:bodyPr anchor="ctr"/>
          <a:lstStyle/>
          <a:p>
            <a:pPr marL="174625" lvl="1" indent="-174625">
              <a:lnSpc>
                <a:spcPct val="90000"/>
              </a:lnSpc>
              <a:buClr>
                <a:srgbClr val="314C6A"/>
              </a:buClr>
              <a:buFont typeface="+mj-lt"/>
              <a:buAutoNum type="arabicPeriod"/>
              <a:defRPr/>
            </a:pPr>
            <a:r>
              <a:rPr lang="en-GB" sz="1000" kern="0" dirty="0">
                <a:solidFill>
                  <a:srgbClr val="000000"/>
                </a:solidFill>
                <a:latin typeface="Trebuchet MS" pitchFamily="34" charset="0"/>
                <a:ea typeface="ＭＳ Ｐゴシック" pitchFamily="-108" charset="-128"/>
                <a:cs typeface="Arial" pitchFamily="34" charset="0"/>
              </a:rPr>
              <a:t>Retail &amp; SME</a:t>
            </a:r>
          </a:p>
        </p:txBody>
      </p:sp>
      <p:sp>
        <p:nvSpPr>
          <p:cNvPr id="7" name="Rectangle 4"/>
          <p:cNvSpPr>
            <a:spLocks noChangeArrowheads="1"/>
          </p:cNvSpPr>
          <p:nvPr/>
        </p:nvSpPr>
        <p:spPr bwMode="auto">
          <a:xfrm>
            <a:off x="4154489" y="1374776"/>
            <a:ext cx="1908175" cy="250825"/>
          </a:xfrm>
          <a:prstGeom prst="chevron">
            <a:avLst>
              <a:gd name="adj" fmla="val 0"/>
            </a:avLst>
          </a:prstGeom>
          <a:no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2"/>
              <a:defRPr/>
            </a:pPr>
            <a:r>
              <a:rPr lang="en-GB" sz="1000" kern="0" dirty="0">
                <a:solidFill>
                  <a:srgbClr val="000000"/>
                </a:solidFill>
                <a:latin typeface="Trebuchet MS" pitchFamily="34" charset="0"/>
                <a:ea typeface="ＭＳ Ｐゴシック" pitchFamily="-108" charset="-128"/>
                <a:cs typeface="Arial" pitchFamily="34" charset="0"/>
              </a:rPr>
              <a:t>Corporate</a:t>
            </a:r>
          </a:p>
        </p:txBody>
      </p:sp>
      <p:sp>
        <p:nvSpPr>
          <p:cNvPr id="8" name="Rectangle 4"/>
          <p:cNvSpPr>
            <a:spLocks noChangeArrowheads="1"/>
          </p:cNvSpPr>
          <p:nvPr/>
        </p:nvSpPr>
        <p:spPr bwMode="auto">
          <a:xfrm>
            <a:off x="6188076" y="1374776"/>
            <a:ext cx="1908175" cy="250825"/>
          </a:xfrm>
          <a:prstGeom prst="chevron">
            <a:avLst>
              <a:gd name="adj" fmla="val 0"/>
            </a:avLst>
          </a:prstGeom>
          <a:no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3"/>
              <a:defRPr/>
            </a:pPr>
            <a:r>
              <a:rPr lang="en-GB" sz="1000" kern="0" dirty="0">
                <a:solidFill>
                  <a:srgbClr val="000000"/>
                </a:solidFill>
                <a:latin typeface="Trebuchet MS" pitchFamily="34" charset="0"/>
                <a:ea typeface="ＭＳ Ｐゴシック" pitchFamily="-108" charset="-128"/>
                <a:cs typeface="Arial" pitchFamily="34" charset="0"/>
              </a:rPr>
              <a:t>Asset-based Finance</a:t>
            </a:r>
          </a:p>
        </p:txBody>
      </p:sp>
      <p:sp>
        <p:nvSpPr>
          <p:cNvPr id="9" name="Rectangle 4"/>
          <p:cNvSpPr>
            <a:spLocks noChangeArrowheads="1"/>
          </p:cNvSpPr>
          <p:nvPr/>
        </p:nvSpPr>
        <p:spPr bwMode="auto">
          <a:xfrm>
            <a:off x="8221664" y="1374776"/>
            <a:ext cx="1908175" cy="250825"/>
          </a:xfrm>
          <a:prstGeom prst="chevron">
            <a:avLst>
              <a:gd name="adj" fmla="val 0"/>
            </a:avLst>
          </a:prstGeom>
          <a:solidFill>
            <a:srgbClr val="FFFF00"/>
          </a:solid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4"/>
              <a:defRPr/>
            </a:pPr>
            <a:r>
              <a:rPr lang="en-GB" sz="1000" kern="0" dirty="0">
                <a:solidFill>
                  <a:srgbClr val="000000"/>
                </a:solidFill>
                <a:latin typeface="Trebuchet MS" pitchFamily="34" charset="0"/>
                <a:ea typeface="ＭＳ Ｐゴシック" pitchFamily="-108" charset="-128"/>
                <a:cs typeface="Arial" pitchFamily="34" charset="0"/>
              </a:rPr>
              <a:t>Financial Institutions</a:t>
            </a:r>
          </a:p>
        </p:txBody>
      </p:sp>
      <p:sp>
        <p:nvSpPr>
          <p:cNvPr id="10" name="Rectangle 4"/>
          <p:cNvSpPr>
            <a:spLocks noChangeArrowheads="1"/>
          </p:cNvSpPr>
          <p:nvPr/>
        </p:nvSpPr>
        <p:spPr bwMode="auto">
          <a:xfrm>
            <a:off x="4152901"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Payment</a:t>
            </a:r>
          </a:p>
        </p:txBody>
      </p:sp>
      <p:sp>
        <p:nvSpPr>
          <p:cNvPr id="11" name="Rectangle 4"/>
          <p:cNvSpPr>
            <a:spLocks noChangeArrowheads="1"/>
          </p:cNvSpPr>
          <p:nvPr/>
        </p:nvSpPr>
        <p:spPr bwMode="auto">
          <a:xfrm>
            <a:off x="8221664"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0" lvl="1" indent="-179388"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Services &amp; Extras</a:t>
            </a:r>
          </a:p>
        </p:txBody>
      </p:sp>
      <p:sp>
        <p:nvSpPr>
          <p:cNvPr id="14" name="Rectangle 13"/>
          <p:cNvSpPr/>
          <p:nvPr/>
        </p:nvSpPr>
        <p:spPr bwMode="auto">
          <a:xfrm>
            <a:off x="8221664" y="2370138"/>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Advisory services</a:t>
            </a:r>
          </a:p>
        </p:txBody>
      </p:sp>
      <p:sp>
        <p:nvSpPr>
          <p:cNvPr id="15" name="Rectangle 14"/>
          <p:cNvSpPr/>
          <p:nvPr/>
        </p:nvSpPr>
        <p:spPr bwMode="auto">
          <a:xfrm>
            <a:off x="6186489" y="2370138"/>
            <a:ext cx="1908175" cy="215900"/>
          </a:xfrm>
          <a:prstGeom prst="rect">
            <a:avLst/>
          </a:prstGeom>
          <a:solidFill>
            <a:srgbClr val="3F7141"/>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solidFill>
                  <a:schemeClr val="bg1"/>
                </a:solidFill>
                <a:latin typeface="Trebuchet MS" pitchFamily="34" charset="0"/>
                <a:ea typeface="ＭＳ Ｐゴシック" pitchFamily="-108" charset="-128"/>
              </a:rPr>
              <a:t>Repo (spot sale)</a:t>
            </a:r>
          </a:p>
        </p:txBody>
      </p:sp>
      <p:sp>
        <p:nvSpPr>
          <p:cNvPr id="16" name="Rectangle 15"/>
          <p:cNvSpPr/>
          <p:nvPr/>
        </p:nvSpPr>
        <p:spPr bwMode="auto">
          <a:xfrm>
            <a:off x="4152901" y="2370138"/>
            <a:ext cx="1908175" cy="215900"/>
          </a:xfrm>
          <a:prstGeom prst="rect">
            <a:avLst/>
          </a:prstGeom>
          <a:solidFill>
            <a:schemeClr val="bg1">
              <a:lumMod val="65000"/>
            </a:schemeClr>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solidFill>
                  <a:schemeClr val="bg1"/>
                </a:solidFill>
                <a:latin typeface="Trebuchet MS" pitchFamily="34" charset="0"/>
                <a:ea typeface="ＭＳ Ｐゴシック" pitchFamily="-108" charset="-128"/>
              </a:rPr>
              <a:t>Correspondent banks (-)</a:t>
            </a:r>
          </a:p>
        </p:txBody>
      </p:sp>
      <p:sp>
        <p:nvSpPr>
          <p:cNvPr id="17" name="Rectangle 16"/>
          <p:cNvSpPr/>
          <p:nvPr/>
        </p:nvSpPr>
        <p:spPr bwMode="auto">
          <a:xfrm>
            <a:off x="2117726" y="2370138"/>
            <a:ext cx="1908175" cy="215900"/>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Trade loans</a:t>
            </a:r>
          </a:p>
        </p:txBody>
      </p:sp>
      <p:sp>
        <p:nvSpPr>
          <p:cNvPr id="18" name="Rectangle 17"/>
          <p:cNvSpPr/>
          <p:nvPr/>
        </p:nvSpPr>
        <p:spPr bwMode="auto">
          <a:xfrm>
            <a:off x="8221664" y="2922588"/>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latin typeface="Trebuchet MS" pitchFamily="34" charset="0"/>
                <a:ea typeface="ＭＳ Ｐゴシック" pitchFamily="-108" charset="-128"/>
              </a:rPr>
              <a:t>Cash pooling</a:t>
            </a:r>
          </a:p>
        </p:txBody>
      </p:sp>
      <p:sp>
        <p:nvSpPr>
          <p:cNvPr id="19" name="Rectangle 18"/>
          <p:cNvSpPr/>
          <p:nvPr/>
        </p:nvSpPr>
        <p:spPr bwMode="auto">
          <a:xfrm>
            <a:off x="8221664" y="2646363"/>
            <a:ext cx="1908175" cy="2159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en-GB" sz="1000" dirty="0">
                <a:latin typeface="Trebuchet MS" pitchFamily="34" charset="0"/>
                <a:ea typeface="ＭＳ Ｐゴシック" pitchFamily="-108" charset="-128"/>
              </a:rPr>
              <a:t>Payment services </a:t>
            </a:r>
          </a:p>
        </p:txBody>
      </p:sp>
      <p:sp>
        <p:nvSpPr>
          <p:cNvPr id="20" name="Rectangle 19"/>
          <p:cNvSpPr/>
          <p:nvPr/>
        </p:nvSpPr>
        <p:spPr bwMode="auto">
          <a:xfrm>
            <a:off x="4152901" y="2646363"/>
            <a:ext cx="1908175" cy="215900"/>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Correspondent banks (+)</a:t>
            </a:r>
          </a:p>
        </p:txBody>
      </p:sp>
      <p:cxnSp>
        <p:nvCxnSpPr>
          <p:cNvPr id="23" name="Straight Connector 138"/>
          <p:cNvCxnSpPr>
            <a:cxnSpLocks noChangeShapeType="1"/>
          </p:cNvCxnSpPr>
          <p:nvPr/>
        </p:nvCxnSpPr>
        <p:spPr bwMode="auto">
          <a:xfrm>
            <a:off x="2117726" y="1998663"/>
            <a:ext cx="8012113" cy="0"/>
          </a:xfrm>
          <a:prstGeom prst="line">
            <a:avLst/>
          </a:prstGeom>
          <a:noFill/>
          <a:ln w="12700" algn="ctr">
            <a:solidFill>
              <a:schemeClr val="tx1"/>
            </a:solidFill>
            <a:round/>
            <a:headEnd/>
            <a:tailEnd/>
          </a:ln>
        </p:spPr>
      </p:cxnSp>
      <p:sp>
        <p:nvSpPr>
          <p:cNvPr id="24" name="Rectangle 23"/>
          <p:cNvSpPr/>
          <p:nvPr/>
        </p:nvSpPr>
        <p:spPr bwMode="auto">
          <a:xfrm>
            <a:off x="4152901" y="2922588"/>
            <a:ext cx="1908175" cy="215900"/>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solidFill>
                  <a:schemeClr val="bg1"/>
                </a:solidFill>
                <a:latin typeface="Trebuchet MS" pitchFamily="34" charset="0"/>
                <a:ea typeface="ＭＳ Ｐゴシック" pitchFamily="-108" charset="-128"/>
              </a:rPr>
              <a:t>Currencies</a:t>
            </a:r>
          </a:p>
        </p:txBody>
      </p:sp>
      <p:sp>
        <p:nvSpPr>
          <p:cNvPr id="25" name="Rectangle 24"/>
          <p:cNvSpPr/>
          <p:nvPr/>
        </p:nvSpPr>
        <p:spPr bwMode="auto">
          <a:xfrm>
            <a:off x="2117726" y="2652713"/>
            <a:ext cx="1908175" cy="215900"/>
          </a:xfrm>
          <a:prstGeom prst="rect">
            <a:avLst/>
          </a:prstGeom>
          <a:solidFill>
            <a:schemeClr val="bg1">
              <a:lumMod val="65000"/>
            </a:schemeClr>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solidFill>
                  <a:schemeClr val="bg1"/>
                </a:solidFill>
                <a:latin typeface="Trebuchet MS" pitchFamily="34" charset="0"/>
                <a:ea typeface="ＭＳ Ｐゴシック" pitchFamily="-108" charset="-128"/>
              </a:rPr>
              <a:t>Repo (spot purchase)</a:t>
            </a:r>
          </a:p>
        </p:txBody>
      </p:sp>
      <p:sp>
        <p:nvSpPr>
          <p:cNvPr id="26" name="Rectangle 4"/>
          <p:cNvSpPr>
            <a:spLocks noChangeArrowheads="1"/>
          </p:cNvSpPr>
          <p:nvPr/>
        </p:nvSpPr>
        <p:spPr bwMode="auto">
          <a:xfrm>
            <a:off x="5473700" y="3422651"/>
            <a:ext cx="933450" cy="252413"/>
          </a:xfrm>
          <a:prstGeom prst="chevron">
            <a:avLst>
              <a:gd name="adj" fmla="val 0"/>
            </a:avLst>
          </a:prstGeom>
          <a:solidFill>
            <a:srgbClr val="FFFFFF"/>
          </a:solidFill>
          <a:ln w="25400">
            <a:no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Assets</a:t>
            </a:r>
          </a:p>
        </p:txBody>
      </p:sp>
      <p:sp>
        <p:nvSpPr>
          <p:cNvPr id="27" name="Rectangle 4"/>
          <p:cNvSpPr>
            <a:spLocks noChangeArrowheads="1"/>
          </p:cNvSpPr>
          <p:nvPr/>
        </p:nvSpPr>
        <p:spPr bwMode="auto">
          <a:xfrm>
            <a:off x="6388100" y="3422651"/>
            <a:ext cx="933450" cy="252413"/>
          </a:xfrm>
          <a:prstGeom prst="chevron">
            <a:avLst>
              <a:gd name="adj" fmla="val 0"/>
            </a:avLst>
          </a:prstGeom>
          <a:solidFill>
            <a:srgbClr val="FFFFFF"/>
          </a:solidFill>
          <a:ln w="25400">
            <a:no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Liabilities</a:t>
            </a:r>
          </a:p>
        </p:txBody>
      </p:sp>
      <p:sp>
        <p:nvSpPr>
          <p:cNvPr id="28" name="Rectangle 27"/>
          <p:cNvSpPr/>
          <p:nvPr/>
        </p:nvSpPr>
        <p:spPr bwMode="auto">
          <a:xfrm>
            <a:off x="5449888" y="5227638"/>
            <a:ext cx="925512" cy="576262"/>
          </a:xfrm>
          <a:prstGeom prst="rect">
            <a:avLst/>
          </a:prstGeom>
          <a:solidFill>
            <a:srgbClr val="DCB95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Other assets</a:t>
            </a:r>
          </a:p>
        </p:txBody>
      </p:sp>
      <p:sp>
        <p:nvSpPr>
          <p:cNvPr id="29" name="Rectangle 28"/>
          <p:cNvSpPr/>
          <p:nvPr/>
        </p:nvSpPr>
        <p:spPr bwMode="auto">
          <a:xfrm>
            <a:off x="6400801" y="5227638"/>
            <a:ext cx="925513" cy="576262"/>
          </a:xfrm>
          <a:prstGeom prst="rect">
            <a:avLst/>
          </a:prstGeom>
          <a:solidFill>
            <a:srgbClr val="3F714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Secured deposits  from customers</a:t>
            </a:r>
          </a:p>
        </p:txBody>
      </p:sp>
      <p:sp>
        <p:nvSpPr>
          <p:cNvPr id="30" name="Rectangle 29"/>
          <p:cNvSpPr/>
          <p:nvPr/>
        </p:nvSpPr>
        <p:spPr bwMode="auto">
          <a:xfrm>
            <a:off x="6388101" y="4614864"/>
            <a:ext cx="925513" cy="288925"/>
          </a:xfrm>
          <a:prstGeom prst="rect">
            <a:avLst/>
          </a:prstGeom>
          <a:solidFill>
            <a:schemeClr val="accent2">
              <a:lumMod val="75000"/>
            </a:schemeClr>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Equity</a:t>
            </a:r>
          </a:p>
        </p:txBody>
      </p:sp>
      <p:sp>
        <p:nvSpPr>
          <p:cNvPr id="31" name="Rectangle 30"/>
          <p:cNvSpPr/>
          <p:nvPr/>
        </p:nvSpPr>
        <p:spPr bwMode="auto">
          <a:xfrm>
            <a:off x="5449888" y="4614864"/>
            <a:ext cx="925512" cy="288925"/>
          </a:xfrm>
          <a:prstGeom prst="rect">
            <a:avLst/>
          </a:prstGeom>
          <a:solidFill>
            <a:srgbClr val="6E81C5"/>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Promissory note loans</a:t>
            </a:r>
          </a:p>
        </p:txBody>
      </p:sp>
      <p:sp>
        <p:nvSpPr>
          <p:cNvPr id="32" name="Rectangle 31"/>
          <p:cNvSpPr/>
          <p:nvPr/>
        </p:nvSpPr>
        <p:spPr bwMode="auto">
          <a:xfrm>
            <a:off x="5449888" y="4914901"/>
            <a:ext cx="925512" cy="288925"/>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Trading</a:t>
            </a:r>
            <a:br>
              <a:rPr lang="de-DE" sz="1000" dirty="0">
                <a:solidFill>
                  <a:schemeClr val="bg1"/>
                </a:solidFill>
                <a:latin typeface="Trebuchet MS" pitchFamily="34" charset="0"/>
                <a:ea typeface="ＭＳ Ｐゴシック" pitchFamily="-108" charset="-128"/>
              </a:rPr>
            </a:br>
            <a:r>
              <a:rPr lang="de-DE" sz="1000" dirty="0">
                <a:solidFill>
                  <a:schemeClr val="bg1"/>
                </a:solidFill>
                <a:latin typeface="Trebuchet MS" pitchFamily="34" charset="0"/>
                <a:ea typeface="ＭＳ Ｐゴシック" pitchFamily="-108" charset="-128"/>
              </a:rPr>
              <a:t>assets</a:t>
            </a:r>
          </a:p>
        </p:txBody>
      </p:sp>
      <p:sp>
        <p:nvSpPr>
          <p:cNvPr id="33" name="Rectangle 32"/>
          <p:cNvSpPr/>
          <p:nvPr/>
        </p:nvSpPr>
        <p:spPr bwMode="auto">
          <a:xfrm>
            <a:off x="6400801" y="4914901"/>
            <a:ext cx="925513" cy="288925"/>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Trading</a:t>
            </a:r>
            <a:br>
              <a:rPr lang="de-DE" sz="1000" dirty="0">
                <a:solidFill>
                  <a:schemeClr val="bg1"/>
                </a:solidFill>
                <a:latin typeface="Trebuchet MS" pitchFamily="34" charset="0"/>
                <a:ea typeface="ＭＳ Ｐゴシック" pitchFamily="-108" charset="-128"/>
              </a:rPr>
            </a:br>
            <a:r>
              <a:rPr lang="de-DE" sz="1000" dirty="0">
                <a:solidFill>
                  <a:schemeClr val="bg1"/>
                </a:solidFill>
                <a:latin typeface="Trebuchet MS" pitchFamily="34" charset="0"/>
                <a:ea typeface="ＭＳ Ｐゴシック" pitchFamily="-108" charset="-128"/>
              </a:rPr>
              <a:t>liabilities</a:t>
            </a:r>
          </a:p>
        </p:txBody>
      </p:sp>
      <p:sp>
        <p:nvSpPr>
          <p:cNvPr id="34" name="Rectangle 33"/>
          <p:cNvSpPr/>
          <p:nvPr/>
        </p:nvSpPr>
        <p:spPr bwMode="auto">
          <a:xfrm>
            <a:off x="6388101" y="3675064"/>
            <a:ext cx="925513" cy="612775"/>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Unsecured Deposits from</a:t>
            </a:r>
            <a:br>
              <a:rPr lang="de-DE" sz="1000" dirty="0">
                <a:latin typeface="Trebuchet MS" pitchFamily="34" charset="0"/>
                <a:ea typeface="ＭＳ Ｐゴシック" pitchFamily="-108" charset="-128"/>
              </a:rPr>
            </a:br>
            <a:r>
              <a:rPr lang="de-DE" sz="1000" dirty="0">
                <a:latin typeface="Trebuchet MS" pitchFamily="34" charset="0"/>
                <a:ea typeface="ＭＳ Ｐゴシック" pitchFamily="-108" charset="-128"/>
              </a:rPr>
              <a:t>customers</a:t>
            </a:r>
          </a:p>
        </p:txBody>
      </p:sp>
      <p:sp>
        <p:nvSpPr>
          <p:cNvPr id="35" name="Rectangle 34"/>
          <p:cNvSpPr/>
          <p:nvPr/>
        </p:nvSpPr>
        <p:spPr bwMode="auto">
          <a:xfrm>
            <a:off x="6388101" y="4287838"/>
            <a:ext cx="925513" cy="309562"/>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Securitised Liabilities</a:t>
            </a:r>
          </a:p>
        </p:txBody>
      </p:sp>
      <p:sp>
        <p:nvSpPr>
          <p:cNvPr id="36" name="Rectangle 35"/>
          <p:cNvSpPr/>
          <p:nvPr/>
        </p:nvSpPr>
        <p:spPr bwMode="auto">
          <a:xfrm>
            <a:off x="5462588" y="3986214"/>
            <a:ext cx="925512" cy="611187"/>
          </a:xfrm>
          <a:prstGeom prst="rect">
            <a:avLst/>
          </a:prstGeom>
          <a:solidFill>
            <a:schemeClr val="accent6">
              <a:lumMod val="40000"/>
              <a:lumOff val="60000"/>
            </a:schemeClr>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Mortgages (property-secured loans)</a:t>
            </a:r>
          </a:p>
        </p:txBody>
      </p:sp>
      <p:sp>
        <p:nvSpPr>
          <p:cNvPr id="37" name="Rectangle 36"/>
          <p:cNvSpPr/>
          <p:nvPr/>
        </p:nvSpPr>
        <p:spPr bwMode="auto">
          <a:xfrm>
            <a:off x="5462588" y="3678239"/>
            <a:ext cx="925512" cy="287337"/>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Other Claims</a:t>
            </a:r>
          </a:p>
        </p:txBody>
      </p:sp>
      <p:sp>
        <p:nvSpPr>
          <p:cNvPr id="38" name="Rectangle 37"/>
          <p:cNvSpPr/>
          <p:nvPr/>
        </p:nvSpPr>
        <p:spPr bwMode="auto">
          <a:xfrm>
            <a:off x="6388101" y="5813425"/>
            <a:ext cx="925513" cy="287338"/>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UD from</a:t>
            </a:r>
            <a:br>
              <a:rPr lang="de-DE" sz="1000" dirty="0">
                <a:latin typeface="Trebuchet MS" pitchFamily="34" charset="0"/>
                <a:ea typeface="ＭＳ Ｐゴシック" pitchFamily="-108" charset="-128"/>
              </a:rPr>
            </a:br>
            <a:r>
              <a:rPr lang="de-DE" sz="1000" dirty="0">
                <a:latin typeface="Trebuchet MS" pitchFamily="34" charset="0"/>
                <a:ea typeface="ＭＳ Ｐゴシック" pitchFamily="-108" charset="-128"/>
              </a:rPr>
              <a:t>banks</a:t>
            </a:r>
          </a:p>
        </p:txBody>
      </p:sp>
      <p:sp>
        <p:nvSpPr>
          <p:cNvPr id="39" name="Rectangle 38"/>
          <p:cNvSpPr/>
          <p:nvPr/>
        </p:nvSpPr>
        <p:spPr bwMode="auto">
          <a:xfrm>
            <a:off x="6400801" y="6111875"/>
            <a:ext cx="925513" cy="520700"/>
          </a:xfrm>
          <a:prstGeom prst="rect">
            <a:avLst/>
          </a:prstGeom>
          <a:solidFill>
            <a:srgbClr val="3F714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SD from banks</a:t>
            </a:r>
          </a:p>
        </p:txBody>
      </p:sp>
      <p:sp>
        <p:nvSpPr>
          <p:cNvPr id="40" name="Rectangle 39"/>
          <p:cNvSpPr/>
          <p:nvPr/>
        </p:nvSpPr>
        <p:spPr bwMode="auto">
          <a:xfrm>
            <a:off x="5462588" y="5819776"/>
            <a:ext cx="925512" cy="568325"/>
          </a:xfrm>
          <a:prstGeom prst="rect">
            <a:avLst/>
          </a:prstGeom>
          <a:solidFill>
            <a:schemeClr val="bg1">
              <a:lumMod val="65000"/>
            </a:schemeClr>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solidFill>
                  <a:schemeClr val="bg1"/>
                </a:solidFill>
                <a:latin typeface="Trebuchet MS" pitchFamily="34" charset="0"/>
                <a:ea typeface="ＭＳ Ｐゴシック" pitchFamily="-108" charset="-128"/>
              </a:rPr>
              <a:t>Claims on banks</a:t>
            </a:r>
          </a:p>
        </p:txBody>
      </p:sp>
      <p:sp>
        <p:nvSpPr>
          <p:cNvPr id="41" name="Rectangle 4"/>
          <p:cNvSpPr>
            <a:spLocks noChangeArrowheads="1"/>
          </p:cNvSpPr>
          <p:nvPr/>
        </p:nvSpPr>
        <p:spPr bwMode="auto">
          <a:xfrm>
            <a:off x="2120901" y="1685926"/>
            <a:ext cx="1908175" cy="252413"/>
          </a:xfrm>
          <a:prstGeom prst="chevron">
            <a:avLst>
              <a:gd name="adj" fmla="val 0"/>
            </a:avLst>
          </a:prstGeom>
          <a:solidFill>
            <a:srgbClr val="FFFF00"/>
          </a:solid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5"/>
              <a:defRPr/>
            </a:pPr>
            <a:r>
              <a:rPr lang="en-GB" sz="1000" kern="0" dirty="0">
                <a:solidFill>
                  <a:srgbClr val="000000"/>
                </a:solidFill>
                <a:latin typeface="Trebuchet MS" pitchFamily="34" charset="0"/>
                <a:ea typeface="ＭＳ Ｐゴシック" pitchFamily="-108" charset="-128"/>
                <a:cs typeface="Arial" pitchFamily="34" charset="0"/>
              </a:rPr>
              <a:t>Money market trading</a:t>
            </a:r>
          </a:p>
        </p:txBody>
      </p:sp>
      <p:sp>
        <p:nvSpPr>
          <p:cNvPr id="42" name="Oval 178"/>
          <p:cNvSpPr>
            <a:spLocks noChangeArrowheads="1"/>
          </p:cNvSpPr>
          <p:nvPr/>
        </p:nvSpPr>
        <p:spPr bwMode="auto">
          <a:xfrm>
            <a:off x="9923463" y="1439863"/>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43" name="Oval 179"/>
          <p:cNvSpPr>
            <a:spLocks noChangeArrowheads="1"/>
          </p:cNvSpPr>
          <p:nvPr/>
        </p:nvSpPr>
        <p:spPr bwMode="auto">
          <a:xfrm>
            <a:off x="9931400" y="2422525"/>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44" name="Oval 180"/>
          <p:cNvSpPr>
            <a:spLocks noChangeArrowheads="1"/>
          </p:cNvSpPr>
          <p:nvPr/>
        </p:nvSpPr>
        <p:spPr bwMode="auto">
          <a:xfrm>
            <a:off x="9931400" y="2705100"/>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45" name="Oval 181"/>
          <p:cNvSpPr>
            <a:spLocks noChangeArrowheads="1"/>
          </p:cNvSpPr>
          <p:nvPr/>
        </p:nvSpPr>
        <p:spPr bwMode="auto">
          <a:xfrm>
            <a:off x="9931400" y="2971800"/>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46" name="Oval 185"/>
          <p:cNvSpPr>
            <a:spLocks noChangeArrowheads="1"/>
          </p:cNvSpPr>
          <p:nvPr/>
        </p:nvSpPr>
        <p:spPr bwMode="auto">
          <a:xfrm>
            <a:off x="7772400" y="2422525"/>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47" name="Isosceles Triangle 195"/>
          <p:cNvSpPr>
            <a:spLocks noChangeArrowheads="1"/>
          </p:cNvSpPr>
          <p:nvPr/>
        </p:nvSpPr>
        <p:spPr bwMode="auto">
          <a:xfrm>
            <a:off x="3822700" y="1752600"/>
            <a:ext cx="107950" cy="107950"/>
          </a:xfrm>
          <a:prstGeom prst="triangle">
            <a:avLst>
              <a:gd name="adj" fmla="val 50000"/>
            </a:avLst>
          </a:prstGeom>
          <a:solidFill>
            <a:schemeClr val="tx1"/>
          </a:solidFill>
          <a:ln w="9525" algn="ctr">
            <a:noFill/>
            <a:miter lim="800000"/>
            <a:headEnd/>
            <a:tailEnd/>
          </a:ln>
        </p:spPr>
        <p:txBody>
          <a:bodyPr lIns="0" tIns="0" rIns="0" bIns="0" anchor="ctr"/>
          <a:lstStyle/>
          <a:p>
            <a:pPr algn="ctr"/>
            <a:endParaRPr lang="en-US"/>
          </a:p>
        </p:txBody>
      </p:sp>
      <p:sp>
        <p:nvSpPr>
          <p:cNvPr id="48" name="Oval 196"/>
          <p:cNvSpPr>
            <a:spLocks noChangeArrowheads="1"/>
          </p:cNvSpPr>
          <p:nvPr/>
        </p:nvSpPr>
        <p:spPr bwMode="auto">
          <a:xfrm>
            <a:off x="3732213" y="2422525"/>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49" name="Oval 197"/>
          <p:cNvSpPr>
            <a:spLocks noChangeArrowheads="1"/>
          </p:cNvSpPr>
          <p:nvPr/>
        </p:nvSpPr>
        <p:spPr bwMode="auto">
          <a:xfrm>
            <a:off x="3732213" y="2705100"/>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50" name="Oval 198"/>
          <p:cNvSpPr>
            <a:spLocks noChangeArrowheads="1"/>
          </p:cNvSpPr>
          <p:nvPr/>
        </p:nvSpPr>
        <p:spPr bwMode="auto">
          <a:xfrm>
            <a:off x="5889625" y="2422525"/>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51" name="Oval 199"/>
          <p:cNvSpPr>
            <a:spLocks noChangeArrowheads="1"/>
          </p:cNvSpPr>
          <p:nvPr/>
        </p:nvSpPr>
        <p:spPr bwMode="auto">
          <a:xfrm>
            <a:off x="5889625" y="2705100"/>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52" name="Oval 200"/>
          <p:cNvSpPr>
            <a:spLocks noChangeArrowheads="1"/>
          </p:cNvSpPr>
          <p:nvPr/>
        </p:nvSpPr>
        <p:spPr bwMode="auto">
          <a:xfrm>
            <a:off x="5889625" y="2971800"/>
            <a:ext cx="107950" cy="107950"/>
          </a:xfrm>
          <a:prstGeom prst="ellipse">
            <a:avLst/>
          </a:prstGeom>
          <a:solidFill>
            <a:schemeClr val="tx1"/>
          </a:solidFill>
          <a:ln w="9525" algn="ctr">
            <a:noFill/>
            <a:miter lim="800000"/>
            <a:headEnd/>
            <a:tailEnd/>
          </a:ln>
        </p:spPr>
        <p:txBody>
          <a:bodyPr lIns="0" tIns="0" rIns="0" bIns="0" anchor="ctr"/>
          <a:lstStyle/>
          <a:p>
            <a:pPr algn="ctr"/>
            <a:endParaRPr lang="en-US"/>
          </a:p>
        </p:txBody>
      </p:sp>
      <p:sp>
        <p:nvSpPr>
          <p:cNvPr id="53" name="Isosceles Triangle 201"/>
          <p:cNvSpPr>
            <a:spLocks noChangeArrowheads="1"/>
          </p:cNvSpPr>
          <p:nvPr/>
        </p:nvSpPr>
        <p:spPr bwMode="auto">
          <a:xfrm>
            <a:off x="3886200" y="2705100"/>
            <a:ext cx="107950" cy="107950"/>
          </a:xfrm>
          <a:prstGeom prst="triangle">
            <a:avLst>
              <a:gd name="adj" fmla="val 50000"/>
            </a:avLst>
          </a:prstGeom>
          <a:solidFill>
            <a:schemeClr val="tx1"/>
          </a:solidFill>
          <a:ln w="9525" algn="ctr">
            <a:noFill/>
            <a:miter lim="800000"/>
            <a:headEnd/>
            <a:tailEnd/>
          </a:ln>
        </p:spPr>
        <p:txBody>
          <a:bodyPr lIns="0" tIns="0" rIns="0" bIns="0" anchor="ctr"/>
          <a:lstStyle/>
          <a:p>
            <a:pPr algn="ctr"/>
            <a:endParaRPr lang="en-US"/>
          </a:p>
        </p:txBody>
      </p:sp>
      <p:sp>
        <p:nvSpPr>
          <p:cNvPr id="54" name="Isosceles Triangle 202"/>
          <p:cNvSpPr>
            <a:spLocks noChangeArrowheads="1"/>
          </p:cNvSpPr>
          <p:nvPr/>
        </p:nvSpPr>
        <p:spPr bwMode="auto">
          <a:xfrm>
            <a:off x="7943850" y="2413000"/>
            <a:ext cx="107950" cy="107950"/>
          </a:xfrm>
          <a:prstGeom prst="triangle">
            <a:avLst>
              <a:gd name="adj" fmla="val 50000"/>
            </a:avLst>
          </a:prstGeom>
          <a:solidFill>
            <a:schemeClr val="tx1"/>
          </a:solidFill>
          <a:ln w="9525" algn="ctr">
            <a:noFill/>
            <a:miter lim="800000"/>
            <a:headEnd/>
            <a:tailEnd/>
          </a:ln>
        </p:spPr>
        <p:txBody>
          <a:bodyPr lIns="0" tIns="0" rIns="0" bIns="0" anchor="ctr"/>
          <a:lstStyle/>
          <a:p>
            <a:pPr algn="ctr"/>
            <a:endParaRPr lang="en-US"/>
          </a:p>
        </p:txBody>
      </p:sp>
      <p:sp>
        <p:nvSpPr>
          <p:cNvPr id="55" name="Rectangle 54"/>
          <p:cNvSpPr/>
          <p:nvPr/>
        </p:nvSpPr>
        <p:spPr bwMode="auto">
          <a:xfrm>
            <a:off x="6186489" y="2646363"/>
            <a:ext cx="1908175" cy="215900"/>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UD from other banks</a:t>
            </a:r>
          </a:p>
        </p:txBody>
      </p:sp>
      <p:sp>
        <p:nvSpPr>
          <p:cNvPr id="56" name="Isosceles Triangle 205"/>
          <p:cNvSpPr>
            <a:spLocks noChangeArrowheads="1"/>
          </p:cNvSpPr>
          <p:nvPr/>
        </p:nvSpPr>
        <p:spPr bwMode="auto">
          <a:xfrm>
            <a:off x="7943850" y="2693988"/>
            <a:ext cx="107950" cy="107950"/>
          </a:xfrm>
          <a:prstGeom prst="triangle">
            <a:avLst>
              <a:gd name="adj" fmla="val 50000"/>
            </a:avLst>
          </a:prstGeom>
          <a:solidFill>
            <a:schemeClr val="tx1"/>
          </a:solidFill>
          <a:ln w="9525" algn="ctr">
            <a:noFill/>
            <a:miter lim="800000"/>
            <a:headEnd/>
            <a:tailEnd/>
          </a:ln>
        </p:spPr>
        <p:txBody>
          <a:bodyPr lIns="0" tIns="0" rIns="0" bIns="0" anchor="ctr"/>
          <a:lstStyle/>
          <a:p>
            <a:pPr algn="ctr"/>
            <a:endParaRPr lang="en-US"/>
          </a:p>
        </p:txBody>
      </p:sp>
      <p:sp>
        <p:nvSpPr>
          <p:cNvPr id="57" name="Rectangle 56"/>
          <p:cNvSpPr/>
          <p:nvPr/>
        </p:nvSpPr>
        <p:spPr bwMode="auto">
          <a:xfrm>
            <a:off x="2117726" y="2922588"/>
            <a:ext cx="1908175" cy="215900"/>
          </a:xfrm>
          <a:prstGeom prst="rect">
            <a:avLst/>
          </a:prstGeom>
          <a:solidFill>
            <a:schemeClr val="bg1">
              <a:lumMod val="65000"/>
            </a:schemeClr>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solidFill>
                  <a:schemeClr val="bg1"/>
                </a:solidFill>
                <a:latin typeface="Trebuchet MS" pitchFamily="34" charset="0"/>
                <a:ea typeface="ＭＳ Ｐゴシック" pitchFamily="-108" charset="-128"/>
              </a:rPr>
              <a:t>Deposits to other banks</a:t>
            </a:r>
          </a:p>
        </p:txBody>
      </p:sp>
      <p:sp>
        <p:nvSpPr>
          <p:cNvPr id="58" name="Isosceles Triangle 207"/>
          <p:cNvSpPr>
            <a:spLocks noChangeArrowheads="1"/>
          </p:cNvSpPr>
          <p:nvPr/>
        </p:nvSpPr>
        <p:spPr bwMode="auto">
          <a:xfrm>
            <a:off x="3886200" y="2952750"/>
            <a:ext cx="107950" cy="107950"/>
          </a:xfrm>
          <a:prstGeom prst="triangle">
            <a:avLst>
              <a:gd name="adj" fmla="val 50000"/>
            </a:avLst>
          </a:prstGeom>
          <a:solidFill>
            <a:schemeClr val="tx1"/>
          </a:solidFill>
          <a:ln w="9525" algn="ctr">
            <a:noFill/>
            <a:miter lim="800000"/>
            <a:headEnd/>
            <a:tailEnd/>
          </a:ln>
        </p:spPr>
        <p:txBody>
          <a:bodyPr lIns="0" tIns="0" rIns="0" bIns="0" anchor="ctr"/>
          <a:lstStyle/>
          <a:p>
            <a:pPr algn="ctr"/>
            <a:endParaRPr lang="en-US"/>
          </a:p>
        </p:txBody>
      </p:sp>
      <p:sp>
        <p:nvSpPr>
          <p:cNvPr id="59" name="Rectangle 4"/>
          <p:cNvSpPr>
            <a:spLocks noChangeArrowheads="1"/>
          </p:cNvSpPr>
          <p:nvPr/>
        </p:nvSpPr>
        <p:spPr bwMode="auto">
          <a:xfrm>
            <a:off x="4154489" y="1685926"/>
            <a:ext cx="1908175" cy="252413"/>
          </a:xfrm>
          <a:prstGeom prst="chevron">
            <a:avLst>
              <a:gd name="adj" fmla="val 0"/>
            </a:avLst>
          </a:prstGeom>
          <a:solidFill>
            <a:srgbClr val="FFFF00"/>
          </a:solid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6"/>
              <a:defRPr/>
            </a:pPr>
            <a:r>
              <a:rPr lang="en-GB" sz="1000" kern="0" dirty="0">
                <a:solidFill>
                  <a:srgbClr val="000000"/>
                </a:solidFill>
                <a:latin typeface="Trebuchet MS" pitchFamily="34" charset="0"/>
                <a:ea typeface="ＭＳ Ｐゴシック" pitchFamily="-108" charset="-128"/>
                <a:cs typeface="Arial" pitchFamily="34" charset="0"/>
              </a:rPr>
              <a:t>Liquidity management</a:t>
            </a:r>
          </a:p>
        </p:txBody>
      </p:sp>
      <p:sp>
        <p:nvSpPr>
          <p:cNvPr id="60" name="Diamond 210"/>
          <p:cNvSpPr>
            <a:spLocks noChangeArrowheads="1"/>
          </p:cNvSpPr>
          <p:nvPr/>
        </p:nvSpPr>
        <p:spPr bwMode="auto">
          <a:xfrm>
            <a:off x="5868988" y="1765300"/>
            <a:ext cx="107950" cy="107950"/>
          </a:xfrm>
          <a:prstGeom prst="diamond">
            <a:avLst/>
          </a:prstGeom>
          <a:solidFill>
            <a:schemeClr val="tx1"/>
          </a:solidFill>
          <a:ln w="9525" algn="ctr">
            <a:noFill/>
            <a:miter lim="800000"/>
            <a:headEnd/>
            <a:tailEnd/>
          </a:ln>
        </p:spPr>
        <p:txBody>
          <a:bodyPr lIns="0" tIns="0" rIns="0" bIns="0" anchor="ctr"/>
          <a:lstStyle/>
          <a:p>
            <a:pPr algn="ctr"/>
            <a:endParaRPr lang="en-US"/>
          </a:p>
        </p:txBody>
      </p:sp>
      <p:sp>
        <p:nvSpPr>
          <p:cNvPr id="61" name="Rectangle 60"/>
          <p:cNvSpPr/>
          <p:nvPr/>
        </p:nvSpPr>
        <p:spPr bwMode="auto">
          <a:xfrm>
            <a:off x="5449888" y="6392863"/>
            <a:ext cx="925512" cy="252412"/>
          </a:xfrm>
          <a:prstGeom prst="rect">
            <a:avLst/>
          </a:prstGeom>
          <a:solidFill>
            <a:srgbClr val="6E81C5"/>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Cash reserve</a:t>
            </a:r>
          </a:p>
        </p:txBody>
      </p:sp>
      <p:sp>
        <p:nvSpPr>
          <p:cNvPr id="62" name="Rectangle 61"/>
          <p:cNvSpPr/>
          <p:nvPr/>
        </p:nvSpPr>
        <p:spPr bwMode="auto">
          <a:xfrm>
            <a:off x="2117726" y="3198813"/>
            <a:ext cx="1908175" cy="215900"/>
          </a:xfrm>
          <a:prstGeom prst="rect">
            <a:avLst/>
          </a:prstGeom>
          <a:solidFill>
            <a:schemeClr val="accent6">
              <a:lumMod val="40000"/>
              <a:lumOff val="60000"/>
            </a:schemeClr>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Liquidity reserve</a:t>
            </a:r>
          </a:p>
        </p:txBody>
      </p:sp>
      <p:sp>
        <p:nvSpPr>
          <p:cNvPr id="63" name="Diamond 215"/>
          <p:cNvSpPr>
            <a:spLocks noChangeArrowheads="1"/>
          </p:cNvSpPr>
          <p:nvPr/>
        </p:nvSpPr>
        <p:spPr bwMode="auto">
          <a:xfrm>
            <a:off x="3878263" y="3241675"/>
            <a:ext cx="107950" cy="107950"/>
          </a:xfrm>
          <a:prstGeom prst="diamond">
            <a:avLst/>
          </a:prstGeom>
          <a:solidFill>
            <a:schemeClr val="tx1"/>
          </a:solidFill>
          <a:ln w="9525" algn="ctr">
            <a:noFill/>
            <a:miter lim="800000"/>
            <a:headEnd/>
            <a:tailEnd/>
          </a:ln>
        </p:spPr>
        <p:txBody>
          <a:bodyPr lIns="0" tIns="0" rIns="0" bIns="0" anchor="ctr"/>
          <a:lstStyle/>
          <a:p>
            <a:pPr algn="ctr"/>
            <a:endParaRPr lang="en-US"/>
          </a:p>
        </p:txBody>
      </p:sp>
      <p:sp>
        <p:nvSpPr>
          <p:cNvPr id="64" name="Rectangle 63"/>
          <p:cNvSpPr/>
          <p:nvPr/>
        </p:nvSpPr>
        <p:spPr bwMode="auto">
          <a:xfrm>
            <a:off x="6186489" y="2922588"/>
            <a:ext cx="1908175" cy="215900"/>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180000" tIns="72000" rIns="36000" bIns="72000" anchor="ctr"/>
          <a:lstStyle/>
          <a:p>
            <a:pPr>
              <a:lnSpc>
                <a:spcPct val="90000"/>
              </a:lnSpc>
              <a:defRPr/>
            </a:pPr>
            <a:r>
              <a:rPr lang="de-DE" sz="1000" dirty="0">
                <a:latin typeface="Trebuchet MS" pitchFamily="34" charset="0"/>
                <a:ea typeface="ＭＳ Ｐゴシック" pitchFamily="-108" charset="-128"/>
              </a:rPr>
              <a:t>Funding liquidity reserve</a:t>
            </a:r>
          </a:p>
        </p:txBody>
      </p:sp>
      <p:sp>
        <p:nvSpPr>
          <p:cNvPr id="65" name="Diamond 220"/>
          <p:cNvSpPr>
            <a:spLocks noChangeArrowheads="1"/>
          </p:cNvSpPr>
          <p:nvPr/>
        </p:nvSpPr>
        <p:spPr bwMode="auto">
          <a:xfrm>
            <a:off x="7945438" y="2974975"/>
            <a:ext cx="107950" cy="107950"/>
          </a:xfrm>
          <a:prstGeom prst="diamond">
            <a:avLst/>
          </a:prstGeom>
          <a:solidFill>
            <a:schemeClr val="tx1"/>
          </a:solidFill>
          <a:ln w="9525" algn="ctr">
            <a:noFill/>
            <a:miter lim="800000"/>
            <a:headEnd/>
            <a:tailEnd/>
          </a:ln>
        </p:spPr>
        <p:txBody>
          <a:bodyPr lIns="0" tIns="0" rIns="0" bIns="0" anchor="ctr"/>
          <a:lstStyle/>
          <a:p>
            <a:pPr algn="ctr"/>
            <a:endParaRPr lang="en-US"/>
          </a:p>
        </p:txBody>
      </p:sp>
      <p:sp>
        <p:nvSpPr>
          <p:cNvPr id="66" name="Rectangle 4"/>
          <p:cNvSpPr>
            <a:spLocks noChangeArrowheads="1"/>
          </p:cNvSpPr>
          <p:nvPr/>
        </p:nvSpPr>
        <p:spPr bwMode="auto">
          <a:xfrm>
            <a:off x="2117726"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Borrowing (client’s view)</a:t>
            </a:r>
          </a:p>
        </p:txBody>
      </p:sp>
      <p:sp>
        <p:nvSpPr>
          <p:cNvPr id="67" name="Rectangle 4"/>
          <p:cNvSpPr>
            <a:spLocks noChangeArrowheads="1"/>
          </p:cNvSpPr>
          <p:nvPr/>
        </p:nvSpPr>
        <p:spPr bwMode="auto">
          <a:xfrm>
            <a:off x="6186489"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Investment (client’s view)</a:t>
            </a:r>
          </a:p>
        </p:txBody>
      </p:sp>
      <p:sp>
        <p:nvSpPr>
          <p:cNvPr id="2" name="Title 3">
            <a:extLst>
              <a:ext uri="{FF2B5EF4-FFF2-40B4-BE49-F238E27FC236}">
                <a16:creationId xmlns:a16="http://schemas.microsoft.com/office/drawing/2014/main" id="{BC63ABEC-5527-7477-1563-EEA61EA8DC2D}"/>
              </a:ext>
            </a:extLst>
          </p:cNvPr>
          <p:cNvSpPr txBox="1">
            <a:spLocks/>
          </p:cNvSpPr>
          <p:nvPr/>
        </p:nvSpPr>
        <p:spPr>
          <a:xfrm>
            <a:off x="1954214" y="274638"/>
            <a:ext cx="8713787" cy="741362"/>
          </a:xfrm>
          <a:prstGeom prst="rect">
            <a:avLst/>
          </a:prstGeom>
        </p:spPr>
        <p:txBody>
          <a:bodyPr/>
          <a:lstStyle/>
          <a:p>
            <a:pPr eaLnBrk="0" hangingPunct="0">
              <a:defRPr/>
            </a:pPr>
            <a:r>
              <a:rPr lang="hu-HU" kern="0" dirty="0">
                <a:latin typeface="+mj-lt"/>
                <a:ea typeface="+mj-ea"/>
                <a:cs typeface="+mj-cs"/>
              </a:rPr>
              <a:t>B</a:t>
            </a:r>
            <a:r>
              <a:rPr lang="en-GB" kern="0" dirty="0" err="1">
                <a:latin typeface="+mj-lt"/>
                <a:ea typeface="+mj-ea"/>
                <a:cs typeface="+mj-cs"/>
              </a:rPr>
              <a:t>ank</a:t>
            </a:r>
            <a:r>
              <a:rPr lang="en-GB" kern="0" dirty="0">
                <a:latin typeface="+mj-lt"/>
                <a:ea typeface="+mj-ea"/>
                <a:cs typeface="+mj-cs"/>
              </a:rPr>
              <a:t> business and balance-sheet risk</a:t>
            </a:r>
            <a:br>
              <a:rPr lang="en-GB" kern="0" dirty="0">
                <a:latin typeface="+mj-lt"/>
                <a:ea typeface="+mj-ea"/>
                <a:cs typeface="+mj-cs"/>
              </a:rPr>
            </a:br>
            <a:r>
              <a:rPr lang="hu-HU" kern="0" dirty="0">
                <a:latin typeface="+mj-lt"/>
                <a:ea typeface="+mj-ea"/>
                <a:cs typeface="+mj-cs"/>
              </a:rPr>
              <a:t>P</a:t>
            </a:r>
            <a:r>
              <a:rPr lang="en-GB" kern="0" dirty="0" err="1">
                <a:latin typeface="+mj-lt"/>
                <a:ea typeface="+mj-ea"/>
                <a:cs typeface="+mj-cs"/>
              </a:rPr>
              <a:t>roducts</a:t>
            </a:r>
            <a:r>
              <a:rPr lang="en-GB" kern="0" dirty="0">
                <a:latin typeface="+mj-lt"/>
                <a:ea typeface="+mj-ea"/>
                <a:cs typeface="+mj-cs"/>
              </a:rPr>
              <a:t> and their B/S, P&amp;L- and risk implications</a:t>
            </a:r>
            <a:endParaRPr lang="en-GB" kern="0" baseline="30000" dirty="0">
              <a:latin typeface="+mj-lt"/>
              <a:ea typeface="+mj-ea"/>
              <a:cs typeface="+mj-cs"/>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Slide Number Placeholder 12"/>
          <p:cNvSpPr>
            <a:spLocks noGrp="1"/>
          </p:cNvSpPr>
          <p:nvPr>
            <p:ph type="sldNum" sz="quarter" idx="4"/>
          </p:nvPr>
        </p:nvSpPr>
        <p:spPr>
          <a:xfrm>
            <a:off x="8295801" y="6356350"/>
            <a:ext cx="416399" cy="365125"/>
          </a:xfrm>
          <a:prstGeom prst="rect">
            <a:avLst/>
          </a:prstGeom>
        </p:spPr>
        <p:txBody>
          <a:bodyPr vert="horz" lIns="91440" tIns="45720" rIns="91440" bIns="45720" rtlCol="0" anchor="ctr"/>
          <a:lstStyle>
            <a:defPPr>
              <a:defRPr lang="de-DE"/>
            </a:defPPr>
            <a:lvl1pPr algn="r" rtl="0" fontAlgn="base">
              <a:spcBef>
                <a:spcPct val="0"/>
              </a:spcBef>
              <a:spcAft>
                <a:spcPct val="0"/>
              </a:spcAft>
              <a:defRPr sz="800"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D4222BFC-8070-2749-ADD2-48D4133FB3EC}" type="slidenum">
              <a:rPr lang="en-GB" smtClean="0"/>
              <a:pPr/>
              <a:t>27</a:t>
            </a:fld>
            <a:endParaRPr lang="en-GB" dirty="0"/>
          </a:p>
        </p:txBody>
      </p:sp>
      <p:sp>
        <p:nvSpPr>
          <p:cNvPr id="6" name="Rectangle 4"/>
          <p:cNvSpPr>
            <a:spLocks noChangeArrowheads="1"/>
          </p:cNvSpPr>
          <p:nvPr/>
        </p:nvSpPr>
        <p:spPr bwMode="auto">
          <a:xfrm>
            <a:off x="2279650" y="4006850"/>
            <a:ext cx="1397000" cy="723900"/>
          </a:xfrm>
          <a:prstGeom prst="chevron">
            <a:avLst>
              <a:gd name="adj" fmla="val 0"/>
            </a:avLst>
          </a:prstGeom>
          <a:solidFill>
            <a:srgbClr val="FFFFFF"/>
          </a:solidFill>
          <a:ln w="25400">
            <a:noFill/>
            <a:miter lim="800000"/>
            <a:headEnd/>
            <a:tailEnd/>
          </a:ln>
          <a:effectLst/>
        </p:spPr>
        <p:txBody>
          <a:bodyPr lIns="0" tIns="0" rIns="0" bIns="0" anchor="ctr"/>
          <a:lstStyle/>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Positive FV deriv.</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Assets held for trading purposes (bonds, notes, shares, FX, precious metals)</a:t>
            </a:r>
          </a:p>
        </p:txBody>
      </p:sp>
      <p:sp>
        <p:nvSpPr>
          <p:cNvPr id="7" name="Rectangle 4"/>
          <p:cNvSpPr>
            <a:spLocks noChangeArrowheads="1"/>
          </p:cNvSpPr>
          <p:nvPr/>
        </p:nvSpPr>
        <p:spPr bwMode="auto">
          <a:xfrm>
            <a:off x="3803650" y="3584575"/>
            <a:ext cx="1092200" cy="427038"/>
          </a:xfrm>
          <a:prstGeom prst="chevron">
            <a:avLst>
              <a:gd name="adj" fmla="val 0"/>
            </a:avLst>
          </a:prstGeom>
          <a:solidFill>
            <a:srgbClr val="FFFFFF"/>
          </a:solidFill>
          <a:ln w="25400">
            <a:noFill/>
            <a:miter lim="800000"/>
            <a:headEnd/>
            <a:tailEnd/>
          </a:ln>
          <a:effectLst/>
        </p:spPr>
        <p:txBody>
          <a:bodyPr lIns="0" tIns="0" rIns="0" bIns="0" anchor="ctr"/>
          <a:lstStyle/>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Loans</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Roll-overs</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Mortgages</a:t>
            </a:r>
          </a:p>
        </p:txBody>
      </p:sp>
      <p:sp>
        <p:nvSpPr>
          <p:cNvPr id="8" name="Rectangle 4"/>
          <p:cNvSpPr>
            <a:spLocks noChangeArrowheads="1"/>
          </p:cNvSpPr>
          <p:nvPr/>
        </p:nvSpPr>
        <p:spPr bwMode="auto">
          <a:xfrm>
            <a:off x="2120901" y="1374776"/>
            <a:ext cx="1908175" cy="250825"/>
          </a:xfrm>
          <a:prstGeom prst="chevron">
            <a:avLst>
              <a:gd name="adj" fmla="val 0"/>
            </a:avLst>
          </a:prstGeom>
          <a:noFill/>
          <a:ln w="25400">
            <a:solidFill>
              <a:srgbClr val="7E99AA">
                <a:lumMod val="50000"/>
              </a:srgbClr>
            </a:solidFill>
            <a:miter lim="800000"/>
            <a:headEnd/>
            <a:tailEnd/>
          </a:ln>
          <a:effectLst/>
        </p:spPr>
        <p:txBody>
          <a:bodyPr anchor="ctr"/>
          <a:lstStyle/>
          <a:p>
            <a:pPr marL="174625" lvl="1" indent="-174625">
              <a:lnSpc>
                <a:spcPct val="90000"/>
              </a:lnSpc>
              <a:buClr>
                <a:srgbClr val="314C6A"/>
              </a:buClr>
              <a:buFont typeface="+mj-lt"/>
              <a:buAutoNum type="arabicPeriod"/>
              <a:defRPr/>
            </a:pPr>
            <a:r>
              <a:rPr lang="en-GB" sz="1000" kern="0" dirty="0">
                <a:solidFill>
                  <a:srgbClr val="000000"/>
                </a:solidFill>
                <a:latin typeface="Trebuchet MS" pitchFamily="34" charset="0"/>
                <a:ea typeface="ＭＳ Ｐゴシック" pitchFamily="-108" charset="-128"/>
                <a:cs typeface="Arial" pitchFamily="34" charset="0"/>
              </a:rPr>
              <a:t>Retail &amp; SME</a:t>
            </a:r>
          </a:p>
        </p:txBody>
      </p:sp>
      <p:sp>
        <p:nvSpPr>
          <p:cNvPr id="9" name="Rectangle 4"/>
          <p:cNvSpPr>
            <a:spLocks noChangeArrowheads="1"/>
          </p:cNvSpPr>
          <p:nvPr/>
        </p:nvSpPr>
        <p:spPr bwMode="auto">
          <a:xfrm>
            <a:off x="4154489" y="1374776"/>
            <a:ext cx="1908175" cy="250825"/>
          </a:xfrm>
          <a:prstGeom prst="chevron">
            <a:avLst>
              <a:gd name="adj" fmla="val 0"/>
            </a:avLst>
          </a:prstGeom>
          <a:no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2"/>
              <a:defRPr/>
            </a:pPr>
            <a:r>
              <a:rPr lang="en-GB" sz="1000" kern="0" dirty="0">
                <a:solidFill>
                  <a:srgbClr val="000000"/>
                </a:solidFill>
                <a:latin typeface="Trebuchet MS" pitchFamily="34" charset="0"/>
                <a:ea typeface="ＭＳ Ｐゴシック" pitchFamily="-108" charset="-128"/>
                <a:cs typeface="Arial" pitchFamily="34" charset="0"/>
              </a:rPr>
              <a:t>Corporate</a:t>
            </a:r>
          </a:p>
        </p:txBody>
      </p:sp>
      <p:sp>
        <p:nvSpPr>
          <p:cNvPr id="10" name="Rectangle 4"/>
          <p:cNvSpPr>
            <a:spLocks noChangeArrowheads="1"/>
          </p:cNvSpPr>
          <p:nvPr/>
        </p:nvSpPr>
        <p:spPr bwMode="auto">
          <a:xfrm>
            <a:off x="6188076" y="1374776"/>
            <a:ext cx="1908175" cy="250825"/>
          </a:xfrm>
          <a:prstGeom prst="chevron">
            <a:avLst>
              <a:gd name="adj" fmla="val 0"/>
            </a:avLst>
          </a:prstGeom>
          <a:no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3"/>
              <a:defRPr/>
            </a:pPr>
            <a:r>
              <a:rPr lang="en-GB" sz="1000" kern="0" dirty="0">
                <a:solidFill>
                  <a:srgbClr val="000000"/>
                </a:solidFill>
                <a:latin typeface="Trebuchet MS" pitchFamily="34" charset="0"/>
                <a:ea typeface="ＭＳ Ｐゴシック" pitchFamily="-108" charset="-128"/>
                <a:cs typeface="Arial" pitchFamily="34" charset="0"/>
              </a:rPr>
              <a:t>Asset-based Finance</a:t>
            </a:r>
          </a:p>
        </p:txBody>
      </p:sp>
      <p:sp>
        <p:nvSpPr>
          <p:cNvPr id="11" name="Rectangle 4"/>
          <p:cNvSpPr>
            <a:spLocks noChangeArrowheads="1"/>
          </p:cNvSpPr>
          <p:nvPr/>
        </p:nvSpPr>
        <p:spPr bwMode="auto">
          <a:xfrm>
            <a:off x="8221664" y="1374776"/>
            <a:ext cx="1908175" cy="250825"/>
          </a:xfrm>
          <a:prstGeom prst="chevron">
            <a:avLst>
              <a:gd name="adj" fmla="val 0"/>
            </a:avLst>
          </a:prstGeom>
          <a:no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4"/>
              <a:defRPr/>
            </a:pPr>
            <a:r>
              <a:rPr lang="en-GB" sz="1000" kern="0" dirty="0">
                <a:solidFill>
                  <a:srgbClr val="000000"/>
                </a:solidFill>
                <a:latin typeface="Trebuchet MS" pitchFamily="34" charset="0"/>
                <a:ea typeface="ＭＳ Ｐゴシック" pitchFamily="-108" charset="-128"/>
                <a:cs typeface="Arial" pitchFamily="34" charset="0"/>
              </a:rPr>
              <a:t>Financial Institutions</a:t>
            </a:r>
          </a:p>
        </p:txBody>
      </p:sp>
      <p:sp>
        <p:nvSpPr>
          <p:cNvPr id="14" name="Rectangle 4"/>
          <p:cNvSpPr>
            <a:spLocks noChangeArrowheads="1"/>
          </p:cNvSpPr>
          <p:nvPr/>
        </p:nvSpPr>
        <p:spPr bwMode="auto">
          <a:xfrm>
            <a:off x="4152901"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Payment</a:t>
            </a:r>
          </a:p>
        </p:txBody>
      </p:sp>
      <p:sp>
        <p:nvSpPr>
          <p:cNvPr id="15" name="Rectangle 4"/>
          <p:cNvSpPr>
            <a:spLocks noChangeArrowheads="1"/>
          </p:cNvSpPr>
          <p:nvPr/>
        </p:nvSpPr>
        <p:spPr bwMode="auto">
          <a:xfrm>
            <a:off x="8221664"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0" lvl="1" indent="-179388"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Services &amp; Extras</a:t>
            </a:r>
          </a:p>
        </p:txBody>
      </p:sp>
      <p:cxnSp>
        <p:nvCxnSpPr>
          <p:cNvPr id="16" name="Straight Connector 138"/>
          <p:cNvCxnSpPr>
            <a:cxnSpLocks noChangeShapeType="1"/>
          </p:cNvCxnSpPr>
          <p:nvPr/>
        </p:nvCxnSpPr>
        <p:spPr bwMode="auto">
          <a:xfrm>
            <a:off x="2117726" y="1998663"/>
            <a:ext cx="8012113" cy="0"/>
          </a:xfrm>
          <a:prstGeom prst="line">
            <a:avLst/>
          </a:prstGeom>
          <a:noFill/>
          <a:ln w="12700" algn="ctr">
            <a:solidFill>
              <a:schemeClr val="tx1"/>
            </a:solidFill>
            <a:round/>
            <a:headEnd/>
            <a:tailEnd/>
          </a:ln>
        </p:spPr>
      </p:cxnSp>
      <p:sp>
        <p:nvSpPr>
          <p:cNvPr id="17" name="Rectangle 4"/>
          <p:cNvSpPr>
            <a:spLocks noChangeArrowheads="1"/>
          </p:cNvSpPr>
          <p:nvPr/>
        </p:nvSpPr>
        <p:spPr bwMode="auto">
          <a:xfrm>
            <a:off x="2120901" y="1685926"/>
            <a:ext cx="1908175" cy="252413"/>
          </a:xfrm>
          <a:prstGeom prst="chevron">
            <a:avLst>
              <a:gd name="adj" fmla="val 0"/>
            </a:avLst>
          </a:prstGeom>
          <a:no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5"/>
              <a:defRPr/>
            </a:pPr>
            <a:r>
              <a:rPr lang="en-GB" sz="1000" kern="0" dirty="0">
                <a:solidFill>
                  <a:srgbClr val="000000"/>
                </a:solidFill>
                <a:latin typeface="Trebuchet MS" pitchFamily="34" charset="0"/>
                <a:ea typeface="ＭＳ Ｐゴシック" pitchFamily="-108" charset="-128"/>
                <a:cs typeface="Arial" pitchFamily="34" charset="0"/>
              </a:rPr>
              <a:t>Money market trading</a:t>
            </a:r>
          </a:p>
        </p:txBody>
      </p:sp>
      <p:sp>
        <p:nvSpPr>
          <p:cNvPr id="18" name="Rectangle 4"/>
          <p:cNvSpPr>
            <a:spLocks noChangeArrowheads="1"/>
          </p:cNvSpPr>
          <p:nvPr/>
        </p:nvSpPr>
        <p:spPr bwMode="auto">
          <a:xfrm>
            <a:off x="6384925" y="2457451"/>
            <a:ext cx="933450" cy="250825"/>
          </a:xfrm>
          <a:prstGeom prst="chevron">
            <a:avLst>
              <a:gd name="adj" fmla="val 0"/>
            </a:avLst>
          </a:prstGeom>
          <a:solidFill>
            <a:srgbClr val="FFFFFF"/>
          </a:solidFill>
          <a:ln w="25400">
            <a:no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Liabilities</a:t>
            </a:r>
          </a:p>
        </p:txBody>
      </p:sp>
      <p:sp>
        <p:nvSpPr>
          <p:cNvPr id="19" name="Rectangle 18"/>
          <p:cNvSpPr/>
          <p:nvPr/>
        </p:nvSpPr>
        <p:spPr bwMode="auto">
          <a:xfrm>
            <a:off x="6384926" y="5784851"/>
            <a:ext cx="925513" cy="288925"/>
          </a:xfrm>
          <a:prstGeom prst="rect">
            <a:avLst/>
          </a:prstGeom>
          <a:solidFill>
            <a:schemeClr val="accent2">
              <a:lumMod val="75000"/>
            </a:schemeClr>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Equity</a:t>
            </a:r>
          </a:p>
        </p:txBody>
      </p:sp>
      <p:sp>
        <p:nvSpPr>
          <p:cNvPr id="20" name="Rectangle 19"/>
          <p:cNvSpPr/>
          <p:nvPr/>
        </p:nvSpPr>
        <p:spPr bwMode="auto">
          <a:xfrm>
            <a:off x="6384926" y="4619625"/>
            <a:ext cx="925513" cy="287338"/>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Trading</a:t>
            </a:r>
            <a:br>
              <a:rPr lang="de-DE" sz="1000" dirty="0">
                <a:solidFill>
                  <a:schemeClr val="bg1"/>
                </a:solidFill>
                <a:latin typeface="Trebuchet MS" pitchFamily="34" charset="0"/>
                <a:ea typeface="ＭＳ Ｐゴシック" pitchFamily="-108" charset="-128"/>
              </a:rPr>
            </a:br>
            <a:r>
              <a:rPr lang="de-DE" sz="1000" dirty="0">
                <a:solidFill>
                  <a:schemeClr val="bg1"/>
                </a:solidFill>
                <a:latin typeface="Trebuchet MS" pitchFamily="34" charset="0"/>
                <a:ea typeface="ＭＳ Ｐゴシック" pitchFamily="-108" charset="-128"/>
              </a:rPr>
              <a:t>liabilities</a:t>
            </a:r>
          </a:p>
        </p:txBody>
      </p:sp>
      <p:sp>
        <p:nvSpPr>
          <p:cNvPr id="23" name="Rectangle 22"/>
          <p:cNvSpPr/>
          <p:nvPr/>
        </p:nvSpPr>
        <p:spPr bwMode="auto">
          <a:xfrm>
            <a:off x="6384926" y="4087813"/>
            <a:ext cx="925513" cy="519112"/>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Securitised Liabilities</a:t>
            </a:r>
          </a:p>
        </p:txBody>
      </p:sp>
      <p:sp>
        <p:nvSpPr>
          <p:cNvPr id="24" name="Rectangle 23"/>
          <p:cNvSpPr/>
          <p:nvPr/>
        </p:nvSpPr>
        <p:spPr bwMode="auto">
          <a:xfrm>
            <a:off x="6384926" y="2755900"/>
            <a:ext cx="925513" cy="565150"/>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Liabilities to banks</a:t>
            </a:r>
          </a:p>
        </p:txBody>
      </p:sp>
      <p:sp>
        <p:nvSpPr>
          <p:cNvPr id="25" name="Rectangle 24"/>
          <p:cNvSpPr/>
          <p:nvPr/>
        </p:nvSpPr>
        <p:spPr bwMode="auto">
          <a:xfrm>
            <a:off x="6384926" y="3335339"/>
            <a:ext cx="925513" cy="757237"/>
          </a:xfrm>
          <a:prstGeom prst="rect">
            <a:avLst/>
          </a:prstGeom>
          <a:solidFill>
            <a:srgbClr val="3F714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Liabilities to customers</a:t>
            </a:r>
          </a:p>
        </p:txBody>
      </p:sp>
      <p:sp>
        <p:nvSpPr>
          <p:cNvPr id="26" name="Rectangle 25"/>
          <p:cNvSpPr/>
          <p:nvPr/>
        </p:nvSpPr>
        <p:spPr bwMode="auto">
          <a:xfrm>
            <a:off x="6384926" y="5191126"/>
            <a:ext cx="925513" cy="288925"/>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Subordinated capital</a:t>
            </a:r>
          </a:p>
        </p:txBody>
      </p:sp>
      <p:sp>
        <p:nvSpPr>
          <p:cNvPr id="27" name="Rectangle 26"/>
          <p:cNvSpPr/>
          <p:nvPr/>
        </p:nvSpPr>
        <p:spPr bwMode="auto">
          <a:xfrm>
            <a:off x="6384926" y="5487989"/>
            <a:ext cx="925513" cy="287337"/>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Hybrid capital</a:t>
            </a:r>
          </a:p>
        </p:txBody>
      </p:sp>
      <p:sp>
        <p:nvSpPr>
          <p:cNvPr id="28" name="Rectangle 27"/>
          <p:cNvSpPr/>
          <p:nvPr/>
        </p:nvSpPr>
        <p:spPr bwMode="auto">
          <a:xfrm>
            <a:off x="6384926" y="4910138"/>
            <a:ext cx="925513" cy="2921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Remaining liabilities</a:t>
            </a:r>
          </a:p>
        </p:txBody>
      </p:sp>
      <p:sp>
        <p:nvSpPr>
          <p:cNvPr id="29" name="Rectangle 28"/>
          <p:cNvSpPr/>
          <p:nvPr/>
        </p:nvSpPr>
        <p:spPr bwMode="auto">
          <a:xfrm>
            <a:off x="5459413" y="2747963"/>
            <a:ext cx="925512" cy="252412"/>
          </a:xfrm>
          <a:prstGeom prst="rect">
            <a:avLst/>
          </a:prstGeom>
          <a:solidFill>
            <a:srgbClr val="6E81C5"/>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Cash reserve</a:t>
            </a:r>
          </a:p>
        </p:txBody>
      </p:sp>
      <p:sp>
        <p:nvSpPr>
          <p:cNvPr id="30" name="Rectangle 29"/>
          <p:cNvSpPr/>
          <p:nvPr/>
        </p:nvSpPr>
        <p:spPr bwMode="auto">
          <a:xfrm>
            <a:off x="5459413" y="3025776"/>
            <a:ext cx="925512" cy="568325"/>
          </a:xfrm>
          <a:prstGeom prst="rect">
            <a:avLst/>
          </a:prstGeom>
          <a:solidFill>
            <a:schemeClr val="bg1">
              <a:lumMod val="65000"/>
            </a:schemeClr>
          </a:solidFill>
          <a:ln w="9525" cap="flat" cmpd="sng" algn="ctr">
            <a:solidFill>
              <a:schemeClr val="bg1">
                <a:lumMod val="75000"/>
              </a:schemeClr>
            </a:solidFill>
            <a:prstDash val="solid"/>
            <a:round/>
            <a:headEnd type="none" w="med" len="med"/>
            <a:tailEnd type="none" w="med" len="med"/>
          </a:ln>
          <a:effectLst/>
        </p:spPr>
        <p:txBody>
          <a:bodyPr lIns="72000" tIns="72000" rIns="36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Claims on</a:t>
            </a:r>
            <a:br>
              <a:rPr lang="de-DE" sz="1000" dirty="0">
                <a:solidFill>
                  <a:schemeClr val="bg1"/>
                </a:solidFill>
                <a:latin typeface="Trebuchet MS" pitchFamily="34" charset="0"/>
                <a:ea typeface="ＭＳ Ｐゴシック" pitchFamily="-108" charset="-128"/>
              </a:rPr>
            </a:br>
            <a:r>
              <a:rPr lang="de-DE" sz="1000" dirty="0">
                <a:solidFill>
                  <a:schemeClr val="bg1"/>
                </a:solidFill>
                <a:latin typeface="Trebuchet MS" pitchFamily="34" charset="0"/>
                <a:ea typeface="ＭＳ Ｐゴシック" pitchFamily="-108" charset="-128"/>
              </a:rPr>
              <a:t>banks</a:t>
            </a:r>
          </a:p>
        </p:txBody>
      </p:sp>
      <p:sp>
        <p:nvSpPr>
          <p:cNvPr id="31" name="Rectangle 30"/>
          <p:cNvSpPr/>
          <p:nvPr/>
        </p:nvSpPr>
        <p:spPr bwMode="auto">
          <a:xfrm>
            <a:off x="5459413" y="3981450"/>
            <a:ext cx="925512" cy="781050"/>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Trading</a:t>
            </a:r>
            <a:br>
              <a:rPr lang="de-DE" sz="1000" dirty="0">
                <a:solidFill>
                  <a:schemeClr val="bg1"/>
                </a:solidFill>
                <a:latin typeface="Trebuchet MS" pitchFamily="34" charset="0"/>
                <a:ea typeface="ＭＳ Ｐゴシック" pitchFamily="-108" charset="-128"/>
              </a:rPr>
            </a:br>
            <a:r>
              <a:rPr lang="de-DE" sz="1000" dirty="0">
                <a:solidFill>
                  <a:schemeClr val="bg1"/>
                </a:solidFill>
                <a:latin typeface="Trebuchet MS" pitchFamily="34" charset="0"/>
                <a:ea typeface="ＭＳ Ｐゴシック" pitchFamily="-108" charset="-128"/>
              </a:rPr>
              <a:t>assets</a:t>
            </a:r>
          </a:p>
        </p:txBody>
      </p:sp>
      <p:sp>
        <p:nvSpPr>
          <p:cNvPr id="32" name="Rectangle 31"/>
          <p:cNvSpPr/>
          <p:nvPr/>
        </p:nvSpPr>
        <p:spPr bwMode="auto">
          <a:xfrm>
            <a:off x="5459413" y="4756150"/>
            <a:ext cx="925512" cy="5842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Financial investments</a:t>
            </a:r>
          </a:p>
        </p:txBody>
      </p:sp>
      <p:sp>
        <p:nvSpPr>
          <p:cNvPr id="33" name="Rectangle 32"/>
          <p:cNvSpPr/>
          <p:nvPr/>
        </p:nvSpPr>
        <p:spPr bwMode="auto">
          <a:xfrm>
            <a:off x="5459413" y="3609976"/>
            <a:ext cx="925512" cy="371475"/>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Claims on customers</a:t>
            </a:r>
          </a:p>
        </p:txBody>
      </p:sp>
      <p:sp>
        <p:nvSpPr>
          <p:cNvPr id="34" name="Rectangle 33"/>
          <p:cNvSpPr/>
          <p:nvPr/>
        </p:nvSpPr>
        <p:spPr bwMode="auto">
          <a:xfrm>
            <a:off x="5459413" y="5702301"/>
            <a:ext cx="925512" cy="347663"/>
          </a:xfrm>
          <a:prstGeom prst="rect">
            <a:avLst/>
          </a:prstGeom>
          <a:solidFill>
            <a:srgbClr val="DCB95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Other assets</a:t>
            </a:r>
          </a:p>
        </p:txBody>
      </p:sp>
      <p:sp>
        <p:nvSpPr>
          <p:cNvPr id="35" name="Rectangle 34"/>
          <p:cNvSpPr/>
          <p:nvPr/>
        </p:nvSpPr>
        <p:spPr bwMode="auto">
          <a:xfrm>
            <a:off x="5459413" y="5343526"/>
            <a:ext cx="925512" cy="366713"/>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Remaining assets</a:t>
            </a:r>
          </a:p>
        </p:txBody>
      </p:sp>
      <p:sp>
        <p:nvSpPr>
          <p:cNvPr id="36" name="Rectangle 4"/>
          <p:cNvSpPr>
            <a:spLocks noChangeArrowheads="1"/>
          </p:cNvSpPr>
          <p:nvPr/>
        </p:nvSpPr>
        <p:spPr bwMode="auto">
          <a:xfrm>
            <a:off x="5451475" y="2457451"/>
            <a:ext cx="933450" cy="250825"/>
          </a:xfrm>
          <a:prstGeom prst="chevron">
            <a:avLst>
              <a:gd name="adj" fmla="val 0"/>
            </a:avLst>
          </a:prstGeom>
          <a:solidFill>
            <a:srgbClr val="FFFFFF"/>
          </a:solidFill>
          <a:ln w="25400">
            <a:no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Assets</a:t>
            </a:r>
          </a:p>
        </p:txBody>
      </p:sp>
      <p:sp>
        <p:nvSpPr>
          <p:cNvPr id="37" name="Rectangle 36"/>
          <p:cNvSpPr/>
          <p:nvPr/>
        </p:nvSpPr>
        <p:spPr bwMode="auto">
          <a:xfrm>
            <a:off x="7313614" y="5784851"/>
            <a:ext cx="395287" cy="288925"/>
          </a:xfrm>
          <a:prstGeom prst="rect">
            <a:avLst/>
          </a:prstGeom>
          <a:solidFill>
            <a:schemeClr val="accent2">
              <a:lumMod val="75000"/>
            </a:schemeClr>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4%</a:t>
            </a:r>
          </a:p>
        </p:txBody>
      </p:sp>
      <p:sp>
        <p:nvSpPr>
          <p:cNvPr id="38" name="Rectangle 37"/>
          <p:cNvSpPr/>
          <p:nvPr/>
        </p:nvSpPr>
        <p:spPr bwMode="auto">
          <a:xfrm>
            <a:off x="7313614" y="4619625"/>
            <a:ext cx="395287" cy="287338"/>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20%</a:t>
            </a:r>
          </a:p>
        </p:txBody>
      </p:sp>
      <p:sp>
        <p:nvSpPr>
          <p:cNvPr id="39" name="Rectangle 38"/>
          <p:cNvSpPr/>
          <p:nvPr/>
        </p:nvSpPr>
        <p:spPr bwMode="auto">
          <a:xfrm>
            <a:off x="7313614" y="4087813"/>
            <a:ext cx="395287" cy="519112"/>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17%</a:t>
            </a:r>
          </a:p>
        </p:txBody>
      </p:sp>
      <p:sp>
        <p:nvSpPr>
          <p:cNvPr id="40" name="Rectangle 39"/>
          <p:cNvSpPr/>
          <p:nvPr/>
        </p:nvSpPr>
        <p:spPr bwMode="auto">
          <a:xfrm>
            <a:off x="7313614" y="2755900"/>
            <a:ext cx="395287" cy="565150"/>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18%</a:t>
            </a:r>
          </a:p>
        </p:txBody>
      </p:sp>
      <p:sp>
        <p:nvSpPr>
          <p:cNvPr id="41" name="Rectangle 40"/>
          <p:cNvSpPr/>
          <p:nvPr/>
        </p:nvSpPr>
        <p:spPr bwMode="auto">
          <a:xfrm>
            <a:off x="7313614" y="3335339"/>
            <a:ext cx="395287" cy="757237"/>
          </a:xfrm>
          <a:prstGeom prst="rect">
            <a:avLst/>
          </a:prstGeom>
          <a:solidFill>
            <a:srgbClr val="3F714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35%</a:t>
            </a:r>
          </a:p>
        </p:txBody>
      </p:sp>
      <p:sp>
        <p:nvSpPr>
          <p:cNvPr id="42" name="Rectangle 41"/>
          <p:cNvSpPr/>
          <p:nvPr/>
        </p:nvSpPr>
        <p:spPr bwMode="auto">
          <a:xfrm>
            <a:off x="7313614" y="5191126"/>
            <a:ext cx="395287" cy="288925"/>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2%</a:t>
            </a:r>
          </a:p>
        </p:txBody>
      </p:sp>
      <p:sp>
        <p:nvSpPr>
          <p:cNvPr id="43" name="Rectangle 42"/>
          <p:cNvSpPr/>
          <p:nvPr/>
        </p:nvSpPr>
        <p:spPr bwMode="auto">
          <a:xfrm>
            <a:off x="7313614" y="5487989"/>
            <a:ext cx="395287" cy="287337"/>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1%</a:t>
            </a:r>
          </a:p>
        </p:txBody>
      </p:sp>
      <p:sp>
        <p:nvSpPr>
          <p:cNvPr id="44" name="Rectangle 43"/>
          <p:cNvSpPr/>
          <p:nvPr/>
        </p:nvSpPr>
        <p:spPr bwMode="auto">
          <a:xfrm>
            <a:off x="7313614" y="4911726"/>
            <a:ext cx="395287" cy="290513"/>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3%</a:t>
            </a:r>
          </a:p>
        </p:txBody>
      </p:sp>
      <p:sp>
        <p:nvSpPr>
          <p:cNvPr id="45" name="Rectangle 44"/>
          <p:cNvSpPr/>
          <p:nvPr/>
        </p:nvSpPr>
        <p:spPr bwMode="auto">
          <a:xfrm>
            <a:off x="5041900" y="2747963"/>
            <a:ext cx="395288" cy="252412"/>
          </a:xfrm>
          <a:prstGeom prst="rect">
            <a:avLst/>
          </a:prstGeom>
          <a:solidFill>
            <a:srgbClr val="6E81C5"/>
          </a:solidFill>
          <a:ln w="9525" cap="flat" cmpd="sng" algn="ctr">
            <a:solidFill>
              <a:schemeClr val="bg1">
                <a:lumMod val="75000"/>
              </a:schemeClr>
            </a:solidFill>
            <a:prstDash val="solid"/>
            <a:round/>
            <a:headEnd type="none" w="med" len="med"/>
            <a:tailEnd type="none" w="med" len="med"/>
          </a:ln>
          <a:effectLst/>
        </p:spPr>
        <p:txBody>
          <a:bodyPr lIns="36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1%</a:t>
            </a:r>
          </a:p>
        </p:txBody>
      </p:sp>
      <p:sp>
        <p:nvSpPr>
          <p:cNvPr id="46" name="Rectangle 45"/>
          <p:cNvSpPr/>
          <p:nvPr/>
        </p:nvSpPr>
        <p:spPr bwMode="auto">
          <a:xfrm>
            <a:off x="5041900" y="3025776"/>
            <a:ext cx="395288" cy="568325"/>
          </a:xfrm>
          <a:prstGeom prst="rect">
            <a:avLst/>
          </a:prstGeom>
          <a:solidFill>
            <a:schemeClr val="bg1">
              <a:lumMod val="65000"/>
            </a:schemeClr>
          </a:solid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15%</a:t>
            </a:r>
          </a:p>
        </p:txBody>
      </p:sp>
      <p:sp>
        <p:nvSpPr>
          <p:cNvPr id="47" name="Rectangle 46"/>
          <p:cNvSpPr/>
          <p:nvPr/>
        </p:nvSpPr>
        <p:spPr bwMode="auto">
          <a:xfrm>
            <a:off x="5041900" y="3981450"/>
            <a:ext cx="395288" cy="781050"/>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36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22%</a:t>
            </a:r>
          </a:p>
        </p:txBody>
      </p:sp>
      <p:sp>
        <p:nvSpPr>
          <p:cNvPr id="48" name="Rectangle 47"/>
          <p:cNvSpPr/>
          <p:nvPr/>
        </p:nvSpPr>
        <p:spPr bwMode="auto">
          <a:xfrm>
            <a:off x="5041900" y="4756150"/>
            <a:ext cx="395288" cy="584200"/>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36000" tIns="72000" rIns="72000" bIns="72000" anchor="ctr"/>
          <a:lstStyle/>
          <a:p>
            <a:pPr algn="ctr">
              <a:lnSpc>
                <a:spcPct val="90000"/>
              </a:lnSpc>
              <a:defRPr/>
            </a:pPr>
            <a:r>
              <a:rPr lang="de-DE" sz="1000" dirty="0">
                <a:latin typeface="Trebuchet MS" pitchFamily="34" charset="0"/>
                <a:ea typeface="ＭＳ Ｐゴシック" pitchFamily="-108" charset="-128"/>
              </a:rPr>
              <a:t>15%</a:t>
            </a:r>
          </a:p>
        </p:txBody>
      </p:sp>
      <p:sp>
        <p:nvSpPr>
          <p:cNvPr id="49" name="Rectangle 48"/>
          <p:cNvSpPr/>
          <p:nvPr/>
        </p:nvSpPr>
        <p:spPr bwMode="auto">
          <a:xfrm>
            <a:off x="5041900" y="3609976"/>
            <a:ext cx="395288" cy="371475"/>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36000" tIns="72000" rIns="72000" bIns="72000" anchor="ctr"/>
          <a:lstStyle/>
          <a:p>
            <a:pPr algn="ctr">
              <a:lnSpc>
                <a:spcPct val="90000"/>
              </a:lnSpc>
              <a:defRPr/>
            </a:pPr>
            <a:r>
              <a:rPr lang="de-DE" sz="1000" dirty="0">
                <a:latin typeface="Trebuchet MS" pitchFamily="34" charset="0"/>
                <a:ea typeface="ＭＳ Ｐゴシック" pitchFamily="-108" charset="-128"/>
              </a:rPr>
              <a:t>43%</a:t>
            </a:r>
          </a:p>
        </p:txBody>
      </p:sp>
      <p:sp>
        <p:nvSpPr>
          <p:cNvPr id="50" name="Rectangle 49"/>
          <p:cNvSpPr/>
          <p:nvPr/>
        </p:nvSpPr>
        <p:spPr bwMode="auto">
          <a:xfrm>
            <a:off x="5041900" y="5702301"/>
            <a:ext cx="395288" cy="347663"/>
          </a:xfrm>
          <a:prstGeom prst="rect">
            <a:avLst/>
          </a:prstGeom>
          <a:solidFill>
            <a:srgbClr val="DCB958"/>
          </a:solidFill>
          <a:ln w="9525" cap="flat" cmpd="sng" algn="ctr">
            <a:solidFill>
              <a:schemeClr val="bg1">
                <a:lumMod val="75000"/>
              </a:schemeClr>
            </a:solidFill>
            <a:prstDash val="solid"/>
            <a:round/>
            <a:headEnd type="none" w="med" len="med"/>
            <a:tailEnd type="none" w="med" len="med"/>
          </a:ln>
          <a:effectLst/>
        </p:spPr>
        <p:txBody>
          <a:bodyPr lIns="36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1%</a:t>
            </a:r>
          </a:p>
        </p:txBody>
      </p:sp>
      <p:sp>
        <p:nvSpPr>
          <p:cNvPr id="51" name="Rectangle 50"/>
          <p:cNvSpPr/>
          <p:nvPr/>
        </p:nvSpPr>
        <p:spPr bwMode="auto">
          <a:xfrm>
            <a:off x="5041900" y="5343526"/>
            <a:ext cx="395288" cy="366713"/>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36000" tIns="72000" rIns="72000" bIns="72000" anchor="ctr"/>
          <a:lstStyle/>
          <a:p>
            <a:pPr algn="ctr">
              <a:lnSpc>
                <a:spcPct val="90000"/>
              </a:lnSpc>
              <a:defRPr/>
            </a:pPr>
            <a:r>
              <a:rPr lang="de-DE" sz="1000" dirty="0">
                <a:latin typeface="Trebuchet MS" pitchFamily="34" charset="0"/>
                <a:ea typeface="ＭＳ Ｐゴシック" pitchFamily="-108" charset="-128"/>
              </a:rPr>
              <a:t>2%</a:t>
            </a:r>
          </a:p>
        </p:txBody>
      </p:sp>
      <p:sp>
        <p:nvSpPr>
          <p:cNvPr id="52" name="Rectangle 4"/>
          <p:cNvSpPr>
            <a:spLocks noChangeArrowheads="1"/>
          </p:cNvSpPr>
          <p:nvPr/>
        </p:nvSpPr>
        <p:spPr bwMode="auto">
          <a:xfrm>
            <a:off x="3763964" y="2366963"/>
            <a:ext cx="1176337"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Products</a:t>
            </a:r>
          </a:p>
        </p:txBody>
      </p:sp>
      <p:sp>
        <p:nvSpPr>
          <p:cNvPr id="53" name="Rectangle 4"/>
          <p:cNvSpPr>
            <a:spLocks noChangeArrowheads="1"/>
          </p:cNvSpPr>
          <p:nvPr/>
        </p:nvSpPr>
        <p:spPr bwMode="auto">
          <a:xfrm>
            <a:off x="2468564" y="2366963"/>
            <a:ext cx="1176337"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0" lvl="1" indent="7938"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Instruments</a:t>
            </a:r>
          </a:p>
        </p:txBody>
      </p:sp>
      <p:sp>
        <p:nvSpPr>
          <p:cNvPr id="54" name="Rectangle 4"/>
          <p:cNvSpPr>
            <a:spLocks noChangeArrowheads="1"/>
          </p:cNvSpPr>
          <p:nvPr/>
        </p:nvSpPr>
        <p:spPr bwMode="auto">
          <a:xfrm>
            <a:off x="9069389" y="2366963"/>
            <a:ext cx="1176337"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0" lvl="1" indent="7938"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Instruments</a:t>
            </a:r>
          </a:p>
        </p:txBody>
      </p:sp>
      <p:sp>
        <p:nvSpPr>
          <p:cNvPr id="55" name="Rectangle 4"/>
          <p:cNvSpPr>
            <a:spLocks noChangeArrowheads="1"/>
          </p:cNvSpPr>
          <p:nvPr/>
        </p:nvSpPr>
        <p:spPr bwMode="auto">
          <a:xfrm>
            <a:off x="7773989" y="2366963"/>
            <a:ext cx="1176337"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Products</a:t>
            </a:r>
          </a:p>
        </p:txBody>
      </p:sp>
      <p:cxnSp>
        <p:nvCxnSpPr>
          <p:cNvPr id="56" name="Straight Connector 51"/>
          <p:cNvCxnSpPr>
            <a:cxnSpLocks noChangeShapeType="1"/>
          </p:cNvCxnSpPr>
          <p:nvPr/>
        </p:nvCxnSpPr>
        <p:spPr bwMode="auto">
          <a:xfrm rot="5400000">
            <a:off x="1900238" y="4233863"/>
            <a:ext cx="3600450" cy="0"/>
          </a:xfrm>
          <a:prstGeom prst="line">
            <a:avLst/>
          </a:prstGeom>
          <a:noFill/>
          <a:ln w="12700" algn="ctr">
            <a:solidFill>
              <a:schemeClr val="tx1"/>
            </a:solidFill>
            <a:round/>
            <a:headEnd/>
            <a:tailEnd/>
          </a:ln>
        </p:spPr>
      </p:cxnSp>
      <p:cxnSp>
        <p:nvCxnSpPr>
          <p:cNvPr id="57" name="Straight Connector 52"/>
          <p:cNvCxnSpPr>
            <a:cxnSpLocks noChangeShapeType="1"/>
          </p:cNvCxnSpPr>
          <p:nvPr/>
        </p:nvCxnSpPr>
        <p:spPr bwMode="auto">
          <a:xfrm rot="5400000">
            <a:off x="6919120" y="4520407"/>
            <a:ext cx="4173537" cy="0"/>
          </a:xfrm>
          <a:prstGeom prst="line">
            <a:avLst/>
          </a:prstGeom>
          <a:noFill/>
          <a:ln w="12700" algn="ctr">
            <a:solidFill>
              <a:schemeClr val="tx1"/>
            </a:solidFill>
            <a:round/>
            <a:headEnd/>
            <a:tailEnd/>
          </a:ln>
        </p:spPr>
      </p:cxnSp>
      <p:cxnSp>
        <p:nvCxnSpPr>
          <p:cNvPr id="58" name="Straight Connector 54"/>
          <p:cNvCxnSpPr>
            <a:cxnSpLocks noChangeShapeType="1"/>
          </p:cNvCxnSpPr>
          <p:nvPr/>
        </p:nvCxnSpPr>
        <p:spPr bwMode="auto">
          <a:xfrm>
            <a:off x="2279651" y="3013075"/>
            <a:ext cx="2627313" cy="0"/>
          </a:xfrm>
          <a:prstGeom prst="line">
            <a:avLst/>
          </a:prstGeom>
          <a:noFill/>
          <a:ln w="12700" algn="ctr">
            <a:solidFill>
              <a:schemeClr val="tx1"/>
            </a:solidFill>
            <a:round/>
            <a:headEnd/>
            <a:tailEnd/>
          </a:ln>
        </p:spPr>
      </p:cxnSp>
      <p:cxnSp>
        <p:nvCxnSpPr>
          <p:cNvPr id="59" name="Straight Connector 55"/>
          <p:cNvCxnSpPr>
            <a:cxnSpLocks noChangeShapeType="1"/>
          </p:cNvCxnSpPr>
          <p:nvPr/>
        </p:nvCxnSpPr>
        <p:spPr bwMode="auto">
          <a:xfrm>
            <a:off x="2279651" y="3579813"/>
            <a:ext cx="2627313" cy="0"/>
          </a:xfrm>
          <a:prstGeom prst="line">
            <a:avLst/>
          </a:prstGeom>
          <a:noFill/>
          <a:ln w="12700" algn="ctr">
            <a:solidFill>
              <a:schemeClr val="tx1"/>
            </a:solidFill>
            <a:round/>
            <a:headEnd/>
            <a:tailEnd/>
          </a:ln>
        </p:spPr>
      </p:cxnSp>
      <p:cxnSp>
        <p:nvCxnSpPr>
          <p:cNvPr id="60" name="Straight Connector 56"/>
          <p:cNvCxnSpPr>
            <a:cxnSpLocks noChangeShapeType="1"/>
          </p:cNvCxnSpPr>
          <p:nvPr/>
        </p:nvCxnSpPr>
        <p:spPr bwMode="auto">
          <a:xfrm>
            <a:off x="2279651" y="3998913"/>
            <a:ext cx="2627313" cy="0"/>
          </a:xfrm>
          <a:prstGeom prst="line">
            <a:avLst/>
          </a:prstGeom>
          <a:noFill/>
          <a:ln w="12700" algn="ctr">
            <a:solidFill>
              <a:schemeClr val="tx1"/>
            </a:solidFill>
            <a:round/>
            <a:headEnd/>
            <a:tailEnd/>
          </a:ln>
        </p:spPr>
      </p:cxnSp>
      <p:cxnSp>
        <p:nvCxnSpPr>
          <p:cNvPr id="61" name="Straight Connector 58"/>
          <p:cNvCxnSpPr>
            <a:cxnSpLocks noChangeShapeType="1"/>
          </p:cNvCxnSpPr>
          <p:nvPr/>
        </p:nvCxnSpPr>
        <p:spPr bwMode="auto">
          <a:xfrm>
            <a:off x="2279651" y="4768850"/>
            <a:ext cx="2627313" cy="0"/>
          </a:xfrm>
          <a:prstGeom prst="line">
            <a:avLst/>
          </a:prstGeom>
          <a:noFill/>
          <a:ln w="12700" algn="ctr">
            <a:solidFill>
              <a:schemeClr val="tx1"/>
            </a:solidFill>
            <a:round/>
            <a:headEnd/>
            <a:tailEnd/>
          </a:ln>
        </p:spPr>
      </p:cxnSp>
      <p:cxnSp>
        <p:nvCxnSpPr>
          <p:cNvPr id="62" name="Straight Connector 59"/>
          <p:cNvCxnSpPr>
            <a:cxnSpLocks noChangeShapeType="1"/>
          </p:cNvCxnSpPr>
          <p:nvPr/>
        </p:nvCxnSpPr>
        <p:spPr bwMode="auto">
          <a:xfrm>
            <a:off x="2279651" y="5343525"/>
            <a:ext cx="2627313" cy="0"/>
          </a:xfrm>
          <a:prstGeom prst="line">
            <a:avLst/>
          </a:prstGeom>
          <a:noFill/>
          <a:ln w="12700" algn="ctr">
            <a:solidFill>
              <a:schemeClr val="tx1"/>
            </a:solidFill>
            <a:round/>
            <a:headEnd/>
            <a:tailEnd/>
          </a:ln>
        </p:spPr>
      </p:cxnSp>
      <p:cxnSp>
        <p:nvCxnSpPr>
          <p:cNvPr id="63" name="Straight Connector 60"/>
          <p:cNvCxnSpPr>
            <a:cxnSpLocks noChangeShapeType="1"/>
          </p:cNvCxnSpPr>
          <p:nvPr/>
        </p:nvCxnSpPr>
        <p:spPr bwMode="auto">
          <a:xfrm>
            <a:off x="2279651" y="5691188"/>
            <a:ext cx="2627313" cy="0"/>
          </a:xfrm>
          <a:prstGeom prst="line">
            <a:avLst/>
          </a:prstGeom>
          <a:noFill/>
          <a:ln w="12700" algn="ctr">
            <a:solidFill>
              <a:schemeClr val="tx1"/>
            </a:solidFill>
            <a:round/>
            <a:headEnd/>
            <a:tailEnd/>
          </a:ln>
        </p:spPr>
      </p:cxnSp>
      <p:cxnSp>
        <p:nvCxnSpPr>
          <p:cNvPr id="64" name="Straight Connector 62"/>
          <p:cNvCxnSpPr>
            <a:cxnSpLocks noChangeShapeType="1"/>
          </p:cNvCxnSpPr>
          <p:nvPr/>
        </p:nvCxnSpPr>
        <p:spPr bwMode="auto">
          <a:xfrm>
            <a:off x="7778750" y="4071938"/>
            <a:ext cx="2628900" cy="0"/>
          </a:xfrm>
          <a:prstGeom prst="line">
            <a:avLst/>
          </a:prstGeom>
          <a:noFill/>
          <a:ln w="12700" algn="ctr">
            <a:solidFill>
              <a:schemeClr val="tx1"/>
            </a:solidFill>
            <a:round/>
            <a:headEnd/>
            <a:tailEnd/>
          </a:ln>
        </p:spPr>
      </p:cxnSp>
      <p:cxnSp>
        <p:nvCxnSpPr>
          <p:cNvPr id="65" name="Straight Connector 63"/>
          <p:cNvCxnSpPr>
            <a:cxnSpLocks noChangeShapeType="1"/>
          </p:cNvCxnSpPr>
          <p:nvPr/>
        </p:nvCxnSpPr>
        <p:spPr bwMode="auto">
          <a:xfrm>
            <a:off x="7778750" y="4600575"/>
            <a:ext cx="2628900" cy="0"/>
          </a:xfrm>
          <a:prstGeom prst="line">
            <a:avLst/>
          </a:prstGeom>
          <a:noFill/>
          <a:ln w="12700" algn="ctr">
            <a:solidFill>
              <a:schemeClr val="tx1"/>
            </a:solidFill>
            <a:round/>
            <a:headEnd/>
            <a:tailEnd/>
          </a:ln>
        </p:spPr>
      </p:cxnSp>
      <p:cxnSp>
        <p:nvCxnSpPr>
          <p:cNvPr id="66" name="Straight Connector 64"/>
          <p:cNvCxnSpPr>
            <a:cxnSpLocks noChangeShapeType="1"/>
          </p:cNvCxnSpPr>
          <p:nvPr/>
        </p:nvCxnSpPr>
        <p:spPr bwMode="auto">
          <a:xfrm>
            <a:off x="7778750" y="4921250"/>
            <a:ext cx="2628900" cy="0"/>
          </a:xfrm>
          <a:prstGeom prst="line">
            <a:avLst/>
          </a:prstGeom>
          <a:noFill/>
          <a:ln w="12700" algn="ctr">
            <a:solidFill>
              <a:schemeClr val="tx1"/>
            </a:solidFill>
            <a:round/>
            <a:headEnd/>
            <a:tailEnd/>
          </a:ln>
        </p:spPr>
      </p:cxnSp>
      <p:cxnSp>
        <p:nvCxnSpPr>
          <p:cNvPr id="67" name="Straight Connector 65"/>
          <p:cNvCxnSpPr>
            <a:cxnSpLocks noChangeShapeType="1"/>
          </p:cNvCxnSpPr>
          <p:nvPr/>
        </p:nvCxnSpPr>
        <p:spPr bwMode="auto">
          <a:xfrm>
            <a:off x="7778750" y="5180013"/>
            <a:ext cx="2628900" cy="0"/>
          </a:xfrm>
          <a:prstGeom prst="line">
            <a:avLst/>
          </a:prstGeom>
          <a:noFill/>
          <a:ln w="12700" algn="ctr">
            <a:solidFill>
              <a:schemeClr val="tx1"/>
            </a:solidFill>
            <a:round/>
            <a:headEnd/>
            <a:tailEnd/>
          </a:ln>
        </p:spPr>
      </p:cxnSp>
      <p:cxnSp>
        <p:nvCxnSpPr>
          <p:cNvPr id="68" name="Straight Connector 66"/>
          <p:cNvCxnSpPr>
            <a:cxnSpLocks noChangeShapeType="1"/>
          </p:cNvCxnSpPr>
          <p:nvPr/>
        </p:nvCxnSpPr>
        <p:spPr bwMode="auto">
          <a:xfrm>
            <a:off x="7778750" y="5487988"/>
            <a:ext cx="2628900" cy="0"/>
          </a:xfrm>
          <a:prstGeom prst="line">
            <a:avLst/>
          </a:prstGeom>
          <a:noFill/>
          <a:ln w="12700" algn="ctr">
            <a:solidFill>
              <a:schemeClr val="tx1"/>
            </a:solidFill>
            <a:round/>
            <a:headEnd/>
            <a:tailEnd/>
          </a:ln>
        </p:spPr>
      </p:cxnSp>
      <p:cxnSp>
        <p:nvCxnSpPr>
          <p:cNvPr id="69" name="Straight Connector 67"/>
          <p:cNvCxnSpPr>
            <a:cxnSpLocks noChangeShapeType="1"/>
          </p:cNvCxnSpPr>
          <p:nvPr/>
        </p:nvCxnSpPr>
        <p:spPr bwMode="auto">
          <a:xfrm>
            <a:off x="7778750" y="5786438"/>
            <a:ext cx="2628900" cy="0"/>
          </a:xfrm>
          <a:prstGeom prst="line">
            <a:avLst/>
          </a:prstGeom>
          <a:noFill/>
          <a:ln w="12700" algn="ctr">
            <a:solidFill>
              <a:schemeClr val="tx1"/>
            </a:solidFill>
            <a:round/>
            <a:headEnd/>
            <a:tailEnd/>
          </a:ln>
        </p:spPr>
      </p:cxnSp>
      <p:cxnSp>
        <p:nvCxnSpPr>
          <p:cNvPr id="70" name="Straight Connector 68"/>
          <p:cNvCxnSpPr>
            <a:cxnSpLocks noChangeShapeType="1"/>
          </p:cNvCxnSpPr>
          <p:nvPr/>
        </p:nvCxnSpPr>
        <p:spPr bwMode="auto">
          <a:xfrm>
            <a:off x="7778750" y="6056313"/>
            <a:ext cx="2628900" cy="0"/>
          </a:xfrm>
          <a:prstGeom prst="line">
            <a:avLst/>
          </a:prstGeom>
          <a:noFill/>
          <a:ln w="12700" algn="ctr">
            <a:solidFill>
              <a:schemeClr val="tx1"/>
            </a:solidFill>
            <a:round/>
            <a:headEnd/>
            <a:tailEnd/>
          </a:ln>
        </p:spPr>
      </p:cxnSp>
      <p:sp>
        <p:nvSpPr>
          <p:cNvPr id="71" name="Rectangle 4"/>
          <p:cNvSpPr>
            <a:spLocks noChangeArrowheads="1"/>
          </p:cNvSpPr>
          <p:nvPr/>
        </p:nvSpPr>
        <p:spPr bwMode="auto">
          <a:xfrm>
            <a:off x="2279651" y="2735263"/>
            <a:ext cx="1349375" cy="252412"/>
          </a:xfrm>
          <a:prstGeom prst="chevron">
            <a:avLst>
              <a:gd name="adj" fmla="val 0"/>
            </a:avLst>
          </a:prstGeom>
          <a:solidFill>
            <a:srgbClr val="FFFFFF"/>
          </a:solidFill>
          <a:ln w="25400">
            <a:noFill/>
            <a:miter lim="800000"/>
            <a:headEnd/>
            <a:tailEnd/>
          </a:ln>
          <a:effectLst/>
        </p:spPr>
        <p:txBody>
          <a:bodyPr lIns="0" tIns="0" rIns="0" bIns="0" anchor="ctr"/>
          <a:lstStyle/>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Cash, </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Central bank deposits</a:t>
            </a:r>
          </a:p>
        </p:txBody>
      </p:sp>
      <p:sp>
        <p:nvSpPr>
          <p:cNvPr id="72" name="Rectangle 4"/>
          <p:cNvSpPr>
            <a:spLocks noChangeArrowheads="1"/>
          </p:cNvSpPr>
          <p:nvPr/>
        </p:nvSpPr>
        <p:spPr bwMode="auto">
          <a:xfrm>
            <a:off x="2279650" y="3068639"/>
            <a:ext cx="1092200" cy="427037"/>
          </a:xfrm>
          <a:prstGeom prst="chevron">
            <a:avLst>
              <a:gd name="adj" fmla="val 0"/>
            </a:avLst>
          </a:prstGeom>
          <a:solidFill>
            <a:srgbClr val="FFFFFF"/>
          </a:solidFill>
          <a:ln w="25400">
            <a:noFill/>
            <a:miter lim="800000"/>
            <a:headEnd/>
            <a:tailEnd/>
          </a:ln>
          <a:effectLst/>
        </p:spPr>
        <p:txBody>
          <a:bodyPr lIns="0" tIns="0" rIns="0" bIns="0" anchor="ctr"/>
          <a:lstStyle/>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Interbank loans</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CD/ CP</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Reverse notes</a:t>
            </a:r>
          </a:p>
        </p:txBody>
      </p:sp>
      <p:sp>
        <p:nvSpPr>
          <p:cNvPr id="73" name="Rectangle 4"/>
          <p:cNvSpPr>
            <a:spLocks noChangeArrowheads="1"/>
          </p:cNvSpPr>
          <p:nvPr/>
        </p:nvSpPr>
        <p:spPr bwMode="auto">
          <a:xfrm>
            <a:off x="2279650" y="4781550"/>
            <a:ext cx="1397000" cy="539750"/>
          </a:xfrm>
          <a:prstGeom prst="chevron">
            <a:avLst>
              <a:gd name="adj" fmla="val 0"/>
            </a:avLst>
          </a:prstGeom>
          <a:solidFill>
            <a:srgbClr val="FFFFFF"/>
          </a:solidFill>
          <a:ln w="25400">
            <a:noFill/>
            <a:miter lim="800000"/>
            <a:headEnd/>
            <a:tailEnd/>
          </a:ln>
          <a:effectLst/>
        </p:spPr>
        <p:txBody>
          <a:bodyPr lIns="0" tIns="0" rIns="0" bIns="0" anchor="ctr"/>
          <a:lstStyle/>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 Bonds and notes </a:t>
            </a:r>
            <a:br>
              <a:rPr lang="en-GB" sz="1000" kern="0" dirty="0">
                <a:solidFill>
                  <a:srgbClr val="000000"/>
                </a:solidFill>
                <a:latin typeface="Trebuchet MS" pitchFamily="34" charset="0"/>
                <a:ea typeface="ＭＳ Ｐゴシック" pitchFamily="-108" charset="-128"/>
                <a:cs typeface="Arial" pitchFamily="34" charset="0"/>
              </a:rPr>
            </a:br>
            <a:r>
              <a:rPr lang="en-GB" sz="1000" kern="0" dirty="0">
                <a:solidFill>
                  <a:srgbClr val="000000"/>
                </a:solidFill>
                <a:latin typeface="Trebuchet MS" pitchFamily="34" charset="0"/>
                <a:ea typeface="ＭＳ Ｐゴシック" pitchFamily="-108" charset="-128"/>
                <a:cs typeface="Arial" pitchFamily="34" charset="0"/>
              </a:rPr>
              <a:t> not held for trading</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 Equity investments</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 Participations</a:t>
            </a:r>
          </a:p>
        </p:txBody>
      </p:sp>
      <p:sp>
        <p:nvSpPr>
          <p:cNvPr id="74" name="Rectangle 10"/>
          <p:cNvSpPr>
            <a:spLocks noChangeArrowheads="1"/>
          </p:cNvSpPr>
          <p:nvPr/>
        </p:nvSpPr>
        <p:spPr bwMode="auto">
          <a:xfrm>
            <a:off x="6383339" y="6211889"/>
            <a:ext cx="1374775" cy="325437"/>
          </a:xfrm>
          <a:prstGeom prst="rect">
            <a:avLst/>
          </a:prstGeom>
          <a:noFill/>
          <a:ln w="9525" algn="ctr">
            <a:noFill/>
            <a:miter lim="800000"/>
            <a:headEnd/>
            <a:tailEnd/>
          </a:ln>
        </p:spPr>
        <p:txBody>
          <a:bodyPr wrap="none" lIns="0" tIns="0" rIns="0" bIns="0" anchor="ctr"/>
          <a:lstStyle/>
          <a:p>
            <a:pPr algn="ctr" eaLnBrk="0" hangingPunct="0"/>
            <a:r>
              <a:rPr lang="de-DE" sz="1000">
                <a:latin typeface="Trebuchet MS" pitchFamily="34" charset="0"/>
              </a:rPr>
              <a:t>Contingent liabilities</a:t>
            </a:r>
          </a:p>
        </p:txBody>
      </p:sp>
      <p:cxnSp>
        <p:nvCxnSpPr>
          <p:cNvPr id="75" name="Straight Connector 87"/>
          <p:cNvCxnSpPr>
            <a:cxnSpLocks noChangeShapeType="1"/>
          </p:cNvCxnSpPr>
          <p:nvPr/>
        </p:nvCxnSpPr>
        <p:spPr bwMode="auto">
          <a:xfrm>
            <a:off x="5459413" y="6386513"/>
            <a:ext cx="900112" cy="0"/>
          </a:xfrm>
          <a:prstGeom prst="line">
            <a:avLst/>
          </a:prstGeom>
          <a:noFill/>
          <a:ln w="12700" algn="ctr">
            <a:solidFill>
              <a:schemeClr val="tx1"/>
            </a:solidFill>
            <a:round/>
            <a:headEnd/>
            <a:tailEnd/>
          </a:ln>
        </p:spPr>
      </p:cxnSp>
      <p:sp>
        <p:nvSpPr>
          <p:cNvPr id="76" name="Rectangle 4"/>
          <p:cNvSpPr>
            <a:spLocks noChangeArrowheads="1"/>
          </p:cNvSpPr>
          <p:nvPr/>
        </p:nvSpPr>
        <p:spPr bwMode="auto">
          <a:xfrm>
            <a:off x="2279651" y="5922963"/>
            <a:ext cx="2682875" cy="709612"/>
          </a:xfrm>
          <a:prstGeom prst="chevron">
            <a:avLst>
              <a:gd name="adj" fmla="val 0"/>
            </a:avLst>
          </a:prstGeom>
          <a:solidFill>
            <a:srgbClr val="FFFFFF"/>
          </a:solidFill>
          <a:ln w="25400">
            <a:noFill/>
            <a:miter lim="800000"/>
            <a:headEnd/>
            <a:tailEnd/>
          </a:ln>
          <a:effectLst/>
        </p:spPr>
        <p:txBody>
          <a:bodyPr lIns="0" tIns="0" rIns="0" bIns="0" anchor="ctr"/>
          <a:lstStyle/>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 Irrevocable credit lines, guarantees</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 Back-up liquidity lines (SPV)</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 Collat. for downgrade</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 Margin calls/ repo haircuts</a:t>
            </a:r>
          </a:p>
        </p:txBody>
      </p:sp>
      <p:sp>
        <p:nvSpPr>
          <p:cNvPr id="77" name="Rectangle 4"/>
          <p:cNvSpPr>
            <a:spLocks noChangeArrowheads="1"/>
          </p:cNvSpPr>
          <p:nvPr/>
        </p:nvSpPr>
        <p:spPr bwMode="auto">
          <a:xfrm>
            <a:off x="7810500" y="3441701"/>
            <a:ext cx="1092200" cy="569913"/>
          </a:xfrm>
          <a:prstGeom prst="chevron">
            <a:avLst>
              <a:gd name="adj" fmla="val 0"/>
            </a:avLst>
          </a:prstGeom>
          <a:solidFill>
            <a:srgbClr val="FFFFFF"/>
          </a:solidFill>
          <a:ln w="25400">
            <a:noFill/>
            <a:miter lim="800000"/>
            <a:headEnd/>
            <a:tailEnd/>
          </a:ln>
          <a:effectLst/>
        </p:spPr>
        <p:txBody>
          <a:bodyPr lIns="0" tIns="0" rIns="0" bIns="0" anchor="ctr"/>
          <a:lstStyle/>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Saving/ demand deposits</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Call money</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Term deposits</a:t>
            </a:r>
          </a:p>
        </p:txBody>
      </p:sp>
      <p:cxnSp>
        <p:nvCxnSpPr>
          <p:cNvPr id="78" name="Straight Connector 118"/>
          <p:cNvCxnSpPr>
            <a:cxnSpLocks noChangeShapeType="1"/>
          </p:cNvCxnSpPr>
          <p:nvPr/>
        </p:nvCxnSpPr>
        <p:spPr bwMode="auto">
          <a:xfrm>
            <a:off x="7778750" y="3346450"/>
            <a:ext cx="2628900" cy="0"/>
          </a:xfrm>
          <a:prstGeom prst="line">
            <a:avLst/>
          </a:prstGeom>
          <a:noFill/>
          <a:ln w="12700" algn="ctr">
            <a:solidFill>
              <a:schemeClr val="tx1"/>
            </a:solidFill>
            <a:round/>
            <a:headEnd/>
            <a:tailEnd/>
          </a:ln>
        </p:spPr>
      </p:cxnSp>
      <p:sp>
        <p:nvSpPr>
          <p:cNvPr id="79" name="Rectangle 4"/>
          <p:cNvSpPr>
            <a:spLocks noChangeArrowheads="1"/>
          </p:cNvSpPr>
          <p:nvPr/>
        </p:nvSpPr>
        <p:spPr bwMode="auto">
          <a:xfrm>
            <a:off x="9051926" y="2743201"/>
            <a:ext cx="1285875" cy="569913"/>
          </a:xfrm>
          <a:prstGeom prst="chevron">
            <a:avLst>
              <a:gd name="adj" fmla="val 0"/>
            </a:avLst>
          </a:prstGeom>
          <a:solidFill>
            <a:srgbClr val="FFFFFF"/>
          </a:solidFill>
          <a:ln w="25400">
            <a:noFill/>
            <a:miter lim="800000"/>
            <a:headEnd/>
            <a:tailEnd/>
          </a:ln>
          <a:effectLst/>
        </p:spPr>
        <p:txBody>
          <a:bodyPr lIns="0" tIns="0" rIns="0" bIns="0" anchor="ctr"/>
          <a:lstStyle/>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 Interbank deposits</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 CD/ CP</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 Repo</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 Central MRO</a:t>
            </a:r>
          </a:p>
        </p:txBody>
      </p:sp>
      <p:sp>
        <p:nvSpPr>
          <p:cNvPr id="80" name="Rectangle 4"/>
          <p:cNvSpPr>
            <a:spLocks noChangeArrowheads="1"/>
          </p:cNvSpPr>
          <p:nvPr/>
        </p:nvSpPr>
        <p:spPr bwMode="auto">
          <a:xfrm>
            <a:off x="7839075" y="2743201"/>
            <a:ext cx="1092200" cy="504825"/>
          </a:xfrm>
          <a:prstGeom prst="chevron">
            <a:avLst>
              <a:gd name="adj" fmla="val 0"/>
            </a:avLst>
          </a:prstGeom>
          <a:solidFill>
            <a:srgbClr val="FFFFFF"/>
          </a:solidFill>
          <a:ln w="25400">
            <a:noFill/>
            <a:miter lim="800000"/>
            <a:headEnd/>
            <a:tailEnd/>
          </a:ln>
          <a:effectLst/>
        </p:spPr>
        <p:txBody>
          <a:bodyPr lIns="0" tIns="0" rIns="0" bIns="0" anchor="ctr"/>
          <a:lstStyle/>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Repo for clients</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Interbank deposits for clients</a:t>
            </a:r>
          </a:p>
        </p:txBody>
      </p:sp>
      <p:sp>
        <p:nvSpPr>
          <p:cNvPr id="81" name="Rectangle 4"/>
          <p:cNvSpPr>
            <a:spLocks noChangeArrowheads="1"/>
          </p:cNvSpPr>
          <p:nvPr/>
        </p:nvSpPr>
        <p:spPr bwMode="auto">
          <a:xfrm>
            <a:off x="9051926" y="4117976"/>
            <a:ext cx="1300163" cy="468313"/>
          </a:xfrm>
          <a:prstGeom prst="chevron">
            <a:avLst>
              <a:gd name="adj" fmla="val 0"/>
            </a:avLst>
          </a:prstGeom>
          <a:solidFill>
            <a:srgbClr val="FFFFFF"/>
          </a:solidFill>
          <a:ln w="25400">
            <a:noFill/>
            <a:miter lim="800000"/>
            <a:headEnd/>
            <a:tailEnd/>
          </a:ln>
          <a:effectLst/>
        </p:spPr>
        <p:txBody>
          <a:bodyPr lIns="0" tIns="0" rIns="0" bIns="0" anchor="ctr"/>
          <a:lstStyle/>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 Senior unsecured</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 Covered bonds </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 ABS/ Securitisation</a:t>
            </a:r>
          </a:p>
        </p:txBody>
      </p:sp>
      <p:sp>
        <p:nvSpPr>
          <p:cNvPr id="82" name="Rectangle 4"/>
          <p:cNvSpPr>
            <a:spLocks noChangeArrowheads="1"/>
          </p:cNvSpPr>
          <p:nvPr/>
        </p:nvSpPr>
        <p:spPr bwMode="auto">
          <a:xfrm>
            <a:off x="9051926" y="5513388"/>
            <a:ext cx="912813" cy="233362"/>
          </a:xfrm>
          <a:prstGeom prst="chevron">
            <a:avLst>
              <a:gd name="adj" fmla="val 0"/>
            </a:avLst>
          </a:prstGeom>
          <a:solidFill>
            <a:srgbClr val="FFFFFF"/>
          </a:solidFill>
          <a:ln w="25400">
            <a:noFill/>
            <a:miter lim="800000"/>
            <a:headEnd/>
            <a:tailEnd/>
          </a:ln>
          <a:effectLst/>
        </p:spPr>
        <p:txBody>
          <a:bodyPr lIns="0" tIns="0" rIns="0" bIns="0" anchor="ctr"/>
          <a:lstStyle/>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Hybrids</a:t>
            </a:r>
          </a:p>
        </p:txBody>
      </p:sp>
      <p:sp>
        <p:nvSpPr>
          <p:cNvPr id="83" name="Rectangle 4"/>
          <p:cNvSpPr>
            <a:spLocks noChangeArrowheads="1"/>
          </p:cNvSpPr>
          <p:nvPr/>
        </p:nvSpPr>
        <p:spPr bwMode="auto">
          <a:xfrm>
            <a:off x="9051926" y="5221288"/>
            <a:ext cx="1408113" cy="201612"/>
          </a:xfrm>
          <a:prstGeom prst="chevron">
            <a:avLst>
              <a:gd name="adj" fmla="val 0"/>
            </a:avLst>
          </a:prstGeom>
          <a:solidFill>
            <a:srgbClr val="FFFFFF"/>
          </a:solidFill>
          <a:ln w="25400">
            <a:noFill/>
            <a:miter lim="800000"/>
            <a:headEnd/>
            <a:tailEnd/>
          </a:ln>
          <a:effectLst/>
        </p:spPr>
        <p:txBody>
          <a:bodyPr lIns="0" tIns="0" rIns="0" bIns="0" anchor="ctr"/>
          <a:lstStyle/>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Subordinated (</a:t>
            </a:r>
            <a:r>
              <a:rPr lang="en-GB" sz="1000" kern="0" dirty="0" err="1">
                <a:solidFill>
                  <a:srgbClr val="000000"/>
                </a:solidFill>
                <a:latin typeface="Trebuchet MS" pitchFamily="34" charset="0"/>
                <a:ea typeface="ＭＳ Ｐゴシック" pitchFamily="-108" charset="-128"/>
                <a:cs typeface="Arial" pitchFamily="34" charset="0"/>
              </a:rPr>
              <a:t>unsec</a:t>
            </a:r>
            <a:r>
              <a:rPr lang="en-GB" sz="1000" kern="0" dirty="0">
                <a:solidFill>
                  <a:srgbClr val="000000"/>
                </a:solidFill>
                <a:latin typeface="Trebuchet MS" pitchFamily="34" charset="0"/>
                <a:ea typeface="ＭＳ Ｐゴシック" pitchFamily="-108" charset="-128"/>
                <a:cs typeface="Arial" pitchFamily="34" charset="0"/>
              </a:rPr>
              <a:t>.)</a:t>
            </a:r>
          </a:p>
        </p:txBody>
      </p:sp>
      <p:sp>
        <p:nvSpPr>
          <p:cNvPr id="84" name="Rectangle 4"/>
          <p:cNvSpPr>
            <a:spLocks noChangeArrowheads="1"/>
          </p:cNvSpPr>
          <p:nvPr/>
        </p:nvSpPr>
        <p:spPr bwMode="auto">
          <a:xfrm>
            <a:off x="9051926" y="4670426"/>
            <a:ext cx="1300163" cy="176213"/>
          </a:xfrm>
          <a:prstGeom prst="chevron">
            <a:avLst>
              <a:gd name="adj" fmla="val 0"/>
            </a:avLst>
          </a:prstGeom>
          <a:solidFill>
            <a:srgbClr val="FFFFFF"/>
          </a:solidFill>
          <a:ln w="25400">
            <a:noFill/>
            <a:miter lim="800000"/>
            <a:headEnd/>
            <a:tailEnd/>
          </a:ln>
          <a:effectLst/>
        </p:spPr>
        <p:txBody>
          <a:bodyPr lIns="0" tIns="0" rIns="0" bIns="0" anchor="ctr"/>
          <a:lstStyle/>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  Negative FV deriv.</a:t>
            </a:r>
          </a:p>
        </p:txBody>
      </p:sp>
      <p:sp>
        <p:nvSpPr>
          <p:cNvPr id="85" name="Rectangle 4"/>
          <p:cNvSpPr>
            <a:spLocks noChangeArrowheads="1"/>
          </p:cNvSpPr>
          <p:nvPr/>
        </p:nvSpPr>
        <p:spPr bwMode="auto">
          <a:xfrm>
            <a:off x="9051926" y="5815013"/>
            <a:ext cx="1241425" cy="233362"/>
          </a:xfrm>
          <a:prstGeom prst="chevron">
            <a:avLst>
              <a:gd name="adj" fmla="val 0"/>
            </a:avLst>
          </a:prstGeom>
          <a:solidFill>
            <a:srgbClr val="FFFFFF"/>
          </a:solidFill>
          <a:ln w="25400">
            <a:noFill/>
            <a:miter lim="800000"/>
            <a:headEnd/>
            <a:tailEnd/>
          </a:ln>
          <a:effectLst/>
        </p:spPr>
        <p:txBody>
          <a:bodyPr lIns="0" tIns="0" rIns="0" bIns="0" anchor="ctr"/>
          <a:lstStyle/>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Common equity</a:t>
            </a:r>
          </a:p>
          <a:p>
            <a:pPr marL="88900" lvl="1" indent="-88900">
              <a:lnSpc>
                <a:spcPct val="90000"/>
              </a:lnSpc>
              <a:buClr>
                <a:srgbClr val="314C6A"/>
              </a:buClr>
              <a:buFont typeface="Arial" pitchFamily="34" charset="0"/>
              <a:buChar char="•"/>
              <a:defRPr/>
            </a:pPr>
            <a:r>
              <a:rPr lang="en-GB" sz="1000" kern="0" dirty="0">
                <a:solidFill>
                  <a:srgbClr val="000000"/>
                </a:solidFill>
                <a:latin typeface="Trebuchet MS" pitchFamily="34" charset="0"/>
                <a:ea typeface="ＭＳ Ｐゴシック" pitchFamily="-108" charset="-128"/>
                <a:cs typeface="Arial" pitchFamily="34" charset="0"/>
              </a:rPr>
              <a:t>Retained earnings</a:t>
            </a:r>
          </a:p>
        </p:txBody>
      </p:sp>
      <p:sp>
        <p:nvSpPr>
          <p:cNvPr id="86" name="Rectangle 4"/>
          <p:cNvSpPr>
            <a:spLocks noChangeArrowheads="1"/>
          </p:cNvSpPr>
          <p:nvPr/>
        </p:nvSpPr>
        <p:spPr bwMode="auto">
          <a:xfrm>
            <a:off x="2117726"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Borrowing (client’s view)</a:t>
            </a:r>
          </a:p>
        </p:txBody>
      </p:sp>
      <p:sp>
        <p:nvSpPr>
          <p:cNvPr id="87" name="Rectangle 4"/>
          <p:cNvSpPr>
            <a:spLocks noChangeArrowheads="1"/>
          </p:cNvSpPr>
          <p:nvPr/>
        </p:nvSpPr>
        <p:spPr bwMode="auto">
          <a:xfrm>
            <a:off x="6186489"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Investment (client’s view)</a:t>
            </a:r>
          </a:p>
        </p:txBody>
      </p:sp>
      <p:sp>
        <p:nvSpPr>
          <p:cNvPr id="2" name="Title 3">
            <a:extLst>
              <a:ext uri="{FF2B5EF4-FFF2-40B4-BE49-F238E27FC236}">
                <a16:creationId xmlns:a16="http://schemas.microsoft.com/office/drawing/2014/main" id="{8FA0DE18-0CF2-CA15-4B73-C9A34A289A1D}"/>
              </a:ext>
            </a:extLst>
          </p:cNvPr>
          <p:cNvSpPr txBox="1">
            <a:spLocks/>
          </p:cNvSpPr>
          <p:nvPr/>
        </p:nvSpPr>
        <p:spPr>
          <a:xfrm>
            <a:off x="1954214" y="274638"/>
            <a:ext cx="8713787" cy="741362"/>
          </a:xfrm>
          <a:prstGeom prst="rect">
            <a:avLst/>
          </a:prstGeom>
        </p:spPr>
        <p:txBody>
          <a:bodyPr/>
          <a:lstStyle/>
          <a:p>
            <a:pPr eaLnBrk="0" hangingPunct="0">
              <a:defRPr/>
            </a:pPr>
            <a:r>
              <a:rPr lang="hu-HU" kern="0" dirty="0">
                <a:latin typeface="+mj-lt"/>
                <a:ea typeface="+mj-ea"/>
                <a:cs typeface="+mj-cs"/>
              </a:rPr>
              <a:t>B</a:t>
            </a:r>
            <a:r>
              <a:rPr lang="en-GB" kern="0" dirty="0" err="1">
                <a:latin typeface="+mj-lt"/>
                <a:ea typeface="+mj-ea"/>
                <a:cs typeface="+mj-cs"/>
              </a:rPr>
              <a:t>ank</a:t>
            </a:r>
            <a:r>
              <a:rPr lang="en-GB" kern="0" dirty="0">
                <a:latin typeface="+mj-lt"/>
                <a:ea typeface="+mj-ea"/>
                <a:cs typeface="+mj-cs"/>
              </a:rPr>
              <a:t> business and balance-sheet risk</a:t>
            </a:r>
            <a:br>
              <a:rPr lang="en-GB" kern="0" dirty="0">
                <a:latin typeface="+mj-lt"/>
                <a:ea typeface="+mj-ea"/>
                <a:cs typeface="+mj-cs"/>
              </a:rPr>
            </a:br>
            <a:r>
              <a:rPr lang="hu-HU" kern="0" dirty="0">
                <a:latin typeface="+mj-lt"/>
                <a:ea typeface="+mj-ea"/>
                <a:cs typeface="+mj-cs"/>
              </a:rPr>
              <a:t>P</a:t>
            </a:r>
            <a:r>
              <a:rPr lang="en-GB" kern="0" dirty="0" err="1">
                <a:latin typeface="+mj-lt"/>
                <a:ea typeface="+mj-ea"/>
                <a:cs typeface="+mj-cs"/>
              </a:rPr>
              <a:t>roducts</a:t>
            </a:r>
            <a:r>
              <a:rPr lang="en-GB" kern="0" dirty="0">
                <a:latin typeface="+mj-lt"/>
                <a:ea typeface="+mj-ea"/>
                <a:cs typeface="+mj-cs"/>
              </a:rPr>
              <a:t> and their B/S, P&amp;L- and risk implications</a:t>
            </a:r>
            <a:endParaRPr lang="en-GB" kern="0" baseline="30000" dirty="0">
              <a:latin typeface="+mj-lt"/>
              <a:ea typeface="+mj-ea"/>
              <a:cs typeface="+mj-cs"/>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Slide Number Placeholder 12"/>
          <p:cNvSpPr>
            <a:spLocks noGrp="1"/>
          </p:cNvSpPr>
          <p:nvPr>
            <p:ph type="sldNum" sz="quarter" idx="4"/>
          </p:nvPr>
        </p:nvSpPr>
        <p:spPr>
          <a:xfrm>
            <a:off x="8295801" y="6356350"/>
            <a:ext cx="416399" cy="365125"/>
          </a:xfrm>
          <a:prstGeom prst="rect">
            <a:avLst/>
          </a:prstGeom>
        </p:spPr>
        <p:txBody>
          <a:bodyPr vert="horz" lIns="91440" tIns="45720" rIns="91440" bIns="45720" rtlCol="0" anchor="ctr"/>
          <a:lstStyle>
            <a:defPPr>
              <a:defRPr lang="de-DE"/>
            </a:defPPr>
            <a:lvl1pPr algn="r" rtl="0" fontAlgn="base">
              <a:spcBef>
                <a:spcPct val="0"/>
              </a:spcBef>
              <a:spcAft>
                <a:spcPct val="0"/>
              </a:spcAft>
              <a:defRPr sz="800"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D4222BFC-8070-2749-ADD2-48D4133FB3EC}" type="slidenum">
              <a:rPr lang="en-GB" smtClean="0"/>
              <a:pPr/>
              <a:t>28</a:t>
            </a:fld>
            <a:endParaRPr lang="en-GB" dirty="0"/>
          </a:p>
        </p:txBody>
      </p:sp>
      <p:sp>
        <p:nvSpPr>
          <p:cNvPr id="6" name="Rectangle 4"/>
          <p:cNvSpPr>
            <a:spLocks noChangeArrowheads="1"/>
          </p:cNvSpPr>
          <p:nvPr/>
        </p:nvSpPr>
        <p:spPr bwMode="auto">
          <a:xfrm>
            <a:off x="2120901" y="1374776"/>
            <a:ext cx="1908175" cy="250825"/>
          </a:xfrm>
          <a:prstGeom prst="chevron">
            <a:avLst>
              <a:gd name="adj" fmla="val 0"/>
            </a:avLst>
          </a:prstGeom>
          <a:noFill/>
          <a:ln w="25400">
            <a:solidFill>
              <a:srgbClr val="7E99AA">
                <a:lumMod val="50000"/>
              </a:srgbClr>
            </a:solidFill>
            <a:miter lim="800000"/>
            <a:headEnd/>
            <a:tailEnd/>
          </a:ln>
          <a:effectLst/>
        </p:spPr>
        <p:txBody>
          <a:bodyPr anchor="ctr"/>
          <a:lstStyle/>
          <a:p>
            <a:pPr marL="174625" lvl="1" indent="-174625">
              <a:lnSpc>
                <a:spcPct val="90000"/>
              </a:lnSpc>
              <a:buClr>
                <a:srgbClr val="314C6A"/>
              </a:buClr>
              <a:buFont typeface="+mj-lt"/>
              <a:buAutoNum type="arabicPeriod"/>
              <a:defRPr/>
            </a:pPr>
            <a:r>
              <a:rPr lang="en-GB" sz="1000" kern="0" dirty="0">
                <a:solidFill>
                  <a:srgbClr val="000000"/>
                </a:solidFill>
                <a:latin typeface="Trebuchet MS" pitchFamily="34" charset="0"/>
                <a:ea typeface="ＭＳ Ｐゴシック" pitchFamily="-108" charset="-128"/>
                <a:cs typeface="Arial" pitchFamily="34" charset="0"/>
              </a:rPr>
              <a:t>Retail &amp; SME</a:t>
            </a:r>
          </a:p>
        </p:txBody>
      </p:sp>
      <p:sp>
        <p:nvSpPr>
          <p:cNvPr id="7" name="Rectangle 4"/>
          <p:cNvSpPr>
            <a:spLocks noChangeArrowheads="1"/>
          </p:cNvSpPr>
          <p:nvPr/>
        </p:nvSpPr>
        <p:spPr bwMode="auto">
          <a:xfrm>
            <a:off x="4154489" y="1374776"/>
            <a:ext cx="1908175" cy="250825"/>
          </a:xfrm>
          <a:prstGeom prst="chevron">
            <a:avLst>
              <a:gd name="adj" fmla="val 0"/>
            </a:avLst>
          </a:prstGeom>
          <a:no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2"/>
              <a:defRPr/>
            </a:pPr>
            <a:r>
              <a:rPr lang="en-GB" sz="1000" kern="0" dirty="0">
                <a:solidFill>
                  <a:srgbClr val="000000"/>
                </a:solidFill>
                <a:latin typeface="Trebuchet MS" pitchFamily="34" charset="0"/>
                <a:ea typeface="ＭＳ Ｐゴシック" pitchFamily="-108" charset="-128"/>
                <a:cs typeface="Arial" pitchFamily="34" charset="0"/>
              </a:rPr>
              <a:t>Corporate</a:t>
            </a:r>
          </a:p>
        </p:txBody>
      </p:sp>
      <p:sp>
        <p:nvSpPr>
          <p:cNvPr id="8" name="Rectangle 4"/>
          <p:cNvSpPr>
            <a:spLocks noChangeArrowheads="1"/>
          </p:cNvSpPr>
          <p:nvPr/>
        </p:nvSpPr>
        <p:spPr bwMode="auto">
          <a:xfrm>
            <a:off x="6188076" y="1374776"/>
            <a:ext cx="1908175" cy="250825"/>
          </a:xfrm>
          <a:prstGeom prst="chevron">
            <a:avLst>
              <a:gd name="adj" fmla="val 0"/>
            </a:avLst>
          </a:prstGeom>
          <a:no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3"/>
              <a:defRPr/>
            </a:pPr>
            <a:r>
              <a:rPr lang="en-GB" sz="1000" kern="0" dirty="0">
                <a:solidFill>
                  <a:srgbClr val="000000"/>
                </a:solidFill>
                <a:latin typeface="Trebuchet MS" pitchFamily="34" charset="0"/>
                <a:ea typeface="ＭＳ Ｐゴシック" pitchFamily="-108" charset="-128"/>
                <a:cs typeface="Arial" pitchFamily="34" charset="0"/>
              </a:rPr>
              <a:t>Asset-based Finance</a:t>
            </a:r>
          </a:p>
        </p:txBody>
      </p:sp>
      <p:sp>
        <p:nvSpPr>
          <p:cNvPr id="9" name="Rectangle 4"/>
          <p:cNvSpPr>
            <a:spLocks noChangeArrowheads="1"/>
          </p:cNvSpPr>
          <p:nvPr/>
        </p:nvSpPr>
        <p:spPr bwMode="auto">
          <a:xfrm>
            <a:off x="8221664" y="1374776"/>
            <a:ext cx="1908175" cy="250825"/>
          </a:xfrm>
          <a:prstGeom prst="chevron">
            <a:avLst>
              <a:gd name="adj" fmla="val 0"/>
            </a:avLst>
          </a:prstGeom>
          <a:no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4"/>
              <a:defRPr/>
            </a:pPr>
            <a:r>
              <a:rPr lang="en-GB" sz="1000" kern="0" dirty="0">
                <a:solidFill>
                  <a:srgbClr val="000000"/>
                </a:solidFill>
                <a:latin typeface="Trebuchet MS" pitchFamily="34" charset="0"/>
                <a:ea typeface="ＭＳ Ｐゴシック" pitchFamily="-108" charset="-128"/>
                <a:cs typeface="Arial" pitchFamily="34" charset="0"/>
              </a:rPr>
              <a:t>Financial Institutions</a:t>
            </a:r>
          </a:p>
        </p:txBody>
      </p:sp>
      <p:sp>
        <p:nvSpPr>
          <p:cNvPr id="10" name="Rectangle 4"/>
          <p:cNvSpPr>
            <a:spLocks noChangeArrowheads="1"/>
          </p:cNvSpPr>
          <p:nvPr/>
        </p:nvSpPr>
        <p:spPr bwMode="auto">
          <a:xfrm>
            <a:off x="4152901"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Payment</a:t>
            </a:r>
          </a:p>
        </p:txBody>
      </p:sp>
      <p:sp>
        <p:nvSpPr>
          <p:cNvPr id="11" name="Rectangle 4"/>
          <p:cNvSpPr>
            <a:spLocks noChangeArrowheads="1"/>
          </p:cNvSpPr>
          <p:nvPr/>
        </p:nvSpPr>
        <p:spPr bwMode="auto">
          <a:xfrm>
            <a:off x="8221664"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0" lvl="1" indent="-179388"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Services &amp; Extras</a:t>
            </a:r>
          </a:p>
        </p:txBody>
      </p:sp>
      <p:cxnSp>
        <p:nvCxnSpPr>
          <p:cNvPr id="14" name="Straight Connector 138"/>
          <p:cNvCxnSpPr>
            <a:cxnSpLocks noChangeShapeType="1"/>
          </p:cNvCxnSpPr>
          <p:nvPr/>
        </p:nvCxnSpPr>
        <p:spPr bwMode="auto">
          <a:xfrm>
            <a:off x="2117726" y="1998663"/>
            <a:ext cx="8012113" cy="0"/>
          </a:xfrm>
          <a:prstGeom prst="line">
            <a:avLst/>
          </a:prstGeom>
          <a:noFill/>
          <a:ln w="12700" algn="ctr">
            <a:solidFill>
              <a:schemeClr val="tx1"/>
            </a:solidFill>
            <a:round/>
            <a:headEnd/>
            <a:tailEnd/>
          </a:ln>
        </p:spPr>
      </p:cxnSp>
      <p:sp>
        <p:nvSpPr>
          <p:cNvPr id="15" name="Rectangle 4"/>
          <p:cNvSpPr>
            <a:spLocks noChangeArrowheads="1"/>
          </p:cNvSpPr>
          <p:nvPr/>
        </p:nvSpPr>
        <p:spPr bwMode="auto">
          <a:xfrm>
            <a:off x="2120901" y="1685926"/>
            <a:ext cx="1908175" cy="252413"/>
          </a:xfrm>
          <a:prstGeom prst="chevron">
            <a:avLst>
              <a:gd name="adj" fmla="val 0"/>
            </a:avLst>
          </a:prstGeom>
          <a:noFill/>
          <a:ln w="25400">
            <a:solidFill>
              <a:srgbClr val="7E99AA">
                <a:lumMod val="50000"/>
              </a:srgbClr>
            </a:solidFill>
            <a:miter lim="800000"/>
            <a:headEnd/>
            <a:tailEnd/>
          </a:ln>
          <a:effectLst/>
        </p:spPr>
        <p:txBody>
          <a:bodyPr anchor="ctr"/>
          <a:lstStyle/>
          <a:p>
            <a:pPr marL="228600" lvl="1" indent="-228600">
              <a:lnSpc>
                <a:spcPct val="90000"/>
              </a:lnSpc>
              <a:buClr>
                <a:srgbClr val="314C6A"/>
              </a:buClr>
              <a:buFont typeface="+mj-lt"/>
              <a:buAutoNum type="arabicPeriod" startAt="5"/>
              <a:defRPr/>
            </a:pPr>
            <a:r>
              <a:rPr lang="en-GB" sz="1000" kern="0" dirty="0">
                <a:solidFill>
                  <a:srgbClr val="000000"/>
                </a:solidFill>
                <a:latin typeface="Trebuchet MS" pitchFamily="34" charset="0"/>
                <a:ea typeface="ＭＳ Ｐゴシック" pitchFamily="-108" charset="-128"/>
                <a:cs typeface="Arial" pitchFamily="34" charset="0"/>
              </a:rPr>
              <a:t>Money market trading</a:t>
            </a:r>
          </a:p>
        </p:txBody>
      </p:sp>
      <p:sp>
        <p:nvSpPr>
          <p:cNvPr id="16" name="Rectangle 4"/>
          <p:cNvSpPr>
            <a:spLocks noChangeArrowheads="1"/>
          </p:cNvSpPr>
          <p:nvPr/>
        </p:nvSpPr>
        <p:spPr bwMode="auto">
          <a:xfrm>
            <a:off x="6384925" y="2457451"/>
            <a:ext cx="933450" cy="176213"/>
          </a:xfrm>
          <a:prstGeom prst="chevron">
            <a:avLst>
              <a:gd name="adj" fmla="val 0"/>
            </a:avLst>
          </a:prstGeom>
          <a:solidFill>
            <a:srgbClr val="FFFFFF"/>
          </a:solidFill>
          <a:ln w="25400">
            <a:no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Liabilities</a:t>
            </a:r>
          </a:p>
        </p:txBody>
      </p:sp>
      <p:sp>
        <p:nvSpPr>
          <p:cNvPr id="17" name="Rectangle 16"/>
          <p:cNvSpPr/>
          <p:nvPr/>
        </p:nvSpPr>
        <p:spPr bwMode="auto">
          <a:xfrm>
            <a:off x="6384926" y="5018089"/>
            <a:ext cx="925513" cy="269875"/>
          </a:xfrm>
          <a:prstGeom prst="rect">
            <a:avLst/>
          </a:prstGeom>
          <a:solidFill>
            <a:schemeClr val="accent2">
              <a:lumMod val="75000"/>
            </a:schemeClr>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Equity</a:t>
            </a:r>
          </a:p>
        </p:txBody>
      </p:sp>
      <p:sp>
        <p:nvSpPr>
          <p:cNvPr id="18" name="Rectangle 17"/>
          <p:cNvSpPr/>
          <p:nvPr/>
        </p:nvSpPr>
        <p:spPr bwMode="auto">
          <a:xfrm>
            <a:off x="6384926" y="3886200"/>
            <a:ext cx="925513" cy="287338"/>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Trading</a:t>
            </a:r>
            <a:br>
              <a:rPr lang="de-DE" sz="1000" dirty="0">
                <a:solidFill>
                  <a:schemeClr val="bg1"/>
                </a:solidFill>
                <a:latin typeface="Trebuchet MS" pitchFamily="34" charset="0"/>
                <a:ea typeface="ＭＳ Ｐゴシック" pitchFamily="-108" charset="-128"/>
              </a:rPr>
            </a:br>
            <a:r>
              <a:rPr lang="de-DE" sz="1000" dirty="0">
                <a:solidFill>
                  <a:schemeClr val="bg1"/>
                </a:solidFill>
                <a:latin typeface="Trebuchet MS" pitchFamily="34" charset="0"/>
                <a:ea typeface="ＭＳ Ｐゴシック" pitchFamily="-108" charset="-128"/>
              </a:rPr>
              <a:t>liabilities</a:t>
            </a:r>
          </a:p>
        </p:txBody>
      </p:sp>
      <p:sp>
        <p:nvSpPr>
          <p:cNvPr id="19" name="Rectangle 18"/>
          <p:cNvSpPr/>
          <p:nvPr/>
        </p:nvSpPr>
        <p:spPr bwMode="auto">
          <a:xfrm>
            <a:off x="6384926" y="3516314"/>
            <a:ext cx="925513" cy="363537"/>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Securitised Liabilities</a:t>
            </a:r>
          </a:p>
        </p:txBody>
      </p:sp>
      <p:sp>
        <p:nvSpPr>
          <p:cNvPr id="20" name="Rectangle 19"/>
          <p:cNvSpPr/>
          <p:nvPr/>
        </p:nvSpPr>
        <p:spPr bwMode="auto">
          <a:xfrm>
            <a:off x="6384926" y="2655889"/>
            <a:ext cx="925513" cy="420687"/>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Liabilities to banks</a:t>
            </a:r>
          </a:p>
        </p:txBody>
      </p:sp>
      <p:sp>
        <p:nvSpPr>
          <p:cNvPr id="23" name="Rectangle 22"/>
          <p:cNvSpPr/>
          <p:nvPr/>
        </p:nvSpPr>
        <p:spPr bwMode="auto">
          <a:xfrm>
            <a:off x="6384926" y="3095626"/>
            <a:ext cx="925513" cy="409575"/>
          </a:xfrm>
          <a:prstGeom prst="rect">
            <a:avLst/>
          </a:prstGeom>
          <a:solidFill>
            <a:srgbClr val="3F714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Liabilities to customers</a:t>
            </a:r>
          </a:p>
        </p:txBody>
      </p:sp>
      <p:sp>
        <p:nvSpPr>
          <p:cNvPr id="24" name="Rectangle 23"/>
          <p:cNvSpPr/>
          <p:nvPr/>
        </p:nvSpPr>
        <p:spPr bwMode="auto">
          <a:xfrm>
            <a:off x="6384926" y="4468813"/>
            <a:ext cx="925513" cy="252412"/>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Subordinated capital</a:t>
            </a:r>
          </a:p>
        </p:txBody>
      </p:sp>
      <p:sp>
        <p:nvSpPr>
          <p:cNvPr id="25" name="Rectangle 24"/>
          <p:cNvSpPr/>
          <p:nvPr/>
        </p:nvSpPr>
        <p:spPr bwMode="auto">
          <a:xfrm>
            <a:off x="6384926" y="4724400"/>
            <a:ext cx="925513" cy="287338"/>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Hybrid capital</a:t>
            </a:r>
          </a:p>
        </p:txBody>
      </p:sp>
      <p:sp>
        <p:nvSpPr>
          <p:cNvPr id="26" name="Rectangle 25"/>
          <p:cNvSpPr/>
          <p:nvPr/>
        </p:nvSpPr>
        <p:spPr bwMode="auto">
          <a:xfrm>
            <a:off x="6384926" y="4176714"/>
            <a:ext cx="925513" cy="288925"/>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Remaining liabilities</a:t>
            </a:r>
          </a:p>
        </p:txBody>
      </p:sp>
      <p:sp>
        <p:nvSpPr>
          <p:cNvPr id="27" name="Rectangle 26"/>
          <p:cNvSpPr/>
          <p:nvPr/>
        </p:nvSpPr>
        <p:spPr bwMode="auto">
          <a:xfrm>
            <a:off x="5459413" y="2660651"/>
            <a:ext cx="925512" cy="176213"/>
          </a:xfrm>
          <a:prstGeom prst="rect">
            <a:avLst/>
          </a:prstGeom>
          <a:solidFill>
            <a:srgbClr val="6E81C5"/>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Cash reserve</a:t>
            </a:r>
          </a:p>
        </p:txBody>
      </p:sp>
      <p:sp>
        <p:nvSpPr>
          <p:cNvPr id="28" name="Rectangle 27"/>
          <p:cNvSpPr/>
          <p:nvPr/>
        </p:nvSpPr>
        <p:spPr bwMode="auto">
          <a:xfrm>
            <a:off x="5459413" y="2855914"/>
            <a:ext cx="925512" cy="396875"/>
          </a:xfrm>
          <a:prstGeom prst="rect">
            <a:avLst/>
          </a:prstGeom>
          <a:solidFill>
            <a:schemeClr val="bg1">
              <a:lumMod val="65000"/>
            </a:schemeClr>
          </a:solidFill>
          <a:ln w="9525" cap="flat" cmpd="sng" algn="ctr">
            <a:solidFill>
              <a:schemeClr val="bg1">
                <a:lumMod val="75000"/>
              </a:schemeClr>
            </a:solidFill>
            <a:prstDash val="solid"/>
            <a:round/>
            <a:headEnd type="none" w="med" len="med"/>
            <a:tailEnd type="none" w="med" len="med"/>
          </a:ln>
          <a:effectLst/>
        </p:spPr>
        <p:txBody>
          <a:bodyPr lIns="72000" tIns="72000" rIns="36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Claims on</a:t>
            </a:r>
            <a:br>
              <a:rPr lang="de-DE" sz="1000" dirty="0">
                <a:solidFill>
                  <a:schemeClr val="bg1"/>
                </a:solidFill>
                <a:latin typeface="Trebuchet MS" pitchFamily="34" charset="0"/>
                <a:ea typeface="ＭＳ Ｐゴシック" pitchFamily="-108" charset="-128"/>
              </a:rPr>
            </a:br>
            <a:r>
              <a:rPr lang="de-DE" sz="1000" dirty="0">
                <a:solidFill>
                  <a:schemeClr val="bg1"/>
                </a:solidFill>
                <a:latin typeface="Trebuchet MS" pitchFamily="34" charset="0"/>
                <a:ea typeface="ＭＳ Ｐゴシック" pitchFamily="-108" charset="-128"/>
              </a:rPr>
              <a:t>banks</a:t>
            </a:r>
          </a:p>
        </p:txBody>
      </p:sp>
      <p:sp>
        <p:nvSpPr>
          <p:cNvPr id="29" name="Rectangle 28"/>
          <p:cNvSpPr/>
          <p:nvPr/>
        </p:nvSpPr>
        <p:spPr bwMode="auto">
          <a:xfrm>
            <a:off x="5459413" y="3862389"/>
            <a:ext cx="925512" cy="287337"/>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Trading</a:t>
            </a:r>
            <a:br>
              <a:rPr lang="de-DE" sz="1000" dirty="0">
                <a:solidFill>
                  <a:schemeClr val="bg1"/>
                </a:solidFill>
                <a:latin typeface="Trebuchet MS" pitchFamily="34" charset="0"/>
                <a:ea typeface="ＭＳ Ｐゴシック" pitchFamily="-108" charset="-128"/>
              </a:rPr>
            </a:br>
            <a:r>
              <a:rPr lang="de-DE" sz="1000" dirty="0">
                <a:solidFill>
                  <a:schemeClr val="bg1"/>
                </a:solidFill>
                <a:latin typeface="Trebuchet MS" pitchFamily="34" charset="0"/>
                <a:ea typeface="ＭＳ Ｐゴシック" pitchFamily="-108" charset="-128"/>
              </a:rPr>
              <a:t>assets</a:t>
            </a:r>
          </a:p>
        </p:txBody>
      </p:sp>
      <p:sp>
        <p:nvSpPr>
          <p:cNvPr id="30" name="Rectangle 29"/>
          <p:cNvSpPr/>
          <p:nvPr/>
        </p:nvSpPr>
        <p:spPr bwMode="auto">
          <a:xfrm>
            <a:off x="5459413" y="4152901"/>
            <a:ext cx="925512" cy="288925"/>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Financial investments</a:t>
            </a:r>
          </a:p>
        </p:txBody>
      </p:sp>
      <p:sp>
        <p:nvSpPr>
          <p:cNvPr id="31" name="Rectangle 30"/>
          <p:cNvSpPr/>
          <p:nvPr/>
        </p:nvSpPr>
        <p:spPr bwMode="auto">
          <a:xfrm>
            <a:off x="5459413" y="3263900"/>
            <a:ext cx="925512" cy="584200"/>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Claims on customers</a:t>
            </a:r>
          </a:p>
        </p:txBody>
      </p:sp>
      <p:sp>
        <p:nvSpPr>
          <p:cNvPr id="32" name="Rectangle 31"/>
          <p:cNvSpPr/>
          <p:nvPr/>
        </p:nvSpPr>
        <p:spPr bwMode="auto">
          <a:xfrm>
            <a:off x="5459413" y="4697413"/>
            <a:ext cx="925512" cy="582612"/>
          </a:xfrm>
          <a:prstGeom prst="rect">
            <a:avLst/>
          </a:prstGeom>
          <a:solidFill>
            <a:srgbClr val="DCB95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Other assets</a:t>
            </a:r>
          </a:p>
        </p:txBody>
      </p:sp>
      <p:sp>
        <p:nvSpPr>
          <p:cNvPr id="33" name="Rectangle 32"/>
          <p:cNvSpPr/>
          <p:nvPr/>
        </p:nvSpPr>
        <p:spPr bwMode="auto">
          <a:xfrm>
            <a:off x="5459413" y="4446589"/>
            <a:ext cx="925512" cy="257175"/>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Remaining assets</a:t>
            </a:r>
          </a:p>
        </p:txBody>
      </p:sp>
      <p:sp>
        <p:nvSpPr>
          <p:cNvPr id="34" name="Rectangle 4"/>
          <p:cNvSpPr>
            <a:spLocks noChangeArrowheads="1"/>
          </p:cNvSpPr>
          <p:nvPr/>
        </p:nvSpPr>
        <p:spPr bwMode="auto">
          <a:xfrm>
            <a:off x="5451475" y="2457451"/>
            <a:ext cx="933450" cy="176213"/>
          </a:xfrm>
          <a:prstGeom prst="chevron">
            <a:avLst>
              <a:gd name="adj" fmla="val 0"/>
            </a:avLst>
          </a:prstGeom>
          <a:solidFill>
            <a:srgbClr val="FFFFFF"/>
          </a:solidFill>
          <a:ln w="25400">
            <a:no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Assets</a:t>
            </a:r>
          </a:p>
        </p:txBody>
      </p:sp>
      <p:sp>
        <p:nvSpPr>
          <p:cNvPr id="35" name="Rectangle 34"/>
          <p:cNvSpPr/>
          <p:nvPr/>
        </p:nvSpPr>
        <p:spPr bwMode="auto">
          <a:xfrm>
            <a:off x="7313614" y="5018089"/>
            <a:ext cx="395287" cy="269875"/>
          </a:xfrm>
          <a:prstGeom prst="rect">
            <a:avLst/>
          </a:prstGeom>
          <a:solidFill>
            <a:schemeClr val="accent2">
              <a:lumMod val="75000"/>
            </a:schemeClr>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4%</a:t>
            </a:r>
          </a:p>
        </p:txBody>
      </p:sp>
      <p:sp>
        <p:nvSpPr>
          <p:cNvPr id="36" name="Rectangle 35"/>
          <p:cNvSpPr/>
          <p:nvPr/>
        </p:nvSpPr>
        <p:spPr bwMode="auto">
          <a:xfrm>
            <a:off x="7313614" y="3886200"/>
            <a:ext cx="395287" cy="287338"/>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20%</a:t>
            </a:r>
          </a:p>
        </p:txBody>
      </p:sp>
      <p:sp>
        <p:nvSpPr>
          <p:cNvPr id="37" name="Rectangle 36"/>
          <p:cNvSpPr/>
          <p:nvPr/>
        </p:nvSpPr>
        <p:spPr bwMode="auto">
          <a:xfrm>
            <a:off x="7313614" y="3516314"/>
            <a:ext cx="395287" cy="363537"/>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17%</a:t>
            </a:r>
          </a:p>
        </p:txBody>
      </p:sp>
      <p:sp>
        <p:nvSpPr>
          <p:cNvPr id="38" name="Rectangle 37"/>
          <p:cNvSpPr/>
          <p:nvPr/>
        </p:nvSpPr>
        <p:spPr bwMode="auto">
          <a:xfrm>
            <a:off x="7313614" y="2655889"/>
            <a:ext cx="395287" cy="420687"/>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18%</a:t>
            </a:r>
          </a:p>
        </p:txBody>
      </p:sp>
      <p:sp>
        <p:nvSpPr>
          <p:cNvPr id="39" name="Rectangle 38"/>
          <p:cNvSpPr/>
          <p:nvPr/>
        </p:nvSpPr>
        <p:spPr bwMode="auto">
          <a:xfrm>
            <a:off x="7313614" y="3095626"/>
            <a:ext cx="395287" cy="409575"/>
          </a:xfrm>
          <a:prstGeom prst="rect">
            <a:avLst/>
          </a:prstGeom>
          <a:solidFill>
            <a:srgbClr val="3F714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35%</a:t>
            </a:r>
          </a:p>
        </p:txBody>
      </p:sp>
      <p:sp>
        <p:nvSpPr>
          <p:cNvPr id="40" name="Rectangle 39"/>
          <p:cNvSpPr/>
          <p:nvPr/>
        </p:nvSpPr>
        <p:spPr bwMode="auto">
          <a:xfrm>
            <a:off x="7313614" y="4468813"/>
            <a:ext cx="395287" cy="252412"/>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2%</a:t>
            </a:r>
          </a:p>
        </p:txBody>
      </p:sp>
      <p:sp>
        <p:nvSpPr>
          <p:cNvPr id="41" name="Rectangle 40"/>
          <p:cNvSpPr/>
          <p:nvPr/>
        </p:nvSpPr>
        <p:spPr bwMode="auto">
          <a:xfrm>
            <a:off x="7313614" y="4724400"/>
            <a:ext cx="395287" cy="287338"/>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1%</a:t>
            </a:r>
          </a:p>
        </p:txBody>
      </p:sp>
      <p:sp>
        <p:nvSpPr>
          <p:cNvPr id="42" name="Rectangle 41"/>
          <p:cNvSpPr/>
          <p:nvPr/>
        </p:nvSpPr>
        <p:spPr bwMode="auto">
          <a:xfrm>
            <a:off x="7313614" y="4178301"/>
            <a:ext cx="395287" cy="288925"/>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r>
              <a:rPr lang="de-DE" sz="1000" dirty="0">
                <a:latin typeface="Trebuchet MS" pitchFamily="34" charset="0"/>
                <a:ea typeface="ＭＳ Ｐゴシック" pitchFamily="-108" charset="-128"/>
              </a:rPr>
              <a:t>3%</a:t>
            </a:r>
          </a:p>
        </p:txBody>
      </p:sp>
      <p:sp>
        <p:nvSpPr>
          <p:cNvPr id="43" name="Rectangle 42"/>
          <p:cNvSpPr/>
          <p:nvPr/>
        </p:nvSpPr>
        <p:spPr bwMode="auto">
          <a:xfrm>
            <a:off x="5041900" y="2660651"/>
            <a:ext cx="395288" cy="176213"/>
          </a:xfrm>
          <a:prstGeom prst="rect">
            <a:avLst/>
          </a:prstGeom>
          <a:solidFill>
            <a:srgbClr val="6E81C5"/>
          </a:solidFill>
          <a:ln w="9525" cap="flat" cmpd="sng" algn="ctr">
            <a:solidFill>
              <a:schemeClr val="bg1">
                <a:lumMod val="75000"/>
              </a:schemeClr>
            </a:solidFill>
            <a:prstDash val="solid"/>
            <a:round/>
            <a:headEnd type="none" w="med" len="med"/>
            <a:tailEnd type="none" w="med" len="med"/>
          </a:ln>
          <a:effectLst/>
        </p:spPr>
        <p:txBody>
          <a:bodyPr lIns="36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1%</a:t>
            </a:r>
          </a:p>
        </p:txBody>
      </p:sp>
      <p:sp>
        <p:nvSpPr>
          <p:cNvPr id="44" name="Rectangle 43"/>
          <p:cNvSpPr/>
          <p:nvPr/>
        </p:nvSpPr>
        <p:spPr bwMode="auto">
          <a:xfrm>
            <a:off x="5041900" y="2855914"/>
            <a:ext cx="395288" cy="396875"/>
          </a:xfrm>
          <a:prstGeom prst="rect">
            <a:avLst/>
          </a:prstGeom>
          <a:solidFill>
            <a:schemeClr val="bg1">
              <a:lumMod val="65000"/>
            </a:schemeClr>
          </a:solid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15%</a:t>
            </a:r>
          </a:p>
        </p:txBody>
      </p:sp>
      <p:sp>
        <p:nvSpPr>
          <p:cNvPr id="45" name="Rectangle 44"/>
          <p:cNvSpPr/>
          <p:nvPr/>
        </p:nvSpPr>
        <p:spPr bwMode="auto">
          <a:xfrm>
            <a:off x="5041900" y="3862389"/>
            <a:ext cx="395288" cy="287337"/>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36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22%</a:t>
            </a:r>
          </a:p>
        </p:txBody>
      </p:sp>
      <p:sp>
        <p:nvSpPr>
          <p:cNvPr id="46" name="Rectangle 45"/>
          <p:cNvSpPr/>
          <p:nvPr/>
        </p:nvSpPr>
        <p:spPr bwMode="auto">
          <a:xfrm>
            <a:off x="5041900" y="4152901"/>
            <a:ext cx="395288" cy="288925"/>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36000" tIns="72000" rIns="72000" bIns="72000" anchor="ctr"/>
          <a:lstStyle/>
          <a:p>
            <a:pPr algn="ctr">
              <a:lnSpc>
                <a:spcPct val="90000"/>
              </a:lnSpc>
              <a:defRPr/>
            </a:pPr>
            <a:r>
              <a:rPr lang="de-DE" sz="1000" dirty="0">
                <a:latin typeface="Trebuchet MS" pitchFamily="34" charset="0"/>
                <a:ea typeface="ＭＳ Ｐゴシック" pitchFamily="-108" charset="-128"/>
              </a:rPr>
              <a:t>15%</a:t>
            </a:r>
          </a:p>
        </p:txBody>
      </p:sp>
      <p:sp>
        <p:nvSpPr>
          <p:cNvPr id="47" name="Rectangle 46"/>
          <p:cNvSpPr/>
          <p:nvPr/>
        </p:nvSpPr>
        <p:spPr bwMode="auto">
          <a:xfrm>
            <a:off x="5041900" y="3263900"/>
            <a:ext cx="395288" cy="584200"/>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36000" tIns="72000" rIns="72000" bIns="72000" anchor="ctr"/>
          <a:lstStyle/>
          <a:p>
            <a:pPr algn="ctr">
              <a:lnSpc>
                <a:spcPct val="90000"/>
              </a:lnSpc>
              <a:defRPr/>
            </a:pPr>
            <a:r>
              <a:rPr lang="de-DE" sz="1000" dirty="0">
                <a:latin typeface="Trebuchet MS" pitchFamily="34" charset="0"/>
                <a:ea typeface="ＭＳ Ｐゴシック" pitchFamily="-108" charset="-128"/>
              </a:rPr>
              <a:t>43%</a:t>
            </a:r>
          </a:p>
        </p:txBody>
      </p:sp>
      <p:sp>
        <p:nvSpPr>
          <p:cNvPr id="48" name="Rectangle 47"/>
          <p:cNvSpPr/>
          <p:nvPr/>
        </p:nvSpPr>
        <p:spPr bwMode="auto">
          <a:xfrm>
            <a:off x="5041900" y="4697413"/>
            <a:ext cx="395288" cy="582612"/>
          </a:xfrm>
          <a:prstGeom prst="rect">
            <a:avLst/>
          </a:prstGeom>
          <a:solidFill>
            <a:srgbClr val="DCB958"/>
          </a:solidFill>
          <a:ln w="9525" cap="flat" cmpd="sng" algn="ctr">
            <a:solidFill>
              <a:schemeClr val="bg1">
                <a:lumMod val="75000"/>
              </a:schemeClr>
            </a:solidFill>
            <a:prstDash val="solid"/>
            <a:round/>
            <a:headEnd type="none" w="med" len="med"/>
            <a:tailEnd type="none" w="med" len="med"/>
          </a:ln>
          <a:effectLst/>
        </p:spPr>
        <p:txBody>
          <a:bodyPr lIns="36000" tIns="72000" rIns="72000" bIns="72000" anchor="ctr"/>
          <a:lstStyle/>
          <a:p>
            <a:pPr algn="ctr">
              <a:lnSpc>
                <a:spcPct val="90000"/>
              </a:lnSpc>
              <a:defRPr/>
            </a:pPr>
            <a:r>
              <a:rPr lang="de-DE" sz="1000" dirty="0">
                <a:solidFill>
                  <a:schemeClr val="bg1"/>
                </a:solidFill>
                <a:latin typeface="Trebuchet MS" pitchFamily="34" charset="0"/>
                <a:ea typeface="ＭＳ Ｐゴシック" pitchFamily="-108" charset="-128"/>
              </a:rPr>
              <a:t>1%</a:t>
            </a:r>
          </a:p>
        </p:txBody>
      </p:sp>
      <p:sp>
        <p:nvSpPr>
          <p:cNvPr id="49" name="Rectangle 48"/>
          <p:cNvSpPr/>
          <p:nvPr/>
        </p:nvSpPr>
        <p:spPr bwMode="auto">
          <a:xfrm>
            <a:off x="5041900" y="4446589"/>
            <a:ext cx="395288" cy="257175"/>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36000" tIns="72000" rIns="72000" bIns="72000" anchor="ctr"/>
          <a:lstStyle/>
          <a:p>
            <a:pPr algn="ctr">
              <a:lnSpc>
                <a:spcPct val="90000"/>
              </a:lnSpc>
              <a:defRPr/>
            </a:pPr>
            <a:r>
              <a:rPr lang="de-DE" sz="1000" dirty="0">
                <a:latin typeface="Trebuchet MS" pitchFamily="34" charset="0"/>
                <a:ea typeface="ＭＳ Ｐゴシック" pitchFamily="-108" charset="-128"/>
              </a:rPr>
              <a:t>2%</a:t>
            </a:r>
          </a:p>
        </p:txBody>
      </p:sp>
      <p:cxnSp>
        <p:nvCxnSpPr>
          <p:cNvPr id="50" name="Straight Arrow Connector 49"/>
          <p:cNvCxnSpPr>
            <a:cxnSpLocks noChangeShapeType="1"/>
          </p:cNvCxnSpPr>
          <p:nvPr/>
        </p:nvCxnSpPr>
        <p:spPr bwMode="auto">
          <a:xfrm rot="5400000">
            <a:off x="5832476" y="6013451"/>
            <a:ext cx="1104900" cy="3175"/>
          </a:xfrm>
          <a:prstGeom prst="straightConnector1">
            <a:avLst/>
          </a:prstGeom>
          <a:noFill/>
          <a:ln w="12700" algn="ctr">
            <a:solidFill>
              <a:schemeClr val="tx1"/>
            </a:solidFill>
            <a:round/>
            <a:headEnd/>
            <a:tailEnd type="arrow" w="med" len="med"/>
          </a:ln>
        </p:spPr>
      </p:cxnSp>
      <p:cxnSp>
        <p:nvCxnSpPr>
          <p:cNvPr id="51" name="Straight Arrow Connector 51"/>
          <p:cNvCxnSpPr>
            <a:cxnSpLocks noChangeShapeType="1"/>
          </p:cNvCxnSpPr>
          <p:nvPr/>
        </p:nvCxnSpPr>
        <p:spPr bwMode="auto">
          <a:xfrm>
            <a:off x="5029200" y="5473700"/>
            <a:ext cx="2692400" cy="1588"/>
          </a:xfrm>
          <a:prstGeom prst="straightConnector1">
            <a:avLst/>
          </a:prstGeom>
          <a:noFill/>
          <a:ln w="12700" algn="ctr">
            <a:solidFill>
              <a:schemeClr val="tx1"/>
            </a:solidFill>
            <a:round/>
            <a:headEnd type="triangle" w="med" len="med"/>
            <a:tailEnd type="triangle" w="med" len="med"/>
          </a:ln>
        </p:spPr>
      </p:cxnSp>
      <p:sp>
        <p:nvSpPr>
          <p:cNvPr id="52" name="Rectangle 51"/>
          <p:cNvSpPr/>
          <p:nvPr/>
        </p:nvSpPr>
        <p:spPr bwMode="auto">
          <a:xfrm>
            <a:off x="6384926" y="6249988"/>
            <a:ext cx="277813" cy="144462"/>
          </a:xfrm>
          <a:prstGeom prst="rect">
            <a:avLst/>
          </a:prstGeom>
          <a:solidFill>
            <a:schemeClr val="accent2">
              <a:lumMod val="75000"/>
            </a:schemeClr>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a:solidFill>
                <a:schemeClr val="bg1"/>
              </a:solidFill>
              <a:latin typeface="Trebuchet MS" pitchFamily="34" charset="0"/>
              <a:ea typeface="ＭＳ Ｐゴシック" pitchFamily="-108" charset="-128"/>
            </a:endParaRPr>
          </a:p>
        </p:txBody>
      </p:sp>
      <p:sp>
        <p:nvSpPr>
          <p:cNvPr id="53" name="Rectangle 52"/>
          <p:cNvSpPr/>
          <p:nvPr/>
        </p:nvSpPr>
        <p:spPr bwMode="auto">
          <a:xfrm>
            <a:off x="6384926" y="6015038"/>
            <a:ext cx="206375" cy="144462"/>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a:latin typeface="Trebuchet MS" pitchFamily="34" charset="0"/>
              <a:ea typeface="ＭＳ Ｐゴシック" pitchFamily="-108" charset="-128"/>
            </a:endParaRPr>
          </a:p>
        </p:txBody>
      </p:sp>
      <p:sp>
        <p:nvSpPr>
          <p:cNvPr id="54" name="Rectangle 53"/>
          <p:cNvSpPr/>
          <p:nvPr/>
        </p:nvSpPr>
        <p:spPr bwMode="auto">
          <a:xfrm>
            <a:off x="6219825" y="5545138"/>
            <a:ext cx="165100" cy="144462"/>
          </a:xfrm>
          <a:prstGeom prst="rect">
            <a:avLst/>
          </a:prstGeom>
          <a:solidFill>
            <a:srgbClr val="6E81C5"/>
          </a:solidFill>
          <a:ln w="9525" cap="flat" cmpd="sng" algn="ctr">
            <a:solidFill>
              <a:schemeClr val="bg1">
                <a:lumMod val="75000"/>
              </a:schemeClr>
            </a:solidFill>
            <a:prstDash val="solid"/>
            <a:round/>
            <a:headEnd type="none" w="med" len="med"/>
            <a:tailEnd type="none" w="med" len="med"/>
          </a:ln>
          <a:effectLst/>
        </p:spPr>
        <p:txBody>
          <a:bodyPr lIns="36000" tIns="72000" rIns="72000" bIns="72000" anchor="ctr"/>
          <a:lstStyle/>
          <a:p>
            <a:pPr algn="ctr">
              <a:lnSpc>
                <a:spcPct val="90000"/>
              </a:lnSpc>
              <a:defRPr/>
            </a:pPr>
            <a:endParaRPr lang="en-US" sz="1000">
              <a:solidFill>
                <a:schemeClr val="bg1"/>
              </a:solidFill>
              <a:latin typeface="Trebuchet MS" pitchFamily="34" charset="0"/>
              <a:ea typeface="ＭＳ Ｐゴシック" pitchFamily="-108" charset="-128"/>
            </a:endParaRPr>
          </a:p>
        </p:txBody>
      </p:sp>
      <p:sp>
        <p:nvSpPr>
          <p:cNvPr id="55" name="Rectangle 54"/>
          <p:cNvSpPr/>
          <p:nvPr/>
        </p:nvSpPr>
        <p:spPr bwMode="auto">
          <a:xfrm>
            <a:off x="6321425" y="6249988"/>
            <a:ext cx="63500" cy="144462"/>
          </a:xfrm>
          <a:prstGeom prst="rect">
            <a:avLst/>
          </a:prstGeom>
          <a:solidFill>
            <a:srgbClr val="DCB958"/>
          </a:solidFill>
          <a:ln w="9525" cap="flat" cmpd="sng" algn="ctr">
            <a:solidFill>
              <a:schemeClr val="bg1">
                <a:lumMod val="75000"/>
              </a:schemeClr>
            </a:solidFill>
            <a:prstDash val="solid"/>
            <a:round/>
            <a:headEnd type="none" w="med" len="med"/>
            <a:tailEnd type="none" w="med" len="med"/>
          </a:ln>
          <a:effectLst/>
        </p:spPr>
        <p:txBody>
          <a:bodyPr lIns="36000" tIns="72000" rIns="72000" bIns="72000" anchor="ctr"/>
          <a:lstStyle/>
          <a:p>
            <a:pPr algn="ctr">
              <a:lnSpc>
                <a:spcPct val="90000"/>
              </a:lnSpc>
              <a:defRPr/>
            </a:pPr>
            <a:endParaRPr lang="en-US" sz="1000">
              <a:solidFill>
                <a:schemeClr val="bg1"/>
              </a:solidFill>
              <a:latin typeface="Trebuchet MS" pitchFamily="34" charset="0"/>
              <a:ea typeface="ＭＳ Ｐゴシック" pitchFamily="-108" charset="-128"/>
            </a:endParaRPr>
          </a:p>
        </p:txBody>
      </p:sp>
      <p:sp>
        <p:nvSpPr>
          <p:cNvPr id="56" name="Rectangle 55"/>
          <p:cNvSpPr/>
          <p:nvPr/>
        </p:nvSpPr>
        <p:spPr bwMode="auto">
          <a:xfrm>
            <a:off x="5743576" y="5780088"/>
            <a:ext cx="358775" cy="144462"/>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a:latin typeface="Trebuchet MS" pitchFamily="34" charset="0"/>
              <a:ea typeface="ＭＳ Ｐゴシック" pitchFamily="-108" charset="-128"/>
            </a:endParaRPr>
          </a:p>
        </p:txBody>
      </p:sp>
      <p:sp>
        <p:nvSpPr>
          <p:cNvPr id="57" name="Rectangle 56"/>
          <p:cNvSpPr/>
          <p:nvPr/>
        </p:nvSpPr>
        <p:spPr bwMode="auto">
          <a:xfrm>
            <a:off x="5343526" y="6005513"/>
            <a:ext cx="752475" cy="144462"/>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a:latin typeface="Trebuchet MS" pitchFamily="34" charset="0"/>
              <a:ea typeface="ＭＳ Ｐゴシック" pitchFamily="-108" charset="-128"/>
            </a:endParaRPr>
          </a:p>
        </p:txBody>
      </p:sp>
      <p:sp>
        <p:nvSpPr>
          <p:cNvPr id="58" name="Rectangle 4"/>
          <p:cNvSpPr>
            <a:spLocks noChangeArrowheads="1"/>
          </p:cNvSpPr>
          <p:nvPr/>
        </p:nvSpPr>
        <p:spPr bwMode="auto">
          <a:xfrm>
            <a:off x="7764464" y="5383213"/>
            <a:ext cx="1112837" cy="176212"/>
          </a:xfrm>
          <a:prstGeom prst="chevron">
            <a:avLst>
              <a:gd name="adj" fmla="val 0"/>
            </a:avLst>
          </a:prstGeom>
          <a:solidFill>
            <a:srgbClr val="FFFFFF"/>
          </a:solidFill>
          <a:ln w="25400">
            <a:noFill/>
            <a:miter lim="800000"/>
            <a:headEnd/>
            <a:tailEnd/>
          </a:ln>
          <a:effectLst/>
        </p:spPr>
        <p:txBody>
          <a:bodyPr anchor="ctr"/>
          <a:lstStyle/>
          <a:p>
            <a:pPr marL="174625" lvl="1" indent="-174625">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Outflows CF</a:t>
            </a:r>
            <a:r>
              <a:rPr lang="en-GB" sz="1000" kern="0" baseline="30000" dirty="0">
                <a:solidFill>
                  <a:srgbClr val="000000"/>
                </a:solidFill>
                <a:latin typeface="Trebuchet MS" pitchFamily="34" charset="0"/>
                <a:ea typeface="ＭＳ Ｐゴシック" pitchFamily="-108" charset="-128"/>
                <a:cs typeface="Arial" pitchFamily="34" charset="0"/>
              </a:rPr>
              <a:t>-</a:t>
            </a:r>
            <a:r>
              <a:rPr lang="en-GB" sz="1000" kern="0" baseline="-25000" dirty="0">
                <a:solidFill>
                  <a:srgbClr val="000000"/>
                </a:solidFill>
                <a:latin typeface="Trebuchet MS" pitchFamily="34" charset="0"/>
                <a:ea typeface="ＭＳ Ｐゴシック" pitchFamily="-108" charset="-128"/>
                <a:cs typeface="Arial" pitchFamily="34" charset="0"/>
              </a:rPr>
              <a:t>t</a:t>
            </a:r>
          </a:p>
        </p:txBody>
      </p:sp>
      <p:sp>
        <p:nvSpPr>
          <p:cNvPr id="59" name="Rectangle 4"/>
          <p:cNvSpPr>
            <a:spLocks noChangeArrowheads="1"/>
          </p:cNvSpPr>
          <p:nvPr/>
        </p:nvSpPr>
        <p:spPr bwMode="auto">
          <a:xfrm>
            <a:off x="3956051" y="5383213"/>
            <a:ext cx="1000125" cy="176212"/>
          </a:xfrm>
          <a:prstGeom prst="chevron">
            <a:avLst>
              <a:gd name="adj" fmla="val 0"/>
            </a:avLst>
          </a:prstGeom>
          <a:solidFill>
            <a:srgbClr val="FFFFFF"/>
          </a:solidFill>
          <a:ln w="25400">
            <a:noFill/>
            <a:miter lim="800000"/>
            <a:headEnd/>
            <a:tailEnd/>
          </a:ln>
          <a:effectLst/>
        </p:spPr>
        <p:txBody>
          <a:bodyPr anchor="ctr"/>
          <a:lstStyle/>
          <a:p>
            <a:pPr marL="174625" lvl="1" indent="-174625" algn="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Inflows </a:t>
            </a:r>
            <a:r>
              <a:rPr lang="en-GB" sz="1000" kern="0" dirty="0" err="1">
                <a:solidFill>
                  <a:srgbClr val="000000"/>
                </a:solidFill>
                <a:latin typeface="Trebuchet MS" pitchFamily="34" charset="0"/>
                <a:ea typeface="ＭＳ Ｐゴシック" pitchFamily="-108" charset="-128"/>
                <a:cs typeface="Arial" pitchFamily="34" charset="0"/>
              </a:rPr>
              <a:t>CF</a:t>
            </a:r>
            <a:r>
              <a:rPr lang="en-GB" sz="1000" kern="0" baseline="30000" dirty="0" err="1">
                <a:solidFill>
                  <a:srgbClr val="000000"/>
                </a:solidFill>
                <a:latin typeface="Trebuchet MS" pitchFamily="34" charset="0"/>
                <a:ea typeface="ＭＳ Ｐゴシック" pitchFamily="-108" charset="-128"/>
                <a:cs typeface="Arial" pitchFamily="34" charset="0"/>
              </a:rPr>
              <a:t>+</a:t>
            </a:r>
            <a:r>
              <a:rPr lang="en-GB" sz="1000" kern="0" baseline="-25000" dirty="0" err="1">
                <a:solidFill>
                  <a:srgbClr val="000000"/>
                </a:solidFill>
                <a:latin typeface="Trebuchet MS" pitchFamily="34" charset="0"/>
                <a:ea typeface="ＭＳ Ｐゴシック" pitchFamily="-108" charset="-128"/>
                <a:cs typeface="Arial" pitchFamily="34" charset="0"/>
              </a:rPr>
              <a:t>t</a:t>
            </a:r>
            <a:endParaRPr lang="en-GB" sz="1000" kern="0" baseline="-25000" dirty="0">
              <a:solidFill>
                <a:srgbClr val="000000"/>
              </a:solidFill>
              <a:latin typeface="Trebuchet MS" pitchFamily="34" charset="0"/>
              <a:ea typeface="ＭＳ Ｐゴシック" pitchFamily="-108" charset="-128"/>
              <a:cs typeface="Arial" pitchFamily="34" charset="0"/>
            </a:endParaRPr>
          </a:p>
        </p:txBody>
      </p:sp>
      <p:sp>
        <p:nvSpPr>
          <p:cNvPr id="60" name="Rectangle 59"/>
          <p:cNvSpPr/>
          <p:nvPr/>
        </p:nvSpPr>
        <p:spPr bwMode="auto">
          <a:xfrm>
            <a:off x="6384925" y="5778501"/>
            <a:ext cx="298450" cy="144463"/>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a:latin typeface="Trebuchet MS" pitchFamily="34" charset="0"/>
              <a:ea typeface="ＭＳ Ｐゴシック" pitchFamily="-108" charset="-128"/>
            </a:endParaRPr>
          </a:p>
        </p:txBody>
      </p:sp>
      <p:sp>
        <p:nvSpPr>
          <p:cNvPr id="61" name="Rectangle 60"/>
          <p:cNvSpPr/>
          <p:nvPr/>
        </p:nvSpPr>
        <p:spPr bwMode="auto">
          <a:xfrm>
            <a:off x="6384926" y="5540376"/>
            <a:ext cx="206375" cy="144463"/>
          </a:xfrm>
          <a:prstGeom prst="rect">
            <a:avLst/>
          </a:prstGeom>
          <a:solidFill>
            <a:srgbClr val="FFC00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a:latin typeface="Trebuchet MS" pitchFamily="34" charset="0"/>
              <a:ea typeface="ＭＳ Ｐゴシック" pitchFamily="-108" charset="-128"/>
            </a:endParaRPr>
          </a:p>
        </p:txBody>
      </p:sp>
      <p:sp>
        <p:nvSpPr>
          <p:cNvPr id="62" name="Rectangle 61"/>
          <p:cNvSpPr/>
          <p:nvPr/>
        </p:nvSpPr>
        <p:spPr bwMode="auto">
          <a:xfrm>
            <a:off x="6597651" y="5540376"/>
            <a:ext cx="593725" cy="144463"/>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dirty="0">
              <a:latin typeface="Trebuchet MS" pitchFamily="34" charset="0"/>
              <a:ea typeface="ＭＳ Ｐゴシック" pitchFamily="-108" charset="-128"/>
            </a:endParaRPr>
          </a:p>
        </p:txBody>
      </p:sp>
      <p:sp>
        <p:nvSpPr>
          <p:cNvPr id="63" name="Rectangle 62"/>
          <p:cNvSpPr/>
          <p:nvPr/>
        </p:nvSpPr>
        <p:spPr bwMode="auto">
          <a:xfrm>
            <a:off x="6683376" y="5778501"/>
            <a:ext cx="207963" cy="144463"/>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dirty="0">
              <a:latin typeface="Trebuchet MS" pitchFamily="34" charset="0"/>
              <a:ea typeface="ＭＳ Ｐゴシック" pitchFamily="-108" charset="-128"/>
            </a:endParaRPr>
          </a:p>
        </p:txBody>
      </p:sp>
      <p:sp>
        <p:nvSpPr>
          <p:cNvPr id="64" name="Rectangle 63"/>
          <p:cNvSpPr/>
          <p:nvPr/>
        </p:nvSpPr>
        <p:spPr bwMode="auto">
          <a:xfrm>
            <a:off x="6592888" y="6013451"/>
            <a:ext cx="127000" cy="144463"/>
          </a:xfrm>
          <a:prstGeom prst="rect">
            <a:avLst/>
          </a:prstGeom>
          <a:solidFill>
            <a:srgbClr val="92D050"/>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dirty="0">
              <a:latin typeface="Trebuchet MS" pitchFamily="34" charset="0"/>
              <a:ea typeface="ＭＳ Ｐゴシック" pitchFamily="-108" charset="-128"/>
            </a:endParaRPr>
          </a:p>
        </p:txBody>
      </p:sp>
      <p:sp>
        <p:nvSpPr>
          <p:cNvPr id="65" name="Rectangle 64"/>
          <p:cNvSpPr/>
          <p:nvPr/>
        </p:nvSpPr>
        <p:spPr bwMode="auto">
          <a:xfrm>
            <a:off x="7191376" y="5540376"/>
            <a:ext cx="263525" cy="144463"/>
          </a:xfrm>
          <a:prstGeom prst="rect">
            <a:avLst/>
          </a:prstGeom>
          <a:solidFill>
            <a:srgbClr val="3F714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dirty="0">
              <a:solidFill>
                <a:schemeClr val="bg1"/>
              </a:solidFill>
              <a:latin typeface="Trebuchet MS" pitchFamily="34" charset="0"/>
              <a:ea typeface="ＭＳ Ｐゴシック" pitchFamily="-108" charset="-128"/>
            </a:endParaRPr>
          </a:p>
        </p:txBody>
      </p:sp>
      <p:sp>
        <p:nvSpPr>
          <p:cNvPr id="66" name="Rectangle 65"/>
          <p:cNvSpPr/>
          <p:nvPr/>
        </p:nvSpPr>
        <p:spPr bwMode="auto">
          <a:xfrm>
            <a:off x="6896100" y="5778501"/>
            <a:ext cx="469900" cy="144463"/>
          </a:xfrm>
          <a:prstGeom prst="rect">
            <a:avLst/>
          </a:prstGeom>
          <a:solidFill>
            <a:srgbClr val="3F714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dirty="0">
              <a:solidFill>
                <a:schemeClr val="bg1"/>
              </a:solidFill>
              <a:latin typeface="Trebuchet MS" pitchFamily="34" charset="0"/>
              <a:ea typeface="ＭＳ Ｐゴシック" pitchFamily="-108" charset="-128"/>
            </a:endParaRPr>
          </a:p>
        </p:txBody>
      </p:sp>
      <p:sp>
        <p:nvSpPr>
          <p:cNvPr id="67" name="Rectangle 66"/>
          <p:cNvSpPr/>
          <p:nvPr/>
        </p:nvSpPr>
        <p:spPr bwMode="auto">
          <a:xfrm>
            <a:off x="6721475" y="6013451"/>
            <a:ext cx="127000" cy="144463"/>
          </a:xfrm>
          <a:prstGeom prst="rect">
            <a:avLst/>
          </a:prstGeom>
          <a:solidFill>
            <a:srgbClr val="3F714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dirty="0">
              <a:solidFill>
                <a:schemeClr val="bg1"/>
              </a:solidFill>
              <a:latin typeface="Trebuchet MS" pitchFamily="34" charset="0"/>
              <a:ea typeface="ＭＳ Ｐゴシック" pitchFamily="-108" charset="-128"/>
            </a:endParaRPr>
          </a:p>
        </p:txBody>
      </p:sp>
      <p:sp>
        <p:nvSpPr>
          <p:cNvPr id="68" name="Rectangle 67"/>
          <p:cNvSpPr/>
          <p:nvPr/>
        </p:nvSpPr>
        <p:spPr bwMode="auto">
          <a:xfrm>
            <a:off x="6848475" y="6013451"/>
            <a:ext cx="127000" cy="144463"/>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dirty="0">
              <a:solidFill>
                <a:schemeClr val="bg1"/>
              </a:solidFill>
              <a:latin typeface="Trebuchet MS" pitchFamily="34" charset="0"/>
              <a:ea typeface="ＭＳ Ｐゴシック" pitchFamily="-108" charset="-128"/>
            </a:endParaRPr>
          </a:p>
        </p:txBody>
      </p:sp>
      <p:sp>
        <p:nvSpPr>
          <p:cNvPr id="69" name="Rectangle 68"/>
          <p:cNvSpPr/>
          <p:nvPr/>
        </p:nvSpPr>
        <p:spPr bwMode="auto">
          <a:xfrm>
            <a:off x="6657975" y="6248401"/>
            <a:ext cx="127000" cy="144463"/>
          </a:xfrm>
          <a:prstGeom prst="rect">
            <a:avLst/>
          </a:prstGeom>
          <a:no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dirty="0">
              <a:solidFill>
                <a:schemeClr val="bg1"/>
              </a:solidFill>
              <a:latin typeface="Trebuchet MS" pitchFamily="34" charset="0"/>
              <a:ea typeface="ＭＳ Ｐゴシック" pitchFamily="-108" charset="-128"/>
            </a:endParaRPr>
          </a:p>
        </p:txBody>
      </p:sp>
      <p:sp>
        <p:nvSpPr>
          <p:cNvPr id="70" name="Rectangle 69"/>
          <p:cNvSpPr/>
          <p:nvPr/>
        </p:nvSpPr>
        <p:spPr bwMode="auto">
          <a:xfrm>
            <a:off x="5930900" y="5543551"/>
            <a:ext cx="287338" cy="144463"/>
          </a:xfrm>
          <a:prstGeom prst="rect">
            <a:avLst/>
          </a:prstGeom>
          <a:solidFill>
            <a:schemeClr val="bg1">
              <a:lumMod val="65000"/>
            </a:schemeClr>
          </a:solid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gn="ctr">
              <a:lnSpc>
                <a:spcPct val="90000"/>
              </a:lnSpc>
              <a:defRPr/>
            </a:pPr>
            <a:endParaRPr lang="en-US" sz="1000">
              <a:solidFill>
                <a:schemeClr val="bg1"/>
              </a:solidFill>
              <a:latin typeface="Trebuchet MS" pitchFamily="34" charset="0"/>
              <a:ea typeface="ＭＳ Ｐゴシック" pitchFamily="-108" charset="-128"/>
            </a:endParaRPr>
          </a:p>
        </p:txBody>
      </p:sp>
      <p:sp>
        <p:nvSpPr>
          <p:cNvPr id="71" name="Rectangle 70"/>
          <p:cNvSpPr/>
          <p:nvPr/>
        </p:nvSpPr>
        <p:spPr bwMode="auto">
          <a:xfrm>
            <a:off x="6097589" y="5778501"/>
            <a:ext cx="287337" cy="144463"/>
          </a:xfrm>
          <a:prstGeom prst="rect">
            <a:avLst/>
          </a:prstGeom>
          <a:solidFill>
            <a:schemeClr val="bg1">
              <a:lumMod val="65000"/>
            </a:schemeClr>
          </a:solid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gn="ctr">
              <a:lnSpc>
                <a:spcPct val="90000"/>
              </a:lnSpc>
              <a:defRPr/>
            </a:pPr>
            <a:endParaRPr lang="en-US" sz="1000">
              <a:solidFill>
                <a:schemeClr val="bg1"/>
              </a:solidFill>
              <a:latin typeface="Trebuchet MS" pitchFamily="34" charset="0"/>
              <a:ea typeface="ＭＳ Ｐゴシック" pitchFamily="-108" charset="-128"/>
            </a:endParaRPr>
          </a:p>
        </p:txBody>
      </p:sp>
      <p:sp>
        <p:nvSpPr>
          <p:cNvPr id="72" name="Rectangle 71"/>
          <p:cNvSpPr/>
          <p:nvPr/>
        </p:nvSpPr>
        <p:spPr bwMode="auto">
          <a:xfrm>
            <a:off x="5773739" y="5543551"/>
            <a:ext cx="153987" cy="142875"/>
          </a:xfrm>
          <a:prstGeom prst="rect">
            <a:avLst/>
          </a:prstGeom>
          <a:solidFill>
            <a:schemeClr val="accent1"/>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a:latin typeface="Trebuchet MS" pitchFamily="34" charset="0"/>
              <a:ea typeface="ＭＳ Ｐゴシック" pitchFamily="-108" charset="-128"/>
            </a:endParaRPr>
          </a:p>
        </p:txBody>
      </p:sp>
      <p:sp>
        <p:nvSpPr>
          <p:cNvPr id="73" name="Rectangle 72"/>
          <p:cNvSpPr/>
          <p:nvPr/>
        </p:nvSpPr>
        <p:spPr bwMode="auto">
          <a:xfrm>
            <a:off x="6097589" y="6008688"/>
            <a:ext cx="287337" cy="144462"/>
          </a:xfrm>
          <a:prstGeom prst="rect">
            <a:avLst/>
          </a:prstGeom>
          <a:solidFill>
            <a:schemeClr val="bg1">
              <a:lumMod val="65000"/>
            </a:schemeClr>
          </a:solidFill>
          <a:ln w="9525" cap="flat" cmpd="sng" algn="ctr">
            <a:solidFill>
              <a:schemeClr val="bg1">
                <a:lumMod val="75000"/>
              </a:schemeClr>
            </a:solidFill>
            <a:prstDash val="solid"/>
            <a:round/>
            <a:headEnd type="none" w="med" len="med"/>
            <a:tailEnd type="none" w="med" len="med"/>
          </a:ln>
          <a:effectLst/>
        </p:spPr>
        <p:txBody>
          <a:bodyPr lIns="36000" tIns="72000" rIns="36000" bIns="72000" anchor="ctr"/>
          <a:lstStyle/>
          <a:p>
            <a:pPr algn="ctr">
              <a:lnSpc>
                <a:spcPct val="90000"/>
              </a:lnSpc>
              <a:defRPr/>
            </a:pPr>
            <a:endParaRPr lang="en-US" sz="1000">
              <a:solidFill>
                <a:schemeClr val="bg1"/>
              </a:solidFill>
              <a:latin typeface="Trebuchet MS" pitchFamily="34" charset="0"/>
              <a:ea typeface="ＭＳ Ｐゴシック" pitchFamily="-108" charset="-128"/>
            </a:endParaRPr>
          </a:p>
        </p:txBody>
      </p:sp>
      <p:sp>
        <p:nvSpPr>
          <p:cNvPr id="74" name="Rectangle 79"/>
          <p:cNvSpPr>
            <a:spLocks noChangeArrowheads="1"/>
          </p:cNvSpPr>
          <p:nvPr/>
        </p:nvSpPr>
        <p:spPr bwMode="auto">
          <a:xfrm>
            <a:off x="5654676" y="5545138"/>
            <a:ext cx="111125" cy="144462"/>
          </a:xfrm>
          <a:prstGeom prst="rect">
            <a:avLst/>
          </a:prstGeom>
          <a:noFill/>
          <a:ln w="9525" algn="ctr">
            <a:solidFill>
              <a:schemeClr val="tx1"/>
            </a:solidFill>
            <a:miter lim="800000"/>
            <a:headEnd/>
            <a:tailEnd/>
          </a:ln>
        </p:spPr>
        <p:txBody>
          <a:bodyPr lIns="0" tIns="0" rIns="0" bIns="0" anchor="ctr"/>
          <a:lstStyle/>
          <a:p>
            <a:pPr algn="ctr"/>
            <a:endParaRPr lang="en-US"/>
          </a:p>
        </p:txBody>
      </p:sp>
      <p:sp>
        <p:nvSpPr>
          <p:cNvPr id="75" name="Rectangle 80"/>
          <p:cNvSpPr>
            <a:spLocks noChangeArrowheads="1"/>
          </p:cNvSpPr>
          <p:nvPr/>
        </p:nvSpPr>
        <p:spPr bwMode="auto">
          <a:xfrm>
            <a:off x="5414964" y="5778501"/>
            <a:ext cx="327025" cy="144463"/>
          </a:xfrm>
          <a:prstGeom prst="rect">
            <a:avLst/>
          </a:prstGeom>
          <a:noFill/>
          <a:ln w="9525" algn="ctr">
            <a:solidFill>
              <a:schemeClr val="tx1"/>
            </a:solidFill>
            <a:miter lim="800000"/>
            <a:headEnd/>
            <a:tailEnd/>
          </a:ln>
        </p:spPr>
        <p:txBody>
          <a:bodyPr lIns="0" tIns="0" rIns="0" bIns="0" anchor="ctr"/>
          <a:lstStyle/>
          <a:p>
            <a:pPr algn="ctr"/>
            <a:endParaRPr lang="en-US"/>
          </a:p>
        </p:txBody>
      </p:sp>
      <p:sp>
        <p:nvSpPr>
          <p:cNvPr id="76" name="Rectangle 75"/>
          <p:cNvSpPr/>
          <p:nvPr/>
        </p:nvSpPr>
        <p:spPr bwMode="auto">
          <a:xfrm>
            <a:off x="5038725" y="6008688"/>
            <a:ext cx="63500" cy="144462"/>
          </a:xfrm>
          <a:prstGeom prst="rect">
            <a:avLst/>
          </a:prstGeom>
          <a:solidFill>
            <a:srgbClr val="DCB958"/>
          </a:solidFill>
          <a:ln w="9525" cap="flat" cmpd="sng" algn="ctr">
            <a:solidFill>
              <a:schemeClr val="bg1">
                <a:lumMod val="75000"/>
              </a:schemeClr>
            </a:solidFill>
            <a:prstDash val="solid"/>
            <a:round/>
            <a:headEnd type="none" w="med" len="med"/>
            <a:tailEnd type="none" w="med" len="med"/>
          </a:ln>
          <a:effectLst/>
        </p:spPr>
        <p:txBody>
          <a:bodyPr lIns="36000" tIns="72000" rIns="72000" bIns="72000" anchor="ctr"/>
          <a:lstStyle/>
          <a:p>
            <a:pPr algn="ctr">
              <a:lnSpc>
                <a:spcPct val="90000"/>
              </a:lnSpc>
              <a:defRPr/>
            </a:pPr>
            <a:endParaRPr lang="en-US" sz="1000">
              <a:solidFill>
                <a:schemeClr val="bg1"/>
              </a:solidFill>
              <a:latin typeface="Trebuchet MS" pitchFamily="34" charset="0"/>
              <a:ea typeface="ＭＳ Ｐゴシック" pitchFamily="-108" charset="-128"/>
            </a:endParaRPr>
          </a:p>
        </p:txBody>
      </p:sp>
      <p:sp>
        <p:nvSpPr>
          <p:cNvPr id="77" name="Rectangle 76"/>
          <p:cNvSpPr/>
          <p:nvPr/>
        </p:nvSpPr>
        <p:spPr bwMode="auto">
          <a:xfrm>
            <a:off x="5346700" y="5778501"/>
            <a:ext cx="63500" cy="144463"/>
          </a:xfrm>
          <a:prstGeom prst="rect">
            <a:avLst/>
          </a:prstGeom>
          <a:solidFill>
            <a:srgbClr val="DCB958"/>
          </a:solidFill>
          <a:ln w="9525" cap="flat" cmpd="sng" algn="ctr">
            <a:solidFill>
              <a:schemeClr val="bg1">
                <a:lumMod val="75000"/>
              </a:schemeClr>
            </a:solidFill>
            <a:prstDash val="solid"/>
            <a:round/>
            <a:headEnd type="none" w="med" len="med"/>
            <a:tailEnd type="none" w="med" len="med"/>
          </a:ln>
          <a:effectLst/>
        </p:spPr>
        <p:txBody>
          <a:bodyPr lIns="36000" tIns="72000" rIns="72000" bIns="72000" anchor="ctr"/>
          <a:lstStyle/>
          <a:p>
            <a:pPr algn="ctr">
              <a:lnSpc>
                <a:spcPct val="90000"/>
              </a:lnSpc>
              <a:defRPr/>
            </a:pPr>
            <a:endParaRPr lang="en-US" sz="1000">
              <a:solidFill>
                <a:schemeClr val="bg1"/>
              </a:solidFill>
              <a:latin typeface="Trebuchet MS" pitchFamily="34" charset="0"/>
              <a:ea typeface="ＭＳ Ｐゴシック" pitchFamily="-108" charset="-128"/>
            </a:endParaRPr>
          </a:p>
        </p:txBody>
      </p:sp>
      <p:sp>
        <p:nvSpPr>
          <p:cNvPr id="78" name="Rectangle 77"/>
          <p:cNvSpPr/>
          <p:nvPr/>
        </p:nvSpPr>
        <p:spPr bwMode="auto">
          <a:xfrm>
            <a:off x="5591175" y="5543551"/>
            <a:ext cx="63500" cy="144463"/>
          </a:xfrm>
          <a:prstGeom prst="rect">
            <a:avLst/>
          </a:prstGeom>
          <a:solidFill>
            <a:srgbClr val="DCB958"/>
          </a:solidFill>
          <a:ln w="9525" cap="flat" cmpd="sng" algn="ctr">
            <a:solidFill>
              <a:schemeClr val="bg1">
                <a:lumMod val="75000"/>
              </a:schemeClr>
            </a:solidFill>
            <a:prstDash val="solid"/>
            <a:round/>
            <a:headEnd type="none" w="med" len="med"/>
            <a:tailEnd type="none" w="med" len="med"/>
          </a:ln>
          <a:effectLst/>
        </p:spPr>
        <p:txBody>
          <a:bodyPr lIns="36000" tIns="72000" rIns="72000" bIns="72000" anchor="ctr"/>
          <a:lstStyle/>
          <a:p>
            <a:pPr algn="ctr">
              <a:lnSpc>
                <a:spcPct val="90000"/>
              </a:lnSpc>
              <a:defRPr/>
            </a:pPr>
            <a:endParaRPr lang="en-US" sz="1000">
              <a:solidFill>
                <a:schemeClr val="bg1"/>
              </a:solidFill>
              <a:latin typeface="Trebuchet MS" pitchFamily="34" charset="0"/>
              <a:ea typeface="ＭＳ Ｐゴシック" pitchFamily="-108" charset="-128"/>
            </a:endParaRPr>
          </a:p>
        </p:txBody>
      </p:sp>
      <p:sp>
        <p:nvSpPr>
          <p:cNvPr id="79" name="Rectangle 84"/>
          <p:cNvSpPr>
            <a:spLocks noChangeArrowheads="1"/>
          </p:cNvSpPr>
          <p:nvPr/>
        </p:nvSpPr>
        <p:spPr bwMode="auto">
          <a:xfrm>
            <a:off x="5102226" y="6008688"/>
            <a:ext cx="231775" cy="144462"/>
          </a:xfrm>
          <a:prstGeom prst="rect">
            <a:avLst/>
          </a:prstGeom>
          <a:noFill/>
          <a:ln w="9525" algn="ctr">
            <a:solidFill>
              <a:schemeClr val="tx1"/>
            </a:solidFill>
            <a:miter lim="800000"/>
            <a:headEnd/>
            <a:tailEnd/>
          </a:ln>
        </p:spPr>
        <p:txBody>
          <a:bodyPr lIns="0" tIns="0" rIns="0" bIns="0" anchor="ctr"/>
          <a:lstStyle/>
          <a:p>
            <a:pPr algn="ctr"/>
            <a:endParaRPr lang="en-US"/>
          </a:p>
        </p:txBody>
      </p:sp>
      <p:sp>
        <p:nvSpPr>
          <p:cNvPr id="80" name="Rectangle 79"/>
          <p:cNvSpPr/>
          <p:nvPr/>
        </p:nvSpPr>
        <p:spPr bwMode="auto">
          <a:xfrm>
            <a:off x="7451726" y="5540376"/>
            <a:ext cx="144463" cy="144463"/>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dirty="0">
              <a:solidFill>
                <a:schemeClr val="bg1"/>
              </a:solidFill>
              <a:latin typeface="Trebuchet MS" pitchFamily="34" charset="0"/>
              <a:ea typeface="ＭＳ Ｐゴシック" pitchFamily="-108" charset="-128"/>
            </a:endParaRPr>
          </a:p>
        </p:txBody>
      </p:sp>
      <p:sp>
        <p:nvSpPr>
          <p:cNvPr id="81" name="Rectangle 80"/>
          <p:cNvSpPr/>
          <p:nvPr/>
        </p:nvSpPr>
        <p:spPr bwMode="auto">
          <a:xfrm>
            <a:off x="5434014" y="5540376"/>
            <a:ext cx="160337" cy="144463"/>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dirty="0">
              <a:solidFill>
                <a:schemeClr val="bg1"/>
              </a:solidFill>
              <a:latin typeface="Trebuchet MS" pitchFamily="34" charset="0"/>
              <a:ea typeface="ＭＳ Ｐゴシック" pitchFamily="-108" charset="-128"/>
            </a:endParaRPr>
          </a:p>
        </p:txBody>
      </p:sp>
      <p:sp>
        <p:nvSpPr>
          <p:cNvPr id="82" name="Rectangle 81"/>
          <p:cNvSpPr/>
          <p:nvPr/>
        </p:nvSpPr>
        <p:spPr bwMode="auto">
          <a:xfrm>
            <a:off x="7362826" y="5778501"/>
            <a:ext cx="73025" cy="144463"/>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dirty="0">
              <a:solidFill>
                <a:schemeClr val="bg1"/>
              </a:solidFill>
              <a:latin typeface="Trebuchet MS" pitchFamily="34" charset="0"/>
              <a:ea typeface="ＭＳ Ｐゴシック" pitchFamily="-108" charset="-128"/>
            </a:endParaRPr>
          </a:p>
        </p:txBody>
      </p:sp>
      <p:sp>
        <p:nvSpPr>
          <p:cNvPr id="83" name="Rectangle 82"/>
          <p:cNvSpPr/>
          <p:nvPr/>
        </p:nvSpPr>
        <p:spPr bwMode="auto">
          <a:xfrm>
            <a:off x="5273676" y="5778501"/>
            <a:ext cx="73025" cy="144463"/>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dirty="0">
              <a:solidFill>
                <a:schemeClr val="bg1"/>
              </a:solidFill>
              <a:latin typeface="Trebuchet MS" pitchFamily="34" charset="0"/>
              <a:ea typeface="ＭＳ Ｐゴシック" pitchFamily="-108" charset="-128"/>
            </a:endParaRPr>
          </a:p>
        </p:txBody>
      </p:sp>
      <p:sp>
        <p:nvSpPr>
          <p:cNvPr id="84" name="Rectangle 83"/>
          <p:cNvSpPr/>
          <p:nvPr/>
        </p:nvSpPr>
        <p:spPr bwMode="auto">
          <a:xfrm>
            <a:off x="4962526" y="6013451"/>
            <a:ext cx="73025" cy="144463"/>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dirty="0">
              <a:solidFill>
                <a:schemeClr val="bg1"/>
              </a:solidFill>
              <a:latin typeface="Trebuchet MS" pitchFamily="34" charset="0"/>
              <a:ea typeface="ＭＳ Ｐゴシック" pitchFamily="-108" charset="-128"/>
            </a:endParaRPr>
          </a:p>
        </p:txBody>
      </p:sp>
      <p:sp>
        <p:nvSpPr>
          <p:cNvPr id="85" name="Rectangle 84"/>
          <p:cNvSpPr/>
          <p:nvPr/>
        </p:nvSpPr>
        <p:spPr bwMode="auto">
          <a:xfrm>
            <a:off x="6975476" y="6013451"/>
            <a:ext cx="73025" cy="144463"/>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dirty="0">
              <a:solidFill>
                <a:schemeClr val="bg1"/>
              </a:solidFill>
              <a:latin typeface="Trebuchet MS" pitchFamily="34" charset="0"/>
              <a:ea typeface="ＭＳ Ｐゴシック" pitchFamily="-108" charset="-128"/>
            </a:endParaRPr>
          </a:p>
        </p:txBody>
      </p:sp>
      <p:sp>
        <p:nvSpPr>
          <p:cNvPr id="86" name="Rectangle 85"/>
          <p:cNvSpPr/>
          <p:nvPr/>
        </p:nvSpPr>
        <p:spPr bwMode="auto">
          <a:xfrm>
            <a:off x="6791326" y="6248401"/>
            <a:ext cx="73025" cy="144463"/>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dirty="0">
              <a:solidFill>
                <a:schemeClr val="bg1"/>
              </a:solidFill>
              <a:latin typeface="Trebuchet MS" pitchFamily="34" charset="0"/>
              <a:ea typeface="ＭＳ Ｐゴシック" pitchFamily="-108" charset="-128"/>
            </a:endParaRPr>
          </a:p>
        </p:txBody>
      </p:sp>
      <p:sp>
        <p:nvSpPr>
          <p:cNvPr id="87" name="Rectangle 86"/>
          <p:cNvSpPr/>
          <p:nvPr/>
        </p:nvSpPr>
        <p:spPr bwMode="auto">
          <a:xfrm>
            <a:off x="6245226" y="6248401"/>
            <a:ext cx="73025" cy="144463"/>
          </a:xfrm>
          <a:prstGeom prst="rect">
            <a:avLst/>
          </a:prstGeom>
          <a:solidFill>
            <a:srgbClr val="D85C68"/>
          </a:solidFill>
          <a:ln w="9525" cap="flat" cmpd="sng" algn="ctr">
            <a:solidFill>
              <a:schemeClr val="bg1">
                <a:lumMod val="75000"/>
              </a:schemeClr>
            </a:solidFill>
            <a:prstDash val="solid"/>
            <a:round/>
            <a:headEnd type="none" w="med" len="med"/>
            <a:tailEnd type="none" w="med" len="med"/>
          </a:ln>
          <a:effectLst/>
        </p:spPr>
        <p:txBody>
          <a:bodyPr lIns="72000" tIns="72000" rIns="72000" bIns="72000" anchor="ctr"/>
          <a:lstStyle/>
          <a:p>
            <a:pPr algn="ctr">
              <a:lnSpc>
                <a:spcPct val="90000"/>
              </a:lnSpc>
              <a:defRPr/>
            </a:pPr>
            <a:endParaRPr lang="en-US" sz="1000" dirty="0">
              <a:solidFill>
                <a:schemeClr val="bg1"/>
              </a:solidFill>
              <a:latin typeface="Trebuchet MS" pitchFamily="34" charset="0"/>
              <a:ea typeface="ＭＳ Ｐゴシック" pitchFamily="-108" charset="-128"/>
            </a:endParaRPr>
          </a:p>
        </p:txBody>
      </p:sp>
      <p:sp>
        <p:nvSpPr>
          <p:cNvPr id="88" name="Rectangle 95"/>
          <p:cNvSpPr>
            <a:spLocks noChangeArrowheads="1"/>
          </p:cNvSpPr>
          <p:nvPr/>
        </p:nvSpPr>
        <p:spPr bwMode="auto">
          <a:xfrm>
            <a:off x="2117725" y="2514600"/>
            <a:ext cx="2986088" cy="1631950"/>
          </a:xfrm>
          <a:prstGeom prst="rect">
            <a:avLst/>
          </a:prstGeom>
          <a:noFill/>
          <a:ln w="9525">
            <a:noFill/>
            <a:miter lim="800000"/>
            <a:headEnd/>
            <a:tailEnd/>
          </a:ln>
        </p:spPr>
        <p:txBody>
          <a:bodyPr anchor="ctr"/>
          <a:lstStyle/>
          <a:p>
            <a:pPr marL="171450" indent="-171450"/>
            <a:r>
              <a:rPr lang="en-GB" sz="1000">
                <a:latin typeface="Trebuchet MS" pitchFamily="34" charset="0"/>
              </a:rPr>
              <a:t>Cash flows are central for liquidity management:</a:t>
            </a:r>
          </a:p>
          <a:p>
            <a:pPr marL="171450" indent="-171450">
              <a:buFont typeface="Wingdings" pitchFamily="2" charset="2"/>
              <a:buChar char="§"/>
            </a:pPr>
            <a:r>
              <a:rPr lang="en-GB" sz="1000">
                <a:latin typeface="Trebuchet MS" pitchFamily="34" charset="0"/>
              </a:rPr>
              <a:t>Assets: generate inflows</a:t>
            </a:r>
          </a:p>
          <a:p>
            <a:pPr marL="171450" indent="-171450">
              <a:buFont typeface="Wingdings" pitchFamily="2" charset="2"/>
              <a:buChar char="§"/>
            </a:pPr>
            <a:r>
              <a:rPr lang="en-GB" sz="1000">
                <a:latin typeface="Trebuchet MS" pitchFamily="34" charset="0"/>
              </a:rPr>
              <a:t>Liabilities: generate outflows</a:t>
            </a:r>
          </a:p>
          <a:p>
            <a:pPr marL="171450" indent="-171450">
              <a:buFont typeface="Wingdings" pitchFamily="2" charset="2"/>
              <a:buChar char="§"/>
            </a:pPr>
            <a:r>
              <a:rPr lang="en-GB" sz="1000">
                <a:latin typeface="Trebuchet MS" pitchFamily="34" charset="0"/>
              </a:rPr>
              <a:t>Liquidity risk:</a:t>
            </a:r>
            <a:br>
              <a:rPr lang="en-GB" sz="1000">
                <a:latin typeface="Trebuchet MS" pitchFamily="34" charset="0"/>
              </a:rPr>
            </a:br>
            <a:r>
              <a:rPr lang="en-GB" sz="1000">
                <a:latin typeface="Trebuchet MS" pitchFamily="34" charset="0"/>
              </a:rPr>
              <a:t>Liabilities are (usually) of shorter term than assets</a:t>
            </a:r>
            <a:br>
              <a:rPr lang="en-GB" sz="1000">
                <a:latin typeface="Trebuchet MS" pitchFamily="34" charset="0"/>
              </a:rPr>
            </a:br>
            <a:r>
              <a:rPr lang="en-GB" sz="1000">
                <a:latin typeface="Trebuchet MS" pitchFamily="34" charset="0"/>
              </a:rPr>
              <a:t>=&gt; Outflows are of shorter term than inflows</a:t>
            </a:r>
            <a:br>
              <a:rPr lang="en-GB" sz="1000">
                <a:latin typeface="Trebuchet MS" pitchFamily="34" charset="0"/>
              </a:rPr>
            </a:br>
            <a:r>
              <a:rPr lang="en-GB" sz="1000">
                <a:latin typeface="Trebuchet MS" pitchFamily="34" charset="0"/>
              </a:rPr>
              <a:t>=&gt; Risk that outflows cannot be paid</a:t>
            </a:r>
          </a:p>
        </p:txBody>
      </p:sp>
      <p:sp>
        <p:nvSpPr>
          <p:cNvPr id="89" name="Left Brace 97"/>
          <p:cNvSpPr>
            <a:spLocks/>
          </p:cNvSpPr>
          <p:nvPr/>
        </p:nvSpPr>
        <p:spPr bwMode="auto">
          <a:xfrm>
            <a:off x="3829051" y="5346700"/>
            <a:ext cx="231775" cy="1208088"/>
          </a:xfrm>
          <a:prstGeom prst="leftBrace">
            <a:avLst>
              <a:gd name="adj1" fmla="val 8325"/>
              <a:gd name="adj2" fmla="val 50000"/>
            </a:avLst>
          </a:prstGeom>
          <a:noFill/>
          <a:ln w="12700" algn="ctr">
            <a:solidFill>
              <a:schemeClr val="tx1"/>
            </a:solidFill>
            <a:round/>
            <a:headEnd/>
            <a:tailEnd/>
          </a:ln>
        </p:spPr>
        <p:txBody>
          <a:bodyPr anchor="ctr"/>
          <a:lstStyle/>
          <a:p>
            <a:pPr algn="ctr"/>
            <a:endParaRPr lang="en-US"/>
          </a:p>
        </p:txBody>
      </p:sp>
      <p:sp>
        <p:nvSpPr>
          <p:cNvPr id="90" name="Rectangle 4"/>
          <p:cNvSpPr>
            <a:spLocks noChangeArrowheads="1"/>
          </p:cNvSpPr>
          <p:nvPr/>
        </p:nvSpPr>
        <p:spPr bwMode="auto">
          <a:xfrm>
            <a:off x="1987551" y="5770564"/>
            <a:ext cx="1844675" cy="503237"/>
          </a:xfrm>
          <a:prstGeom prst="chevron">
            <a:avLst>
              <a:gd name="adj" fmla="val 0"/>
            </a:avLst>
          </a:prstGeom>
          <a:solidFill>
            <a:srgbClr val="FFFFFF"/>
          </a:solidFill>
          <a:ln w="25400">
            <a:no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Liquidity Maturity Ladder</a:t>
            </a:r>
            <a:br>
              <a:rPr lang="en-GB" sz="1000" kern="0" dirty="0">
                <a:solidFill>
                  <a:srgbClr val="000000"/>
                </a:solidFill>
                <a:latin typeface="Trebuchet MS" pitchFamily="34" charset="0"/>
                <a:ea typeface="ＭＳ Ｐゴシック" pitchFamily="-108" charset="-128"/>
                <a:cs typeface="Arial" pitchFamily="34" charset="0"/>
              </a:rPr>
            </a:br>
            <a:r>
              <a:rPr lang="en-GB" sz="1000" kern="0" dirty="0">
                <a:solidFill>
                  <a:srgbClr val="000000"/>
                </a:solidFill>
                <a:latin typeface="Trebuchet MS" pitchFamily="34" charset="0"/>
                <a:ea typeface="ＭＳ Ｐゴシック" pitchFamily="-108" charset="-128"/>
                <a:cs typeface="Arial" pitchFamily="34" charset="0"/>
              </a:rPr>
              <a:t>= </a:t>
            </a:r>
            <a:br>
              <a:rPr lang="en-GB" sz="1000" kern="0" dirty="0">
                <a:solidFill>
                  <a:srgbClr val="000000"/>
                </a:solidFill>
                <a:latin typeface="Trebuchet MS" pitchFamily="34" charset="0"/>
                <a:ea typeface="ＭＳ Ｐゴシック" pitchFamily="-108" charset="-128"/>
                <a:cs typeface="Arial" pitchFamily="34" charset="0"/>
              </a:rPr>
            </a:br>
            <a:r>
              <a:rPr lang="en-GB" sz="1000" kern="0" dirty="0">
                <a:solidFill>
                  <a:srgbClr val="000000"/>
                </a:solidFill>
                <a:latin typeface="Trebuchet MS" pitchFamily="34" charset="0"/>
                <a:ea typeface="ＭＳ Ｐゴシック" pitchFamily="-108" charset="-128"/>
                <a:cs typeface="Arial" pitchFamily="34" charset="0"/>
              </a:rPr>
              <a:t>basis for any </a:t>
            </a:r>
            <a:br>
              <a:rPr lang="en-GB" sz="1000" kern="0" dirty="0">
                <a:solidFill>
                  <a:srgbClr val="000000"/>
                </a:solidFill>
                <a:latin typeface="Trebuchet MS" pitchFamily="34" charset="0"/>
                <a:ea typeface="ＭＳ Ｐゴシック" pitchFamily="-108" charset="-128"/>
                <a:cs typeface="Arial" pitchFamily="34" charset="0"/>
              </a:rPr>
            </a:br>
            <a:r>
              <a:rPr lang="en-GB" sz="1000" kern="0" dirty="0">
                <a:solidFill>
                  <a:srgbClr val="000000"/>
                </a:solidFill>
                <a:latin typeface="Trebuchet MS" pitchFamily="34" charset="0"/>
                <a:ea typeface="ＭＳ Ｐゴシック" pitchFamily="-108" charset="-128"/>
                <a:cs typeface="Arial" pitchFamily="34" charset="0"/>
              </a:rPr>
              <a:t>liquidity modelling</a:t>
            </a:r>
            <a:endParaRPr lang="en-GB" sz="1000" kern="0" baseline="-25000" dirty="0">
              <a:solidFill>
                <a:srgbClr val="000000"/>
              </a:solidFill>
              <a:latin typeface="Trebuchet MS" pitchFamily="34" charset="0"/>
              <a:ea typeface="ＭＳ Ｐゴシック" pitchFamily="-108" charset="-128"/>
              <a:cs typeface="Arial" pitchFamily="34" charset="0"/>
            </a:endParaRPr>
          </a:p>
        </p:txBody>
      </p:sp>
      <p:sp>
        <p:nvSpPr>
          <p:cNvPr id="91" name="Rectangle 4"/>
          <p:cNvSpPr>
            <a:spLocks noChangeArrowheads="1"/>
          </p:cNvSpPr>
          <p:nvPr/>
        </p:nvSpPr>
        <p:spPr bwMode="auto">
          <a:xfrm>
            <a:off x="2117726"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Borrowing (client’s view)</a:t>
            </a:r>
          </a:p>
        </p:txBody>
      </p:sp>
      <p:sp>
        <p:nvSpPr>
          <p:cNvPr id="92" name="Rectangle 4"/>
          <p:cNvSpPr>
            <a:spLocks noChangeArrowheads="1"/>
          </p:cNvSpPr>
          <p:nvPr/>
        </p:nvSpPr>
        <p:spPr bwMode="auto">
          <a:xfrm>
            <a:off x="6186489" y="2058988"/>
            <a:ext cx="1908175" cy="252412"/>
          </a:xfrm>
          <a:prstGeom prst="chevron">
            <a:avLst>
              <a:gd name="adj" fmla="val 0"/>
            </a:avLst>
          </a:prstGeom>
          <a:solidFill>
            <a:srgbClr val="FFFFFF"/>
          </a:solidFill>
          <a:ln w="25400">
            <a:solidFill>
              <a:srgbClr val="7E99AA">
                <a:lumMod val="50000"/>
              </a:srgbClr>
            </a:solidFill>
            <a:miter lim="800000"/>
            <a:headEnd/>
            <a:tailEnd/>
          </a:ln>
          <a:effectLst/>
        </p:spPr>
        <p:txBody>
          <a:bodyPr anchor="ctr"/>
          <a:lstStyle/>
          <a:p>
            <a:pPr marL="174625" lvl="1" indent="-174625" algn="ctr">
              <a:lnSpc>
                <a:spcPct val="90000"/>
              </a:lnSpc>
              <a:buClr>
                <a:srgbClr val="314C6A"/>
              </a:buClr>
              <a:defRPr/>
            </a:pPr>
            <a:r>
              <a:rPr lang="en-GB" sz="1000" kern="0" dirty="0">
                <a:solidFill>
                  <a:srgbClr val="000000"/>
                </a:solidFill>
                <a:latin typeface="Trebuchet MS" pitchFamily="34" charset="0"/>
                <a:ea typeface="ＭＳ Ｐゴシック" pitchFamily="-108" charset="-128"/>
                <a:cs typeface="Arial" pitchFamily="34" charset="0"/>
              </a:rPr>
              <a:t>Investment (client’s view)</a:t>
            </a:r>
          </a:p>
        </p:txBody>
      </p:sp>
      <p:sp>
        <p:nvSpPr>
          <p:cNvPr id="2" name="Title 3">
            <a:extLst>
              <a:ext uri="{FF2B5EF4-FFF2-40B4-BE49-F238E27FC236}">
                <a16:creationId xmlns:a16="http://schemas.microsoft.com/office/drawing/2014/main" id="{9C9CA585-110B-4C52-0E72-3A97BD70BBE5}"/>
              </a:ext>
            </a:extLst>
          </p:cNvPr>
          <p:cNvSpPr txBox="1">
            <a:spLocks/>
          </p:cNvSpPr>
          <p:nvPr/>
        </p:nvSpPr>
        <p:spPr>
          <a:xfrm>
            <a:off x="1954214" y="274638"/>
            <a:ext cx="8713787" cy="741362"/>
          </a:xfrm>
          <a:prstGeom prst="rect">
            <a:avLst/>
          </a:prstGeom>
        </p:spPr>
        <p:txBody>
          <a:bodyPr/>
          <a:lstStyle/>
          <a:p>
            <a:pPr eaLnBrk="0" hangingPunct="0">
              <a:defRPr/>
            </a:pPr>
            <a:r>
              <a:rPr lang="hu-HU" kern="0" dirty="0">
                <a:latin typeface="+mj-lt"/>
                <a:ea typeface="+mj-ea"/>
                <a:cs typeface="+mj-cs"/>
              </a:rPr>
              <a:t>B</a:t>
            </a:r>
            <a:r>
              <a:rPr lang="en-GB" kern="0" dirty="0" err="1">
                <a:latin typeface="+mj-lt"/>
                <a:ea typeface="+mj-ea"/>
                <a:cs typeface="+mj-cs"/>
              </a:rPr>
              <a:t>ank</a:t>
            </a:r>
            <a:r>
              <a:rPr lang="en-GB" kern="0" dirty="0">
                <a:latin typeface="+mj-lt"/>
                <a:ea typeface="+mj-ea"/>
                <a:cs typeface="+mj-cs"/>
              </a:rPr>
              <a:t> business and balance-sheet risk</a:t>
            </a:r>
            <a:br>
              <a:rPr lang="en-GB" kern="0" dirty="0">
                <a:latin typeface="+mj-lt"/>
                <a:ea typeface="+mj-ea"/>
                <a:cs typeface="+mj-cs"/>
              </a:rPr>
            </a:br>
            <a:r>
              <a:rPr lang="hu-HU" kern="0" dirty="0">
                <a:latin typeface="+mj-lt"/>
                <a:ea typeface="+mj-ea"/>
                <a:cs typeface="+mj-cs"/>
              </a:rPr>
              <a:t>P</a:t>
            </a:r>
            <a:r>
              <a:rPr lang="en-GB" kern="0" dirty="0" err="1">
                <a:latin typeface="+mj-lt"/>
                <a:ea typeface="+mj-ea"/>
                <a:cs typeface="+mj-cs"/>
              </a:rPr>
              <a:t>roducts</a:t>
            </a:r>
            <a:r>
              <a:rPr lang="en-GB" kern="0" dirty="0">
                <a:latin typeface="+mj-lt"/>
                <a:ea typeface="+mj-ea"/>
                <a:cs typeface="+mj-cs"/>
              </a:rPr>
              <a:t> and their B/S, P&amp;L- and risk implications</a:t>
            </a:r>
            <a:endParaRPr lang="en-GB" kern="0" baseline="30000" dirty="0">
              <a:latin typeface="+mj-lt"/>
              <a:ea typeface="+mj-ea"/>
              <a:cs typeface="+mj-cs"/>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hu-HU" dirty="0"/>
              <a:t>Credit risk undertaking process</a:t>
            </a:r>
          </a:p>
        </p:txBody>
      </p:sp>
      <p:sp>
        <p:nvSpPr>
          <p:cNvPr id="20483" name="AutoShape 3"/>
          <p:cNvSpPr>
            <a:spLocks noChangeArrowheads="1"/>
          </p:cNvSpPr>
          <p:nvPr/>
        </p:nvSpPr>
        <p:spPr bwMode="auto">
          <a:xfrm>
            <a:off x="1403041" y="2286000"/>
            <a:ext cx="3365019" cy="1219200"/>
          </a:xfrm>
          <a:prstGeom prst="chevron">
            <a:avLst>
              <a:gd name="adj" fmla="val 48438"/>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fontAlgn="base">
              <a:spcBef>
                <a:spcPct val="0"/>
              </a:spcBef>
              <a:spcAft>
                <a:spcPct val="0"/>
              </a:spcAft>
            </a:pPr>
            <a:r>
              <a:rPr lang="en-US" altLang="hu-HU" sz="2400" dirty="0">
                <a:solidFill>
                  <a:srgbClr val="000000"/>
                </a:solidFill>
                <a:latin typeface="Times New Roman" panose="02020603050405020304" pitchFamily="18" charset="0"/>
              </a:rPr>
              <a:t>Sales/</a:t>
            </a:r>
          </a:p>
          <a:p>
            <a:pPr algn="ctr" fontAlgn="base">
              <a:spcBef>
                <a:spcPct val="0"/>
              </a:spcBef>
              <a:spcAft>
                <a:spcPct val="0"/>
              </a:spcAft>
            </a:pPr>
            <a:r>
              <a:rPr lang="en-US" altLang="hu-HU" sz="2400" dirty="0">
                <a:solidFill>
                  <a:srgbClr val="000000"/>
                </a:solidFill>
                <a:latin typeface="Times New Roman" panose="02020603050405020304" pitchFamily="18" charset="0"/>
              </a:rPr>
              <a:t>Targeting</a:t>
            </a:r>
          </a:p>
        </p:txBody>
      </p:sp>
      <p:sp>
        <p:nvSpPr>
          <p:cNvPr id="20484" name="AutoShape 4"/>
          <p:cNvSpPr>
            <a:spLocks noChangeArrowheads="1"/>
          </p:cNvSpPr>
          <p:nvPr/>
        </p:nvSpPr>
        <p:spPr bwMode="auto">
          <a:xfrm>
            <a:off x="4368251" y="2286000"/>
            <a:ext cx="3365019" cy="1219200"/>
          </a:xfrm>
          <a:prstGeom prst="chevron">
            <a:avLst>
              <a:gd name="adj" fmla="val 48438"/>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fontAlgn="base">
              <a:spcBef>
                <a:spcPct val="0"/>
              </a:spcBef>
              <a:spcAft>
                <a:spcPct val="0"/>
              </a:spcAft>
            </a:pPr>
            <a:r>
              <a:rPr lang="en-US" altLang="hu-HU" sz="2400" dirty="0">
                <a:solidFill>
                  <a:srgbClr val="000000"/>
                </a:solidFill>
                <a:latin typeface="Times New Roman" panose="02020603050405020304" pitchFamily="18" charset="0"/>
              </a:rPr>
              <a:t>Assessment</a:t>
            </a:r>
          </a:p>
          <a:p>
            <a:pPr algn="ctr" fontAlgn="base">
              <a:spcBef>
                <a:spcPct val="0"/>
              </a:spcBef>
              <a:spcAft>
                <a:spcPct val="0"/>
              </a:spcAft>
            </a:pPr>
            <a:r>
              <a:rPr lang="en-US" altLang="hu-HU" sz="2400" dirty="0">
                <a:solidFill>
                  <a:srgbClr val="000000"/>
                </a:solidFill>
                <a:latin typeface="Times New Roman" panose="02020603050405020304" pitchFamily="18" charset="0"/>
              </a:rPr>
              <a:t>Client</a:t>
            </a:r>
            <a:r>
              <a:rPr lang="hu-HU" altLang="hu-HU" sz="2400" dirty="0">
                <a:solidFill>
                  <a:srgbClr val="000000"/>
                </a:solidFill>
                <a:latin typeface="Times New Roman" panose="02020603050405020304" pitchFamily="18" charset="0"/>
              </a:rPr>
              <a:t> </a:t>
            </a:r>
            <a:r>
              <a:rPr lang="en-US" altLang="hu-HU" sz="2400" dirty="0">
                <a:solidFill>
                  <a:srgbClr val="000000"/>
                </a:solidFill>
                <a:latin typeface="Times New Roman" panose="02020603050405020304" pitchFamily="18" charset="0"/>
              </a:rPr>
              <a:t>&amp;</a:t>
            </a:r>
            <a:r>
              <a:rPr lang="hu-HU" altLang="hu-HU" sz="2400" dirty="0">
                <a:solidFill>
                  <a:srgbClr val="000000"/>
                </a:solidFill>
                <a:latin typeface="Times New Roman" panose="02020603050405020304" pitchFamily="18" charset="0"/>
              </a:rPr>
              <a:t> </a:t>
            </a:r>
            <a:r>
              <a:rPr lang="en-US" altLang="hu-HU" sz="2400" dirty="0">
                <a:solidFill>
                  <a:srgbClr val="000000"/>
                </a:solidFill>
                <a:latin typeface="Times New Roman" panose="02020603050405020304" pitchFamily="18" charset="0"/>
              </a:rPr>
              <a:t>Deal</a:t>
            </a:r>
          </a:p>
        </p:txBody>
      </p:sp>
      <p:sp>
        <p:nvSpPr>
          <p:cNvPr id="20485" name="AutoShape 5"/>
          <p:cNvSpPr>
            <a:spLocks noChangeArrowheads="1"/>
          </p:cNvSpPr>
          <p:nvPr/>
        </p:nvSpPr>
        <p:spPr bwMode="auto">
          <a:xfrm>
            <a:off x="7333460" y="2286000"/>
            <a:ext cx="3365019" cy="1219200"/>
          </a:xfrm>
          <a:prstGeom prst="chevron">
            <a:avLst>
              <a:gd name="adj" fmla="val 48438"/>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fontAlgn="base">
              <a:spcBef>
                <a:spcPct val="0"/>
              </a:spcBef>
              <a:spcAft>
                <a:spcPct val="0"/>
              </a:spcAft>
            </a:pPr>
            <a:r>
              <a:rPr lang="en-US" altLang="hu-HU" sz="2400" dirty="0">
                <a:solidFill>
                  <a:srgbClr val="000000"/>
                </a:solidFill>
                <a:latin typeface="Times New Roman" panose="02020603050405020304" pitchFamily="18" charset="0"/>
              </a:rPr>
              <a:t>Approval</a:t>
            </a:r>
          </a:p>
        </p:txBody>
      </p:sp>
      <p:sp>
        <p:nvSpPr>
          <p:cNvPr id="20486" name="AutoShape 6"/>
          <p:cNvSpPr>
            <a:spLocks noChangeArrowheads="1"/>
          </p:cNvSpPr>
          <p:nvPr/>
        </p:nvSpPr>
        <p:spPr bwMode="auto">
          <a:xfrm>
            <a:off x="1403042" y="3733800"/>
            <a:ext cx="3365018" cy="1219200"/>
          </a:xfrm>
          <a:prstGeom prst="chevron">
            <a:avLst>
              <a:gd name="adj" fmla="val 48438"/>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fontAlgn="base">
              <a:spcBef>
                <a:spcPct val="0"/>
              </a:spcBef>
              <a:spcAft>
                <a:spcPct val="0"/>
              </a:spcAft>
            </a:pPr>
            <a:r>
              <a:rPr lang="en-US" altLang="hu-HU" sz="2400" dirty="0">
                <a:solidFill>
                  <a:srgbClr val="000000"/>
                </a:solidFill>
                <a:latin typeface="Times New Roman" panose="02020603050405020304" pitchFamily="18" charset="0"/>
              </a:rPr>
              <a:t> Disbursement</a:t>
            </a:r>
          </a:p>
          <a:p>
            <a:pPr algn="ctr" fontAlgn="base">
              <a:spcBef>
                <a:spcPct val="0"/>
              </a:spcBef>
              <a:spcAft>
                <a:spcPct val="0"/>
              </a:spcAft>
            </a:pPr>
            <a:r>
              <a:rPr lang="en-US" altLang="hu-HU" sz="2400" dirty="0" err="1">
                <a:solidFill>
                  <a:srgbClr val="000000"/>
                </a:solidFill>
                <a:latin typeface="Times New Roman" panose="02020603050405020304" pitchFamily="18" charset="0"/>
              </a:rPr>
              <a:t>CC&amp;LoanAdmin</a:t>
            </a:r>
            <a:r>
              <a:rPr lang="en-US" altLang="hu-HU" sz="2400" dirty="0">
                <a:solidFill>
                  <a:srgbClr val="000000"/>
                </a:solidFill>
                <a:latin typeface="Times New Roman" panose="02020603050405020304" pitchFamily="18" charset="0"/>
              </a:rPr>
              <a:t>.</a:t>
            </a:r>
          </a:p>
        </p:txBody>
      </p:sp>
      <p:sp>
        <p:nvSpPr>
          <p:cNvPr id="20487" name="AutoShape 7"/>
          <p:cNvSpPr>
            <a:spLocks noChangeArrowheads="1"/>
          </p:cNvSpPr>
          <p:nvPr/>
        </p:nvSpPr>
        <p:spPr bwMode="auto">
          <a:xfrm>
            <a:off x="4368252" y="3733800"/>
            <a:ext cx="3365018" cy="1219200"/>
          </a:xfrm>
          <a:prstGeom prst="chevron">
            <a:avLst>
              <a:gd name="adj" fmla="val 48438"/>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fontAlgn="base">
              <a:spcBef>
                <a:spcPct val="0"/>
              </a:spcBef>
              <a:spcAft>
                <a:spcPct val="0"/>
              </a:spcAft>
            </a:pPr>
            <a:r>
              <a:rPr lang="en-US" altLang="hu-HU" sz="2400" dirty="0">
                <a:solidFill>
                  <a:srgbClr val="000000"/>
                </a:solidFill>
                <a:latin typeface="Times New Roman" panose="02020603050405020304" pitchFamily="18" charset="0"/>
              </a:rPr>
              <a:t>Monitoring</a:t>
            </a:r>
          </a:p>
        </p:txBody>
      </p:sp>
      <p:sp>
        <p:nvSpPr>
          <p:cNvPr id="20488" name="AutoShape 8"/>
          <p:cNvSpPr>
            <a:spLocks noChangeArrowheads="1"/>
          </p:cNvSpPr>
          <p:nvPr/>
        </p:nvSpPr>
        <p:spPr bwMode="auto">
          <a:xfrm>
            <a:off x="7333461" y="3733800"/>
            <a:ext cx="3365018" cy="1219200"/>
          </a:xfrm>
          <a:prstGeom prst="chevron">
            <a:avLst>
              <a:gd name="adj" fmla="val 48438"/>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fontAlgn="base">
              <a:spcBef>
                <a:spcPct val="0"/>
              </a:spcBef>
              <a:spcAft>
                <a:spcPct val="0"/>
              </a:spcAft>
            </a:pPr>
            <a:r>
              <a:rPr lang="en-US" altLang="hu-HU" sz="2400" dirty="0">
                <a:solidFill>
                  <a:srgbClr val="000000"/>
                </a:solidFill>
                <a:latin typeface="Times New Roman" panose="02020603050405020304" pitchFamily="18" charset="0"/>
              </a:rPr>
              <a:t>Work-out</a:t>
            </a:r>
          </a:p>
        </p:txBody>
      </p:sp>
      <p:sp>
        <p:nvSpPr>
          <p:cNvPr id="9" name="Dia számának helye 1">
            <a:extLst>
              <a:ext uri="{FF2B5EF4-FFF2-40B4-BE49-F238E27FC236}">
                <a16:creationId xmlns:a16="http://schemas.microsoft.com/office/drawing/2014/main" id="{5EFAC1A1-9CB8-43D4-BD68-B1635D5D182A}"/>
              </a:ext>
            </a:extLst>
          </p:cNvPr>
          <p:cNvSpPr>
            <a:spLocks noGrp="1"/>
          </p:cNvSpPr>
          <p:nvPr>
            <p:ph type="sldNum" sz="quarter" idx="12"/>
          </p:nvPr>
        </p:nvSpPr>
        <p:spPr>
          <a:xfrm>
            <a:off x="8610600" y="6356350"/>
            <a:ext cx="2743200" cy="365125"/>
          </a:xfrm>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8E3395-0D00-4997-A8B3-B5FC5B61BE62}"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b="0" i="0" u="none" strike="noStrike" kern="1200" cap="none" spc="0" normalizeH="0" baseline="0" dirty="0">
              <a:ln>
                <a:noFill/>
              </a:ln>
              <a:solidFill>
                <a:srgbClr val="898989"/>
              </a:solidFill>
              <a:effectLst/>
              <a:uLnTx/>
              <a:uFillTx/>
              <a:latin typeface="+mn-lt"/>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t>Assessment</a:t>
            </a:r>
          </a:p>
        </p:txBody>
      </p:sp>
      <p:sp>
        <p:nvSpPr>
          <p:cNvPr id="3" name="Tartalom helye 2"/>
          <p:cNvSpPr>
            <a:spLocks noGrp="1"/>
          </p:cNvSpPr>
          <p:nvPr>
            <p:ph idx="1"/>
          </p:nvPr>
        </p:nvSpPr>
        <p:spPr/>
        <p:txBody>
          <a:bodyPr/>
          <a:lstStyle/>
          <a:p>
            <a:r>
              <a:rPr lang="en-US" dirty="0"/>
              <a:t>Client’s risk</a:t>
            </a:r>
          </a:p>
          <a:p>
            <a:pPr lvl="1"/>
            <a:r>
              <a:rPr lang="en-US" dirty="0"/>
              <a:t>what is the chance that the client will not be able to honor his debt obligation ---&gt; </a:t>
            </a:r>
            <a:r>
              <a:rPr lang="en-US" i="1" dirty="0"/>
              <a:t>probability of default</a:t>
            </a:r>
            <a:endParaRPr lang="en-US" dirty="0"/>
          </a:p>
          <a:p>
            <a:endParaRPr lang="en-US" dirty="0"/>
          </a:p>
          <a:p>
            <a:r>
              <a:rPr lang="en-US" dirty="0"/>
              <a:t>Deal risk </a:t>
            </a:r>
          </a:p>
          <a:p>
            <a:pPr lvl="1"/>
            <a:r>
              <a:rPr lang="en-US" dirty="0"/>
              <a:t>what means the bank can use to control the client ---&gt; Covenants</a:t>
            </a:r>
          </a:p>
          <a:p>
            <a:pPr lvl="1"/>
            <a:r>
              <a:rPr lang="en-US" dirty="0"/>
              <a:t>what options the bank has in case of default ---&gt; </a:t>
            </a:r>
            <a:r>
              <a:rPr lang="en-US" i="1" dirty="0"/>
              <a:t>loss given default</a:t>
            </a:r>
            <a:endParaRPr lang="en-US" dirty="0"/>
          </a:p>
        </p:txBody>
      </p:sp>
      <p:sp>
        <p:nvSpPr>
          <p:cNvPr id="4" name="Dia számának helye 1">
            <a:extLst>
              <a:ext uri="{FF2B5EF4-FFF2-40B4-BE49-F238E27FC236}">
                <a16:creationId xmlns:a16="http://schemas.microsoft.com/office/drawing/2014/main" id="{ED853332-50B0-45B9-8E1B-7D3E509F13B3}"/>
              </a:ext>
            </a:extLst>
          </p:cNvPr>
          <p:cNvSpPr>
            <a:spLocks noGrp="1"/>
          </p:cNvSpPr>
          <p:nvPr>
            <p:ph type="sldNum" sz="quarter" idx="12"/>
          </p:nvPr>
        </p:nvSpPr>
        <p:spPr>
          <a:xfrm>
            <a:off x="8610600" y="6356350"/>
            <a:ext cx="2743200" cy="365125"/>
          </a:xfrm>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8E3395-0D00-4997-A8B3-B5FC5B61BE62}"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b="0" i="0" u="none" strike="noStrike" kern="1200" cap="none" spc="0" normalizeH="0" baseline="0" dirty="0">
              <a:ln>
                <a:noFill/>
              </a:ln>
              <a:solidFill>
                <a:srgbClr val="898989"/>
              </a:solidFill>
              <a:effectLst/>
              <a:uLnTx/>
              <a:uFillTx/>
              <a:latin typeface="+mn-lt"/>
              <a:ea typeface="+mn-ea"/>
              <a:cs typeface="+mn-cs"/>
            </a:endParaRPr>
          </a:p>
        </p:txBody>
      </p:sp>
    </p:spTree>
    <p:extLst>
      <p:ext uri="{BB962C8B-B14F-4D97-AF65-F5344CB8AC3E}">
        <p14:creationId xmlns:p14="http://schemas.microsoft.com/office/powerpoint/2010/main" val="3402869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841248" y="365760"/>
            <a:ext cx="10515600" cy="813816"/>
          </a:xfrm>
        </p:spPr>
        <p:txBody>
          <a:bodyPr anchor="t">
            <a:noAutofit/>
          </a:bodyPr>
          <a:lstStyle/>
          <a:p>
            <a:pPr eaLnBrk="1" hangingPunct="1">
              <a:lnSpc>
                <a:spcPct val="70000"/>
              </a:lnSpc>
            </a:pPr>
            <a:r>
              <a:rPr lang="en-US" altLang="hu-HU" dirty="0"/>
              <a:t>Assessment of client’s risk – steps to standardization</a:t>
            </a:r>
          </a:p>
        </p:txBody>
      </p:sp>
      <p:sp>
        <p:nvSpPr>
          <p:cNvPr id="21507" name="Rectangle 3"/>
          <p:cNvSpPr>
            <a:spLocks noGrp="1" noChangeArrowheads="1"/>
          </p:cNvSpPr>
          <p:nvPr>
            <p:ph type="body" idx="4294967295"/>
          </p:nvPr>
        </p:nvSpPr>
        <p:spPr>
          <a:xfrm>
            <a:off x="838200" y="1479550"/>
            <a:ext cx="10515600" cy="4876800"/>
          </a:xfrm>
        </p:spPr>
        <p:txBody>
          <a:bodyPr/>
          <a:lstStyle/>
          <a:p>
            <a:pPr eaLnBrk="1" hangingPunct="1"/>
            <a:r>
              <a:rPr lang="en-US" altLang="hu-HU" sz="2600" dirty="0"/>
              <a:t>Individual assessment (client by client) – expert’s view</a:t>
            </a:r>
          </a:p>
          <a:p>
            <a:pPr marL="669925" lvl="1" indent="-325438" eaLnBrk="1" hangingPunct="1"/>
            <a:r>
              <a:rPr lang="en-US" altLang="hu-HU" sz="2200" dirty="0"/>
              <a:t>5Cs (Character, Capacity, Capital, Collateral, Cycle)</a:t>
            </a:r>
          </a:p>
          <a:p>
            <a:pPr marL="669925" lvl="1" indent="-325438" eaLnBrk="1" hangingPunct="1"/>
            <a:r>
              <a:rPr lang="en-US" altLang="hu-HU" sz="2200" dirty="0"/>
              <a:t>Able to pay, willing to pay</a:t>
            </a:r>
          </a:p>
          <a:p>
            <a:pPr marL="669925" lvl="1" indent="-325438" eaLnBrk="1" hangingPunct="1"/>
            <a:r>
              <a:rPr lang="en-US" altLang="hu-HU" sz="2200" dirty="0"/>
              <a:t>Credit Committee</a:t>
            </a:r>
          </a:p>
          <a:p>
            <a:pPr eaLnBrk="1" hangingPunct="1"/>
            <a:r>
              <a:rPr lang="en-US" altLang="hu-HU" sz="2600" dirty="0"/>
              <a:t>Rule</a:t>
            </a:r>
            <a:r>
              <a:rPr lang="hu-HU" altLang="hu-HU" sz="2600" dirty="0"/>
              <a:t>-</a:t>
            </a:r>
            <a:r>
              <a:rPr lang="en-US" altLang="hu-HU" sz="2600" dirty="0"/>
              <a:t>base</a:t>
            </a:r>
            <a:r>
              <a:rPr lang="hu-HU" altLang="hu-HU" sz="2600" dirty="0"/>
              <a:t>d</a:t>
            </a:r>
            <a:r>
              <a:rPr lang="en-US" altLang="hu-HU" sz="2600" dirty="0"/>
              <a:t> assessment</a:t>
            </a:r>
          </a:p>
          <a:p>
            <a:pPr marL="669925" lvl="1" indent="-325438" eaLnBrk="1" hangingPunct="1"/>
            <a:r>
              <a:rPr lang="en-US" altLang="hu-HU" sz="2200" dirty="0"/>
              <a:t>Minimum Credibility Parameters</a:t>
            </a:r>
          </a:p>
          <a:p>
            <a:pPr eaLnBrk="1" hangingPunct="1"/>
            <a:r>
              <a:rPr lang="en-US" altLang="hu-HU" sz="2600" dirty="0"/>
              <a:t>Statistical methods</a:t>
            </a:r>
          </a:p>
          <a:p>
            <a:pPr marL="669925" lvl="1" indent="-325438" eaLnBrk="1" hangingPunct="1"/>
            <a:r>
              <a:rPr lang="en-US" altLang="hu-HU" sz="2200" dirty="0"/>
              <a:t>Behavioral (monitoring)</a:t>
            </a:r>
          </a:p>
          <a:p>
            <a:pPr marL="669925" lvl="1" indent="-325438" eaLnBrk="1" hangingPunct="1"/>
            <a:r>
              <a:rPr lang="en-US" altLang="hu-HU" sz="2200" dirty="0"/>
              <a:t>Application (new clients)</a:t>
            </a:r>
          </a:p>
        </p:txBody>
      </p:sp>
      <p:sp>
        <p:nvSpPr>
          <p:cNvPr id="5" name="Dia számának helye 1">
            <a:extLst>
              <a:ext uri="{FF2B5EF4-FFF2-40B4-BE49-F238E27FC236}">
                <a16:creationId xmlns:a16="http://schemas.microsoft.com/office/drawing/2014/main" id="{D70132FD-B4FB-4CE3-ACCB-9153B4AD71B4}"/>
              </a:ext>
            </a:extLst>
          </p:cNvPr>
          <p:cNvSpPr>
            <a:spLocks noGrp="1"/>
          </p:cNvSpPr>
          <p:nvPr>
            <p:ph type="sldNum" sz="quarter" idx="12"/>
          </p:nvPr>
        </p:nvSpPr>
        <p:spPr>
          <a:xfrm>
            <a:off x="8610600" y="6356350"/>
            <a:ext cx="2743200" cy="365125"/>
          </a:xfrm>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8E3395-0D00-4997-A8B3-B5FC5B61BE62}"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b="0" i="0" u="none" strike="noStrike" kern="1200" cap="none" spc="0" normalizeH="0" baseline="0" dirty="0">
              <a:ln>
                <a:noFill/>
              </a:ln>
              <a:solidFill>
                <a:srgbClr val="898989"/>
              </a:solidFill>
              <a:effectLst/>
              <a:uLnTx/>
              <a:uFillTx/>
              <a:latin typeface="+mn-lt"/>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en-US" dirty="0"/>
              <a:t>NPL ratios and CDS spread in Hungary</a:t>
            </a:r>
          </a:p>
        </p:txBody>
      </p:sp>
      <p:pic>
        <p:nvPicPr>
          <p:cNvPr id="4" name="Kép 3"/>
          <p:cNvPicPr>
            <a:picLocks noChangeAspect="1"/>
          </p:cNvPicPr>
          <p:nvPr/>
        </p:nvPicPr>
        <p:blipFill>
          <a:blip r:embed="rId2"/>
          <a:stretch>
            <a:fillRect/>
          </a:stretch>
        </p:blipFill>
        <p:spPr>
          <a:xfrm>
            <a:off x="6816080" y="2348880"/>
            <a:ext cx="3986874" cy="2991842"/>
          </a:xfrm>
          <a:prstGeom prst="rect">
            <a:avLst/>
          </a:prstGeom>
        </p:spPr>
      </p:pic>
      <p:pic>
        <p:nvPicPr>
          <p:cNvPr id="5" name="Kép 4"/>
          <p:cNvPicPr>
            <a:picLocks noChangeAspect="1"/>
          </p:cNvPicPr>
          <p:nvPr/>
        </p:nvPicPr>
        <p:blipFill>
          <a:blip r:embed="rId3"/>
          <a:stretch>
            <a:fillRect/>
          </a:stretch>
        </p:blipFill>
        <p:spPr>
          <a:xfrm>
            <a:off x="2279576" y="2420888"/>
            <a:ext cx="4106198" cy="2617644"/>
          </a:xfrm>
          <a:prstGeom prst="rect">
            <a:avLst/>
          </a:prstGeom>
        </p:spPr>
      </p:pic>
      <p:sp>
        <p:nvSpPr>
          <p:cNvPr id="6" name="Dia számának helye 1">
            <a:extLst>
              <a:ext uri="{FF2B5EF4-FFF2-40B4-BE49-F238E27FC236}">
                <a16:creationId xmlns:a16="http://schemas.microsoft.com/office/drawing/2014/main" id="{E45D845F-A916-44BE-B358-5DB470A9F5F7}"/>
              </a:ext>
            </a:extLst>
          </p:cNvPr>
          <p:cNvSpPr>
            <a:spLocks noGrp="1"/>
          </p:cNvSpPr>
          <p:nvPr>
            <p:ph type="sldNum" sz="quarter" idx="12"/>
          </p:nvPr>
        </p:nvSpPr>
        <p:spPr>
          <a:xfrm>
            <a:off x="8610600" y="6356350"/>
            <a:ext cx="2743200" cy="365125"/>
          </a:xfrm>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8E3395-0D00-4997-A8B3-B5FC5B61BE62}"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b="0" i="0" u="none" strike="noStrike" kern="1200" cap="none" spc="0" normalizeH="0" baseline="0" dirty="0">
              <a:ln>
                <a:noFill/>
              </a:ln>
              <a:solidFill>
                <a:srgbClr val="898989"/>
              </a:solidFill>
              <a:effectLst/>
              <a:uLnTx/>
              <a:uFillTx/>
              <a:latin typeface="+mn-lt"/>
              <a:ea typeface="+mn-ea"/>
              <a:cs typeface="+mn-cs"/>
            </a:endParaRPr>
          </a:p>
        </p:txBody>
      </p:sp>
      <p:sp>
        <p:nvSpPr>
          <p:cNvPr id="3" name="Szövegdoboz 2">
            <a:extLst>
              <a:ext uri="{FF2B5EF4-FFF2-40B4-BE49-F238E27FC236}">
                <a16:creationId xmlns:a16="http://schemas.microsoft.com/office/drawing/2014/main" id="{CD634F36-7C87-A907-91D5-41022C869E77}"/>
              </a:ext>
            </a:extLst>
          </p:cNvPr>
          <p:cNvSpPr txBox="1"/>
          <p:nvPr/>
        </p:nvSpPr>
        <p:spPr>
          <a:xfrm>
            <a:off x="2515962" y="5569416"/>
            <a:ext cx="7176678" cy="646331"/>
          </a:xfrm>
          <a:prstGeom prst="rect">
            <a:avLst/>
          </a:prstGeom>
          <a:noFill/>
          <a:ln>
            <a:solidFill>
              <a:srgbClr val="FF0000"/>
            </a:solidFill>
          </a:ln>
        </p:spPr>
        <p:txBody>
          <a:bodyPr wrap="square">
            <a:spAutoFit/>
          </a:bodyPr>
          <a:lstStyle/>
          <a:p>
            <a:r>
              <a:rPr lang="hu-HU" i="1" dirty="0"/>
              <a:t>”</a:t>
            </a:r>
            <a:r>
              <a:rPr lang="en-US" i="1" dirty="0"/>
              <a:t>Only when the tide goes out do you discover who's been swimming naked”</a:t>
            </a:r>
            <a:r>
              <a:rPr lang="en-US" dirty="0"/>
              <a:t> Warren Buffett</a:t>
            </a:r>
          </a:p>
        </p:txBody>
      </p:sp>
    </p:spTree>
    <p:extLst>
      <p:ext uri="{BB962C8B-B14F-4D97-AF65-F5344CB8AC3E}">
        <p14:creationId xmlns:p14="http://schemas.microsoft.com/office/powerpoint/2010/main" val="10359824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838200" y="365126"/>
            <a:ext cx="10515600" cy="813816"/>
          </a:xfrm>
        </p:spPr>
        <p:txBody>
          <a:bodyPr/>
          <a:lstStyle/>
          <a:p>
            <a:pPr eaLnBrk="1" hangingPunct="1"/>
            <a:r>
              <a:rPr lang="en-US" altLang="hu-HU" dirty="0"/>
              <a:t>Corporate</a:t>
            </a:r>
            <a:r>
              <a:rPr lang="hu-HU" altLang="hu-HU" dirty="0"/>
              <a:t>-</a:t>
            </a:r>
            <a:r>
              <a:rPr lang="hu-HU" altLang="hu-HU" dirty="0" err="1"/>
              <a:t>lending</a:t>
            </a:r>
            <a:endParaRPr lang="en-US" altLang="hu-HU" dirty="0"/>
          </a:p>
        </p:txBody>
      </p:sp>
      <p:sp>
        <p:nvSpPr>
          <p:cNvPr id="11267" name="Rectangle 3"/>
          <p:cNvSpPr>
            <a:spLocks noGrp="1" noChangeArrowheads="1"/>
          </p:cNvSpPr>
          <p:nvPr>
            <p:ph type="body" idx="1"/>
          </p:nvPr>
        </p:nvSpPr>
        <p:spPr>
          <a:xfrm>
            <a:off x="838200" y="1334689"/>
            <a:ext cx="10515600" cy="4865914"/>
          </a:xfrm>
        </p:spPr>
        <p:txBody>
          <a:bodyPr>
            <a:normAutofit fontScale="92500" lnSpcReduction="10000"/>
          </a:bodyPr>
          <a:lstStyle/>
          <a:p>
            <a:pPr eaLnBrk="1" hangingPunct="1"/>
            <a:r>
              <a:rPr lang="en-US" altLang="hu-HU" sz="2600" dirty="0"/>
              <a:t>Limit-system</a:t>
            </a:r>
          </a:p>
          <a:p>
            <a:pPr lvl="1"/>
            <a:r>
              <a:rPr lang="en-US" altLang="hu-HU" sz="2200" dirty="0"/>
              <a:t>2-round approval mechanism</a:t>
            </a:r>
          </a:p>
          <a:p>
            <a:pPr eaLnBrk="1" hangingPunct="1"/>
            <a:r>
              <a:rPr lang="en-US" altLang="hu-HU" sz="2600" dirty="0"/>
              <a:t>Rating systems</a:t>
            </a:r>
          </a:p>
          <a:p>
            <a:pPr eaLnBrk="1" hangingPunct="1"/>
            <a:r>
              <a:rPr lang="en-US" altLang="hu-HU" sz="2600" dirty="0"/>
              <a:t>Typical products and services</a:t>
            </a:r>
          </a:p>
          <a:p>
            <a:pPr lvl="1" eaLnBrk="1" hangingPunct="1"/>
            <a:r>
              <a:rPr lang="en-US" altLang="hu-HU" sz="2200" dirty="0"/>
              <a:t>Working-capital loans</a:t>
            </a:r>
          </a:p>
          <a:p>
            <a:pPr lvl="1" eaLnBrk="1" hangingPunct="1"/>
            <a:r>
              <a:rPr lang="en-US" altLang="hu-HU" sz="2200" dirty="0"/>
              <a:t>Revolving Credit Facility</a:t>
            </a:r>
          </a:p>
          <a:p>
            <a:pPr lvl="1" eaLnBrk="1" hangingPunct="1"/>
            <a:r>
              <a:rPr lang="en-US" altLang="hu-HU" sz="2200" dirty="0"/>
              <a:t>Investment loans</a:t>
            </a:r>
          </a:p>
          <a:p>
            <a:pPr lvl="1" eaLnBrk="1" hangingPunct="1"/>
            <a:r>
              <a:rPr lang="en-US" altLang="hu-HU" sz="2200" dirty="0"/>
              <a:t>Documentary credit, letter of credit</a:t>
            </a:r>
          </a:p>
          <a:p>
            <a:pPr lvl="1" eaLnBrk="1" hangingPunct="1"/>
            <a:r>
              <a:rPr lang="en-US" altLang="hu-HU" sz="2200" dirty="0"/>
              <a:t>Transactional services</a:t>
            </a:r>
          </a:p>
          <a:p>
            <a:pPr eaLnBrk="1" hangingPunct="1"/>
            <a:r>
              <a:rPr lang="en-US" altLang="hu-HU" sz="2600" dirty="0"/>
              <a:t>Special financing techniques</a:t>
            </a:r>
          </a:p>
          <a:p>
            <a:pPr lvl="1" eaLnBrk="1" hangingPunct="1"/>
            <a:r>
              <a:rPr lang="en-US" altLang="hu-HU" sz="2200" dirty="0"/>
              <a:t>Project finance</a:t>
            </a:r>
          </a:p>
          <a:p>
            <a:pPr lvl="1" eaLnBrk="1" hangingPunct="1"/>
            <a:r>
              <a:rPr lang="en-US" altLang="hu-HU" sz="2200" dirty="0"/>
              <a:t>Factoring</a:t>
            </a:r>
          </a:p>
          <a:p>
            <a:pPr lvl="1" eaLnBrk="1" hangingPunct="1"/>
            <a:r>
              <a:rPr lang="en-US" altLang="hu-HU" sz="2200" dirty="0" err="1"/>
              <a:t>AgriFinance</a:t>
            </a:r>
            <a:endParaRPr lang="en-US" altLang="hu-HU" sz="2200" dirty="0"/>
          </a:p>
          <a:p>
            <a:pPr lvl="1" eaLnBrk="1" hangingPunct="1"/>
            <a:r>
              <a:rPr lang="en-US" altLang="hu-HU" sz="2200" dirty="0"/>
              <a:t>State-subsidized products</a:t>
            </a:r>
            <a:r>
              <a:rPr lang="hu-HU" altLang="hu-HU" sz="2200" dirty="0"/>
              <a:t> (</a:t>
            </a:r>
            <a:r>
              <a:rPr lang="hu-HU" altLang="hu-HU" sz="2200" dirty="0" err="1"/>
              <a:t>funded</a:t>
            </a:r>
            <a:r>
              <a:rPr lang="hu-HU" altLang="hu-HU" sz="2200" dirty="0"/>
              <a:t> </a:t>
            </a:r>
            <a:r>
              <a:rPr lang="hu-HU" altLang="hu-HU" sz="2200" dirty="0" err="1"/>
              <a:t>or</a:t>
            </a:r>
            <a:r>
              <a:rPr lang="hu-HU" altLang="hu-HU" sz="2200" dirty="0"/>
              <a:t> interest-</a:t>
            </a:r>
            <a:r>
              <a:rPr lang="hu-HU" altLang="hu-HU" sz="2200" dirty="0" err="1"/>
              <a:t>rate</a:t>
            </a:r>
            <a:r>
              <a:rPr lang="hu-HU" altLang="hu-HU" sz="2200" dirty="0"/>
              <a:t> </a:t>
            </a:r>
            <a:r>
              <a:rPr lang="hu-HU" altLang="hu-HU" sz="2200" dirty="0" err="1"/>
              <a:t>subsidized</a:t>
            </a:r>
            <a:r>
              <a:rPr lang="hu-HU" altLang="hu-HU" sz="2200" dirty="0"/>
              <a:t>)</a:t>
            </a:r>
            <a:endParaRPr lang="en-US" altLang="hu-HU" sz="2200" dirty="0"/>
          </a:p>
          <a:p>
            <a:pPr eaLnBrk="1" hangingPunct="1"/>
            <a:endParaRPr lang="en-US" altLang="hu-HU" sz="2600" dirty="0"/>
          </a:p>
        </p:txBody>
      </p:sp>
      <p:sp>
        <p:nvSpPr>
          <p:cNvPr id="4" name="Dia számának helye 1">
            <a:extLst>
              <a:ext uri="{FF2B5EF4-FFF2-40B4-BE49-F238E27FC236}">
                <a16:creationId xmlns:a16="http://schemas.microsoft.com/office/drawing/2014/main" id="{C3571DEB-4249-4FE8-8837-1357725A5B04}"/>
              </a:ext>
            </a:extLst>
          </p:cNvPr>
          <p:cNvSpPr>
            <a:spLocks noGrp="1"/>
          </p:cNvSpPr>
          <p:nvPr>
            <p:ph type="sldNum" sz="quarter" idx="12"/>
          </p:nvPr>
        </p:nvSpPr>
        <p:spPr>
          <a:xfrm>
            <a:off x="8610600" y="6356350"/>
            <a:ext cx="2743200" cy="365125"/>
          </a:xfrm>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8E3395-0D00-4997-A8B3-B5FC5B61BE62}"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b="0" i="0" u="none" strike="noStrike" kern="1200" cap="none" spc="0" normalizeH="0" baseline="0" dirty="0">
              <a:ln>
                <a:noFill/>
              </a:ln>
              <a:solidFill>
                <a:srgbClr val="898989"/>
              </a:solidFill>
              <a:effectLst/>
              <a:uLnTx/>
              <a:uFillTx/>
              <a:latin typeface="+mn-lt"/>
              <a:ea typeface="+mn-ea"/>
              <a:cs typeface="+mn-cs"/>
            </a:endParaRPr>
          </a:p>
        </p:txBody>
      </p:sp>
    </p:spTree>
    <p:extLst>
      <p:ext uri="{BB962C8B-B14F-4D97-AF65-F5344CB8AC3E}">
        <p14:creationId xmlns:p14="http://schemas.microsoft.com/office/powerpoint/2010/main" val="296452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zövegdoboz 5"/>
          <p:cNvSpPr txBox="1"/>
          <p:nvPr/>
        </p:nvSpPr>
        <p:spPr>
          <a:xfrm>
            <a:off x="2024063" y="1432750"/>
            <a:ext cx="8215312" cy="4462462"/>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pPr marL="400050" indent="-400050">
              <a:buFont typeface="+mj-lt"/>
              <a:buAutoNum type="romanLcPeriod"/>
              <a:defRPr/>
            </a:pPr>
            <a:r>
              <a:rPr lang="en-US" sz="2400" dirty="0"/>
              <a:t>Internal sources</a:t>
            </a:r>
          </a:p>
          <a:p>
            <a:pPr marL="857250" lvl="1" indent="-400050">
              <a:buFont typeface="Wingdings" pitchFamily="2" charset="2"/>
              <a:buChar char="Ø"/>
              <a:defRPr/>
            </a:pPr>
            <a:r>
              <a:rPr lang="en-US" sz="2000" dirty="0"/>
              <a:t>On-site interview</a:t>
            </a:r>
          </a:p>
          <a:p>
            <a:pPr marL="857250" lvl="1" indent="-400050">
              <a:buFont typeface="Wingdings" pitchFamily="2" charset="2"/>
              <a:buChar char="Ø"/>
              <a:defRPr/>
            </a:pPr>
            <a:r>
              <a:rPr lang="en-US" sz="2000" dirty="0"/>
              <a:t>Bank’s own records:</a:t>
            </a:r>
          </a:p>
          <a:p>
            <a:pPr marL="1314450" lvl="2" indent="-400050">
              <a:buFont typeface="Arial" pitchFamily="34" charset="0"/>
              <a:buChar char="•"/>
              <a:defRPr/>
            </a:pPr>
            <a:r>
              <a:rPr lang="en-US" dirty="0"/>
              <a:t>Credit history</a:t>
            </a:r>
          </a:p>
          <a:p>
            <a:pPr marL="1314450" lvl="2" indent="-400050">
              <a:buFont typeface="Arial" pitchFamily="34" charset="0"/>
              <a:buChar char="•"/>
              <a:defRPr/>
            </a:pPr>
            <a:r>
              <a:rPr lang="en-US" dirty="0"/>
              <a:t>Payment history</a:t>
            </a:r>
          </a:p>
          <a:p>
            <a:pPr marL="1314450" lvl="2" indent="-400050">
              <a:buFont typeface="Arial" pitchFamily="34" charset="0"/>
              <a:buChar char="•"/>
              <a:defRPr/>
            </a:pPr>
            <a:r>
              <a:rPr lang="en-US" dirty="0"/>
              <a:t>Deposits dynamics</a:t>
            </a:r>
          </a:p>
          <a:p>
            <a:pPr marL="1314450" lvl="2" indent="-400050">
              <a:buFont typeface="Arial" pitchFamily="34" charset="0"/>
              <a:buChar char="•"/>
              <a:defRPr/>
            </a:pPr>
            <a:r>
              <a:rPr lang="en-US" dirty="0"/>
              <a:t>Treasury operations</a:t>
            </a:r>
          </a:p>
          <a:p>
            <a:pPr marL="1314450" lvl="2" indent="-400050">
              <a:defRPr/>
            </a:pPr>
            <a:endParaRPr lang="en-US" dirty="0"/>
          </a:p>
          <a:p>
            <a:pPr marL="514350" indent="-514350">
              <a:buFont typeface="+mj-lt"/>
              <a:buAutoNum type="romanLcPeriod"/>
              <a:defRPr/>
            </a:pPr>
            <a:r>
              <a:rPr lang="en-US" sz="2400" dirty="0"/>
              <a:t>External sources</a:t>
            </a:r>
          </a:p>
          <a:p>
            <a:pPr marL="971550" lvl="1" indent="-514350">
              <a:buFont typeface="Wingdings" pitchFamily="2" charset="2"/>
              <a:buChar char="Ø"/>
              <a:defRPr/>
            </a:pPr>
            <a:r>
              <a:rPr lang="en-US" dirty="0"/>
              <a:t>Financial statements</a:t>
            </a:r>
          </a:p>
          <a:p>
            <a:pPr marL="971550" lvl="1" indent="-514350">
              <a:buFont typeface="Wingdings" pitchFamily="2" charset="2"/>
              <a:buChar char="Ø"/>
              <a:defRPr/>
            </a:pPr>
            <a:r>
              <a:rPr lang="en-US" dirty="0"/>
              <a:t>Credit information systems</a:t>
            </a:r>
            <a:r>
              <a:rPr lang="hu-HU" dirty="0"/>
              <a:t> </a:t>
            </a:r>
            <a:r>
              <a:rPr lang="en-US" dirty="0"/>
              <a:t>(BISZ, D&amp;B)</a:t>
            </a:r>
          </a:p>
          <a:p>
            <a:pPr marL="971550" lvl="1" indent="-514350">
              <a:buFont typeface="Wingdings" pitchFamily="2" charset="2"/>
              <a:buChar char="Ø"/>
              <a:defRPr/>
            </a:pPr>
            <a:r>
              <a:rPr lang="en-US" dirty="0"/>
              <a:t>Information from Banks</a:t>
            </a:r>
          </a:p>
          <a:p>
            <a:pPr marL="971550" lvl="1" indent="-514350">
              <a:buFont typeface="Wingdings" pitchFamily="2" charset="2"/>
              <a:buChar char="Ø"/>
              <a:defRPr/>
            </a:pPr>
            <a:r>
              <a:rPr lang="en-US" dirty="0"/>
              <a:t>Industrial Associations</a:t>
            </a:r>
          </a:p>
          <a:p>
            <a:pPr marL="971550" lvl="1" indent="-514350">
              <a:buFont typeface="Wingdings" pitchFamily="2" charset="2"/>
              <a:buChar char="Ø"/>
              <a:defRPr/>
            </a:pPr>
            <a:r>
              <a:rPr lang="en-US" dirty="0"/>
              <a:t>Industry analysis</a:t>
            </a:r>
          </a:p>
          <a:p>
            <a:pPr marL="971550" lvl="1" indent="-514350">
              <a:buFont typeface="Wingdings" pitchFamily="2" charset="2"/>
              <a:buChar char="Ø"/>
              <a:defRPr/>
            </a:pPr>
            <a:r>
              <a:rPr lang="en-US" dirty="0"/>
              <a:t>Disclosures</a:t>
            </a:r>
          </a:p>
        </p:txBody>
      </p:sp>
      <p:sp>
        <p:nvSpPr>
          <p:cNvPr id="14340" name="Dátum helye 2"/>
          <p:cNvSpPr txBox="1">
            <a:spLocks noGrp="1"/>
          </p:cNvSpPr>
          <p:nvPr/>
        </p:nvSpPr>
        <p:spPr bwMode="auto">
          <a:xfrm>
            <a:off x="1524001" y="6564314"/>
            <a:ext cx="1000125"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765B807-297D-49D5-A993-CF4B6FC9C3EC}" type="datetime1">
              <a:rPr lang="en-US" altLang="hu-HU" sz="1200" smtClean="0">
                <a:solidFill>
                  <a:schemeClr val="bg1"/>
                </a:solidFill>
                <a:latin typeface="Calibri" panose="020F0502020204030204" pitchFamily="34" charset="0"/>
              </a:rPr>
              <a:pPr eaLnBrk="1" hangingPunct="1"/>
              <a:t>3/25/2024</a:t>
            </a:fld>
            <a:endParaRPr lang="en-US" altLang="hu-HU" sz="1200" dirty="0">
              <a:solidFill>
                <a:schemeClr val="bg1"/>
              </a:solidFill>
              <a:latin typeface="Calibri" panose="020F0502020204030204" pitchFamily="34" charset="0"/>
            </a:endParaRPr>
          </a:p>
        </p:txBody>
      </p:sp>
      <p:sp>
        <p:nvSpPr>
          <p:cNvPr id="14342" name="Rectangle 8"/>
          <p:cNvSpPr>
            <a:spLocks noChangeArrowheads="1"/>
          </p:cNvSpPr>
          <p:nvPr/>
        </p:nvSpPr>
        <p:spPr bwMode="auto">
          <a:xfrm>
            <a:off x="843280" y="365760"/>
            <a:ext cx="10515600" cy="813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spcBef>
                <a:spcPct val="0"/>
              </a:spcBef>
            </a:pPr>
            <a:r>
              <a:rPr lang="en-US" altLang="hu-HU" sz="4400" dirty="0">
                <a:latin typeface="+mj-lt"/>
                <a:ea typeface="+mj-ea"/>
                <a:cs typeface="+mj-cs"/>
              </a:rPr>
              <a:t>Assessment of corporates’ risk</a:t>
            </a:r>
          </a:p>
        </p:txBody>
      </p:sp>
      <p:sp>
        <p:nvSpPr>
          <p:cNvPr id="7" name="Dia számának helye 1">
            <a:extLst>
              <a:ext uri="{FF2B5EF4-FFF2-40B4-BE49-F238E27FC236}">
                <a16:creationId xmlns:a16="http://schemas.microsoft.com/office/drawing/2014/main" id="{41302DD5-4D7E-4F2D-9425-CB337D37778F}"/>
              </a:ext>
            </a:extLst>
          </p:cNvPr>
          <p:cNvSpPr>
            <a:spLocks noGrp="1"/>
          </p:cNvSpPr>
          <p:nvPr>
            <p:ph type="sldNum" sz="quarter" idx="12"/>
          </p:nvPr>
        </p:nvSpPr>
        <p:spPr>
          <a:xfrm>
            <a:off x="8610600" y="6356350"/>
            <a:ext cx="2743200" cy="365125"/>
          </a:xfrm>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8E3395-0D00-4997-A8B3-B5FC5B61BE62}"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b="0" i="0" u="none" strike="noStrike" kern="1200" cap="none" spc="0" normalizeH="0" baseline="0" dirty="0">
              <a:ln>
                <a:noFill/>
              </a:ln>
              <a:solidFill>
                <a:srgbClr val="898989"/>
              </a:solidFill>
              <a:effectLst/>
              <a:uLnTx/>
              <a:uFillTx/>
              <a:latin typeface="+mn-lt"/>
              <a:ea typeface="+mn-ea"/>
              <a:cs typeface="+mn-cs"/>
            </a:endParaRPr>
          </a:p>
        </p:txBody>
      </p:sp>
    </p:spTree>
    <p:extLst>
      <p:ext uri="{BB962C8B-B14F-4D97-AF65-F5344CB8AC3E}">
        <p14:creationId xmlns:p14="http://schemas.microsoft.com/office/powerpoint/2010/main" val="572698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841248" y="365760"/>
            <a:ext cx="10515600" cy="813816"/>
          </a:xfrm>
        </p:spPr>
        <p:txBody>
          <a:bodyPr>
            <a:normAutofit/>
          </a:bodyPr>
          <a:lstStyle/>
          <a:p>
            <a:r>
              <a:rPr lang="en-US" altLang="hu-HU" dirty="0"/>
              <a:t>Equity-based corporate assessment</a:t>
            </a:r>
          </a:p>
        </p:txBody>
      </p:sp>
      <p:graphicFrame>
        <p:nvGraphicFramePr>
          <p:cNvPr id="20483" name="Object 4"/>
          <p:cNvGraphicFramePr>
            <a:graphicFrameLocks noGrp="1" noChangeAspect="1"/>
          </p:cNvGraphicFramePr>
          <p:nvPr>
            <p:ph sz="half" idx="2"/>
            <p:extLst>
              <p:ext uri="{D42A27DB-BD31-4B8C-83A1-F6EECF244321}">
                <p14:modId xmlns:p14="http://schemas.microsoft.com/office/powerpoint/2010/main" val="2181114338"/>
              </p:ext>
            </p:extLst>
          </p:nvPr>
        </p:nvGraphicFramePr>
        <p:xfrm>
          <a:off x="900710" y="1307592"/>
          <a:ext cx="5264150" cy="4743450"/>
        </p:xfrm>
        <a:graphic>
          <a:graphicData uri="http://schemas.openxmlformats.org/presentationml/2006/ole">
            <mc:AlternateContent xmlns:mc="http://schemas.openxmlformats.org/markup-compatibility/2006">
              <mc:Choice xmlns:v="urn:schemas-microsoft-com:vml" Requires="v">
                <p:oleObj name="Equation" r:id="rId2" imgW="3721100" imgH="3352800" progId="Equation.3">
                  <p:embed/>
                </p:oleObj>
              </mc:Choice>
              <mc:Fallback>
                <p:oleObj name="Equation" r:id="rId2" imgW="3721100" imgH="3352800" progId="Equation.3">
                  <p:embed/>
                  <p:pic>
                    <p:nvPicPr>
                      <p:cNvPr id="20483"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710" y="1307592"/>
                        <a:ext cx="5264150" cy="474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Szövegdoboz 1">
            <a:extLst>
              <a:ext uri="{FF2B5EF4-FFF2-40B4-BE49-F238E27FC236}">
                <a16:creationId xmlns:a16="http://schemas.microsoft.com/office/drawing/2014/main" id="{F4BF0985-F5A5-4FBF-BD73-D9C0D1D02BB3}"/>
              </a:ext>
            </a:extLst>
          </p:cNvPr>
          <p:cNvSpPr txBox="1"/>
          <p:nvPr/>
        </p:nvSpPr>
        <p:spPr>
          <a:xfrm>
            <a:off x="6687485" y="1307592"/>
            <a:ext cx="4603805" cy="1200329"/>
          </a:xfrm>
          <a:prstGeom prst="rect">
            <a:avLst/>
          </a:prstGeom>
          <a:noFill/>
        </p:spPr>
        <p:txBody>
          <a:bodyPr wrap="square" rtlCol="0">
            <a:spAutoFit/>
          </a:bodyPr>
          <a:lstStyle/>
          <a:p>
            <a:r>
              <a:rPr lang="en-US" i="1" dirty="0"/>
              <a:t>V</a:t>
            </a:r>
            <a:r>
              <a:rPr lang="en-US" sz="1200" i="1" dirty="0"/>
              <a:t>A</a:t>
            </a:r>
            <a:r>
              <a:rPr lang="en-US" dirty="0"/>
              <a:t> Value of the firm (Assets)</a:t>
            </a:r>
          </a:p>
          <a:p>
            <a:r>
              <a:rPr lang="en-US" i="1" dirty="0"/>
              <a:t>V</a:t>
            </a:r>
            <a:r>
              <a:rPr lang="en-US" sz="1200" i="1" dirty="0"/>
              <a:t>E</a:t>
            </a:r>
            <a:r>
              <a:rPr lang="en-US" dirty="0"/>
              <a:t> Value of the Equity (of the firm)</a:t>
            </a:r>
          </a:p>
          <a:p>
            <a:r>
              <a:rPr lang="en-US" i="1" dirty="0"/>
              <a:t>X</a:t>
            </a:r>
            <a:r>
              <a:rPr lang="en-US" dirty="0"/>
              <a:t> Nominal value of external financing (Debt)</a:t>
            </a:r>
          </a:p>
          <a:p>
            <a:r>
              <a:rPr lang="en-US" i="1" dirty="0"/>
              <a:t>DD</a:t>
            </a:r>
            <a:r>
              <a:rPr lang="en-US" dirty="0"/>
              <a:t> – distance to default</a:t>
            </a:r>
          </a:p>
        </p:txBody>
      </p:sp>
      <p:pic>
        <p:nvPicPr>
          <p:cNvPr id="3" name="Kép 2">
            <a:extLst>
              <a:ext uri="{FF2B5EF4-FFF2-40B4-BE49-F238E27FC236}">
                <a16:creationId xmlns:a16="http://schemas.microsoft.com/office/drawing/2014/main" id="{375F9099-AD89-40D7-9A87-C126AE99D55C}"/>
              </a:ext>
            </a:extLst>
          </p:cNvPr>
          <p:cNvPicPr>
            <a:picLocks noChangeAspect="1"/>
          </p:cNvPicPr>
          <p:nvPr/>
        </p:nvPicPr>
        <p:blipFill>
          <a:blip r:embed="rId4"/>
          <a:stretch>
            <a:fillRect/>
          </a:stretch>
        </p:blipFill>
        <p:spPr>
          <a:xfrm>
            <a:off x="6700140" y="3590728"/>
            <a:ext cx="4578493" cy="2755631"/>
          </a:xfrm>
          <a:prstGeom prst="rect">
            <a:avLst/>
          </a:prstGeom>
        </p:spPr>
      </p:pic>
      <p:graphicFrame>
        <p:nvGraphicFramePr>
          <p:cNvPr id="4" name="Táblázat 3">
            <a:extLst>
              <a:ext uri="{FF2B5EF4-FFF2-40B4-BE49-F238E27FC236}">
                <a16:creationId xmlns:a16="http://schemas.microsoft.com/office/drawing/2014/main" id="{44CC314C-42EB-321E-D92C-0A8E1184D337}"/>
              </a:ext>
            </a:extLst>
          </p:cNvPr>
          <p:cNvGraphicFramePr>
            <a:graphicFrameLocks noGrp="1"/>
          </p:cNvGraphicFramePr>
          <p:nvPr>
            <p:extLst>
              <p:ext uri="{D42A27DB-BD31-4B8C-83A1-F6EECF244321}">
                <p14:modId xmlns:p14="http://schemas.microsoft.com/office/powerpoint/2010/main" val="3433025537"/>
              </p:ext>
            </p:extLst>
          </p:nvPr>
        </p:nvGraphicFramePr>
        <p:xfrm>
          <a:off x="6700140" y="2525592"/>
          <a:ext cx="2006600" cy="762000"/>
        </p:xfrm>
        <a:graphic>
          <a:graphicData uri="http://schemas.openxmlformats.org/drawingml/2006/table">
            <a:tbl>
              <a:tblPr>
                <a:tableStyleId>{5C22544A-7EE6-4342-B048-85BDC9FD1C3A}</a:tableStyleId>
              </a:tblPr>
              <a:tblGrid>
                <a:gridCol w="608637">
                  <a:extLst>
                    <a:ext uri="{9D8B030D-6E8A-4147-A177-3AD203B41FA5}">
                      <a16:colId xmlns:a16="http://schemas.microsoft.com/office/drawing/2014/main" val="2902500365"/>
                    </a:ext>
                  </a:extLst>
                </a:gridCol>
                <a:gridCol w="789326">
                  <a:extLst>
                    <a:ext uri="{9D8B030D-6E8A-4147-A177-3AD203B41FA5}">
                      <a16:colId xmlns:a16="http://schemas.microsoft.com/office/drawing/2014/main" val="1145895571"/>
                    </a:ext>
                  </a:extLst>
                </a:gridCol>
                <a:gridCol w="608637">
                  <a:extLst>
                    <a:ext uri="{9D8B030D-6E8A-4147-A177-3AD203B41FA5}">
                      <a16:colId xmlns:a16="http://schemas.microsoft.com/office/drawing/2014/main" val="1076714764"/>
                    </a:ext>
                  </a:extLst>
                </a:gridCol>
              </a:tblGrid>
              <a:tr h="190500">
                <a:tc>
                  <a:txBody>
                    <a:bodyPr/>
                    <a:lstStyle/>
                    <a:p>
                      <a:pPr algn="l" fontAlgn="b"/>
                      <a:endParaRPr lang="hu-HU"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hu-HU" sz="1100" u="none" strike="noStrike">
                          <a:effectLst/>
                        </a:rPr>
                        <a:t>Non-default</a:t>
                      </a:r>
                      <a:endParaRPr lang="hu-HU"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hu-HU" sz="1100" u="none" strike="noStrike">
                          <a:effectLst/>
                        </a:rPr>
                        <a:t>Default</a:t>
                      </a:r>
                      <a:endParaRPr lang="hu-HU"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72366597"/>
                  </a:ext>
                </a:extLst>
              </a:tr>
              <a:tr h="190500">
                <a:tc>
                  <a:txBody>
                    <a:bodyPr/>
                    <a:lstStyle/>
                    <a:p>
                      <a:pPr algn="l" fontAlgn="b"/>
                      <a:endParaRPr lang="hu-HU"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hu-HU" sz="1100" u="none" strike="noStrike" dirty="0">
                          <a:effectLst/>
                        </a:rPr>
                        <a:t>V&gt;X</a:t>
                      </a:r>
                      <a:endParaRPr lang="hu-HU"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hu-HU" sz="1100" u="none" strike="noStrike">
                          <a:effectLst/>
                        </a:rPr>
                        <a:t>V&lt;=X</a:t>
                      </a:r>
                      <a:endParaRPr lang="hu-HU"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98695985"/>
                  </a:ext>
                </a:extLst>
              </a:tr>
              <a:tr h="190500">
                <a:tc>
                  <a:txBody>
                    <a:bodyPr/>
                    <a:lstStyle/>
                    <a:p>
                      <a:pPr algn="l" fontAlgn="b"/>
                      <a:r>
                        <a:rPr lang="hu-HU" sz="1100" u="none" strike="noStrike">
                          <a:effectLst/>
                        </a:rPr>
                        <a:t>Equity</a:t>
                      </a:r>
                      <a:endParaRPr lang="hu-HU"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hu-HU" sz="1100" u="none" strike="noStrike">
                          <a:effectLst/>
                        </a:rPr>
                        <a:t>V-X</a:t>
                      </a:r>
                      <a:endParaRPr lang="hu-HU"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hu-HU" sz="1100" u="none" strike="noStrike">
                          <a:effectLst/>
                        </a:rPr>
                        <a:t>0</a:t>
                      </a:r>
                      <a:endParaRPr lang="hu-HU"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8297151"/>
                  </a:ext>
                </a:extLst>
              </a:tr>
              <a:tr h="190500">
                <a:tc>
                  <a:txBody>
                    <a:bodyPr/>
                    <a:lstStyle/>
                    <a:p>
                      <a:pPr algn="l" fontAlgn="b"/>
                      <a:r>
                        <a:rPr lang="hu-HU" sz="1100" u="none" strike="noStrike">
                          <a:effectLst/>
                        </a:rPr>
                        <a:t>Debt</a:t>
                      </a:r>
                      <a:endParaRPr lang="hu-HU"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hu-HU" sz="1100" u="none" strike="noStrike">
                          <a:effectLst/>
                        </a:rPr>
                        <a:t>X</a:t>
                      </a:r>
                      <a:endParaRPr lang="hu-HU"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hu-HU" sz="1100" u="none" strike="noStrike" dirty="0">
                          <a:effectLst/>
                        </a:rPr>
                        <a:t>V</a:t>
                      </a:r>
                      <a:endParaRPr lang="hu-HU"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96076188"/>
                  </a:ext>
                </a:extLst>
              </a:tr>
            </a:tbl>
          </a:graphicData>
        </a:graphic>
      </p:graphicFrame>
      <p:sp>
        <p:nvSpPr>
          <p:cNvPr id="5" name="Szövegdoboz 4">
            <a:extLst>
              <a:ext uri="{FF2B5EF4-FFF2-40B4-BE49-F238E27FC236}">
                <a16:creationId xmlns:a16="http://schemas.microsoft.com/office/drawing/2014/main" id="{5149FD63-773B-3292-77CA-04157255D37E}"/>
              </a:ext>
            </a:extLst>
          </p:cNvPr>
          <p:cNvSpPr txBox="1"/>
          <p:nvPr/>
        </p:nvSpPr>
        <p:spPr>
          <a:xfrm>
            <a:off x="8706740" y="2814326"/>
            <a:ext cx="1824619" cy="307777"/>
          </a:xfrm>
          <a:prstGeom prst="rect">
            <a:avLst/>
          </a:prstGeom>
          <a:noFill/>
        </p:spPr>
        <p:txBody>
          <a:bodyPr wrap="square" rtlCol="0">
            <a:spAutoFit/>
          </a:bodyPr>
          <a:lstStyle/>
          <a:p>
            <a:r>
              <a:rPr lang="en-US" sz="1400" i="1"/>
              <a:t>Pay-off=Max(V-X,0)</a:t>
            </a:r>
          </a:p>
        </p:txBody>
      </p:sp>
      <p:cxnSp>
        <p:nvCxnSpPr>
          <p:cNvPr id="8" name="Összekötő: szögletes 7">
            <a:extLst>
              <a:ext uri="{FF2B5EF4-FFF2-40B4-BE49-F238E27FC236}">
                <a16:creationId xmlns:a16="http://schemas.microsoft.com/office/drawing/2014/main" id="{163321BD-D92D-8AA5-FEC1-3CA64FEA661B}"/>
              </a:ext>
            </a:extLst>
          </p:cNvPr>
          <p:cNvCxnSpPr>
            <a:cxnSpLocks/>
            <a:endCxn id="4" idx="1"/>
          </p:cNvCxnSpPr>
          <p:nvPr/>
        </p:nvCxnSpPr>
        <p:spPr>
          <a:xfrm>
            <a:off x="3778460" y="1719246"/>
            <a:ext cx="2921680" cy="1187346"/>
          </a:xfrm>
          <a:prstGeom prst="bentConnector3">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 name="Dia számának helye 1">
            <a:extLst>
              <a:ext uri="{FF2B5EF4-FFF2-40B4-BE49-F238E27FC236}">
                <a16:creationId xmlns:a16="http://schemas.microsoft.com/office/drawing/2014/main" id="{6FC44958-F09C-4F30-98FF-4E2871381246}"/>
              </a:ext>
            </a:extLst>
          </p:cNvPr>
          <p:cNvSpPr>
            <a:spLocks noGrp="1"/>
          </p:cNvSpPr>
          <p:nvPr>
            <p:ph type="sldNum" sz="quarter" idx="12"/>
          </p:nvPr>
        </p:nvSpPr>
        <p:spPr>
          <a:xfrm>
            <a:off x="8610600" y="6356350"/>
            <a:ext cx="2743200" cy="365125"/>
          </a:xfrm>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8E3395-0D00-4997-A8B3-B5FC5B61BE62}"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b="0" i="0" u="none" strike="noStrike" kern="1200" cap="none" spc="0" normalizeH="0" baseline="0" dirty="0">
              <a:ln>
                <a:noFill/>
              </a:ln>
              <a:solidFill>
                <a:srgbClr val="898989"/>
              </a:solidFill>
              <a:effectLst/>
              <a:uLnTx/>
              <a:uFillTx/>
              <a:latin typeface="+mn-lt"/>
              <a:ea typeface="+mn-ea"/>
              <a:cs typeface="+mn-cs"/>
            </a:endParaRPr>
          </a:p>
        </p:txBody>
      </p:sp>
    </p:spTree>
    <p:extLst>
      <p:ext uri="{BB962C8B-B14F-4D97-AF65-F5344CB8AC3E}">
        <p14:creationId xmlns:p14="http://schemas.microsoft.com/office/powerpoint/2010/main" val="11250169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zövegdoboz 6"/>
          <p:cNvSpPr txBox="1"/>
          <p:nvPr/>
        </p:nvSpPr>
        <p:spPr>
          <a:xfrm>
            <a:off x="2145983" y="1259584"/>
            <a:ext cx="8215312" cy="5016758"/>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lvl1pPr marL="400050" indent="-400050">
              <a:defRPr>
                <a:solidFill>
                  <a:schemeClr val="tx1"/>
                </a:solidFill>
                <a:latin typeface="Arial" panose="020B0604020202020204" pitchFamily="34" charset="0"/>
              </a:defRPr>
            </a:lvl1pPr>
            <a:lvl2pPr marL="857250" indent="-4000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buFont typeface="Calibri" panose="020F0502020204030204" pitchFamily="34" charset="0"/>
              <a:buAutoNum type="romanLcPeriod"/>
              <a:defRPr/>
            </a:pPr>
            <a:r>
              <a:rPr lang="en-US" sz="1600" b="1" dirty="0">
                <a:solidFill>
                  <a:srgbClr val="000000"/>
                </a:solidFill>
                <a:latin typeface="Calibri" panose="020F0502020204030204" pitchFamily="34" charset="0"/>
              </a:rPr>
              <a:t>Positive covenants</a:t>
            </a:r>
          </a:p>
          <a:p>
            <a:pPr lvl="1" eaLnBrk="1" hangingPunct="1">
              <a:buFont typeface="Wingdings" panose="05000000000000000000" pitchFamily="2" charset="2"/>
              <a:buChar char="Ø"/>
              <a:defRPr/>
            </a:pPr>
            <a:r>
              <a:rPr lang="en-US" sz="1600" dirty="0">
                <a:solidFill>
                  <a:srgbClr val="000000"/>
                </a:solidFill>
                <a:latin typeface="Calibri" panose="020F0502020204030204" pitchFamily="34" charset="0"/>
              </a:rPr>
              <a:t>Compliance with relevant regulations (incl. connected clients)</a:t>
            </a:r>
          </a:p>
          <a:p>
            <a:pPr lvl="1" eaLnBrk="1" hangingPunct="1">
              <a:buFont typeface="Wingdings" panose="05000000000000000000" pitchFamily="2" charset="2"/>
              <a:buChar char="Ø"/>
              <a:defRPr/>
            </a:pPr>
            <a:r>
              <a:rPr lang="en-US" sz="1600" dirty="0">
                <a:solidFill>
                  <a:srgbClr val="000000"/>
                </a:solidFill>
                <a:latin typeface="Calibri" panose="020F0502020204030204" pitchFamily="34" charset="0"/>
              </a:rPr>
              <a:t>Honor tax obligations</a:t>
            </a:r>
          </a:p>
          <a:p>
            <a:pPr lvl="1" eaLnBrk="1" hangingPunct="1">
              <a:buFont typeface="Wingdings" panose="05000000000000000000" pitchFamily="2" charset="2"/>
              <a:buChar char="Ø"/>
              <a:defRPr/>
            </a:pPr>
            <a:r>
              <a:rPr lang="en-US" sz="1600" dirty="0">
                <a:solidFill>
                  <a:srgbClr val="000000"/>
                </a:solidFill>
                <a:latin typeface="Calibri" panose="020F0502020204030204" pitchFamily="34" charset="0"/>
              </a:rPr>
              <a:t>Retain rights, licenses, patents, etc. to carry on with business activity</a:t>
            </a:r>
          </a:p>
          <a:p>
            <a:pPr lvl="1" eaLnBrk="1" hangingPunct="1">
              <a:buFont typeface="Wingdings" panose="05000000000000000000" pitchFamily="2" charset="2"/>
              <a:buChar char="Ø"/>
              <a:defRPr/>
            </a:pPr>
            <a:r>
              <a:rPr lang="en-US" sz="1600" dirty="0">
                <a:solidFill>
                  <a:srgbClr val="000000"/>
                </a:solidFill>
                <a:latin typeface="Calibri" panose="020F0502020204030204" pitchFamily="34" charset="0"/>
              </a:rPr>
              <a:t>Retain assets</a:t>
            </a:r>
          </a:p>
          <a:p>
            <a:pPr lvl="1">
              <a:buFont typeface="Wingdings" panose="05000000000000000000" pitchFamily="2" charset="2"/>
              <a:buChar char="Ø"/>
              <a:defRPr/>
            </a:pPr>
            <a:r>
              <a:rPr lang="en-US" sz="1600" dirty="0">
                <a:solidFill>
                  <a:srgbClr val="000000"/>
                </a:solidFill>
                <a:latin typeface="Calibri" panose="020F0502020204030204" pitchFamily="34" charset="0"/>
              </a:rPr>
              <a:t>Pari passu</a:t>
            </a:r>
          </a:p>
          <a:p>
            <a:pPr eaLnBrk="1" hangingPunct="1">
              <a:buFont typeface="Calibri" panose="020F0502020204030204" pitchFamily="34" charset="0"/>
              <a:buAutoNum type="romanLcPeriod"/>
              <a:defRPr/>
            </a:pPr>
            <a:r>
              <a:rPr lang="en-US" sz="1600" b="1" dirty="0">
                <a:solidFill>
                  <a:srgbClr val="000000"/>
                </a:solidFill>
                <a:latin typeface="Calibri" panose="020F0502020204030204" pitchFamily="34" charset="0"/>
              </a:rPr>
              <a:t>Negative covenants</a:t>
            </a:r>
          </a:p>
          <a:p>
            <a:pPr lvl="1" eaLnBrk="1" hangingPunct="1">
              <a:buFont typeface="Wingdings" panose="05000000000000000000" pitchFamily="2" charset="2"/>
              <a:buChar char="Ø"/>
              <a:defRPr/>
            </a:pPr>
            <a:r>
              <a:rPr lang="en-US" sz="1600" dirty="0">
                <a:solidFill>
                  <a:srgbClr val="000000"/>
                </a:solidFill>
                <a:latin typeface="Calibri" panose="020F0502020204030204" pitchFamily="34" charset="0"/>
              </a:rPr>
              <a:t>Negative pledge</a:t>
            </a:r>
          </a:p>
          <a:p>
            <a:pPr lvl="1" eaLnBrk="1" hangingPunct="1">
              <a:buFont typeface="Wingdings" panose="05000000000000000000" pitchFamily="2" charset="2"/>
              <a:buChar char="Ø"/>
              <a:defRPr/>
            </a:pPr>
            <a:r>
              <a:rPr lang="en-US" sz="1600" dirty="0">
                <a:solidFill>
                  <a:srgbClr val="000000"/>
                </a:solidFill>
                <a:latin typeface="Calibri" panose="020F0502020204030204" pitchFamily="34" charset="0"/>
              </a:rPr>
              <a:t>Forbid further indebtedness</a:t>
            </a:r>
          </a:p>
          <a:p>
            <a:pPr lvl="1" eaLnBrk="1" hangingPunct="1">
              <a:buFont typeface="Wingdings" panose="05000000000000000000" pitchFamily="2" charset="2"/>
              <a:buChar char="Ø"/>
              <a:defRPr/>
            </a:pPr>
            <a:r>
              <a:rPr lang="en-US" sz="1600" dirty="0">
                <a:solidFill>
                  <a:srgbClr val="000000"/>
                </a:solidFill>
                <a:latin typeface="Calibri" panose="020F0502020204030204" pitchFamily="34" charset="0"/>
              </a:rPr>
              <a:t>Forbid mergers and acquisitions</a:t>
            </a:r>
          </a:p>
          <a:p>
            <a:pPr lvl="1" eaLnBrk="1" hangingPunct="1">
              <a:buFont typeface="Wingdings" panose="05000000000000000000" pitchFamily="2" charset="2"/>
              <a:buChar char="Ø"/>
              <a:defRPr/>
            </a:pPr>
            <a:r>
              <a:rPr lang="en-US" sz="1600" dirty="0">
                <a:solidFill>
                  <a:srgbClr val="000000"/>
                </a:solidFill>
                <a:latin typeface="Calibri" panose="020F0502020204030204" pitchFamily="34" charset="0"/>
              </a:rPr>
              <a:t>Forbid the sale of assets</a:t>
            </a:r>
          </a:p>
          <a:p>
            <a:pPr lvl="1" eaLnBrk="1" hangingPunct="1">
              <a:buFont typeface="Wingdings" panose="05000000000000000000" pitchFamily="2" charset="2"/>
              <a:buChar char="Ø"/>
              <a:defRPr/>
            </a:pPr>
            <a:r>
              <a:rPr lang="en-US" sz="1600" dirty="0">
                <a:solidFill>
                  <a:srgbClr val="000000"/>
                </a:solidFill>
                <a:latin typeface="Calibri" panose="020F0502020204030204" pitchFamily="34" charset="0"/>
              </a:rPr>
              <a:t>Forbid to change core business activity</a:t>
            </a:r>
          </a:p>
          <a:p>
            <a:pPr lvl="1" eaLnBrk="1" hangingPunct="1">
              <a:buFont typeface="Wingdings" panose="05000000000000000000" pitchFamily="2" charset="2"/>
              <a:buChar char="Ø"/>
              <a:defRPr/>
            </a:pPr>
            <a:r>
              <a:rPr lang="en-US" sz="1600" dirty="0">
                <a:solidFill>
                  <a:srgbClr val="000000"/>
                </a:solidFill>
                <a:latin typeface="Calibri" panose="020F0502020204030204" pitchFamily="34" charset="0"/>
              </a:rPr>
              <a:t>Forbid to change accounting standards</a:t>
            </a:r>
          </a:p>
          <a:p>
            <a:pPr lvl="1" eaLnBrk="1" hangingPunct="1">
              <a:buFont typeface="Wingdings" panose="05000000000000000000" pitchFamily="2" charset="2"/>
              <a:buChar char="Ø"/>
              <a:defRPr/>
            </a:pPr>
            <a:r>
              <a:rPr lang="en-US" sz="1600" dirty="0">
                <a:solidFill>
                  <a:srgbClr val="000000"/>
                </a:solidFill>
                <a:latin typeface="Calibri" panose="020F0502020204030204" pitchFamily="34" charset="0"/>
              </a:rPr>
              <a:t>Forbid to pay dividend</a:t>
            </a:r>
          </a:p>
          <a:p>
            <a:pPr lvl="1" eaLnBrk="1" hangingPunct="1">
              <a:buFont typeface="Wingdings" panose="05000000000000000000" pitchFamily="2" charset="2"/>
              <a:buChar char="Ø"/>
              <a:defRPr/>
            </a:pPr>
            <a:r>
              <a:rPr lang="en-US" sz="1600" dirty="0">
                <a:solidFill>
                  <a:srgbClr val="000000"/>
                </a:solidFill>
                <a:latin typeface="Calibri" panose="020F0502020204030204" pitchFamily="34" charset="0"/>
              </a:rPr>
              <a:t>No significant change in ownership structure</a:t>
            </a:r>
          </a:p>
          <a:p>
            <a:pPr lvl="1" eaLnBrk="1" hangingPunct="1">
              <a:buFont typeface="Wingdings" panose="05000000000000000000" pitchFamily="2" charset="2"/>
              <a:buChar char="Ø"/>
              <a:defRPr/>
            </a:pPr>
            <a:r>
              <a:rPr lang="en-US" sz="1600" dirty="0">
                <a:solidFill>
                  <a:srgbClr val="000000"/>
                </a:solidFill>
                <a:latin typeface="Calibri" panose="020F0502020204030204" pitchFamily="34" charset="0"/>
              </a:rPr>
              <a:t>Cross default</a:t>
            </a:r>
          </a:p>
          <a:p>
            <a:pPr eaLnBrk="1" hangingPunct="1">
              <a:buFont typeface="Calibri" panose="020F0502020204030204" pitchFamily="34" charset="0"/>
              <a:buAutoNum type="romanLcPeriod"/>
              <a:defRPr/>
            </a:pPr>
            <a:r>
              <a:rPr lang="en-US" sz="1600" b="1" dirty="0">
                <a:solidFill>
                  <a:srgbClr val="000000"/>
                </a:solidFill>
                <a:latin typeface="Calibri" panose="020F0502020204030204" pitchFamily="34" charset="0"/>
              </a:rPr>
              <a:t>Financial covenants</a:t>
            </a:r>
          </a:p>
          <a:p>
            <a:pPr lvl="1" eaLnBrk="1" hangingPunct="1">
              <a:buFont typeface="Wingdings" panose="05000000000000000000" pitchFamily="2" charset="2"/>
              <a:buChar char="Ø"/>
              <a:defRPr/>
            </a:pPr>
            <a:r>
              <a:rPr lang="en-US" sz="1600" dirty="0">
                <a:solidFill>
                  <a:srgbClr val="000000"/>
                </a:solidFill>
                <a:latin typeface="Calibri" panose="020F0502020204030204" pitchFamily="34" charset="0"/>
              </a:rPr>
              <a:t>Debt service / EBITDA</a:t>
            </a:r>
          </a:p>
          <a:p>
            <a:pPr lvl="1" eaLnBrk="1" hangingPunct="1">
              <a:buFont typeface="Wingdings" panose="05000000000000000000" pitchFamily="2" charset="2"/>
              <a:buChar char="Ø"/>
              <a:defRPr/>
            </a:pPr>
            <a:r>
              <a:rPr lang="en-US" sz="1600" dirty="0">
                <a:solidFill>
                  <a:srgbClr val="000000"/>
                </a:solidFill>
                <a:latin typeface="Calibri" panose="020F0502020204030204" pitchFamily="34" charset="0"/>
              </a:rPr>
              <a:t>DSCR (debt service coverage ratio)</a:t>
            </a:r>
          </a:p>
          <a:p>
            <a:pPr lvl="1" eaLnBrk="1" hangingPunct="1">
              <a:buFont typeface="Wingdings" panose="05000000000000000000" pitchFamily="2" charset="2"/>
              <a:buChar char="Ø"/>
              <a:defRPr/>
            </a:pPr>
            <a:r>
              <a:rPr lang="en-US" sz="1600" dirty="0">
                <a:solidFill>
                  <a:srgbClr val="000000"/>
                </a:solidFill>
                <a:latin typeface="Calibri" panose="020F0502020204030204" pitchFamily="34" charset="0"/>
              </a:rPr>
              <a:t>DSRA (debt service reserve account)</a:t>
            </a:r>
          </a:p>
        </p:txBody>
      </p:sp>
      <p:sp>
        <p:nvSpPr>
          <p:cNvPr id="21507" name="Dia számának helye 1"/>
          <p:cNvSpPr txBox="1">
            <a:spLocks noGrp="1"/>
          </p:cNvSpPr>
          <p:nvPr/>
        </p:nvSpPr>
        <p:spPr bwMode="auto">
          <a:xfrm>
            <a:off x="8534400" y="6572250"/>
            <a:ext cx="21336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305CF71F-3E37-41B0-859E-FB19456A28A2}" type="slidenum">
              <a:rPr lang="en-US" altLang="hu-HU" sz="1200" b="1" smtClean="0">
                <a:solidFill>
                  <a:schemeClr val="bg1"/>
                </a:solidFill>
                <a:latin typeface="Calibri" panose="020F0502020204030204" pitchFamily="34" charset="0"/>
              </a:rPr>
              <a:pPr algn="r" eaLnBrk="1" hangingPunct="1"/>
              <a:t>36</a:t>
            </a:fld>
            <a:endParaRPr lang="en-US" altLang="hu-HU" sz="1200" b="1" dirty="0">
              <a:solidFill>
                <a:schemeClr val="bg1"/>
              </a:solidFill>
              <a:latin typeface="Calibri" panose="020F0502020204030204" pitchFamily="34" charset="0"/>
            </a:endParaRPr>
          </a:p>
        </p:txBody>
      </p:sp>
      <p:sp>
        <p:nvSpPr>
          <p:cNvPr id="21509" name="Rectangle 8"/>
          <p:cNvSpPr>
            <a:spLocks noChangeArrowheads="1"/>
          </p:cNvSpPr>
          <p:nvPr/>
        </p:nvSpPr>
        <p:spPr bwMode="auto">
          <a:xfrm>
            <a:off x="841248" y="365760"/>
            <a:ext cx="10515600" cy="813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spcBef>
                <a:spcPct val="0"/>
              </a:spcBef>
            </a:pPr>
            <a:r>
              <a:rPr lang="en-US" altLang="hu-HU" sz="4400" dirty="0">
                <a:latin typeface="+mj-lt"/>
                <a:ea typeface="+mj-ea"/>
                <a:cs typeface="+mj-cs"/>
              </a:rPr>
              <a:t>Covenants – contractual conditions</a:t>
            </a:r>
          </a:p>
        </p:txBody>
      </p:sp>
      <p:sp>
        <p:nvSpPr>
          <p:cNvPr id="6" name="Dia számának helye 1">
            <a:extLst>
              <a:ext uri="{FF2B5EF4-FFF2-40B4-BE49-F238E27FC236}">
                <a16:creationId xmlns:a16="http://schemas.microsoft.com/office/drawing/2014/main" id="{CB186341-1C69-465D-9532-DE1DD80628C2}"/>
              </a:ext>
            </a:extLst>
          </p:cNvPr>
          <p:cNvSpPr>
            <a:spLocks noGrp="1"/>
          </p:cNvSpPr>
          <p:nvPr>
            <p:ph type="sldNum" sz="quarter" idx="12"/>
          </p:nvPr>
        </p:nvSpPr>
        <p:spPr>
          <a:xfrm>
            <a:off x="8610600" y="6356350"/>
            <a:ext cx="2743200" cy="365125"/>
          </a:xfrm>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8E3395-0D00-4997-A8B3-B5FC5B61BE62}" type="slidenum">
              <a:rPr kumimoji="0" lang="en-US" altLang="en-US" sz="1000" b="0" i="0" u="none" strike="noStrike" kern="1200" cap="none" spc="0" normalizeH="0" baseline="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en-US" sz="1000" b="0" i="0" u="none" strike="noStrike" kern="1200" cap="none" spc="0" normalizeH="0" baseline="0" dirty="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9781166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zövegdoboz 5"/>
          <p:cNvSpPr txBox="1"/>
          <p:nvPr/>
        </p:nvSpPr>
        <p:spPr>
          <a:xfrm>
            <a:off x="1988344" y="1395476"/>
            <a:ext cx="8215312" cy="4524315"/>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pPr marL="400050" indent="-400050">
              <a:buFont typeface="+mj-lt"/>
              <a:buAutoNum type="romanLcPeriod"/>
              <a:defRPr/>
            </a:pPr>
            <a:r>
              <a:rPr lang="en-US" b="1" dirty="0"/>
              <a:t>Personal guarantee</a:t>
            </a:r>
          </a:p>
          <a:p>
            <a:pPr marL="857250" lvl="1" indent="-400050">
              <a:buFont typeface="Wingdings" pitchFamily="2" charset="2"/>
              <a:buChar char="Ø"/>
              <a:defRPr/>
            </a:pPr>
            <a:r>
              <a:rPr lang="en-US" dirty="0"/>
              <a:t>Deficiency surety</a:t>
            </a:r>
          </a:p>
          <a:p>
            <a:pPr marL="857250" lvl="1" indent="-400050">
              <a:buFont typeface="Wingdings" pitchFamily="2" charset="2"/>
              <a:buChar char="Ø"/>
              <a:defRPr/>
            </a:pPr>
            <a:r>
              <a:rPr lang="en-US" dirty="0"/>
              <a:t>Joint and several surety</a:t>
            </a:r>
          </a:p>
          <a:p>
            <a:pPr marL="857250" lvl="1" indent="-400050">
              <a:buFont typeface="Wingdings" pitchFamily="2" charset="2"/>
              <a:buChar char="Ø"/>
              <a:defRPr/>
            </a:pPr>
            <a:r>
              <a:rPr lang="en-US" dirty="0"/>
              <a:t>Bank guarantee</a:t>
            </a:r>
          </a:p>
          <a:p>
            <a:pPr marL="857250" lvl="1" indent="-400050">
              <a:buFont typeface="Wingdings" pitchFamily="2" charset="2"/>
              <a:buChar char="Ø"/>
              <a:defRPr/>
            </a:pPr>
            <a:r>
              <a:rPr lang="en-US" dirty="0"/>
              <a:t>Guarantee issued by Guarantor Institution</a:t>
            </a:r>
          </a:p>
          <a:p>
            <a:pPr marL="857250" lvl="1" indent="-400050">
              <a:buFont typeface="Wingdings" pitchFamily="2" charset="2"/>
              <a:buChar char="Ø"/>
              <a:defRPr/>
            </a:pPr>
            <a:r>
              <a:rPr lang="en-US" dirty="0"/>
              <a:t>State surety  </a:t>
            </a:r>
          </a:p>
          <a:p>
            <a:pPr marL="514350" indent="-514350">
              <a:buFont typeface="+mj-lt"/>
              <a:buAutoNum type="romanLcPeriod"/>
              <a:defRPr/>
            </a:pPr>
            <a:r>
              <a:rPr lang="en-US" b="1" dirty="0"/>
              <a:t>Letter of Credits</a:t>
            </a:r>
          </a:p>
          <a:p>
            <a:pPr marL="514350" indent="-514350">
              <a:buFont typeface="+mj-lt"/>
              <a:buAutoNum type="romanLcPeriod"/>
              <a:defRPr/>
            </a:pPr>
            <a:r>
              <a:rPr lang="en-US" b="1" dirty="0"/>
              <a:t>Material collaterals</a:t>
            </a:r>
          </a:p>
          <a:p>
            <a:pPr marL="971550" lvl="1" indent="-514350">
              <a:buFont typeface="Wingdings" pitchFamily="2" charset="2"/>
              <a:buChar char="Ø"/>
              <a:defRPr/>
            </a:pPr>
            <a:r>
              <a:rPr lang="en-US" dirty="0"/>
              <a:t>P</a:t>
            </a:r>
            <a:r>
              <a:rPr lang="hu-HU" dirty="0" err="1"/>
              <a:t>ledge</a:t>
            </a:r>
            <a:endParaRPr lang="en-US" dirty="0"/>
          </a:p>
          <a:p>
            <a:pPr marL="971550" lvl="1" indent="-514350">
              <a:buFont typeface="Wingdings" pitchFamily="2" charset="2"/>
              <a:buChar char="Ø"/>
              <a:defRPr/>
            </a:pPr>
            <a:r>
              <a:rPr lang="en-US" dirty="0"/>
              <a:t>Security deposit</a:t>
            </a:r>
          </a:p>
          <a:p>
            <a:pPr marL="1428750" lvl="2" indent="-514350">
              <a:buFont typeface="Arial" pitchFamily="34" charset="0"/>
              <a:buChar char="•"/>
              <a:defRPr/>
            </a:pPr>
            <a:r>
              <a:rPr lang="en-US" dirty="0"/>
              <a:t>Current account</a:t>
            </a:r>
            <a:r>
              <a:rPr lang="hu-HU" dirty="0"/>
              <a:t>/</a:t>
            </a:r>
            <a:r>
              <a:rPr lang="hu-HU" dirty="0" err="1"/>
              <a:t>escrow</a:t>
            </a:r>
            <a:r>
              <a:rPr lang="hu-HU" dirty="0"/>
              <a:t> account</a:t>
            </a:r>
            <a:endParaRPr lang="en-US" dirty="0"/>
          </a:p>
          <a:p>
            <a:pPr marL="1428750" lvl="2" indent="-514350">
              <a:buFont typeface="Arial" pitchFamily="34" charset="0"/>
              <a:buChar char="•"/>
              <a:defRPr/>
            </a:pPr>
            <a:r>
              <a:rPr lang="en-US" dirty="0"/>
              <a:t>Deposit</a:t>
            </a:r>
          </a:p>
          <a:p>
            <a:pPr marL="1428750" lvl="2" indent="-514350">
              <a:buFont typeface="Arial" pitchFamily="34" charset="0"/>
              <a:buChar char="•"/>
              <a:defRPr/>
            </a:pPr>
            <a:r>
              <a:rPr lang="en-US" dirty="0"/>
              <a:t>Financial securities</a:t>
            </a:r>
          </a:p>
          <a:p>
            <a:pPr marL="1428750" lvl="2" indent="-514350">
              <a:buFont typeface="Arial" pitchFamily="34" charset="0"/>
              <a:buChar char="•"/>
              <a:defRPr/>
            </a:pPr>
            <a:r>
              <a:rPr lang="en-US" dirty="0"/>
              <a:t>Ware receipt</a:t>
            </a:r>
          </a:p>
          <a:p>
            <a:pPr marL="971550" lvl="1" indent="-514350">
              <a:buFont typeface="Wingdings" pitchFamily="2" charset="2"/>
              <a:buChar char="Ø"/>
              <a:defRPr/>
            </a:pPr>
            <a:r>
              <a:rPr lang="hu-HU" dirty="0" err="1"/>
              <a:t>Hypothecation</a:t>
            </a:r>
            <a:endParaRPr lang="en-US" dirty="0"/>
          </a:p>
          <a:p>
            <a:pPr marL="971550" lvl="1" indent="-514350">
              <a:buFont typeface="Wingdings" pitchFamily="2" charset="2"/>
              <a:buChar char="Ø"/>
              <a:defRPr/>
            </a:pPr>
            <a:r>
              <a:rPr lang="en-US" dirty="0"/>
              <a:t>Mortgages</a:t>
            </a:r>
          </a:p>
        </p:txBody>
      </p:sp>
      <p:sp>
        <p:nvSpPr>
          <p:cNvPr id="23555" name="Dia számának helye 1"/>
          <p:cNvSpPr txBox="1">
            <a:spLocks noGrp="1"/>
          </p:cNvSpPr>
          <p:nvPr/>
        </p:nvSpPr>
        <p:spPr bwMode="auto">
          <a:xfrm>
            <a:off x="8534400" y="6572250"/>
            <a:ext cx="213360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C110B017-4D6F-4118-B0C0-3EEF7B80EAD3}" type="slidenum">
              <a:rPr lang="en-US" altLang="hu-HU" sz="1200" b="1" smtClean="0">
                <a:solidFill>
                  <a:schemeClr val="bg1"/>
                </a:solidFill>
                <a:latin typeface="Calibri" panose="020F0502020204030204" pitchFamily="34" charset="0"/>
              </a:rPr>
              <a:pPr algn="r" eaLnBrk="1" hangingPunct="1"/>
              <a:t>37</a:t>
            </a:fld>
            <a:endParaRPr lang="en-US" altLang="hu-HU" sz="1200" b="1" dirty="0">
              <a:solidFill>
                <a:schemeClr val="bg1"/>
              </a:solidFill>
              <a:latin typeface="Calibri" panose="020F0502020204030204" pitchFamily="34" charset="0"/>
            </a:endParaRPr>
          </a:p>
        </p:txBody>
      </p:sp>
      <p:sp>
        <p:nvSpPr>
          <p:cNvPr id="23556" name="Dátum helye 2"/>
          <p:cNvSpPr txBox="1">
            <a:spLocks noGrp="1"/>
          </p:cNvSpPr>
          <p:nvPr/>
        </p:nvSpPr>
        <p:spPr bwMode="auto">
          <a:xfrm>
            <a:off x="1524001" y="6564314"/>
            <a:ext cx="1000125"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AC3AADD-653E-459A-A961-48D10B6C319D}" type="datetime1">
              <a:rPr lang="en-US" altLang="hu-HU" sz="1200" smtClean="0">
                <a:solidFill>
                  <a:schemeClr val="bg1"/>
                </a:solidFill>
                <a:latin typeface="Calibri" panose="020F0502020204030204" pitchFamily="34" charset="0"/>
              </a:rPr>
              <a:pPr eaLnBrk="1" hangingPunct="1"/>
              <a:t>3/25/2024</a:t>
            </a:fld>
            <a:endParaRPr lang="en-US" altLang="hu-HU" sz="1200" dirty="0">
              <a:solidFill>
                <a:schemeClr val="bg1"/>
              </a:solidFill>
              <a:latin typeface="Calibri" panose="020F0502020204030204" pitchFamily="34" charset="0"/>
            </a:endParaRPr>
          </a:p>
        </p:txBody>
      </p:sp>
      <p:sp>
        <p:nvSpPr>
          <p:cNvPr id="23557" name="Rectangle 8"/>
          <p:cNvSpPr>
            <a:spLocks noChangeArrowheads="1"/>
          </p:cNvSpPr>
          <p:nvPr/>
        </p:nvSpPr>
        <p:spPr bwMode="auto">
          <a:xfrm>
            <a:off x="841248" y="365760"/>
            <a:ext cx="10515600" cy="813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spcBef>
                <a:spcPct val="0"/>
              </a:spcBef>
            </a:pPr>
            <a:r>
              <a:rPr lang="en-US" altLang="hu-HU" sz="4400" dirty="0">
                <a:latin typeface="+mj-lt"/>
                <a:ea typeface="+mj-ea"/>
                <a:cs typeface="+mj-cs"/>
              </a:rPr>
              <a:t>Collaterals, sureties, pledges</a:t>
            </a:r>
          </a:p>
        </p:txBody>
      </p:sp>
      <p:sp>
        <p:nvSpPr>
          <p:cNvPr id="7" name="Dia számának helye 1">
            <a:extLst>
              <a:ext uri="{FF2B5EF4-FFF2-40B4-BE49-F238E27FC236}">
                <a16:creationId xmlns:a16="http://schemas.microsoft.com/office/drawing/2014/main" id="{2B64F3E6-1767-4BB2-B4B3-563EEAD63C59}"/>
              </a:ext>
            </a:extLst>
          </p:cNvPr>
          <p:cNvSpPr>
            <a:spLocks noGrp="1"/>
          </p:cNvSpPr>
          <p:nvPr>
            <p:ph type="sldNum" sz="quarter" idx="12"/>
          </p:nvPr>
        </p:nvSpPr>
        <p:spPr>
          <a:xfrm>
            <a:off x="8610600" y="6356350"/>
            <a:ext cx="2743200" cy="365125"/>
          </a:xfrm>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8E3395-0D00-4997-A8B3-B5FC5B61BE62}"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b="0" i="0" u="none" strike="noStrike" kern="1200" cap="none" spc="0" normalizeH="0" baseline="0" dirty="0">
              <a:ln>
                <a:noFill/>
              </a:ln>
              <a:solidFill>
                <a:srgbClr val="898989"/>
              </a:solidFill>
              <a:effectLst/>
              <a:uLnTx/>
              <a:uFillTx/>
              <a:latin typeface="+mn-lt"/>
              <a:ea typeface="+mn-ea"/>
              <a:cs typeface="+mn-cs"/>
            </a:endParaRPr>
          </a:p>
        </p:txBody>
      </p:sp>
    </p:spTree>
    <p:extLst>
      <p:ext uri="{BB962C8B-B14F-4D97-AF65-F5344CB8AC3E}">
        <p14:creationId xmlns:p14="http://schemas.microsoft.com/office/powerpoint/2010/main" val="7331643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zövegdoboz 2">
            <a:extLst>
              <a:ext uri="{FF2B5EF4-FFF2-40B4-BE49-F238E27FC236}">
                <a16:creationId xmlns:a16="http://schemas.microsoft.com/office/drawing/2014/main" id="{3AD0ACC1-770A-D0C0-384E-48DEB645D4E6}"/>
              </a:ext>
            </a:extLst>
          </p:cNvPr>
          <p:cNvSpPr txBox="1"/>
          <p:nvPr/>
        </p:nvSpPr>
        <p:spPr>
          <a:xfrm>
            <a:off x="1155939" y="1190445"/>
            <a:ext cx="7116792" cy="1015663"/>
          </a:xfrm>
          <a:prstGeom prst="rect">
            <a:avLst/>
          </a:prstGeom>
          <a:noFill/>
        </p:spPr>
        <p:txBody>
          <a:bodyPr wrap="square" rtlCol="0">
            <a:spAutoFit/>
          </a:bodyPr>
          <a:lstStyle/>
          <a:p>
            <a:r>
              <a:rPr lang="hu-HU" sz="6000" dirty="0" err="1"/>
              <a:t>First</a:t>
            </a:r>
            <a:r>
              <a:rPr lang="hu-HU" sz="6000" dirty="0"/>
              <a:t> </a:t>
            </a:r>
            <a:r>
              <a:rPr lang="hu-HU" sz="6000" dirty="0" err="1"/>
              <a:t>Case</a:t>
            </a:r>
            <a:r>
              <a:rPr lang="hu-HU" sz="6000" dirty="0"/>
              <a:t> </a:t>
            </a:r>
            <a:r>
              <a:rPr lang="hu-HU" sz="6000" dirty="0" err="1"/>
              <a:t>Study</a:t>
            </a:r>
            <a:r>
              <a:rPr lang="hu-HU" sz="6000" dirty="0"/>
              <a:t> here</a:t>
            </a:r>
            <a:endParaRPr lang="en-GB" sz="6000" dirty="0"/>
          </a:p>
        </p:txBody>
      </p:sp>
    </p:spTree>
    <p:extLst>
      <p:ext uri="{BB962C8B-B14F-4D97-AF65-F5344CB8AC3E}">
        <p14:creationId xmlns:p14="http://schemas.microsoft.com/office/powerpoint/2010/main" val="4139363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841248" y="365760"/>
            <a:ext cx="10515600" cy="813816"/>
          </a:xfrm>
        </p:spPr>
        <p:txBody>
          <a:bodyPr anchor="t"/>
          <a:lstStyle/>
          <a:p>
            <a:r>
              <a:rPr lang="en-US" altLang="hu-HU" dirty="0"/>
              <a:t>Retail</a:t>
            </a:r>
            <a:r>
              <a:rPr lang="hu-HU" altLang="hu-HU" dirty="0"/>
              <a:t> </a:t>
            </a:r>
            <a:r>
              <a:rPr lang="hu-HU" altLang="hu-HU" dirty="0" err="1"/>
              <a:t>lending</a:t>
            </a:r>
            <a:endParaRPr lang="en-US" altLang="hu-HU" dirty="0"/>
          </a:p>
        </p:txBody>
      </p:sp>
      <p:sp>
        <p:nvSpPr>
          <p:cNvPr id="5123" name="Rectangle 3"/>
          <p:cNvSpPr>
            <a:spLocks noGrp="1" noChangeArrowheads="1"/>
          </p:cNvSpPr>
          <p:nvPr>
            <p:ph idx="4294967295"/>
          </p:nvPr>
        </p:nvSpPr>
        <p:spPr>
          <a:xfrm>
            <a:off x="841247" y="1307592"/>
            <a:ext cx="5032751" cy="5112345"/>
          </a:xfrm>
        </p:spPr>
        <p:txBody>
          <a:bodyPr>
            <a:normAutofit/>
          </a:bodyPr>
          <a:lstStyle/>
          <a:p>
            <a:pPr>
              <a:lnSpc>
                <a:spcPct val="80000"/>
              </a:lnSpc>
            </a:pPr>
            <a:r>
              <a:rPr lang="en-US" altLang="hu-HU" sz="1900" dirty="0"/>
              <a:t>Customers: Private individuals and micros</a:t>
            </a:r>
          </a:p>
          <a:p>
            <a:pPr>
              <a:lnSpc>
                <a:spcPct val="80000"/>
              </a:lnSpc>
            </a:pPr>
            <a:r>
              <a:rPr lang="en-US" altLang="hu-HU" sz="1900" dirty="0"/>
              <a:t>Lending products</a:t>
            </a:r>
          </a:p>
          <a:p>
            <a:pPr lvl="1">
              <a:lnSpc>
                <a:spcPct val="80000"/>
              </a:lnSpc>
            </a:pPr>
            <a:r>
              <a:rPr lang="en-US" altLang="hu-HU" sz="1700" dirty="0"/>
              <a:t>Credit Cards</a:t>
            </a:r>
          </a:p>
          <a:p>
            <a:pPr lvl="1">
              <a:lnSpc>
                <a:spcPct val="80000"/>
              </a:lnSpc>
            </a:pPr>
            <a:r>
              <a:rPr lang="en-US" altLang="hu-HU" sz="1700" dirty="0"/>
              <a:t>Overdraft</a:t>
            </a:r>
          </a:p>
          <a:p>
            <a:pPr lvl="1">
              <a:lnSpc>
                <a:spcPct val="80000"/>
              </a:lnSpc>
            </a:pPr>
            <a:r>
              <a:rPr lang="en-US" altLang="hu-HU" sz="1700" dirty="0"/>
              <a:t>Personal loans</a:t>
            </a:r>
          </a:p>
          <a:p>
            <a:pPr lvl="1">
              <a:lnSpc>
                <a:spcPct val="80000"/>
              </a:lnSpc>
            </a:pPr>
            <a:r>
              <a:rPr lang="en-US" altLang="hu-HU" sz="1700" dirty="0"/>
              <a:t>Mortgage loans</a:t>
            </a:r>
          </a:p>
          <a:p>
            <a:pPr lvl="2">
              <a:lnSpc>
                <a:spcPct val="80000"/>
              </a:lnSpc>
            </a:pPr>
            <a:r>
              <a:rPr lang="en-US" altLang="hu-HU" sz="1600" dirty="0"/>
              <a:t>Housing</a:t>
            </a:r>
          </a:p>
          <a:p>
            <a:pPr lvl="2">
              <a:lnSpc>
                <a:spcPct val="80000"/>
              </a:lnSpc>
            </a:pPr>
            <a:r>
              <a:rPr lang="en-US" altLang="hu-HU" sz="1600" dirty="0"/>
              <a:t>Home Equity (</a:t>
            </a:r>
            <a:r>
              <a:rPr lang="hu-HU" altLang="hu-HU" sz="1600" dirty="0"/>
              <a:t>„</a:t>
            </a:r>
            <a:r>
              <a:rPr lang="en-US" altLang="hu-HU" sz="1600" dirty="0" err="1"/>
              <a:t>szabadfelhasználású</a:t>
            </a:r>
            <a:r>
              <a:rPr lang="hu-HU" altLang="hu-HU" sz="1600" dirty="0"/>
              <a:t>”</a:t>
            </a:r>
            <a:r>
              <a:rPr lang="en-US" altLang="hu-HU" sz="1600" dirty="0"/>
              <a:t>)</a:t>
            </a:r>
          </a:p>
          <a:p>
            <a:pPr lvl="2">
              <a:lnSpc>
                <a:spcPct val="80000"/>
              </a:lnSpc>
            </a:pPr>
            <a:r>
              <a:rPr lang="en-US" altLang="hu-HU" sz="1600" dirty="0"/>
              <a:t>Unit-linked combined</a:t>
            </a:r>
          </a:p>
          <a:p>
            <a:pPr lvl="2">
              <a:lnSpc>
                <a:spcPct val="80000"/>
              </a:lnSpc>
            </a:pPr>
            <a:r>
              <a:rPr lang="en-US" altLang="hu-HU" sz="1600" dirty="0"/>
              <a:t>Reverse mortgage</a:t>
            </a:r>
          </a:p>
          <a:p>
            <a:pPr lvl="2">
              <a:lnSpc>
                <a:spcPct val="80000"/>
              </a:lnSpc>
            </a:pPr>
            <a:r>
              <a:rPr lang="en-US" altLang="hu-HU" sz="1600" dirty="0"/>
              <a:t>State-sponsored products (</a:t>
            </a:r>
            <a:r>
              <a:rPr lang="hu-HU" altLang="hu-HU" sz="1600" dirty="0" err="1"/>
              <a:t>p.e</a:t>
            </a:r>
            <a:r>
              <a:rPr lang="hu-HU" altLang="hu-HU" sz="1600" dirty="0"/>
              <a:t>.: „</a:t>
            </a:r>
            <a:r>
              <a:rPr lang="en-US" altLang="hu-HU" sz="1600" dirty="0" err="1"/>
              <a:t>Babaváró</a:t>
            </a:r>
            <a:r>
              <a:rPr lang="hu-HU" altLang="hu-HU" sz="1600" dirty="0"/>
              <a:t>”</a:t>
            </a:r>
            <a:r>
              <a:rPr lang="en-US" altLang="hu-HU" sz="1600" dirty="0"/>
              <a:t>)</a:t>
            </a:r>
          </a:p>
          <a:p>
            <a:pPr>
              <a:lnSpc>
                <a:spcPct val="80000"/>
              </a:lnSpc>
            </a:pPr>
            <a:r>
              <a:rPr lang="en-US" altLang="hu-HU" sz="1900" dirty="0"/>
              <a:t>Special constructions to micro</a:t>
            </a:r>
          </a:p>
          <a:p>
            <a:pPr lvl="1">
              <a:lnSpc>
                <a:spcPct val="80000"/>
              </a:lnSpc>
            </a:pPr>
            <a:r>
              <a:rPr lang="en-US" altLang="hu-HU" sz="1700" dirty="0"/>
              <a:t>”</a:t>
            </a:r>
            <a:r>
              <a:rPr lang="en-US" altLang="hu-HU" sz="1700" dirty="0" err="1"/>
              <a:t>Patika</a:t>
            </a:r>
            <a:r>
              <a:rPr lang="en-US" altLang="hu-HU" sz="1700" dirty="0"/>
              <a:t>” loan, ”</a:t>
            </a:r>
            <a:r>
              <a:rPr lang="en-US" altLang="hu-HU" sz="1700" dirty="0" err="1"/>
              <a:t>Széchenyi</a:t>
            </a:r>
            <a:r>
              <a:rPr lang="en-US" altLang="hu-HU" sz="1700" dirty="0"/>
              <a:t>” card</a:t>
            </a:r>
          </a:p>
          <a:p>
            <a:pPr lvl="1">
              <a:lnSpc>
                <a:spcPct val="80000"/>
              </a:lnSpc>
            </a:pPr>
            <a:r>
              <a:rPr lang="en-US" altLang="hu-HU" sz="1700" dirty="0"/>
              <a:t>Factoring</a:t>
            </a:r>
          </a:p>
          <a:p>
            <a:pPr lvl="1">
              <a:lnSpc>
                <a:spcPct val="80000"/>
              </a:lnSpc>
            </a:pPr>
            <a:r>
              <a:rPr lang="en-US" altLang="hu-HU" sz="1700" dirty="0"/>
              <a:t>Leasing</a:t>
            </a:r>
          </a:p>
          <a:p>
            <a:pPr marL="0" indent="0">
              <a:lnSpc>
                <a:spcPct val="80000"/>
              </a:lnSpc>
              <a:buNone/>
            </a:pPr>
            <a:endParaRPr lang="en-US" altLang="hu-HU" sz="1900" dirty="0"/>
          </a:p>
        </p:txBody>
      </p:sp>
      <p:sp>
        <p:nvSpPr>
          <p:cNvPr id="4" name="Dia számának helye 1">
            <a:extLst>
              <a:ext uri="{FF2B5EF4-FFF2-40B4-BE49-F238E27FC236}">
                <a16:creationId xmlns:a16="http://schemas.microsoft.com/office/drawing/2014/main" id="{AFC46359-61F8-4220-81CE-E0E591DCF5BC}"/>
              </a:ext>
            </a:extLst>
          </p:cNvPr>
          <p:cNvSpPr>
            <a:spLocks noGrp="1"/>
          </p:cNvSpPr>
          <p:nvPr>
            <p:ph type="sldNum" sz="quarter" idx="12"/>
          </p:nvPr>
        </p:nvSpPr>
        <p:spPr>
          <a:xfrm>
            <a:off x="8610600" y="6356350"/>
            <a:ext cx="2743200" cy="365125"/>
          </a:xfrm>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8E3395-0D00-4997-A8B3-B5FC5B61BE62}"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en-US" b="0" i="0" u="none" strike="noStrike" kern="1200" cap="none" spc="0" normalizeH="0" baseline="0" dirty="0">
              <a:ln>
                <a:noFill/>
              </a:ln>
              <a:solidFill>
                <a:srgbClr val="898989"/>
              </a:solidFill>
              <a:effectLst/>
              <a:uLnTx/>
              <a:uFillTx/>
              <a:latin typeface="+mn-lt"/>
              <a:ea typeface="+mn-ea"/>
              <a:cs typeface="+mn-cs"/>
            </a:endParaRPr>
          </a:p>
        </p:txBody>
      </p:sp>
      <p:sp>
        <p:nvSpPr>
          <p:cNvPr id="5" name="Rectangle 3">
            <a:extLst>
              <a:ext uri="{FF2B5EF4-FFF2-40B4-BE49-F238E27FC236}">
                <a16:creationId xmlns:a16="http://schemas.microsoft.com/office/drawing/2014/main" id="{DBA7D708-AD28-4FB1-B1BA-A61187879200}"/>
              </a:ext>
            </a:extLst>
          </p:cNvPr>
          <p:cNvSpPr txBox="1">
            <a:spLocks noChangeArrowheads="1"/>
          </p:cNvSpPr>
          <p:nvPr/>
        </p:nvSpPr>
        <p:spPr>
          <a:xfrm>
            <a:off x="6318002" y="1307592"/>
            <a:ext cx="4922944" cy="51123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hu-HU" sz="1900"/>
              <a:t>Deal-based approval</a:t>
            </a:r>
          </a:p>
          <a:p>
            <a:pPr lvl="1">
              <a:lnSpc>
                <a:spcPct val="80000"/>
              </a:lnSpc>
            </a:pPr>
            <a:r>
              <a:rPr lang="en-US" altLang="hu-HU" sz="1400"/>
              <a:t>Code of Conduct</a:t>
            </a:r>
          </a:p>
          <a:p>
            <a:pPr lvl="2">
              <a:lnSpc>
                <a:spcPct val="80000"/>
              </a:lnSpc>
            </a:pPr>
            <a:r>
              <a:rPr lang="en-US" altLang="hu-HU" sz="1400"/>
              <a:t>361/2009 Government decree on responsible lending</a:t>
            </a:r>
          </a:p>
          <a:p>
            <a:pPr lvl="2">
              <a:lnSpc>
                <a:spcPct val="80000"/>
              </a:lnSpc>
            </a:pPr>
            <a:r>
              <a:rPr lang="en-US" altLang="hu-HU" sz="1400"/>
              <a:t>32/2014 MNB decree on DSCR (Jövedelemarányos Törlesztési Mutató)</a:t>
            </a:r>
          </a:p>
          <a:p>
            <a:pPr lvl="2">
              <a:lnSpc>
                <a:spcPct val="80000"/>
              </a:lnSpc>
            </a:pPr>
            <a:r>
              <a:rPr lang="en-US" altLang="hu-HU" sz="1400"/>
              <a:t>Loan to Value (LTV)</a:t>
            </a:r>
          </a:p>
          <a:p>
            <a:pPr>
              <a:lnSpc>
                <a:spcPct val="80000"/>
              </a:lnSpc>
            </a:pPr>
            <a:r>
              <a:rPr lang="en-US" altLang="hu-HU" sz="1900"/>
              <a:t>Standardized assessment and approval</a:t>
            </a:r>
          </a:p>
        </p:txBody>
      </p:sp>
    </p:spTree>
    <p:extLst>
      <p:ext uri="{BB962C8B-B14F-4D97-AF65-F5344CB8AC3E}">
        <p14:creationId xmlns:p14="http://schemas.microsoft.com/office/powerpoint/2010/main" val="752080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841248" y="365760"/>
            <a:ext cx="10515600" cy="863600"/>
          </a:xfrm>
        </p:spPr>
        <p:txBody>
          <a:bodyPr anchor="t">
            <a:noAutofit/>
          </a:bodyPr>
          <a:lstStyle/>
          <a:p>
            <a:pPr>
              <a:lnSpc>
                <a:spcPct val="70000"/>
              </a:lnSpc>
            </a:pPr>
            <a:r>
              <a:rPr lang="en-US" altLang="hu-HU" dirty="0"/>
              <a:t>Statistical methods in client assessment:</a:t>
            </a:r>
            <a:br>
              <a:rPr lang="hu-HU" altLang="hu-HU" dirty="0"/>
            </a:br>
            <a:r>
              <a:rPr lang="en-US" altLang="hu-HU" dirty="0" err="1"/>
              <a:t>Naiv</a:t>
            </a:r>
            <a:r>
              <a:rPr lang="en-US" altLang="hu-HU" dirty="0"/>
              <a:t> Bayes estimation</a:t>
            </a:r>
          </a:p>
        </p:txBody>
      </p:sp>
      <p:graphicFrame>
        <p:nvGraphicFramePr>
          <p:cNvPr id="10243" name="Object 2">
            <a:hlinkClick r:id="rId2"/>
          </p:cNvPr>
          <p:cNvGraphicFramePr>
            <a:graphicFrameLocks noGrp="1" noChangeAspect="1"/>
          </p:cNvGraphicFramePr>
          <p:nvPr>
            <p:ph idx="4294967295"/>
            <p:extLst>
              <p:ext uri="{D42A27DB-BD31-4B8C-83A1-F6EECF244321}">
                <p14:modId xmlns:p14="http://schemas.microsoft.com/office/powerpoint/2010/main" val="2500468787"/>
              </p:ext>
            </p:extLst>
          </p:nvPr>
        </p:nvGraphicFramePr>
        <p:xfrm>
          <a:off x="841248" y="1739852"/>
          <a:ext cx="4794250" cy="4221162"/>
        </p:xfrm>
        <a:graphic>
          <a:graphicData uri="http://schemas.openxmlformats.org/presentationml/2006/ole">
            <mc:AlternateContent xmlns:mc="http://schemas.openxmlformats.org/markup-compatibility/2006">
              <mc:Choice xmlns:v="urn:schemas-microsoft-com:vml" Requires="v">
                <p:oleObj name="Equation" r:id="rId3" imgW="3403600" imgH="2997200" progId="Equation.3">
                  <p:embed/>
                </p:oleObj>
              </mc:Choice>
              <mc:Fallback>
                <p:oleObj name="Equation" r:id="rId3" imgW="3403600" imgH="2997200" progId="Equation.3">
                  <p:embed/>
                  <p:pic>
                    <p:nvPicPr>
                      <p:cNvPr id="10243"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1248" y="1739852"/>
                        <a:ext cx="4794250" cy="422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Szövegdoboz 1">
            <a:extLst>
              <a:ext uri="{FF2B5EF4-FFF2-40B4-BE49-F238E27FC236}">
                <a16:creationId xmlns:a16="http://schemas.microsoft.com/office/drawing/2014/main" id="{64781D3C-C328-4B24-B265-A3FA388D850E}"/>
              </a:ext>
            </a:extLst>
          </p:cNvPr>
          <p:cNvSpPr txBox="1"/>
          <p:nvPr/>
        </p:nvSpPr>
        <p:spPr>
          <a:xfrm>
            <a:off x="6096000" y="1499660"/>
            <a:ext cx="5041127" cy="1200329"/>
          </a:xfrm>
          <a:prstGeom prst="rect">
            <a:avLst/>
          </a:prstGeom>
          <a:noFill/>
        </p:spPr>
        <p:txBody>
          <a:bodyPr wrap="square" rtlCol="0">
            <a:spAutoFit/>
          </a:bodyPr>
          <a:lstStyle/>
          <a:p>
            <a:pPr marL="285750" indent="-285750">
              <a:buFont typeface="Arial" panose="020B0604020202020204" pitchFamily="34" charset="0"/>
              <a:buChar char="•"/>
            </a:pPr>
            <a:r>
              <a:rPr lang="en-US" dirty="0"/>
              <a:t>Rank clients by conditional </a:t>
            </a:r>
            <a:r>
              <a:rPr lang="en-US" i="1" dirty="0"/>
              <a:t>PD</a:t>
            </a:r>
            <a:endParaRPr lang="en-US" dirty="0"/>
          </a:p>
          <a:p>
            <a:pPr marL="285750" indent="-285750">
              <a:buFont typeface="Arial" panose="020B0604020202020204" pitchFamily="34" charset="0"/>
              <a:buChar char="•"/>
            </a:pPr>
            <a:r>
              <a:rPr lang="en-US" i="1" dirty="0"/>
              <a:t>p(.) </a:t>
            </a:r>
            <a:r>
              <a:rPr lang="en-US" dirty="0"/>
              <a:t>is the conditional PD under some </a:t>
            </a:r>
            <a:r>
              <a:rPr lang="en-US" i="1" dirty="0"/>
              <a:t>x</a:t>
            </a:r>
            <a:r>
              <a:rPr lang="en-US" dirty="0"/>
              <a:t> vector</a:t>
            </a:r>
          </a:p>
          <a:p>
            <a:pPr marL="285750" indent="-285750">
              <a:buFont typeface="Arial" panose="020B0604020202020204" pitchFamily="34" charset="0"/>
              <a:buChar char="•"/>
            </a:pPr>
            <a:r>
              <a:rPr lang="en-US" i="1" dirty="0"/>
              <a:t>n, N </a:t>
            </a:r>
            <a:r>
              <a:rPr lang="en-US" dirty="0"/>
              <a:t>cardinality of the relevant sets</a:t>
            </a:r>
          </a:p>
          <a:p>
            <a:pPr marL="285750" indent="-285750">
              <a:buFont typeface="Arial" panose="020B0604020202020204" pitchFamily="34" charset="0"/>
              <a:buChar char="•"/>
            </a:pPr>
            <a:r>
              <a:rPr lang="en-US" dirty="0"/>
              <a:t>define appropriate decision rules</a:t>
            </a:r>
          </a:p>
        </p:txBody>
      </p:sp>
      <p:sp>
        <p:nvSpPr>
          <p:cNvPr id="5" name="Dia számának helye 1">
            <a:extLst>
              <a:ext uri="{FF2B5EF4-FFF2-40B4-BE49-F238E27FC236}">
                <a16:creationId xmlns:a16="http://schemas.microsoft.com/office/drawing/2014/main" id="{15406922-16EC-4B53-B218-0889A7D94D1D}"/>
              </a:ext>
            </a:extLst>
          </p:cNvPr>
          <p:cNvSpPr>
            <a:spLocks noGrp="1"/>
          </p:cNvSpPr>
          <p:nvPr>
            <p:ph type="sldNum" sz="quarter" idx="12"/>
          </p:nvPr>
        </p:nvSpPr>
        <p:spPr>
          <a:xfrm>
            <a:off x="8610600" y="6356350"/>
            <a:ext cx="2743200" cy="365125"/>
          </a:xfrm>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8E3395-0D00-4997-A8B3-B5FC5B61BE62}"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en-US" b="0" i="0" u="none" strike="noStrike" kern="1200" cap="none" spc="0" normalizeH="0" baseline="0" dirty="0">
              <a:ln>
                <a:noFill/>
              </a:ln>
              <a:solidFill>
                <a:srgbClr val="898989"/>
              </a:solidFill>
              <a:effectLst/>
              <a:uLnTx/>
              <a:uFillTx/>
              <a:latin typeface="+mn-lt"/>
              <a:ea typeface="+mn-ea"/>
              <a:cs typeface="+mn-cs"/>
            </a:endParaRPr>
          </a:p>
        </p:txBody>
      </p:sp>
      <p:sp>
        <p:nvSpPr>
          <p:cNvPr id="3" name="Szövegdoboz 2">
            <a:extLst>
              <a:ext uri="{FF2B5EF4-FFF2-40B4-BE49-F238E27FC236}">
                <a16:creationId xmlns:a16="http://schemas.microsoft.com/office/drawing/2014/main" id="{000739E2-845E-B539-D534-2A654E0DF3C0}"/>
              </a:ext>
            </a:extLst>
          </p:cNvPr>
          <p:cNvSpPr txBox="1"/>
          <p:nvPr/>
        </p:nvSpPr>
        <p:spPr>
          <a:xfrm>
            <a:off x="6096000" y="5499536"/>
            <a:ext cx="2441276" cy="369332"/>
          </a:xfrm>
          <a:prstGeom prst="rect">
            <a:avLst/>
          </a:prstGeom>
          <a:noFill/>
          <a:ln>
            <a:solidFill>
              <a:srgbClr val="C00000"/>
            </a:solidFill>
          </a:ln>
        </p:spPr>
        <p:txBody>
          <a:bodyPr wrap="square" rtlCol="0">
            <a:spAutoFit/>
          </a:bodyPr>
          <a:lstStyle/>
          <a:p>
            <a:r>
              <a:rPr lang="hu-HU" dirty="0" err="1"/>
              <a:t>Weight</a:t>
            </a:r>
            <a:r>
              <a:rPr lang="hu-HU" dirty="0"/>
              <a:t> of </a:t>
            </a:r>
            <a:r>
              <a:rPr lang="hu-HU" dirty="0" err="1"/>
              <a:t>Evidence</a:t>
            </a:r>
            <a:endParaRPr lang="en-GB" dirty="0"/>
          </a:p>
        </p:txBody>
      </p:sp>
      <p:cxnSp>
        <p:nvCxnSpPr>
          <p:cNvPr id="6" name="Egyenes összekötő nyíllal 5">
            <a:extLst>
              <a:ext uri="{FF2B5EF4-FFF2-40B4-BE49-F238E27FC236}">
                <a16:creationId xmlns:a16="http://schemas.microsoft.com/office/drawing/2014/main" id="{AAC58AC7-48C0-42E1-7545-F8E105B9AF40}"/>
              </a:ext>
            </a:extLst>
          </p:cNvPr>
          <p:cNvCxnSpPr>
            <a:cxnSpLocks/>
            <a:stCxn id="3" idx="1"/>
          </p:cNvCxnSpPr>
          <p:nvPr/>
        </p:nvCxnSpPr>
        <p:spPr>
          <a:xfrm flipH="1" flipV="1">
            <a:off x="4304581" y="5253487"/>
            <a:ext cx="1791419" cy="43071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Szövegdoboz 9">
            <a:extLst>
              <a:ext uri="{FF2B5EF4-FFF2-40B4-BE49-F238E27FC236}">
                <a16:creationId xmlns:a16="http://schemas.microsoft.com/office/drawing/2014/main" id="{0E66632A-D853-8D70-005E-F49F9E2EB53F}"/>
              </a:ext>
            </a:extLst>
          </p:cNvPr>
          <p:cNvSpPr txBox="1"/>
          <p:nvPr/>
        </p:nvSpPr>
        <p:spPr>
          <a:xfrm>
            <a:off x="3812875" y="3614468"/>
            <a:ext cx="2441276" cy="369332"/>
          </a:xfrm>
          <a:prstGeom prst="rect">
            <a:avLst/>
          </a:prstGeom>
          <a:noFill/>
          <a:ln>
            <a:solidFill>
              <a:srgbClr val="C00000"/>
            </a:solidFill>
          </a:ln>
        </p:spPr>
        <p:txBody>
          <a:bodyPr wrap="square" rtlCol="0">
            <a:spAutoFit/>
          </a:bodyPr>
          <a:lstStyle/>
          <a:p>
            <a:r>
              <a:rPr lang="hu-HU" dirty="0"/>
              <a:t>Log-</a:t>
            </a:r>
            <a:r>
              <a:rPr lang="hu-HU" dirty="0" err="1"/>
              <a:t>odds</a:t>
            </a:r>
            <a:r>
              <a:rPr lang="hu-HU" dirty="0"/>
              <a:t> ratio</a:t>
            </a:r>
            <a:endParaRPr lang="en-GB" dirty="0"/>
          </a:p>
        </p:txBody>
      </p:sp>
      <p:cxnSp>
        <p:nvCxnSpPr>
          <p:cNvPr id="11" name="Egyenes összekötő nyíllal 10">
            <a:extLst>
              <a:ext uri="{FF2B5EF4-FFF2-40B4-BE49-F238E27FC236}">
                <a16:creationId xmlns:a16="http://schemas.microsoft.com/office/drawing/2014/main" id="{190810F8-C3A3-8655-AC47-8B8C8C39A168}"/>
              </a:ext>
            </a:extLst>
          </p:cNvPr>
          <p:cNvCxnSpPr>
            <a:cxnSpLocks/>
          </p:cNvCxnSpPr>
          <p:nvPr/>
        </p:nvCxnSpPr>
        <p:spPr>
          <a:xfrm flipH="1">
            <a:off x="1863306" y="3786996"/>
            <a:ext cx="1943818" cy="78760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Szövegdoboz 3">
            <a:extLst>
              <a:ext uri="{FF2B5EF4-FFF2-40B4-BE49-F238E27FC236}">
                <a16:creationId xmlns:a16="http://schemas.microsoft.com/office/drawing/2014/main" id="{02C6920A-142D-A8F1-B794-A2E9958EC221}"/>
              </a:ext>
            </a:extLst>
          </p:cNvPr>
          <p:cNvSpPr txBox="1"/>
          <p:nvPr/>
        </p:nvSpPr>
        <p:spPr>
          <a:xfrm>
            <a:off x="3700732" y="1673525"/>
            <a:ext cx="2311879" cy="369332"/>
          </a:xfrm>
          <a:prstGeom prst="rect">
            <a:avLst/>
          </a:prstGeom>
          <a:noFill/>
          <a:ln>
            <a:solidFill>
              <a:srgbClr val="C00000"/>
            </a:solidFill>
          </a:ln>
        </p:spPr>
        <p:txBody>
          <a:bodyPr wrap="square" rtlCol="0">
            <a:spAutoFit/>
          </a:bodyPr>
          <a:lstStyle/>
          <a:p>
            <a:r>
              <a:rPr lang="hu-HU" dirty="0" err="1"/>
              <a:t>Independence</a:t>
            </a:r>
            <a:endParaRPr lang="hu-HU" dirty="0"/>
          </a:p>
        </p:txBody>
      </p:sp>
      <p:cxnSp>
        <p:nvCxnSpPr>
          <p:cNvPr id="8" name="Egyenes összekötő nyíllal 7">
            <a:extLst>
              <a:ext uri="{FF2B5EF4-FFF2-40B4-BE49-F238E27FC236}">
                <a16:creationId xmlns:a16="http://schemas.microsoft.com/office/drawing/2014/main" id="{009EE713-0EF1-0203-500C-03634DC373BA}"/>
              </a:ext>
            </a:extLst>
          </p:cNvPr>
          <p:cNvCxnSpPr/>
          <p:nvPr/>
        </p:nvCxnSpPr>
        <p:spPr>
          <a:xfrm flipH="1">
            <a:off x="2544792" y="1846053"/>
            <a:ext cx="1155940" cy="19680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7335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hu-HU" dirty="0"/>
              <a:t>Monitoring</a:t>
            </a:r>
          </a:p>
        </p:txBody>
      </p:sp>
      <p:sp>
        <p:nvSpPr>
          <p:cNvPr id="23555" name="Rectangle 3"/>
          <p:cNvSpPr>
            <a:spLocks noGrp="1" noChangeArrowheads="1"/>
          </p:cNvSpPr>
          <p:nvPr>
            <p:ph type="body" idx="1"/>
          </p:nvPr>
        </p:nvSpPr>
        <p:spPr/>
        <p:txBody>
          <a:bodyPr/>
          <a:lstStyle/>
          <a:p>
            <a:pPr eaLnBrk="1" hangingPunct="1">
              <a:lnSpc>
                <a:spcPct val="90000"/>
              </a:lnSpc>
            </a:pPr>
            <a:r>
              <a:rPr lang="en-US" altLang="hu-HU" sz="2600"/>
              <a:t>Corporate monitoring: </a:t>
            </a:r>
          </a:p>
          <a:p>
            <a:pPr lvl="1"/>
            <a:r>
              <a:rPr lang="en-US" altLang="hu-HU" sz="2200"/>
              <a:t>Identify firms where something may go bad in the future</a:t>
            </a:r>
          </a:p>
          <a:p>
            <a:pPr lvl="2"/>
            <a:r>
              <a:rPr lang="en-US" altLang="hu-HU" sz="1800"/>
              <a:t>Continue financing, strengthen the covenants</a:t>
            </a:r>
          </a:p>
          <a:p>
            <a:pPr lvl="2"/>
            <a:r>
              <a:rPr lang="en-US" altLang="hu-HU" sz="1800"/>
              <a:t>Soft exit</a:t>
            </a:r>
          </a:p>
          <a:p>
            <a:pPr lvl="2"/>
            <a:r>
              <a:rPr lang="en-US" altLang="hu-HU" sz="1800"/>
              <a:t>Hard exit</a:t>
            </a:r>
          </a:p>
          <a:p>
            <a:pPr lvl="1"/>
            <a:r>
              <a:rPr lang="en-US" altLang="hu-HU" sz="2200"/>
              <a:t>Individual decisions</a:t>
            </a:r>
          </a:p>
          <a:p>
            <a:pPr eaLnBrk="1" hangingPunct="1">
              <a:lnSpc>
                <a:spcPct val="90000"/>
              </a:lnSpc>
            </a:pPr>
            <a:r>
              <a:rPr lang="en-US" altLang="hu-HU" sz="2600"/>
              <a:t>Retail monitoring</a:t>
            </a:r>
          </a:p>
          <a:p>
            <a:pPr lvl="1" eaLnBrk="1" hangingPunct="1">
              <a:lnSpc>
                <a:spcPct val="90000"/>
              </a:lnSpc>
            </a:pPr>
            <a:r>
              <a:rPr lang="en-US" altLang="hu-HU" sz="2200"/>
              <a:t>How do clients honor their debt service?</a:t>
            </a:r>
          </a:p>
          <a:p>
            <a:pPr lvl="1" eaLnBrk="1" hangingPunct="1">
              <a:lnSpc>
                <a:spcPct val="90000"/>
              </a:lnSpc>
            </a:pPr>
            <a:r>
              <a:rPr lang="en-US" altLang="hu-HU" sz="2200"/>
              <a:t>What is the payment behavior of clients?</a:t>
            </a:r>
          </a:p>
          <a:p>
            <a:pPr lvl="1" eaLnBrk="1" hangingPunct="1">
              <a:lnSpc>
                <a:spcPct val="90000"/>
              </a:lnSpc>
            </a:pPr>
            <a:r>
              <a:rPr lang="en-US" altLang="hu-HU" sz="2200"/>
              <a:t>Strong connection to CRM</a:t>
            </a:r>
          </a:p>
          <a:p>
            <a:pPr lvl="1" eaLnBrk="1" hangingPunct="1">
              <a:lnSpc>
                <a:spcPct val="90000"/>
              </a:lnSpc>
            </a:pPr>
            <a:r>
              <a:rPr lang="en-US" altLang="hu-HU" sz="2200"/>
              <a:t>Rule-based decisions</a:t>
            </a:r>
          </a:p>
        </p:txBody>
      </p:sp>
      <p:sp>
        <p:nvSpPr>
          <p:cNvPr id="4" name="Dia számának helye 1">
            <a:extLst>
              <a:ext uri="{FF2B5EF4-FFF2-40B4-BE49-F238E27FC236}">
                <a16:creationId xmlns:a16="http://schemas.microsoft.com/office/drawing/2014/main" id="{9C0A5A54-C1EE-4A0C-9E2D-87B2C8D72F85}"/>
              </a:ext>
            </a:extLst>
          </p:cNvPr>
          <p:cNvSpPr>
            <a:spLocks noGrp="1"/>
          </p:cNvSpPr>
          <p:nvPr>
            <p:ph type="sldNum" sz="quarter" idx="12"/>
          </p:nvPr>
        </p:nvSpPr>
        <p:spPr>
          <a:xfrm>
            <a:off x="8610600" y="6356350"/>
            <a:ext cx="2743200" cy="365125"/>
          </a:xfrm>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8E3395-0D00-4997-A8B3-B5FC5B61BE62}"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en-US" b="0" i="0" u="none" strike="noStrike" kern="1200" cap="none" spc="0" normalizeH="0" baseline="0" dirty="0">
              <a:ln>
                <a:noFill/>
              </a:ln>
              <a:solidFill>
                <a:srgbClr val="898989"/>
              </a:solidFill>
              <a:effectLst/>
              <a:uLnTx/>
              <a:uFillTx/>
              <a:latin typeface="+mn-lt"/>
              <a:ea typeface="+mn-ea"/>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4FD08F23-7A71-4675-9819-44C62DAAB0E0}"/>
              </a:ext>
            </a:extLst>
          </p:cNvPr>
          <p:cNvSpPr>
            <a:spLocks noGrp="1"/>
          </p:cNvSpPr>
          <p:nvPr>
            <p:ph type="title"/>
          </p:nvPr>
        </p:nvSpPr>
        <p:spPr>
          <a:xfrm>
            <a:off x="841248" y="365760"/>
            <a:ext cx="10515600" cy="813816"/>
          </a:xfrm>
        </p:spPr>
        <p:txBody>
          <a:bodyPr>
            <a:noAutofit/>
          </a:bodyPr>
          <a:lstStyle/>
          <a:p>
            <a:pPr>
              <a:lnSpc>
                <a:spcPct val="70000"/>
              </a:lnSpc>
            </a:pPr>
            <a:r>
              <a:rPr lang="en-US" dirty="0"/>
              <a:t>Payment systems: concepts and the legal framework</a:t>
            </a:r>
          </a:p>
        </p:txBody>
      </p:sp>
      <p:sp>
        <p:nvSpPr>
          <p:cNvPr id="3" name="Szöveg helye 2">
            <a:extLst>
              <a:ext uri="{FF2B5EF4-FFF2-40B4-BE49-F238E27FC236}">
                <a16:creationId xmlns:a16="http://schemas.microsoft.com/office/drawing/2014/main" id="{5016FEF9-1C61-48A8-91A1-59DB087E5B29}"/>
              </a:ext>
            </a:extLst>
          </p:cNvPr>
          <p:cNvSpPr>
            <a:spLocks noGrp="1"/>
          </p:cNvSpPr>
          <p:nvPr>
            <p:ph type="body" sz="half" idx="1"/>
          </p:nvPr>
        </p:nvSpPr>
        <p:spPr>
          <a:xfrm>
            <a:off x="838200" y="1307592"/>
            <a:ext cx="10515600" cy="5105399"/>
          </a:xfrm>
        </p:spPr>
        <p:txBody>
          <a:bodyPr>
            <a:normAutofit lnSpcReduction="10000"/>
          </a:bodyPr>
          <a:lstStyle/>
          <a:p>
            <a:r>
              <a:rPr lang="hu-HU" sz="2000" dirty="0" err="1"/>
              <a:t>Payment</a:t>
            </a:r>
            <a:r>
              <a:rPr lang="hu-HU" sz="2000" dirty="0"/>
              <a:t>: </a:t>
            </a:r>
            <a:r>
              <a:rPr lang="hu-HU" sz="2000" dirty="0" err="1"/>
              <a:t>Transfer</a:t>
            </a:r>
            <a:r>
              <a:rPr lang="hu-HU" sz="2000" dirty="0"/>
              <a:t> of </a:t>
            </a:r>
            <a:r>
              <a:rPr lang="hu-HU" sz="2000" dirty="0" err="1"/>
              <a:t>value</a:t>
            </a:r>
            <a:r>
              <a:rPr lang="hu-HU" sz="2000" dirty="0"/>
              <a:t> </a:t>
            </a:r>
            <a:r>
              <a:rPr lang="hu-HU" sz="2000" dirty="0" err="1"/>
              <a:t>between</a:t>
            </a:r>
            <a:r>
              <a:rPr lang="hu-HU" sz="2000" dirty="0"/>
              <a:t> </a:t>
            </a:r>
            <a:r>
              <a:rPr lang="hu-HU" sz="2000" dirty="0" err="1"/>
              <a:t>sender</a:t>
            </a:r>
            <a:r>
              <a:rPr lang="hu-HU" sz="2000" dirty="0"/>
              <a:t> (</a:t>
            </a:r>
            <a:r>
              <a:rPr lang="hu-HU" sz="2000" dirty="0" err="1"/>
              <a:t>payer</a:t>
            </a:r>
            <a:r>
              <a:rPr lang="hu-HU" sz="2000" dirty="0"/>
              <a:t>) and </a:t>
            </a:r>
            <a:r>
              <a:rPr lang="hu-HU" sz="2000" dirty="0" err="1"/>
              <a:t>receiver</a:t>
            </a:r>
            <a:r>
              <a:rPr lang="hu-HU" sz="2000" dirty="0"/>
              <a:t> (</a:t>
            </a:r>
            <a:r>
              <a:rPr lang="hu-HU" sz="2000" dirty="0" err="1"/>
              <a:t>payee</a:t>
            </a:r>
            <a:r>
              <a:rPr lang="hu-HU" sz="2000" dirty="0"/>
              <a:t>)</a:t>
            </a:r>
          </a:p>
          <a:p>
            <a:r>
              <a:rPr lang="en-US" sz="2000" dirty="0"/>
              <a:t>Standardized messages between economic actors on different software and hardware platforms </a:t>
            </a:r>
          </a:p>
          <a:p>
            <a:r>
              <a:rPr lang="hu-HU" sz="2000" dirty="0"/>
              <a:t>Open-</a:t>
            </a:r>
            <a:r>
              <a:rPr lang="hu-HU" sz="2000" dirty="0" err="1"/>
              <a:t>loop</a:t>
            </a:r>
            <a:r>
              <a:rPr lang="hu-HU" sz="2000" dirty="0"/>
              <a:t> </a:t>
            </a:r>
            <a:r>
              <a:rPr lang="hu-HU" sz="2000" dirty="0" err="1"/>
              <a:t>vs</a:t>
            </a:r>
            <a:r>
              <a:rPr lang="hu-HU" sz="2000" dirty="0"/>
              <a:t> </a:t>
            </a:r>
            <a:r>
              <a:rPr lang="hu-HU" sz="2000" dirty="0" err="1"/>
              <a:t>closed-loop</a:t>
            </a:r>
            <a:r>
              <a:rPr lang="hu-HU" sz="2000" dirty="0"/>
              <a:t> </a:t>
            </a:r>
            <a:r>
              <a:rPr lang="hu-HU" sz="2000" dirty="0" err="1"/>
              <a:t>systems</a:t>
            </a:r>
            <a:endParaRPr lang="hu-HU" sz="2000" dirty="0"/>
          </a:p>
          <a:p>
            <a:r>
              <a:rPr lang="en-US" sz="2000" dirty="0"/>
              <a:t>Push vs pull transactions</a:t>
            </a:r>
          </a:p>
          <a:p>
            <a:r>
              <a:rPr lang="en-US" sz="2000" dirty="0"/>
              <a:t>On-us vs off-us transactions</a:t>
            </a:r>
          </a:p>
          <a:p>
            <a:r>
              <a:rPr lang="en-US" sz="2000" dirty="0"/>
              <a:t>Payment Service Directive I. - 2007</a:t>
            </a:r>
          </a:p>
          <a:p>
            <a:pPr lvl="1"/>
            <a:r>
              <a:rPr lang="en-US" sz="2000" dirty="0"/>
              <a:t>Payment service provider</a:t>
            </a:r>
          </a:p>
          <a:p>
            <a:pPr lvl="1"/>
            <a:r>
              <a:rPr lang="en-US" sz="2000" dirty="0"/>
              <a:t>Single European Payment Area - SEPA</a:t>
            </a:r>
          </a:p>
          <a:p>
            <a:r>
              <a:rPr lang="en-US" sz="2000" dirty="0"/>
              <a:t>Payment Accounts Directive – 2014</a:t>
            </a:r>
          </a:p>
          <a:p>
            <a:pPr lvl="1"/>
            <a:r>
              <a:rPr lang="en-US" sz="2000" dirty="0"/>
              <a:t>Transparency and comparability</a:t>
            </a:r>
          </a:p>
          <a:p>
            <a:r>
              <a:rPr lang="en-US" sz="2000" dirty="0"/>
              <a:t>Payment Service Directive II. – 2015 -&gt; 2019</a:t>
            </a:r>
          </a:p>
          <a:p>
            <a:pPr lvl="1"/>
            <a:r>
              <a:rPr lang="en-US" sz="2000" dirty="0"/>
              <a:t>2-factor authentication</a:t>
            </a:r>
          </a:p>
          <a:p>
            <a:pPr lvl="1"/>
            <a:r>
              <a:rPr lang="en-US" sz="2000" dirty="0"/>
              <a:t>Payment initiation service provider</a:t>
            </a:r>
          </a:p>
          <a:p>
            <a:pPr lvl="1"/>
            <a:r>
              <a:rPr lang="en-US" sz="2000" dirty="0"/>
              <a:t>Account information service provider</a:t>
            </a:r>
          </a:p>
          <a:p>
            <a:pPr lvl="1"/>
            <a:r>
              <a:rPr lang="en-US" sz="2000" dirty="0"/>
              <a:t>Open API</a:t>
            </a:r>
          </a:p>
          <a:p>
            <a:pPr lvl="1"/>
            <a:endParaRPr lang="en-US" dirty="0"/>
          </a:p>
        </p:txBody>
      </p:sp>
      <p:sp>
        <p:nvSpPr>
          <p:cNvPr id="5" name="Dia számának helye 4">
            <a:extLst>
              <a:ext uri="{FF2B5EF4-FFF2-40B4-BE49-F238E27FC236}">
                <a16:creationId xmlns:a16="http://schemas.microsoft.com/office/drawing/2014/main" id="{CDEF3253-4D51-4EEA-9EE5-C244B0B5B52C}"/>
              </a:ext>
            </a:extLst>
          </p:cNvPr>
          <p:cNvSpPr>
            <a:spLocks noGrp="1"/>
          </p:cNvSpPr>
          <p:nvPr>
            <p:ph type="sldNum" sz="quarter" idx="12"/>
          </p:nvPr>
        </p:nvSpPr>
        <p:spPr/>
        <p:txBody>
          <a:bodyPr/>
          <a:lstStyle/>
          <a:p>
            <a:pPr>
              <a:defRPr/>
            </a:pPr>
            <a:fld id="{E52334D2-4709-4933-A4D9-1F229B4A5AF2}" type="slidenum">
              <a:rPr lang="en-US" altLang="en-US" smtClean="0"/>
              <a:pPr>
                <a:defRPr/>
              </a:pPr>
              <a:t>42</a:t>
            </a:fld>
            <a:endParaRPr lang="en-US" altLang="en-US"/>
          </a:p>
        </p:txBody>
      </p:sp>
    </p:spTree>
    <p:extLst>
      <p:ext uri="{BB962C8B-B14F-4D97-AF65-F5344CB8AC3E}">
        <p14:creationId xmlns:p14="http://schemas.microsoft.com/office/powerpoint/2010/main" val="18328848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E69A5F8-71B9-4851-A82F-DA5334B37792}"/>
              </a:ext>
            </a:extLst>
          </p:cNvPr>
          <p:cNvSpPr>
            <a:spLocks noGrp="1"/>
          </p:cNvSpPr>
          <p:nvPr>
            <p:ph type="title"/>
          </p:nvPr>
        </p:nvSpPr>
        <p:spPr>
          <a:xfrm>
            <a:off x="841248" y="365760"/>
            <a:ext cx="10515600" cy="813816"/>
          </a:xfrm>
        </p:spPr>
        <p:txBody>
          <a:bodyPr>
            <a:normAutofit/>
          </a:bodyPr>
          <a:lstStyle/>
          <a:p>
            <a:r>
              <a:rPr lang="hu-HU" sz="3600" dirty="0" err="1"/>
              <a:t>Core</a:t>
            </a:r>
            <a:r>
              <a:rPr lang="hu-HU" sz="3600" dirty="0"/>
              <a:t> </a:t>
            </a:r>
            <a:r>
              <a:rPr lang="en-US" sz="3600" dirty="0"/>
              <a:t>Payment systems</a:t>
            </a:r>
          </a:p>
        </p:txBody>
      </p:sp>
      <p:sp>
        <p:nvSpPr>
          <p:cNvPr id="3" name="Szöveg helye 2">
            <a:extLst>
              <a:ext uri="{FF2B5EF4-FFF2-40B4-BE49-F238E27FC236}">
                <a16:creationId xmlns:a16="http://schemas.microsoft.com/office/drawing/2014/main" id="{6C7C18F4-F524-4FEA-BA4E-1739FDFB4B27}"/>
              </a:ext>
            </a:extLst>
          </p:cNvPr>
          <p:cNvSpPr>
            <a:spLocks noGrp="1"/>
          </p:cNvSpPr>
          <p:nvPr>
            <p:ph type="body" sz="half" idx="1"/>
          </p:nvPr>
        </p:nvSpPr>
        <p:spPr>
          <a:xfrm>
            <a:off x="841248" y="1251207"/>
            <a:ext cx="10972800" cy="2466778"/>
          </a:xfrm>
        </p:spPr>
        <p:txBody>
          <a:bodyPr>
            <a:normAutofit/>
          </a:bodyPr>
          <a:lstStyle/>
          <a:p>
            <a:r>
              <a:rPr lang="en-US" sz="2400" dirty="0"/>
              <a:t>Cash -&gt; Central Bank Digital Currency</a:t>
            </a:r>
          </a:p>
          <a:p>
            <a:r>
              <a:rPr lang="en-US" sz="2400" dirty="0"/>
              <a:t>Check -&gt; PEK</a:t>
            </a:r>
          </a:p>
          <a:p>
            <a:r>
              <a:rPr lang="en-US" sz="2400" dirty="0"/>
              <a:t>Automated Clearing House (ACH) -&gt; BKR, GIRO</a:t>
            </a:r>
          </a:p>
          <a:p>
            <a:r>
              <a:rPr lang="en-US" sz="2400" dirty="0"/>
              <a:t>Wire transfer -&gt; SWIFT, telex</a:t>
            </a:r>
          </a:p>
          <a:p>
            <a:r>
              <a:rPr lang="en-US" sz="2400" dirty="0"/>
              <a:t>Card -&gt; MasterCard, Visa</a:t>
            </a:r>
          </a:p>
          <a:p>
            <a:endParaRPr lang="en-US" dirty="0"/>
          </a:p>
        </p:txBody>
      </p:sp>
      <p:sp>
        <p:nvSpPr>
          <p:cNvPr id="5" name="Dia számának helye 4">
            <a:extLst>
              <a:ext uri="{FF2B5EF4-FFF2-40B4-BE49-F238E27FC236}">
                <a16:creationId xmlns:a16="http://schemas.microsoft.com/office/drawing/2014/main" id="{AE2F5358-E680-431D-B176-C48D2FFAC965}"/>
              </a:ext>
            </a:extLst>
          </p:cNvPr>
          <p:cNvSpPr>
            <a:spLocks noGrp="1"/>
          </p:cNvSpPr>
          <p:nvPr>
            <p:ph type="sldNum" sz="quarter" idx="12"/>
          </p:nvPr>
        </p:nvSpPr>
        <p:spPr/>
        <p:txBody>
          <a:bodyPr/>
          <a:lstStyle/>
          <a:p>
            <a:pPr>
              <a:defRPr/>
            </a:pPr>
            <a:fld id="{E52334D2-4709-4933-A4D9-1F229B4A5AF2}" type="slidenum">
              <a:rPr lang="en-US" altLang="en-US" smtClean="0"/>
              <a:pPr>
                <a:defRPr/>
              </a:pPr>
              <a:t>43</a:t>
            </a:fld>
            <a:endParaRPr lang="en-US" altLang="en-US"/>
          </a:p>
        </p:txBody>
      </p:sp>
      <p:sp>
        <p:nvSpPr>
          <p:cNvPr id="4" name="Cím 1">
            <a:extLst>
              <a:ext uri="{FF2B5EF4-FFF2-40B4-BE49-F238E27FC236}">
                <a16:creationId xmlns:a16="http://schemas.microsoft.com/office/drawing/2014/main" id="{D9EB1412-6D2C-B4D4-E34D-289E868F5785}"/>
              </a:ext>
            </a:extLst>
          </p:cNvPr>
          <p:cNvSpPr txBox="1">
            <a:spLocks/>
          </p:cNvSpPr>
          <p:nvPr/>
        </p:nvSpPr>
        <p:spPr>
          <a:xfrm>
            <a:off x="835152" y="3571911"/>
            <a:ext cx="10515600" cy="8138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hu-HU" sz="3600" dirty="0" err="1"/>
              <a:t>Examples</a:t>
            </a:r>
            <a:r>
              <a:rPr lang="hu-HU" sz="3600" dirty="0"/>
              <a:t> </a:t>
            </a:r>
            <a:r>
              <a:rPr lang="hu-HU" sz="3600" dirty="0" err="1"/>
              <a:t>for</a:t>
            </a:r>
            <a:r>
              <a:rPr lang="hu-HU" sz="3600" dirty="0"/>
              <a:t> </a:t>
            </a:r>
            <a:r>
              <a:rPr lang="hu-HU" sz="3600" dirty="0" err="1"/>
              <a:t>basic</a:t>
            </a:r>
            <a:r>
              <a:rPr lang="hu-HU" sz="3600" dirty="0"/>
              <a:t> </a:t>
            </a:r>
            <a:r>
              <a:rPr lang="hu-HU" sz="3600" dirty="0" err="1"/>
              <a:t>transactions</a:t>
            </a:r>
            <a:endParaRPr lang="en-US" sz="3600" dirty="0"/>
          </a:p>
        </p:txBody>
      </p:sp>
      <p:sp>
        <p:nvSpPr>
          <p:cNvPr id="6" name="Szöveg helye 2">
            <a:extLst>
              <a:ext uri="{FF2B5EF4-FFF2-40B4-BE49-F238E27FC236}">
                <a16:creationId xmlns:a16="http://schemas.microsoft.com/office/drawing/2014/main" id="{FDBA20E9-373D-8927-FAF1-2F2324BFDD3C}"/>
              </a:ext>
            </a:extLst>
          </p:cNvPr>
          <p:cNvSpPr txBox="1">
            <a:spLocks/>
          </p:cNvSpPr>
          <p:nvPr/>
        </p:nvSpPr>
        <p:spPr>
          <a:xfrm>
            <a:off x="831011" y="4520242"/>
            <a:ext cx="10972800" cy="22578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hu-HU" sz="2400" dirty="0" err="1"/>
              <a:t>Payment</a:t>
            </a:r>
            <a:r>
              <a:rPr lang="hu-HU" sz="2400" dirty="0"/>
              <a:t> </a:t>
            </a:r>
            <a:r>
              <a:rPr lang="hu-HU" sz="2400" dirty="0" err="1"/>
              <a:t>or</a:t>
            </a:r>
            <a:r>
              <a:rPr lang="hu-HU" sz="2400" dirty="0"/>
              <a:t> </a:t>
            </a:r>
            <a:r>
              <a:rPr lang="hu-HU" sz="2400" dirty="0" err="1"/>
              <a:t>transfer</a:t>
            </a:r>
            <a:r>
              <a:rPr lang="hu-HU" sz="2400" dirty="0"/>
              <a:t> </a:t>
            </a:r>
            <a:r>
              <a:rPr lang="hu-HU" sz="2400" dirty="0" err="1"/>
              <a:t>order</a:t>
            </a:r>
            <a:r>
              <a:rPr lang="hu-HU" sz="2400" dirty="0"/>
              <a:t> (átutalási megbízás)</a:t>
            </a:r>
            <a:endParaRPr lang="en-US" sz="2400" dirty="0"/>
          </a:p>
          <a:p>
            <a:r>
              <a:rPr lang="hu-HU" sz="2400" dirty="0" err="1"/>
              <a:t>Direct</a:t>
            </a:r>
            <a:r>
              <a:rPr lang="hu-HU" sz="2400" dirty="0"/>
              <a:t> </a:t>
            </a:r>
            <a:r>
              <a:rPr lang="hu-HU" sz="2400" dirty="0" err="1"/>
              <a:t>debit</a:t>
            </a:r>
            <a:r>
              <a:rPr lang="hu-HU" sz="2400" dirty="0"/>
              <a:t> (beszedési megbízás)</a:t>
            </a:r>
            <a:endParaRPr lang="en-US" sz="2400" dirty="0"/>
          </a:p>
          <a:p>
            <a:r>
              <a:rPr lang="hu-HU" sz="2400" dirty="0" err="1"/>
              <a:t>Warrant</a:t>
            </a:r>
            <a:r>
              <a:rPr lang="hu-HU" sz="2400" dirty="0"/>
              <a:t> </a:t>
            </a:r>
            <a:r>
              <a:rPr lang="hu-HU" sz="2400" dirty="0" err="1"/>
              <a:t>for</a:t>
            </a:r>
            <a:r>
              <a:rPr lang="hu-HU" sz="2400" dirty="0"/>
              <a:t> </a:t>
            </a:r>
            <a:r>
              <a:rPr lang="hu-HU" sz="2400" dirty="0" err="1"/>
              <a:t>payment</a:t>
            </a:r>
            <a:r>
              <a:rPr lang="hu-HU" sz="2400" dirty="0"/>
              <a:t> (fizetési meghagyás)</a:t>
            </a:r>
          </a:p>
          <a:p>
            <a:r>
              <a:rPr lang="hu-HU" sz="2400" dirty="0" err="1"/>
              <a:t>Request</a:t>
            </a:r>
            <a:r>
              <a:rPr lang="hu-HU" sz="2400" dirty="0"/>
              <a:t> </a:t>
            </a:r>
            <a:r>
              <a:rPr lang="hu-HU" sz="2400" dirty="0" err="1"/>
              <a:t>for</a:t>
            </a:r>
            <a:r>
              <a:rPr lang="hu-HU" sz="2400" dirty="0"/>
              <a:t> </a:t>
            </a:r>
            <a:r>
              <a:rPr lang="hu-HU" sz="2400" dirty="0" err="1"/>
              <a:t>payment</a:t>
            </a:r>
            <a:r>
              <a:rPr lang="hu-HU" sz="2400" dirty="0"/>
              <a:t> (fizetési kérelem)</a:t>
            </a:r>
          </a:p>
          <a:p>
            <a:endParaRPr lang="en-US" sz="2400" dirty="0"/>
          </a:p>
          <a:p>
            <a:endParaRPr lang="en-US" dirty="0"/>
          </a:p>
        </p:txBody>
      </p:sp>
    </p:spTree>
    <p:extLst>
      <p:ext uri="{BB962C8B-B14F-4D97-AF65-F5344CB8AC3E}">
        <p14:creationId xmlns:p14="http://schemas.microsoft.com/office/powerpoint/2010/main" val="26547202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A91CD06-9702-4E72-A27C-8EDF808D3941}"/>
              </a:ext>
            </a:extLst>
          </p:cNvPr>
          <p:cNvSpPr>
            <a:spLocks noGrp="1"/>
          </p:cNvSpPr>
          <p:nvPr>
            <p:ph type="title"/>
          </p:nvPr>
        </p:nvSpPr>
        <p:spPr>
          <a:xfrm>
            <a:off x="841248" y="365760"/>
            <a:ext cx="10515600" cy="813816"/>
          </a:xfrm>
        </p:spPr>
        <p:txBody>
          <a:bodyPr/>
          <a:lstStyle/>
          <a:p>
            <a:r>
              <a:rPr lang="en-US" dirty="0"/>
              <a:t>Elements of payment systems (open-loop)</a:t>
            </a:r>
          </a:p>
        </p:txBody>
      </p:sp>
      <p:sp>
        <p:nvSpPr>
          <p:cNvPr id="5" name="Dia számának helye 4">
            <a:extLst>
              <a:ext uri="{FF2B5EF4-FFF2-40B4-BE49-F238E27FC236}">
                <a16:creationId xmlns:a16="http://schemas.microsoft.com/office/drawing/2014/main" id="{2E8E7DA5-22BE-48D7-AC6E-3CBDEA154EFF}"/>
              </a:ext>
            </a:extLst>
          </p:cNvPr>
          <p:cNvSpPr>
            <a:spLocks noGrp="1"/>
          </p:cNvSpPr>
          <p:nvPr>
            <p:ph type="sldNum" sz="quarter" idx="12"/>
          </p:nvPr>
        </p:nvSpPr>
        <p:spPr/>
        <p:txBody>
          <a:bodyPr/>
          <a:lstStyle/>
          <a:p>
            <a:pPr>
              <a:defRPr/>
            </a:pPr>
            <a:fld id="{E52334D2-4709-4933-A4D9-1F229B4A5AF2}" type="slidenum">
              <a:rPr lang="en-US" altLang="en-US" smtClean="0"/>
              <a:pPr>
                <a:defRPr/>
              </a:pPr>
              <a:t>44</a:t>
            </a:fld>
            <a:endParaRPr lang="en-US" altLang="en-US"/>
          </a:p>
        </p:txBody>
      </p:sp>
      <p:sp>
        <p:nvSpPr>
          <p:cNvPr id="6" name="Ellipszis 5">
            <a:extLst>
              <a:ext uri="{FF2B5EF4-FFF2-40B4-BE49-F238E27FC236}">
                <a16:creationId xmlns:a16="http://schemas.microsoft.com/office/drawing/2014/main" id="{83104FDD-BEEE-4354-8350-29BDCB5F0330}"/>
              </a:ext>
            </a:extLst>
          </p:cNvPr>
          <p:cNvSpPr/>
          <p:nvPr/>
        </p:nvSpPr>
        <p:spPr>
          <a:xfrm>
            <a:off x="1445547" y="1901283"/>
            <a:ext cx="318052" cy="302150"/>
          </a:xfrm>
          <a:prstGeom prst="ellipse">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8" name="Ellipszis 7">
            <a:extLst>
              <a:ext uri="{FF2B5EF4-FFF2-40B4-BE49-F238E27FC236}">
                <a16:creationId xmlns:a16="http://schemas.microsoft.com/office/drawing/2014/main" id="{A1B837D1-2F7A-4154-A923-9F5CF401B429}"/>
              </a:ext>
            </a:extLst>
          </p:cNvPr>
          <p:cNvSpPr/>
          <p:nvPr/>
        </p:nvSpPr>
        <p:spPr>
          <a:xfrm>
            <a:off x="1445547" y="2452574"/>
            <a:ext cx="318052" cy="302150"/>
          </a:xfrm>
          <a:prstGeom prst="ellipse">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10" name="Ellipszis 9">
            <a:extLst>
              <a:ext uri="{FF2B5EF4-FFF2-40B4-BE49-F238E27FC236}">
                <a16:creationId xmlns:a16="http://schemas.microsoft.com/office/drawing/2014/main" id="{F0F3B058-4980-4985-B24A-54CE7CB96434}"/>
              </a:ext>
            </a:extLst>
          </p:cNvPr>
          <p:cNvSpPr/>
          <p:nvPr/>
        </p:nvSpPr>
        <p:spPr>
          <a:xfrm>
            <a:off x="1445547" y="3086517"/>
            <a:ext cx="318052" cy="302150"/>
          </a:xfrm>
          <a:prstGeom prst="ellipse">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12" name="Ellipszis 11">
            <a:extLst>
              <a:ext uri="{FF2B5EF4-FFF2-40B4-BE49-F238E27FC236}">
                <a16:creationId xmlns:a16="http://schemas.microsoft.com/office/drawing/2014/main" id="{12C8BB05-1DED-475C-B5EA-568D53FCC944}"/>
              </a:ext>
            </a:extLst>
          </p:cNvPr>
          <p:cNvSpPr/>
          <p:nvPr/>
        </p:nvSpPr>
        <p:spPr>
          <a:xfrm>
            <a:off x="1445547" y="3734201"/>
            <a:ext cx="318052" cy="302150"/>
          </a:xfrm>
          <a:prstGeom prst="ellipse">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14" name="Ellipszis 13">
            <a:extLst>
              <a:ext uri="{FF2B5EF4-FFF2-40B4-BE49-F238E27FC236}">
                <a16:creationId xmlns:a16="http://schemas.microsoft.com/office/drawing/2014/main" id="{7682F329-33A1-4DAA-831A-D0E25EC27883}"/>
              </a:ext>
            </a:extLst>
          </p:cNvPr>
          <p:cNvSpPr/>
          <p:nvPr/>
        </p:nvSpPr>
        <p:spPr>
          <a:xfrm>
            <a:off x="1445547" y="4504010"/>
            <a:ext cx="318052" cy="302150"/>
          </a:xfrm>
          <a:prstGeom prst="ellipse">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15" name="Szövegdoboz 14">
            <a:extLst>
              <a:ext uri="{FF2B5EF4-FFF2-40B4-BE49-F238E27FC236}">
                <a16:creationId xmlns:a16="http://schemas.microsoft.com/office/drawing/2014/main" id="{35BDC8A7-77E8-41E4-A731-0393E725A342}"/>
              </a:ext>
            </a:extLst>
          </p:cNvPr>
          <p:cNvSpPr txBox="1"/>
          <p:nvPr/>
        </p:nvSpPr>
        <p:spPr>
          <a:xfrm>
            <a:off x="841248" y="5050000"/>
            <a:ext cx="2258170" cy="523220"/>
          </a:xfrm>
          <a:prstGeom prst="rect">
            <a:avLst/>
          </a:prstGeom>
          <a:noFill/>
        </p:spPr>
        <p:txBody>
          <a:bodyPr wrap="square" rtlCol="0">
            <a:spAutoFit/>
          </a:bodyPr>
          <a:lstStyle/>
          <a:p>
            <a:r>
              <a:rPr lang="en-US" sz="1400" dirty="0"/>
              <a:t>Transactions of payment service providers</a:t>
            </a:r>
          </a:p>
        </p:txBody>
      </p:sp>
      <p:sp>
        <p:nvSpPr>
          <p:cNvPr id="17" name="Ellipszis 16">
            <a:extLst>
              <a:ext uri="{FF2B5EF4-FFF2-40B4-BE49-F238E27FC236}">
                <a16:creationId xmlns:a16="http://schemas.microsoft.com/office/drawing/2014/main" id="{AA07831D-216E-4718-AA8A-682F8647F197}"/>
              </a:ext>
            </a:extLst>
          </p:cNvPr>
          <p:cNvSpPr/>
          <p:nvPr/>
        </p:nvSpPr>
        <p:spPr>
          <a:xfrm>
            <a:off x="4126462" y="2278206"/>
            <a:ext cx="318052" cy="302150"/>
          </a:xfrm>
          <a:prstGeom prst="ellipse">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19" name="Ellipszis 18">
            <a:extLst>
              <a:ext uri="{FF2B5EF4-FFF2-40B4-BE49-F238E27FC236}">
                <a16:creationId xmlns:a16="http://schemas.microsoft.com/office/drawing/2014/main" id="{1FA1D312-E3FF-4BF6-8B99-538304CE44F4}"/>
              </a:ext>
            </a:extLst>
          </p:cNvPr>
          <p:cNvSpPr/>
          <p:nvPr/>
        </p:nvSpPr>
        <p:spPr>
          <a:xfrm>
            <a:off x="4126462" y="3479653"/>
            <a:ext cx="318052" cy="302150"/>
          </a:xfrm>
          <a:prstGeom prst="ellipse">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22" name="Szövegdoboz 21">
            <a:extLst>
              <a:ext uri="{FF2B5EF4-FFF2-40B4-BE49-F238E27FC236}">
                <a16:creationId xmlns:a16="http://schemas.microsoft.com/office/drawing/2014/main" id="{8BF5A3A6-455D-403E-AD62-AA0B272F8122}"/>
              </a:ext>
            </a:extLst>
          </p:cNvPr>
          <p:cNvSpPr txBox="1"/>
          <p:nvPr/>
        </p:nvSpPr>
        <p:spPr>
          <a:xfrm>
            <a:off x="3584448" y="5050000"/>
            <a:ext cx="1717481" cy="523220"/>
          </a:xfrm>
          <a:prstGeom prst="rect">
            <a:avLst/>
          </a:prstGeom>
          <a:noFill/>
        </p:spPr>
        <p:txBody>
          <a:bodyPr wrap="square" rtlCol="0">
            <a:spAutoFit/>
          </a:bodyPr>
          <a:lstStyle/>
          <a:p>
            <a:r>
              <a:rPr lang="en-US" sz="1400" dirty="0"/>
              <a:t>Financial institutions</a:t>
            </a:r>
            <a:endParaRPr lang="hu-HU" sz="1400" dirty="0"/>
          </a:p>
          <a:p>
            <a:r>
              <a:rPr lang="hu-HU" sz="1400" dirty="0"/>
              <a:t>(</a:t>
            </a:r>
            <a:r>
              <a:rPr lang="hu-HU" sz="1400" dirty="0" err="1"/>
              <a:t>intermediaries</a:t>
            </a:r>
            <a:r>
              <a:rPr lang="hu-HU" sz="1400" dirty="0"/>
              <a:t>)</a:t>
            </a:r>
            <a:endParaRPr lang="en-US" sz="1400" dirty="0"/>
          </a:p>
        </p:txBody>
      </p:sp>
      <p:sp>
        <p:nvSpPr>
          <p:cNvPr id="24" name="Ellipszis 23">
            <a:extLst>
              <a:ext uri="{FF2B5EF4-FFF2-40B4-BE49-F238E27FC236}">
                <a16:creationId xmlns:a16="http://schemas.microsoft.com/office/drawing/2014/main" id="{2E2165F9-AF29-4E38-9944-2E63D430BF86}"/>
              </a:ext>
            </a:extLst>
          </p:cNvPr>
          <p:cNvSpPr/>
          <p:nvPr/>
        </p:nvSpPr>
        <p:spPr>
          <a:xfrm>
            <a:off x="7133380" y="2681665"/>
            <a:ext cx="318052" cy="302150"/>
          </a:xfrm>
          <a:prstGeom prst="ellipse">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26" name="Ellipszis 25">
            <a:extLst>
              <a:ext uri="{FF2B5EF4-FFF2-40B4-BE49-F238E27FC236}">
                <a16:creationId xmlns:a16="http://schemas.microsoft.com/office/drawing/2014/main" id="{7FA99A83-280E-4B02-A7E5-9EABA9EECBF4}"/>
              </a:ext>
            </a:extLst>
          </p:cNvPr>
          <p:cNvSpPr/>
          <p:nvPr/>
        </p:nvSpPr>
        <p:spPr>
          <a:xfrm>
            <a:off x="4126462" y="2899154"/>
            <a:ext cx="318052" cy="302150"/>
          </a:xfrm>
          <a:prstGeom prst="ellipse">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28" name="Ellipszis 27">
            <a:extLst>
              <a:ext uri="{FF2B5EF4-FFF2-40B4-BE49-F238E27FC236}">
                <a16:creationId xmlns:a16="http://schemas.microsoft.com/office/drawing/2014/main" id="{62239939-4828-491D-85DF-47E85A0EDAA4}"/>
              </a:ext>
            </a:extLst>
          </p:cNvPr>
          <p:cNvSpPr/>
          <p:nvPr/>
        </p:nvSpPr>
        <p:spPr>
          <a:xfrm>
            <a:off x="7133380" y="3290283"/>
            <a:ext cx="318052" cy="302150"/>
          </a:xfrm>
          <a:prstGeom prst="ellipse">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0" name="Ellipszis 29">
            <a:extLst>
              <a:ext uri="{FF2B5EF4-FFF2-40B4-BE49-F238E27FC236}">
                <a16:creationId xmlns:a16="http://schemas.microsoft.com/office/drawing/2014/main" id="{4CAD1C66-EC60-4E11-B6E2-DB2DBE5F3A3F}"/>
              </a:ext>
            </a:extLst>
          </p:cNvPr>
          <p:cNvSpPr/>
          <p:nvPr/>
        </p:nvSpPr>
        <p:spPr>
          <a:xfrm>
            <a:off x="7133380" y="3984811"/>
            <a:ext cx="318052" cy="302150"/>
          </a:xfrm>
          <a:prstGeom prst="ellipse">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1" name="Szövegdoboz 30">
            <a:extLst>
              <a:ext uri="{FF2B5EF4-FFF2-40B4-BE49-F238E27FC236}">
                <a16:creationId xmlns:a16="http://schemas.microsoft.com/office/drawing/2014/main" id="{ACAA647C-3D10-4080-B83B-DC6F9EE44895}"/>
              </a:ext>
            </a:extLst>
          </p:cNvPr>
          <p:cNvSpPr txBox="1"/>
          <p:nvPr/>
        </p:nvSpPr>
        <p:spPr>
          <a:xfrm>
            <a:off x="6494430" y="5049867"/>
            <a:ext cx="1820848" cy="307777"/>
          </a:xfrm>
          <a:prstGeom prst="rect">
            <a:avLst/>
          </a:prstGeom>
          <a:noFill/>
        </p:spPr>
        <p:txBody>
          <a:bodyPr wrap="square" rtlCol="0">
            <a:spAutoFit/>
          </a:bodyPr>
          <a:lstStyle/>
          <a:p>
            <a:r>
              <a:rPr lang="en-US" sz="1400" dirty="0"/>
              <a:t>Clearing Houses </a:t>
            </a:r>
          </a:p>
        </p:txBody>
      </p:sp>
      <p:sp>
        <p:nvSpPr>
          <p:cNvPr id="33" name="Ellipszis 32">
            <a:extLst>
              <a:ext uri="{FF2B5EF4-FFF2-40B4-BE49-F238E27FC236}">
                <a16:creationId xmlns:a16="http://schemas.microsoft.com/office/drawing/2014/main" id="{ED3AC233-FBD6-4CC3-9C35-3499F95C0C5F}"/>
              </a:ext>
            </a:extLst>
          </p:cNvPr>
          <p:cNvSpPr/>
          <p:nvPr/>
        </p:nvSpPr>
        <p:spPr>
          <a:xfrm>
            <a:off x="10140298" y="2895161"/>
            <a:ext cx="318052" cy="302150"/>
          </a:xfrm>
          <a:prstGeom prst="ellipse">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5" name="Ellipszis 34">
            <a:extLst>
              <a:ext uri="{FF2B5EF4-FFF2-40B4-BE49-F238E27FC236}">
                <a16:creationId xmlns:a16="http://schemas.microsoft.com/office/drawing/2014/main" id="{94563B2D-D2F5-4876-8CC2-1947DF7BF04A}"/>
              </a:ext>
            </a:extLst>
          </p:cNvPr>
          <p:cNvSpPr/>
          <p:nvPr/>
        </p:nvSpPr>
        <p:spPr>
          <a:xfrm>
            <a:off x="10140298" y="3630728"/>
            <a:ext cx="318052" cy="302150"/>
          </a:xfrm>
          <a:prstGeom prst="ellipse">
            <a:avLst/>
          </a:prstGeom>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6" name="Szövegdoboz 35">
            <a:extLst>
              <a:ext uri="{FF2B5EF4-FFF2-40B4-BE49-F238E27FC236}">
                <a16:creationId xmlns:a16="http://schemas.microsoft.com/office/drawing/2014/main" id="{53E13E0E-CCAA-4EFD-897D-345532AFBE8E}"/>
              </a:ext>
            </a:extLst>
          </p:cNvPr>
          <p:cNvSpPr txBox="1"/>
          <p:nvPr/>
        </p:nvSpPr>
        <p:spPr>
          <a:xfrm>
            <a:off x="9738757" y="5049867"/>
            <a:ext cx="1477883" cy="584775"/>
          </a:xfrm>
          <a:prstGeom prst="rect">
            <a:avLst/>
          </a:prstGeom>
          <a:noFill/>
        </p:spPr>
        <p:txBody>
          <a:bodyPr wrap="square" rtlCol="0">
            <a:spAutoFit/>
          </a:bodyPr>
          <a:lstStyle/>
          <a:p>
            <a:r>
              <a:rPr lang="en-US" sz="1400" dirty="0"/>
              <a:t>Settlement</a:t>
            </a:r>
          </a:p>
          <a:p>
            <a:endParaRPr lang="en-US" dirty="0"/>
          </a:p>
        </p:txBody>
      </p:sp>
      <p:cxnSp>
        <p:nvCxnSpPr>
          <p:cNvPr id="38" name="Egyenes összekötő nyíllal 37">
            <a:extLst>
              <a:ext uri="{FF2B5EF4-FFF2-40B4-BE49-F238E27FC236}">
                <a16:creationId xmlns:a16="http://schemas.microsoft.com/office/drawing/2014/main" id="{72552E03-0F86-4D6F-BDA9-E8B33EC373A7}"/>
              </a:ext>
            </a:extLst>
          </p:cNvPr>
          <p:cNvCxnSpPr>
            <a:stCxn id="6" idx="5"/>
            <a:endCxn id="17" idx="2"/>
          </p:cNvCxnSpPr>
          <p:nvPr/>
        </p:nvCxnSpPr>
        <p:spPr>
          <a:xfrm>
            <a:off x="1717021" y="2159184"/>
            <a:ext cx="2409441" cy="2700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gyenes összekötő nyíllal 38">
            <a:extLst>
              <a:ext uri="{FF2B5EF4-FFF2-40B4-BE49-F238E27FC236}">
                <a16:creationId xmlns:a16="http://schemas.microsoft.com/office/drawing/2014/main" id="{948C0EFA-8D92-40D5-9797-3207E00BD046}"/>
              </a:ext>
            </a:extLst>
          </p:cNvPr>
          <p:cNvCxnSpPr>
            <a:cxnSpLocks/>
            <a:endCxn id="26" idx="2"/>
          </p:cNvCxnSpPr>
          <p:nvPr/>
        </p:nvCxnSpPr>
        <p:spPr>
          <a:xfrm>
            <a:off x="1763599" y="2203433"/>
            <a:ext cx="2362863" cy="8467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gyenes összekötő nyíllal 41">
            <a:extLst>
              <a:ext uri="{FF2B5EF4-FFF2-40B4-BE49-F238E27FC236}">
                <a16:creationId xmlns:a16="http://schemas.microsoft.com/office/drawing/2014/main" id="{C8842647-6EED-4170-9396-A2081DA08CCC}"/>
              </a:ext>
            </a:extLst>
          </p:cNvPr>
          <p:cNvCxnSpPr>
            <a:cxnSpLocks/>
            <a:endCxn id="26" idx="2"/>
          </p:cNvCxnSpPr>
          <p:nvPr/>
        </p:nvCxnSpPr>
        <p:spPr>
          <a:xfrm>
            <a:off x="1763599" y="2619675"/>
            <a:ext cx="2362863" cy="4305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Egyenes összekötő nyíllal 43">
            <a:extLst>
              <a:ext uri="{FF2B5EF4-FFF2-40B4-BE49-F238E27FC236}">
                <a16:creationId xmlns:a16="http://schemas.microsoft.com/office/drawing/2014/main" id="{C63C5539-CC12-4BF8-8D2A-3406AF200CAD}"/>
              </a:ext>
            </a:extLst>
          </p:cNvPr>
          <p:cNvCxnSpPr/>
          <p:nvPr/>
        </p:nvCxnSpPr>
        <p:spPr>
          <a:xfrm>
            <a:off x="1717020" y="3313028"/>
            <a:ext cx="2409441" cy="2700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gyenes összekötő nyíllal 44">
            <a:extLst>
              <a:ext uri="{FF2B5EF4-FFF2-40B4-BE49-F238E27FC236}">
                <a16:creationId xmlns:a16="http://schemas.microsoft.com/office/drawing/2014/main" id="{2124D319-BFDF-4806-9A10-9C67151270E9}"/>
              </a:ext>
            </a:extLst>
          </p:cNvPr>
          <p:cNvCxnSpPr>
            <a:cxnSpLocks/>
            <a:stCxn id="10" idx="6"/>
            <a:endCxn id="17" idx="3"/>
          </p:cNvCxnSpPr>
          <p:nvPr/>
        </p:nvCxnSpPr>
        <p:spPr>
          <a:xfrm flipV="1">
            <a:off x="1763599" y="2536107"/>
            <a:ext cx="2409441" cy="7014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Egyenes összekötő nyíllal 47">
            <a:extLst>
              <a:ext uri="{FF2B5EF4-FFF2-40B4-BE49-F238E27FC236}">
                <a16:creationId xmlns:a16="http://schemas.microsoft.com/office/drawing/2014/main" id="{CE7BC26A-33C5-44B1-B18F-4789C0ACE50C}"/>
              </a:ext>
            </a:extLst>
          </p:cNvPr>
          <p:cNvCxnSpPr>
            <a:cxnSpLocks/>
            <a:endCxn id="19" idx="2"/>
          </p:cNvCxnSpPr>
          <p:nvPr/>
        </p:nvCxnSpPr>
        <p:spPr>
          <a:xfrm flipV="1">
            <a:off x="1717020" y="3630728"/>
            <a:ext cx="2409442" cy="2571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Egyenes összekötő nyíllal 48">
            <a:extLst>
              <a:ext uri="{FF2B5EF4-FFF2-40B4-BE49-F238E27FC236}">
                <a16:creationId xmlns:a16="http://schemas.microsoft.com/office/drawing/2014/main" id="{B345FA7B-C672-4339-9DA8-FC88A9DEB653}"/>
              </a:ext>
            </a:extLst>
          </p:cNvPr>
          <p:cNvCxnSpPr>
            <a:cxnSpLocks/>
            <a:endCxn id="19" idx="2"/>
          </p:cNvCxnSpPr>
          <p:nvPr/>
        </p:nvCxnSpPr>
        <p:spPr>
          <a:xfrm flipV="1">
            <a:off x="1763599" y="3630728"/>
            <a:ext cx="2362863" cy="10376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Egyenes összekötő nyíllal 50">
            <a:extLst>
              <a:ext uri="{FF2B5EF4-FFF2-40B4-BE49-F238E27FC236}">
                <a16:creationId xmlns:a16="http://schemas.microsoft.com/office/drawing/2014/main" id="{3832BB6B-9EA7-4A90-AA8E-66C53F33CA3E}"/>
              </a:ext>
            </a:extLst>
          </p:cNvPr>
          <p:cNvCxnSpPr>
            <a:cxnSpLocks/>
            <a:endCxn id="24" idx="2"/>
          </p:cNvCxnSpPr>
          <p:nvPr/>
        </p:nvCxnSpPr>
        <p:spPr>
          <a:xfrm>
            <a:off x="4444514" y="2487962"/>
            <a:ext cx="2688866" cy="3447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Egyenes összekötő nyíllal 52">
            <a:extLst>
              <a:ext uri="{FF2B5EF4-FFF2-40B4-BE49-F238E27FC236}">
                <a16:creationId xmlns:a16="http://schemas.microsoft.com/office/drawing/2014/main" id="{BEADF052-3323-400C-AE03-136F2272FC8D}"/>
              </a:ext>
            </a:extLst>
          </p:cNvPr>
          <p:cNvCxnSpPr>
            <a:cxnSpLocks/>
            <a:endCxn id="28" idx="2"/>
          </p:cNvCxnSpPr>
          <p:nvPr/>
        </p:nvCxnSpPr>
        <p:spPr>
          <a:xfrm>
            <a:off x="4452465" y="2536107"/>
            <a:ext cx="2680915" cy="9052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Egyenes összekötő nyíllal 55">
            <a:extLst>
              <a:ext uri="{FF2B5EF4-FFF2-40B4-BE49-F238E27FC236}">
                <a16:creationId xmlns:a16="http://schemas.microsoft.com/office/drawing/2014/main" id="{3820145A-33B9-44D9-9CA8-6BAD789A281D}"/>
              </a:ext>
            </a:extLst>
          </p:cNvPr>
          <p:cNvCxnSpPr>
            <a:cxnSpLocks/>
            <a:endCxn id="30" idx="1"/>
          </p:cNvCxnSpPr>
          <p:nvPr/>
        </p:nvCxnSpPr>
        <p:spPr>
          <a:xfrm>
            <a:off x="4444514" y="3087182"/>
            <a:ext cx="2735444" cy="9418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Egyenes összekötő nyíllal 57">
            <a:extLst>
              <a:ext uri="{FF2B5EF4-FFF2-40B4-BE49-F238E27FC236}">
                <a16:creationId xmlns:a16="http://schemas.microsoft.com/office/drawing/2014/main" id="{046B5FF4-0669-413D-83F2-47630174690D}"/>
              </a:ext>
            </a:extLst>
          </p:cNvPr>
          <p:cNvCxnSpPr>
            <a:cxnSpLocks/>
            <a:stCxn id="17" idx="5"/>
            <a:endCxn id="30" idx="2"/>
          </p:cNvCxnSpPr>
          <p:nvPr/>
        </p:nvCxnSpPr>
        <p:spPr>
          <a:xfrm>
            <a:off x="4397936" y="2536107"/>
            <a:ext cx="2735444" cy="159977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Egyenes összekötő nyíllal 61">
            <a:extLst>
              <a:ext uri="{FF2B5EF4-FFF2-40B4-BE49-F238E27FC236}">
                <a16:creationId xmlns:a16="http://schemas.microsoft.com/office/drawing/2014/main" id="{CAED4894-05C9-46FB-B042-03970D7297A9}"/>
              </a:ext>
            </a:extLst>
          </p:cNvPr>
          <p:cNvCxnSpPr>
            <a:cxnSpLocks/>
            <a:endCxn id="28" idx="2"/>
          </p:cNvCxnSpPr>
          <p:nvPr/>
        </p:nvCxnSpPr>
        <p:spPr>
          <a:xfrm>
            <a:off x="4444514" y="3020768"/>
            <a:ext cx="2688866" cy="4205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Egyenes összekötő nyíllal 64">
            <a:extLst>
              <a:ext uri="{FF2B5EF4-FFF2-40B4-BE49-F238E27FC236}">
                <a16:creationId xmlns:a16="http://schemas.microsoft.com/office/drawing/2014/main" id="{8C57B10E-F5A6-440B-9A97-1B9FE8F09DF1}"/>
              </a:ext>
            </a:extLst>
          </p:cNvPr>
          <p:cNvCxnSpPr>
            <a:cxnSpLocks/>
            <a:endCxn id="24" idx="2"/>
          </p:cNvCxnSpPr>
          <p:nvPr/>
        </p:nvCxnSpPr>
        <p:spPr>
          <a:xfrm flipV="1">
            <a:off x="4444513" y="2832740"/>
            <a:ext cx="2688867" cy="2107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Egyenes összekötő nyíllal 68">
            <a:extLst>
              <a:ext uri="{FF2B5EF4-FFF2-40B4-BE49-F238E27FC236}">
                <a16:creationId xmlns:a16="http://schemas.microsoft.com/office/drawing/2014/main" id="{195BA1F2-C87A-4418-B62F-879B59B5D0A5}"/>
              </a:ext>
            </a:extLst>
          </p:cNvPr>
          <p:cNvCxnSpPr>
            <a:cxnSpLocks/>
            <a:endCxn id="30" idx="2"/>
          </p:cNvCxnSpPr>
          <p:nvPr/>
        </p:nvCxnSpPr>
        <p:spPr>
          <a:xfrm>
            <a:off x="4444513" y="3630728"/>
            <a:ext cx="2688867" cy="5051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Egyenes összekötő nyíllal 70">
            <a:extLst>
              <a:ext uri="{FF2B5EF4-FFF2-40B4-BE49-F238E27FC236}">
                <a16:creationId xmlns:a16="http://schemas.microsoft.com/office/drawing/2014/main" id="{E1AF85FA-B6BD-419C-9393-0B8C84BF737B}"/>
              </a:ext>
            </a:extLst>
          </p:cNvPr>
          <p:cNvCxnSpPr>
            <a:cxnSpLocks/>
            <a:endCxn id="28" idx="2"/>
          </p:cNvCxnSpPr>
          <p:nvPr/>
        </p:nvCxnSpPr>
        <p:spPr>
          <a:xfrm flipV="1">
            <a:off x="4425200" y="3441358"/>
            <a:ext cx="2708180" cy="2170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Egyenes összekötő nyíllal 72">
            <a:extLst>
              <a:ext uri="{FF2B5EF4-FFF2-40B4-BE49-F238E27FC236}">
                <a16:creationId xmlns:a16="http://schemas.microsoft.com/office/drawing/2014/main" id="{C8FF0087-3712-4888-83E3-816BEA7E0443}"/>
              </a:ext>
            </a:extLst>
          </p:cNvPr>
          <p:cNvCxnSpPr>
            <a:cxnSpLocks/>
          </p:cNvCxnSpPr>
          <p:nvPr/>
        </p:nvCxnSpPr>
        <p:spPr>
          <a:xfrm>
            <a:off x="7451432" y="2895161"/>
            <a:ext cx="2680915" cy="9141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Egyenes összekötő nyíllal 73">
            <a:extLst>
              <a:ext uri="{FF2B5EF4-FFF2-40B4-BE49-F238E27FC236}">
                <a16:creationId xmlns:a16="http://schemas.microsoft.com/office/drawing/2014/main" id="{D406A3EB-C8FB-413D-BE96-D77A3F910176}"/>
              </a:ext>
            </a:extLst>
          </p:cNvPr>
          <p:cNvCxnSpPr>
            <a:cxnSpLocks/>
            <a:stCxn id="28" idx="6"/>
            <a:endCxn id="35" idx="3"/>
          </p:cNvCxnSpPr>
          <p:nvPr/>
        </p:nvCxnSpPr>
        <p:spPr>
          <a:xfrm>
            <a:off x="7451432" y="3441358"/>
            <a:ext cx="2735444" cy="4472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Egyenes összekötő nyíllal 76">
            <a:extLst>
              <a:ext uri="{FF2B5EF4-FFF2-40B4-BE49-F238E27FC236}">
                <a16:creationId xmlns:a16="http://schemas.microsoft.com/office/drawing/2014/main" id="{255DD29F-C043-478A-A2BE-938068BD6720}"/>
              </a:ext>
            </a:extLst>
          </p:cNvPr>
          <p:cNvCxnSpPr>
            <a:cxnSpLocks/>
          </p:cNvCxnSpPr>
          <p:nvPr/>
        </p:nvCxnSpPr>
        <p:spPr>
          <a:xfrm>
            <a:off x="7451432" y="2895161"/>
            <a:ext cx="2642288" cy="1550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Egyenes összekötő nyíllal 79">
            <a:extLst>
              <a:ext uri="{FF2B5EF4-FFF2-40B4-BE49-F238E27FC236}">
                <a16:creationId xmlns:a16="http://schemas.microsoft.com/office/drawing/2014/main" id="{4E1BBAFC-E003-43C8-AB6F-0BDE3491D6D5}"/>
              </a:ext>
            </a:extLst>
          </p:cNvPr>
          <p:cNvCxnSpPr>
            <a:cxnSpLocks/>
            <a:stCxn id="30" idx="6"/>
          </p:cNvCxnSpPr>
          <p:nvPr/>
        </p:nvCxnSpPr>
        <p:spPr>
          <a:xfrm flipV="1">
            <a:off x="7451432" y="3929648"/>
            <a:ext cx="2688866" cy="2062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Egyenes összekötő nyíllal 82">
            <a:extLst>
              <a:ext uri="{FF2B5EF4-FFF2-40B4-BE49-F238E27FC236}">
                <a16:creationId xmlns:a16="http://schemas.microsoft.com/office/drawing/2014/main" id="{F1F06F18-A9A3-456E-B672-C77CDD8EB0A2}"/>
              </a:ext>
            </a:extLst>
          </p:cNvPr>
          <p:cNvCxnSpPr>
            <a:cxnSpLocks/>
            <a:stCxn id="28" idx="5"/>
          </p:cNvCxnSpPr>
          <p:nvPr/>
        </p:nvCxnSpPr>
        <p:spPr>
          <a:xfrm flipV="1">
            <a:off x="7404854" y="3112589"/>
            <a:ext cx="2688866" cy="4355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Egyenes összekötő nyíllal 85">
            <a:extLst>
              <a:ext uri="{FF2B5EF4-FFF2-40B4-BE49-F238E27FC236}">
                <a16:creationId xmlns:a16="http://schemas.microsoft.com/office/drawing/2014/main" id="{2D43A18B-E75B-4EE0-8DA3-94665B272B58}"/>
              </a:ext>
            </a:extLst>
          </p:cNvPr>
          <p:cNvCxnSpPr>
            <a:cxnSpLocks/>
          </p:cNvCxnSpPr>
          <p:nvPr/>
        </p:nvCxnSpPr>
        <p:spPr>
          <a:xfrm flipV="1">
            <a:off x="7498010" y="3204892"/>
            <a:ext cx="2634337" cy="9308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29790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841248" y="365760"/>
            <a:ext cx="10515600" cy="813816"/>
          </a:xfrm>
        </p:spPr>
        <p:txBody>
          <a:bodyPr/>
          <a:lstStyle/>
          <a:p>
            <a:r>
              <a:rPr lang="en-US" dirty="0"/>
              <a:t>Example: Cards</a:t>
            </a:r>
          </a:p>
        </p:txBody>
      </p:sp>
      <p:sp>
        <p:nvSpPr>
          <p:cNvPr id="3" name="Szövegdoboz 2">
            <a:extLst>
              <a:ext uri="{FF2B5EF4-FFF2-40B4-BE49-F238E27FC236}">
                <a16:creationId xmlns:a16="http://schemas.microsoft.com/office/drawing/2014/main" id="{E187CB0E-B515-4023-B8A8-6B0B346DFAD8}"/>
              </a:ext>
            </a:extLst>
          </p:cNvPr>
          <p:cNvSpPr txBox="1"/>
          <p:nvPr/>
        </p:nvSpPr>
        <p:spPr>
          <a:xfrm>
            <a:off x="3235476" y="4741281"/>
            <a:ext cx="1017767" cy="369332"/>
          </a:xfrm>
          <a:prstGeom prst="rect">
            <a:avLst/>
          </a:prstGeom>
          <a:noFill/>
          <a:ln>
            <a:solidFill>
              <a:srgbClr val="C00000"/>
            </a:solidFill>
          </a:ln>
        </p:spPr>
        <p:txBody>
          <a:bodyPr wrap="square" rtlCol="0">
            <a:spAutoFit/>
          </a:bodyPr>
          <a:lstStyle/>
          <a:p>
            <a:pPr algn="ctr"/>
            <a:r>
              <a:rPr lang="en-US"/>
              <a:t>Owner</a:t>
            </a:r>
          </a:p>
        </p:txBody>
      </p:sp>
      <p:sp>
        <p:nvSpPr>
          <p:cNvPr id="6" name="Szövegdoboz 5">
            <a:extLst>
              <a:ext uri="{FF2B5EF4-FFF2-40B4-BE49-F238E27FC236}">
                <a16:creationId xmlns:a16="http://schemas.microsoft.com/office/drawing/2014/main" id="{3CA8C374-57C3-4994-8210-AE6DF8AA29BF}"/>
              </a:ext>
            </a:extLst>
          </p:cNvPr>
          <p:cNvSpPr txBox="1"/>
          <p:nvPr/>
        </p:nvSpPr>
        <p:spPr>
          <a:xfrm>
            <a:off x="8508960" y="4741281"/>
            <a:ext cx="1576122" cy="369332"/>
          </a:xfrm>
          <a:prstGeom prst="rect">
            <a:avLst/>
          </a:prstGeom>
          <a:noFill/>
          <a:ln>
            <a:solidFill>
              <a:srgbClr val="C00000"/>
            </a:solidFill>
          </a:ln>
        </p:spPr>
        <p:txBody>
          <a:bodyPr wrap="square" rtlCol="0">
            <a:spAutoFit/>
          </a:bodyPr>
          <a:lstStyle/>
          <a:p>
            <a:pPr algn="ctr"/>
            <a:r>
              <a:rPr lang="en-US" dirty="0"/>
              <a:t>Merchant/POS</a:t>
            </a:r>
          </a:p>
        </p:txBody>
      </p:sp>
      <p:sp>
        <p:nvSpPr>
          <p:cNvPr id="7" name="Szövegdoboz 6">
            <a:extLst>
              <a:ext uri="{FF2B5EF4-FFF2-40B4-BE49-F238E27FC236}">
                <a16:creationId xmlns:a16="http://schemas.microsoft.com/office/drawing/2014/main" id="{51225A68-5C2E-48ED-A643-0AD8ED6CA498}"/>
              </a:ext>
            </a:extLst>
          </p:cNvPr>
          <p:cNvSpPr txBox="1"/>
          <p:nvPr/>
        </p:nvSpPr>
        <p:spPr>
          <a:xfrm>
            <a:off x="2774300" y="2850542"/>
            <a:ext cx="1804947" cy="369332"/>
          </a:xfrm>
          <a:prstGeom prst="rect">
            <a:avLst/>
          </a:prstGeom>
          <a:noFill/>
          <a:ln>
            <a:solidFill>
              <a:srgbClr val="C00000"/>
            </a:solidFill>
          </a:ln>
        </p:spPr>
        <p:txBody>
          <a:bodyPr wrap="square" rtlCol="0">
            <a:spAutoFit/>
          </a:bodyPr>
          <a:lstStyle/>
          <a:p>
            <a:pPr algn="ctr"/>
            <a:r>
              <a:rPr lang="en-US" dirty="0"/>
              <a:t>Issuing bank</a:t>
            </a:r>
          </a:p>
        </p:txBody>
      </p:sp>
      <p:sp>
        <p:nvSpPr>
          <p:cNvPr id="8" name="Szövegdoboz 7">
            <a:extLst>
              <a:ext uri="{FF2B5EF4-FFF2-40B4-BE49-F238E27FC236}">
                <a16:creationId xmlns:a16="http://schemas.microsoft.com/office/drawing/2014/main" id="{CA439678-C47A-4500-9DBD-B23150FCDA1E}"/>
              </a:ext>
            </a:extLst>
          </p:cNvPr>
          <p:cNvSpPr txBox="1"/>
          <p:nvPr/>
        </p:nvSpPr>
        <p:spPr>
          <a:xfrm>
            <a:off x="8280135" y="2850542"/>
            <a:ext cx="1804947" cy="369332"/>
          </a:xfrm>
          <a:prstGeom prst="rect">
            <a:avLst/>
          </a:prstGeom>
          <a:noFill/>
          <a:ln>
            <a:solidFill>
              <a:srgbClr val="C00000"/>
            </a:solidFill>
          </a:ln>
        </p:spPr>
        <p:txBody>
          <a:bodyPr wrap="square" rtlCol="0">
            <a:spAutoFit/>
          </a:bodyPr>
          <a:lstStyle/>
          <a:p>
            <a:pPr algn="ctr"/>
            <a:r>
              <a:rPr lang="en-US"/>
              <a:t>Acquiring bank</a:t>
            </a:r>
          </a:p>
        </p:txBody>
      </p:sp>
      <p:sp>
        <p:nvSpPr>
          <p:cNvPr id="9" name="Szövegdoboz 8">
            <a:extLst>
              <a:ext uri="{FF2B5EF4-FFF2-40B4-BE49-F238E27FC236}">
                <a16:creationId xmlns:a16="http://schemas.microsoft.com/office/drawing/2014/main" id="{DF97E8CF-A21D-4753-8EA7-8E3C4EF9CDD3}"/>
              </a:ext>
            </a:extLst>
          </p:cNvPr>
          <p:cNvSpPr txBox="1"/>
          <p:nvPr/>
        </p:nvSpPr>
        <p:spPr>
          <a:xfrm>
            <a:off x="5482603" y="4172594"/>
            <a:ext cx="1804947" cy="369332"/>
          </a:xfrm>
          <a:prstGeom prst="rect">
            <a:avLst/>
          </a:prstGeom>
          <a:solidFill>
            <a:srgbClr val="FFC000"/>
          </a:solidFill>
          <a:ln>
            <a:solidFill>
              <a:srgbClr val="C00000"/>
            </a:solidFill>
          </a:ln>
        </p:spPr>
        <p:txBody>
          <a:bodyPr wrap="square" rtlCol="0">
            <a:spAutoFit/>
          </a:bodyPr>
          <a:lstStyle/>
          <a:p>
            <a:pPr algn="ctr"/>
            <a:r>
              <a:rPr lang="en-US" dirty="0"/>
              <a:t>Card Company</a:t>
            </a:r>
          </a:p>
        </p:txBody>
      </p:sp>
      <p:sp>
        <p:nvSpPr>
          <p:cNvPr id="10" name="Szövegdoboz 9">
            <a:extLst>
              <a:ext uri="{FF2B5EF4-FFF2-40B4-BE49-F238E27FC236}">
                <a16:creationId xmlns:a16="http://schemas.microsoft.com/office/drawing/2014/main" id="{2BDD418E-B29A-4D61-B347-CC144789CEC4}"/>
              </a:ext>
            </a:extLst>
          </p:cNvPr>
          <p:cNvSpPr txBox="1"/>
          <p:nvPr/>
        </p:nvSpPr>
        <p:spPr>
          <a:xfrm>
            <a:off x="5496723" y="3478183"/>
            <a:ext cx="1804948" cy="369332"/>
          </a:xfrm>
          <a:prstGeom prst="rect">
            <a:avLst/>
          </a:prstGeom>
          <a:noFill/>
          <a:ln>
            <a:solidFill>
              <a:srgbClr val="C00000"/>
            </a:solidFill>
          </a:ln>
        </p:spPr>
        <p:txBody>
          <a:bodyPr wrap="square" rtlCol="0">
            <a:spAutoFit/>
          </a:bodyPr>
          <a:lstStyle/>
          <a:p>
            <a:pPr algn="ctr"/>
            <a:r>
              <a:rPr lang="en-US"/>
              <a:t>Card-processor</a:t>
            </a:r>
          </a:p>
        </p:txBody>
      </p:sp>
      <p:sp>
        <p:nvSpPr>
          <p:cNvPr id="11" name="Szövegdoboz 10">
            <a:extLst>
              <a:ext uri="{FF2B5EF4-FFF2-40B4-BE49-F238E27FC236}">
                <a16:creationId xmlns:a16="http://schemas.microsoft.com/office/drawing/2014/main" id="{53CB21FC-27F2-4111-A756-DC339BB13ED0}"/>
              </a:ext>
            </a:extLst>
          </p:cNvPr>
          <p:cNvSpPr txBox="1"/>
          <p:nvPr/>
        </p:nvSpPr>
        <p:spPr>
          <a:xfrm>
            <a:off x="5434009" y="1179576"/>
            <a:ext cx="1804947" cy="369332"/>
          </a:xfrm>
          <a:prstGeom prst="rect">
            <a:avLst/>
          </a:prstGeom>
          <a:noFill/>
          <a:ln>
            <a:solidFill>
              <a:srgbClr val="C00000"/>
            </a:solidFill>
          </a:ln>
        </p:spPr>
        <p:txBody>
          <a:bodyPr wrap="square" rtlCol="0">
            <a:spAutoFit/>
          </a:bodyPr>
          <a:lstStyle/>
          <a:p>
            <a:pPr algn="ctr"/>
            <a:r>
              <a:rPr lang="en-US"/>
              <a:t>Settlement bank</a:t>
            </a:r>
          </a:p>
        </p:txBody>
      </p:sp>
      <p:cxnSp>
        <p:nvCxnSpPr>
          <p:cNvPr id="13" name="Egyenes összekötő nyíllal 12">
            <a:extLst>
              <a:ext uri="{FF2B5EF4-FFF2-40B4-BE49-F238E27FC236}">
                <a16:creationId xmlns:a16="http://schemas.microsoft.com/office/drawing/2014/main" id="{A712BCB7-A182-4322-AC2E-B12197BEADAF}"/>
              </a:ext>
            </a:extLst>
          </p:cNvPr>
          <p:cNvCxnSpPr>
            <a:cxnSpLocks/>
          </p:cNvCxnSpPr>
          <p:nvPr/>
        </p:nvCxnSpPr>
        <p:spPr>
          <a:xfrm>
            <a:off x="3873260" y="3275215"/>
            <a:ext cx="1584605" cy="1057903"/>
          </a:xfrm>
          <a:prstGeom prst="straightConnector1">
            <a:avLst/>
          </a:prstGeom>
          <a:ln w="127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Egyenes összekötő nyíllal 15">
            <a:extLst>
              <a:ext uri="{FF2B5EF4-FFF2-40B4-BE49-F238E27FC236}">
                <a16:creationId xmlns:a16="http://schemas.microsoft.com/office/drawing/2014/main" id="{3C746116-40E6-41E6-81E1-9197919A64B2}"/>
              </a:ext>
            </a:extLst>
          </p:cNvPr>
          <p:cNvCxnSpPr>
            <a:cxnSpLocks/>
            <a:stCxn id="3" idx="3"/>
          </p:cNvCxnSpPr>
          <p:nvPr/>
        </p:nvCxnSpPr>
        <p:spPr>
          <a:xfrm flipV="1">
            <a:off x="4253243" y="4919783"/>
            <a:ext cx="42636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Egyenes összekötő nyíllal 17">
            <a:extLst>
              <a:ext uri="{FF2B5EF4-FFF2-40B4-BE49-F238E27FC236}">
                <a16:creationId xmlns:a16="http://schemas.microsoft.com/office/drawing/2014/main" id="{EDCE9306-2A31-4174-AC7B-67E9BA760FF0}"/>
              </a:ext>
            </a:extLst>
          </p:cNvPr>
          <p:cNvCxnSpPr>
            <a:cxnSpLocks/>
            <a:stCxn id="6" idx="0"/>
            <a:endCxn id="10" idx="2"/>
          </p:cNvCxnSpPr>
          <p:nvPr/>
        </p:nvCxnSpPr>
        <p:spPr>
          <a:xfrm flipH="1" flipV="1">
            <a:off x="6399197" y="3847515"/>
            <a:ext cx="2897824" cy="89376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Egyenes összekötő nyíllal 21">
            <a:extLst>
              <a:ext uri="{FF2B5EF4-FFF2-40B4-BE49-F238E27FC236}">
                <a16:creationId xmlns:a16="http://schemas.microsoft.com/office/drawing/2014/main" id="{9CA8256D-9B62-4826-970D-D4ECE2C90F30}"/>
              </a:ext>
            </a:extLst>
          </p:cNvPr>
          <p:cNvCxnSpPr>
            <a:cxnSpLocks/>
            <a:endCxn id="8" idx="2"/>
          </p:cNvCxnSpPr>
          <p:nvPr/>
        </p:nvCxnSpPr>
        <p:spPr>
          <a:xfrm flipV="1">
            <a:off x="7327993" y="3219874"/>
            <a:ext cx="1854616" cy="46876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Egyenes összekötő nyíllal 23">
            <a:extLst>
              <a:ext uri="{FF2B5EF4-FFF2-40B4-BE49-F238E27FC236}">
                <a16:creationId xmlns:a16="http://schemas.microsoft.com/office/drawing/2014/main" id="{4E827B9A-9BB3-48D4-84F0-E4A24FEDE550}"/>
              </a:ext>
            </a:extLst>
          </p:cNvPr>
          <p:cNvCxnSpPr>
            <a:cxnSpLocks/>
          </p:cNvCxnSpPr>
          <p:nvPr/>
        </p:nvCxnSpPr>
        <p:spPr>
          <a:xfrm>
            <a:off x="6202393" y="3857576"/>
            <a:ext cx="0" cy="31501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Egyenes összekötő nyíllal 25">
            <a:extLst>
              <a:ext uri="{FF2B5EF4-FFF2-40B4-BE49-F238E27FC236}">
                <a16:creationId xmlns:a16="http://schemas.microsoft.com/office/drawing/2014/main" id="{E5EE6B81-B923-4D82-97E3-ECC1D7B08876}"/>
              </a:ext>
            </a:extLst>
          </p:cNvPr>
          <p:cNvCxnSpPr>
            <a:cxnSpLocks/>
            <a:stCxn id="9" idx="0"/>
            <a:endCxn id="11" idx="2"/>
          </p:cNvCxnSpPr>
          <p:nvPr/>
        </p:nvCxnSpPr>
        <p:spPr>
          <a:xfrm flipH="1" flipV="1">
            <a:off x="6336483" y="1548908"/>
            <a:ext cx="48594" cy="26236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Egyenes összekötő nyíllal 42">
            <a:extLst>
              <a:ext uri="{FF2B5EF4-FFF2-40B4-BE49-F238E27FC236}">
                <a16:creationId xmlns:a16="http://schemas.microsoft.com/office/drawing/2014/main" id="{1D99D189-4DC9-46C0-94BD-66B506F917B7}"/>
              </a:ext>
            </a:extLst>
          </p:cNvPr>
          <p:cNvCxnSpPr>
            <a:stCxn id="11" idx="3"/>
            <a:endCxn id="8" idx="0"/>
          </p:cNvCxnSpPr>
          <p:nvPr/>
        </p:nvCxnSpPr>
        <p:spPr>
          <a:xfrm>
            <a:off x="7238956" y="1364242"/>
            <a:ext cx="1943653" cy="148630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21" name="Nyíl: balra mutató 20">
            <a:extLst>
              <a:ext uri="{FF2B5EF4-FFF2-40B4-BE49-F238E27FC236}">
                <a16:creationId xmlns:a16="http://schemas.microsoft.com/office/drawing/2014/main" id="{4679042A-3F94-49FA-9893-A95CF1A3DD28}"/>
              </a:ext>
            </a:extLst>
          </p:cNvPr>
          <p:cNvSpPr/>
          <p:nvPr/>
        </p:nvSpPr>
        <p:spPr>
          <a:xfrm>
            <a:off x="4622979" y="3003600"/>
            <a:ext cx="3597113" cy="118557"/>
          </a:xfrm>
          <a:prstGeom prst="lef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zövegdoboz 4">
            <a:extLst>
              <a:ext uri="{FF2B5EF4-FFF2-40B4-BE49-F238E27FC236}">
                <a16:creationId xmlns:a16="http://schemas.microsoft.com/office/drawing/2014/main" id="{5B6EEDAC-1307-4686-ABCE-5DAB98EBDC6A}"/>
              </a:ext>
            </a:extLst>
          </p:cNvPr>
          <p:cNvSpPr txBox="1"/>
          <p:nvPr/>
        </p:nvSpPr>
        <p:spPr>
          <a:xfrm>
            <a:off x="5457866" y="2819464"/>
            <a:ext cx="1804948" cy="369332"/>
          </a:xfrm>
          <a:prstGeom prst="rect">
            <a:avLst/>
          </a:prstGeom>
          <a:solidFill>
            <a:srgbClr val="FF0000"/>
          </a:solidFill>
        </p:spPr>
        <p:txBody>
          <a:bodyPr wrap="square" rtlCol="0">
            <a:spAutoFit/>
          </a:bodyPr>
          <a:lstStyle/>
          <a:p>
            <a:pPr algn="ctr"/>
            <a:r>
              <a:rPr lang="en-US" dirty="0"/>
              <a:t>Interchange fee</a:t>
            </a:r>
          </a:p>
        </p:txBody>
      </p:sp>
      <p:sp>
        <p:nvSpPr>
          <p:cNvPr id="12" name="Szövegdoboz 11">
            <a:extLst>
              <a:ext uri="{FF2B5EF4-FFF2-40B4-BE49-F238E27FC236}">
                <a16:creationId xmlns:a16="http://schemas.microsoft.com/office/drawing/2014/main" id="{F5FA4714-6A52-4222-A5B6-60E16DEEF1A3}"/>
              </a:ext>
            </a:extLst>
          </p:cNvPr>
          <p:cNvSpPr txBox="1"/>
          <p:nvPr/>
        </p:nvSpPr>
        <p:spPr>
          <a:xfrm>
            <a:off x="841248" y="5478011"/>
            <a:ext cx="8573548" cy="923330"/>
          </a:xfrm>
          <a:prstGeom prst="rect">
            <a:avLst/>
          </a:prstGeom>
          <a:noFill/>
        </p:spPr>
        <p:txBody>
          <a:bodyPr wrap="square" rtlCol="0">
            <a:spAutoFit/>
          </a:bodyPr>
          <a:lstStyle/>
          <a:p>
            <a:pPr marL="285750" indent="-285750">
              <a:buFontTx/>
              <a:buChar char="-"/>
            </a:pPr>
            <a:r>
              <a:rPr lang="en-US"/>
              <a:t>In case of a purchase, the acquirer pays to the issuer</a:t>
            </a:r>
          </a:p>
          <a:p>
            <a:pPr marL="285750" indent="-285750">
              <a:buFontTx/>
              <a:buChar char="-"/>
            </a:pPr>
            <a:r>
              <a:rPr lang="en-US"/>
              <a:t>In case of cash withdrawal (ATM) issuer pays to the owner of ATM (acquirer)</a:t>
            </a:r>
          </a:p>
          <a:p>
            <a:pPr marL="285750" indent="-285750">
              <a:buFontTx/>
              <a:buChar char="-"/>
            </a:pPr>
            <a:r>
              <a:rPr lang="en-US"/>
              <a:t>Cashback, chargeback</a:t>
            </a:r>
          </a:p>
        </p:txBody>
      </p:sp>
      <p:sp>
        <p:nvSpPr>
          <p:cNvPr id="23" name="Dia számának helye 1">
            <a:extLst>
              <a:ext uri="{FF2B5EF4-FFF2-40B4-BE49-F238E27FC236}">
                <a16:creationId xmlns:a16="http://schemas.microsoft.com/office/drawing/2014/main" id="{B176DCCF-BED1-4A09-8EE7-7D758F583B84}"/>
              </a:ext>
            </a:extLst>
          </p:cNvPr>
          <p:cNvSpPr>
            <a:spLocks noGrp="1"/>
          </p:cNvSpPr>
          <p:nvPr>
            <p:ph type="sldNum" sz="quarter" idx="12"/>
          </p:nvPr>
        </p:nvSpPr>
        <p:spPr>
          <a:xfrm>
            <a:off x="8610600" y="6356350"/>
            <a:ext cx="2743200" cy="365125"/>
          </a:xfrm>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8E3395-0D00-4997-A8B3-B5FC5B61BE62}" type="slidenum">
              <a:rPr kumimoji="0" lang="en-US" altLang="en-US" b="0" i="0" u="none" strike="noStrike" kern="1200" cap="none" spc="0" normalizeH="0" baseline="0">
                <a:ln>
                  <a:noFill/>
                </a:ln>
                <a:solidFill>
                  <a:srgbClr val="898989"/>
                </a:solidFill>
                <a:effectLst/>
                <a:uLnTx/>
                <a:uFillTx/>
                <a:latin typeface="+mn-l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altLang="en-US" b="0" i="0" u="none" strike="noStrike" kern="1200" cap="none" spc="0" normalizeH="0" baseline="0" dirty="0">
              <a:ln>
                <a:noFill/>
              </a:ln>
              <a:solidFill>
                <a:srgbClr val="898989"/>
              </a:solidFill>
              <a:effectLst/>
              <a:uLnTx/>
              <a:uFillTx/>
              <a:latin typeface="+mn-lt"/>
              <a:ea typeface="+mn-ea"/>
              <a:cs typeface="+mn-cs"/>
            </a:endParaRPr>
          </a:p>
        </p:txBody>
      </p:sp>
      <p:cxnSp>
        <p:nvCxnSpPr>
          <p:cNvPr id="34" name="Egyenes összekötő nyíllal 33">
            <a:extLst>
              <a:ext uri="{FF2B5EF4-FFF2-40B4-BE49-F238E27FC236}">
                <a16:creationId xmlns:a16="http://schemas.microsoft.com/office/drawing/2014/main" id="{484CE55A-B12A-02D3-2333-B2F8B2B268E2}"/>
              </a:ext>
            </a:extLst>
          </p:cNvPr>
          <p:cNvCxnSpPr>
            <a:cxnSpLocks/>
            <a:endCxn id="11" idx="1"/>
          </p:cNvCxnSpPr>
          <p:nvPr/>
        </p:nvCxnSpPr>
        <p:spPr>
          <a:xfrm flipV="1">
            <a:off x="3873260" y="1364242"/>
            <a:ext cx="1560749" cy="1430959"/>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8" name="Egyenes összekötő nyíllal 37">
            <a:extLst>
              <a:ext uri="{FF2B5EF4-FFF2-40B4-BE49-F238E27FC236}">
                <a16:creationId xmlns:a16="http://schemas.microsoft.com/office/drawing/2014/main" id="{4EB73069-CCF0-F160-B842-4F879FC4DFAD}"/>
              </a:ext>
            </a:extLst>
          </p:cNvPr>
          <p:cNvCxnSpPr>
            <a:cxnSpLocks/>
            <a:endCxn id="6" idx="0"/>
          </p:cNvCxnSpPr>
          <p:nvPr/>
        </p:nvCxnSpPr>
        <p:spPr>
          <a:xfrm>
            <a:off x="9274953" y="3236139"/>
            <a:ext cx="22068" cy="1505142"/>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0" name="Egyenes összekötő nyíllal 39">
            <a:extLst>
              <a:ext uri="{FF2B5EF4-FFF2-40B4-BE49-F238E27FC236}">
                <a16:creationId xmlns:a16="http://schemas.microsoft.com/office/drawing/2014/main" id="{7E3AAD8E-6C26-21FB-DC42-9A418169EA3F}"/>
              </a:ext>
            </a:extLst>
          </p:cNvPr>
          <p:cNvCxnSpPr>
            <a:cxnSpLocks/>
          </p:cNvCxnSpPr>
          <p:nvPr/>
        </p:nvCxnSpPr>
        <p:spPr>
          <a:xfrm>
            <a:off x="3509321" y="3217283"/>
            <a:ext cx="22068" cy="1505142"/>
          </a:xfrm>
          <a:prstGeom prst="straightConnector1">
            <a:avLst/>
          </a:prstGeom>
          <a:ln>
            <a:prstDash val="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1" name="Egyenes összekötő nyíllal 40">
            <a:extLst>
              <a:ext uri="{FF2B5EF4-FFF2-40B4-BE49-F238E27FC236}">
                <a16:creationId xmlns:a16="http://schemas.microsoft.com/office/drawing/2014/main" id="{1961E184-4E5E-C289-034E-9CD553776816}"/>
              </a:ext>
            </a:extLst>
          </p:cNvPr>
          <p:cNvCxnSpPr>
            <a:cxnSpLocks/>
          </p:cNvCxnSpPr>
          <p:nvPr/>
        </p:nvCxnSpPr>
        <p:spPr>
          <a:xfrm>
            <a:off x="9427353" y="3388539"/>
            <a:ext cx="22068" cy="1505142"/>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854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ia számának helye 3">
            <a:extLst>
              <a:ext uri="{FF2B5EF4-FFF2-40B4-BE49-F238E27FC236}">
                <a16:creationId xmlns:a16="http://schemas.microsoft.com/office/drawing/2014/main" id="{4A851614-0E97-CBC9-E9DC-1A841A496DB2}"/>
              </a:ext>
            </a:extLst>
          </p:cNvPr>
          <p:cNvSpPr>
            <a:spLocks noGrp="1"/>
          </p:cNvSpPr>
          <p:nvPr>
            <p:ph type="sldNum" sz="quarter" idx="12"/>
          </p:nvPr>
        </p:nvSpPr>
        <p:spPr/>
        <p:txBody>
          <a:bodyPr/>
          <a:lstStyle/>
          <a:p>
            <a:pPr>
              <a:defRPr/>
            </a:pPr>
            <a:fld id="{2AC3E3C3-5984-494D-A44E-6E7D6FEAE8D6}" type="slidenum">
              <a:rPr lang="en-US" altLang="en-US" smtClean="0"/>
              <a:pPr>
                <a:defRPr/>
              </a:pPr>
              <a:t>46</a:t>
            </a:fld>
            <a:endParaRPr lang="en-US" altLang="en-US"/>
          </a:p>
        </p:txBody>
      </p:sp>
      <p:pic>
        <p:nvPicPr>
          <p:cNvPr id="5" name="Kép 4">
            <a:extLst>
              <a:ext uri="{FF2B5EF4-FFF2-40B4-BE49-F238E27FC236}">
                <a16:creationId xmlns:a16="http://schemas.microsoft.com/office/drawing/2014/main" id="{EE29C90B-33AD-A7AC-2FEB-CBDD6330A51D}"/>
              </a:ext>
            </a:extLst>
          </p:cNvPr>
          <p:cNvPicPr>
            <a:picLocks noChangeAspect="1"/>
          </p:cNvPicPr>
          <p:nvPr/>
        </p:nvPicPr>
        <p:blipFill>
          <a:blip r:embed="rId2"/>
          <a:stretch>
            <a:fillRect/>
          </a:stretch>
        </p:blipFill>
        <p:spPr>
          <a:xfrm>
            <a:off x="0" y="12992"/>
            <a:ext cx="9510610" cy="6845007"/>
          </a:xfrm>
          <a:prstGeom prst="rect">
            <a:avLst/>
          </a:prstGeom>
        </p:spPr>
      </p:pic>
      <p:sp>
        <p:nvSpPr>
          <p:cNvPr id="6" name="Cím 1">
            <a:extLst>
              <a:ext uri="{FF2B5EF4-FFF2-40B4-BE49-F238E27FC236}">
                <a16:creationId xmlns:a16="http://schemas.microsoft.com/office/drawing/2014/main" id="{7F759014-F8DA-BEDC-713A-91531D8FAC79}"/>
              </a:ext>
            </a:extLst>
          </p:cNvPr>
          <p:cNvSpPr>
            <a:spLocks noGrp="1"/>
          </p:cNvSpPr>
          <p:nvPr>
            <p:ph type="title"/>
          </p:nvPr>
        </p:nvSpPr>
        <p:spPr>
          <a:xfrm>
            <a:off x="9510610" y="669692"/>
            <a:ext cx="2589893" cy="2159943"/>
          </a:xfrm>
        </p:spPr>
        <p:txBody>
          <a:bodyPr vert="horz" lIns="91440" tIns="45720" rIns="91440" bIns="45720" rtlCol="0" anchor="b">
            <a:normAutofit fontScale="90000"/>
          </a:bodyPr>
          <a:lstStyle/>
          <a:p>
            <a:pPr eaLnBrk="1" hangingPunct="1">
              <a:lnSpc>
                <a:spcPct val="90000"/>
              </a:lnSpc>
            </a:pPr>
            <a:br>
              <a:rPr lang="en-US" sz="3800" kern="1200" dirty="0">
                <a:solidFill>
                  <a:schemeClr val="tx1"/>
                </a:solidFill>
                <a:latin typeface="+mj-lt"/>
                <a:ea typeface="+mj-ea"/>
                <a:cs typeface="+mj-cs"/>
              </a:rPr>
            </a:br>
            <a:br>
              <a:rPr lang="en-US" sz="3800" kern="1200" dirty="0">
                <a:solidFill>
                  <a:schemeClr val="tx1"/>
                </a:solidFill>
                <a:latin typeface="+mj-lt"/>
                <a:ea typeface="+mj-ea"/>
                <a:cs typeface="+mj-cs"/>
              </a:rPr>
            </a:br>
            <a:r>
              <a:rPr lang="en-US" sz="3100" kern="1200" dirty="0">
                <a:solidFill>
                  <a:schemeClr val="tx1"/>
                </a:solidFill>
                <a:latin typeface="+mj-lt"/>
                <a:ea typeface="+mj-ea"/>
                <a:cs typeface="+mj-cs"/>
              </a:rPr>
              <a:t>Example:</a:t>
            </a:r>
            <a:br>
              <a:rPr lang="en-US" sz="3100" kern="1200" dirty="0">
                <a:solidFill>
                  <a:schemeClr val="tx1"/>
                </a:solidFill>
                <a:latin typeface="+mj-lt"/>
                <a:ea typeface="+mj-ea"/>
                <a:cs typeface="+mj-cs"/>
              </a:rPr>
            </a:br>
            <a:r>
              <a:rPr lang="en-US" sz="3100" kern="1200" dirty="0">
                <a:solidFill>
                  <a:schemeClr val="tx1"/>
                </a:solidFill>
                <a:latin typeface="+mj-lt"/>
                <a:ea typeface="+mj-ea"/>
                <a:cs typeface="+mj-cs"/>
              </a:rPr>
              <a:t>Hungarian payment system (2021)</a:t>
            </a:r>
          </a:p>
        </p:txBody>
      </p:sp>
    </p:spTree>
    <p:extLst>
      <p:ext uri="{BB962C8B-B14F-4D97-AF65-F5344CB8AC3E}">
        <p14:creationId xmlns:p14="http://schemas.microsoft.com/office/powerpoint/2010/main" val="4083788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230748C-6789-483A-8C41-578EA7F8ECA8}"/>
              </a:ext>
            </a:extLst>
          </p:cNvPr>
          <p:cNvSpPr>
            <a:spLocks noGrp="1"/>
          </p:cNvSpPr>
          <p:nvPr>
            <p:ph type="title"/>
          </p:nvPr>
        </p:nvSpPr>
        <p:spPr/>
        <p:txBody>
          <a:bodyPr/>
          <a:lstStyle/>
          <a:p>
            <a:r>
              <a:rPr lang="en-US"/>
              <a:t>International payment system</a:t>
            </a:r>
          </a:p>
        </p:txBody>
      </p:sp>
      <p:sp>
        <p:nvSpPr>
          <p:cNvPr id="3" name="Tartalom helye 2">
            <a:extLst>
              <a:ext uri="{FF2B5EF4-FFF2-40B4-BE49-F238E27FC236}">
                <a16:creationId xmlns:a16="http://schemas.microsoft.com/office/drawing/2014/main" id="{92D53538-6F8B-49EF-A796-0C82B2CB062B}"/>
              </a:ext>
            </a:extLst>
          </p:cNvPr>
          <p:cNvSpPr>
            <a:spLocks noGrp="1"/>
          </p:cNvSpPr>
          <p:nvPr>
            <p:ph idx="1"/>
          </p:nvPr>
        </p:nvSpPr>
        <p:spPr/>
        <p:txBody>
          <a:bodyPr/>
          <a:lstStyle/>
          <a:p>
            <a:r>
              <a:rPr lang="en-US" dirty="0"/>
              <a:t>SWIFT – Society for Worldwide Interbank Financial Telecommunication – payment orders, confirmation</a:t>
            </a:r>
          </a:p>
          <a:p>
            <a:pPr lvl="1"/>
            <a:r>
              <a:rPr lang="en-US" dirty="0"/>
              <a:t>nostro/</a:t>
            </a:r>
            <a:r>
              <a:rPr lang="en-US" dirty="0" err="1"/>
              <a:t>loro</a:t>
            </a:r>
            <a:r>
              <a:rPr lang="en-US" dirty="0"/>
              <a:t> account – settlement</a:t>
            </a:r>
          </a:p>
          <a:p>
            <a:r>
              <a:rPr lang="en-US" dirty="0"/>
              <a:t>SEPA – Single European Payment Area – EUR only, special SWIFT messages</a:t>
            </a:r>
          </a:p>
          <a:p>
            <a:pPr lvl="1"/>
            <a:r>
              <a:rPr lang="en-US" dirty="0"/>
              <a:t>Nostro/</a:t>
            </a:r>
            <a:r>
              <a:rPr lang="en-US" dirty="0" err="1"/>
              <a:t>loro</a:t>
            </a:r>
            <a:r>
              <a:rPr lang="en-US" dirty="0"/>
              <a:t> account – settlement</a:t>
            </a:r>
          </a:p>
          <a:p>
            <a:r>
              <a:rPr lang="en-US" dirty="0"/>
              <a:t>Clearing, Settlement Houses – Target2 </a:t>
            </a:r>
          </a:p>
        </p:txBody>
      </p:sp>
      <p:sp>
        <p:nvSpPr>
          <p:cNvPr id="4" name="Dia számának helye 3">
            <a:extLst>
              <a:ext uri="{FF2B5EF4-FFF2-40B4-BE49-F238E27FC236}">
                <a16:creationId xmlns:a16="http://schemas.microsoft.com/office/drawing/2014/main" id="{FD2937CB-6CDB-48E6-86E6-DE1B7E290E0B}"/>
              </a:ext>
            </a:extLst>
          </p:cNvPr>
          <p:cNvSpPr>
            <a:spLocks noGrp="1"/>
          </p:cNvSpPr>
          <p:nvPr>
            <p:ph type="sldNum" sz="quarter" idx="12"/>
          </p:nvPr>
        </p:nvSpPr>
        <p:spPr/>
        <p:txBody>
          <a:bodyPr/>
          <a:lstStyle/>
          <a:p>
            <a:pPr>
              <a:defRPr/>
            </a:pPr>
            <a:fld id="{2AC3E3C3-5984-494D-A44E-6E7D6FEAE8D6}" type="slidenum">
              <a:rPr lang="en-US" altLang="en-US" smtClean="0"/>
              <a:pPr>
                <a:defRPr/>
              </a:pPr>
              <a:t>47</a:t>
            </a:fld>
            <a:endParaRPr lang="en-US" altLang="en-US" dirty="0"/>
          </a:p>
        </p:txBody>
      </p:sp>
    </p:spTree>
    <p:extLst>
      <p:ext uri="{BB962C8B-B14F-4D97-AF65-F5344CB8AC3E}">
        <p14:creationId xmlns:p14="http://schemas.microsoft.com/office/powerpoint/2010/main" val="19663298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8507415-38ED-4323-A8CC-5DA9F5E22A31}"/>
              </a:ext>
            </a:extLst>
          </p:cNvPr>
          <p:cNvSpPr>
            <a:spLocks noGrp="1"/>
          </p:cNvSpPr>
          <p:nvPr>
            <p:ph type="title"/>
          </p:nvPr>
        </p:nvSpPr>
        <p:spPr/>
        <p:txBody>
          <a:bodyPr/>
          <a:lstStyle/>
          <a:p>
            <a:r>
              <a:rPr lang="en-US" dirty="0"/>
              <a:t>Money-flower</a:t>
            </a:r>
          </a:p>
        </p:txBody>
      </p:sp>
      <p:pic>
        <p:nvPicPr>
          <p:cNvPr id="6" name="Tartalom helye 5">
            <a:extLst>
              <a:ext uri="{FF2B5EF4-FFF2-40B4-BE49-F238E27FC236}">
                <a16:creationId xmlns:a16="http://schemas.microsoft.com/office/drawing/2014/main" id="{1E35C32A-ABFE-4D96-9934-DAF77B41C33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41874" y="1562653"/>
            <a:ext cx="6708251" cy="4411662"/>
          </a:xfrm>
        </p:spPr>
      </p:pic>
      <p:sp>
        <p:nvSpPr>
          <p:cNvPr id="4" name="Dia számának helye 3">
            <a:extLst>
              <a:ext uri="{FF2B5EF4-FFF2-40B4-BE49-F238E27FC236}">
                <a16:creationId xmlns:a16="http://schemas.microsoft.com/office/drawing/2014/main" id="{66DC9559-C0AF-487B-90D1-1726D262F6A0}"/>
              </a:ext>
            </a:extLst>
          </p:cNvPr>
          <p:cNvSpPr>
            <a:spLocks noGrp="1"/>
          </p:cNvSpPr>
          <p:nvPr>
            <p:ph type="sldNum" sz="quarter" idx="12"/>
          </p:nvPr>
        </p:nvSpPr>
        <p:spPr/>
        <p:txBody>
          <a:bodyPr/>
          <a:lstStyle/>
          <a:p>
            <a:pPr>
              <a:defRPr/>
            </a:pPr>
            <a:fld id="{2AC3E3C3-5984-494D-A44E-6E7D6FEAE8D6}" type="slidenum">
              <a:rPr lang="en-US" altLang="en-US" smtClean="0"/>
              <a:pPr>
                <a:defRPr/>
              </a:pPr>
              <a:t>48</a:t>
            </a:fld>
            <a:endParaRPr lang="en-US" altLang="en-US"/>
          </a:p>
        </p:txBody>
      </p:sp>
    </p:spTree>
    <p:extLst>
      <p:ext uri="{BB962C8B-B14F-4D97-AF65-F5344CB8AC3E}">
        <p14:creationId xmlns:p14="http://schemas.microsoft.com/office/powerpoint/2010/main" val="11975794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80E7E1A-7C2F-4CDA-84F1-0971C77C2E6C}"/>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3" name="Object 2" hidden="1">
                        <a:extLst>
                          <a:ext uri="{FF2B5EF4-FFF2-40B4-BE49-F238E27FC236}">
                            <a16:creationId xmlns:a16="http://schemas.microsoft.com/office/drawing/2014/main" id="{680E7E1A-7C2F-4CDA-84F1-0971C77C2E6C}"/>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4" name="Title 3"/>
          <p:cNvSpPr>
            <a:spLocks noGrp="1"/>
          </p:cNvSpPr>
          <p:nvPr>
            <p:ph type="title"/>
          </p:nvPr>
        </p:nvSpPr>
        <p:spPr/>
        <p:txBody>
          <a:bodyPr vert="horz"/>
          <a:lstStyle/>
          <a:p>
            <a:r>
              <a:rPr lang="hu-HU" dirty="0" err="1"/>
              <a:t>Recognize</a:t>
            </a:r>
            <a:r>
              <a:rPr lang="en-GB" dirty="0"/>
              <a:t> </a:t>
            </a:r>
            <a:r>
              <a:rPr lang="en-GB" dirty="0" err="1"/>
              <a:t>th</a:t>
            </a:r>
            <a:r>
              <a:rPr lang="hu-HU" dirty="0"/>
              <a:t>e</a:t>
            </a:r>
            <a:r>
              <a:rPr lang="en-GB" dirty="0"/>
              <a:t>s</a:t>
            </a:r>
            <a:r>
              <a:rPr lang="hu-HU" dirty="0"/>
              <a:t>e</a:t>
            </a:r>
            <a:r>
              <a:rPr lang="en-GB" dirty="0"/>
              <a:t>?</a:t>
            </a:r>
          </a:p>
        </p:txBody>
      </p:sp>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39171" y="1279883"/>
            <a:ext cx="4164194" cy="4708157"/>
          </a:xfrm>
          <a:prstGeom prst="rect">
            <a:avLst/>
          </a:prstGeom>
        </p:spPr>
      </p:pic>
      <p:pic>
        <p:nvPicPr>
          <p:cNvPr id="2" name="Picture 1">
            <a:extLst>
              <a:ext uri="{FF2B5EF4-FFF2-40B4-BE49-F238E27FC236}">
                <a16:creationId xmlns:a16="http://schemas.microsoft.com/office/drawing/2014/main" id="{EF523A33-D697-1132-5668-2F87B3871CBB}"/>
              </a:ext>
            </a:extLst>
          </p:cNvPr>
          <p:cNvPicPr>
            <a:picLocks noChangeAspect="1"/>
          </p:cNvPicPr>
          <p:nvPr/>
        </p:nvPicPr>
        <p:blipFill rotWithShape="1">
          <a:blip r:embed="rId6"/>
          <a:srcRect t="25208"/>
          <a:stretch/>
        </p:blipFill>
        <p:spPr>
          <a:xfrm>
            <a:off x="911099" y="1279883"/>
            <a:ext cx="4250419" cy="4708157"/>
          </a:xfrm>
          <a:prstGeom prst="rect">
            <a:avLst/>
          </a:prstGeom>
        </p:spPr>
      </p:pic>
      <p:sp>
        <p:nvSpPr>
          <p:cNvPr id="6" name="Rectangle 5">
            <a:extLst>
              <a:ext uri="{FF2B5EF4-FFF2-40B4-BE49-F238E27FC236}">
                <a16:creationId xmlns:a16="http://schemas.microsoft.com/office/drawing/2014/main" id="{E1E74279-9E02-8B6D-3BD0-21D11473F914}"/>
              </a:ext>
            </a:extLst>
          </p:cNvPr>
          <p:cNvSpPr/>
          <p:nvPr/>
        </p:nvSpPr>
        <p:spPr>
          <a:xfrm>
            <a:off x="6439170" y="5464820"/>
            <a:ext cx="4570958" cy="523220"/>
          </a:xfrm>
          <a:prstGeom prst="rect">
            <a:avLst/>
          </a:prstGeom>
          <a:noFill/>
        </p:spPr>
        <p:txBody>
          <a:bodyPr wrap="square" lIns="91440" tIns="45720" rIns="91440" bIns="45720">
            <a:spAutoFit/>
          </a:bodyPr>
          <a:lstStyle/>
          <a:p>
            <a:pPr algn="ctr"/>
            <a:r>
              <a:rPr lang="en-GB" sz="2800" b="1" spc="50" dirty="0">
                <a:ln w="9525" cmpd="sng">
                  <a:solidFill>
                    <a:schemeClr val="accent1"/>
                  </a:solidFill>
                  <a:prstDash val="solid"/>
                </a:ln>
                <a:solidFill>
                  <a:srgbClr val="70AD47">
                    <a:tint val="1000"/>
                  </a:srgbClr>
                </a:solidFill>
                <a:effectLst>
                  <a:glow rad="38100">
                    <a:schemeClr val="accent1">
                      <a:alpha val="40000"/>
                    </a:schemeClr>
                  </a:glow>
                </a:effectLst>
              </a:rPr>
              <a:t>The Tower of Basel</a:t>
            </a:r>
          </a:p>
        </p:txBody>
      </p:sp>
      <p:sp>
        <p:nvSpPr>
          <p:cNvPr id="8" name="Rectangle 6">
            <a:extLst>
              <a:ext uri="{FF2B5EF4-FFF2-40B4-BE49-F238E27FC236}">
                <a16:creationId xmlns:a16="http://schemas.microsoft.com/office/drawing/2014/main" id="{C460D746-267D-FC19-C7C2-3B751FAC5F35}"/>
              </a:ext>
            </a:extLst>
          </p:cNvPr>
          <p:cNvSpPr/>
          <p:nvPr/>
        </p:nvSpPr>
        <p:spPr>
          <a:xfrm>
            <a:off x="590560" y="5384191"/>
            <a:ext cx="4570958" cy="523220"/>
          </a:xfrm>
          <a:prstGeom prst="rect">
            <a:avLst/>
          </a:prstGeom>
          <a:noFill/>
        </p:spPr>
        <p:txBody>
          <a:bodyPr wrap="square" lIns="91440" tIns="45720" rIns="91440" bIns="45720">
            <a:spAutoFit/>
          </a:bodyPr>
          <a:lstStyle/>
          <a:p>
            <a:pPr algn="ctr"/>
            <a:r>
              <a:rPr lang="en-GB" sz="2800" b="1" spc="50" dirty="0">
                <a:ln w="9525" cmpd="sng">
                  <a:solidFill>
                    <a:schemeClr val="accent1"/>
                  </a:solidFill>
                  <a:prstDash val="solid"/>
                </a:ln>
                <a:solidFill>
                  <a:srgbClr val="70AD47">
                    <a:tint val="1000"/>
                  </a:srgbClr>
                </a:solidFill>
                <a:effectLst>
                  <a:glow rad="38100">
                    <a:schemeClr val="accent1">
                      <a:alpha val="40000"/>
                    </a:schemeClr>
                  </a:glow>
                </a:effectLst>
              </a:rPr>
              <a:t>The Tower of Babel</a:t>
            </a:r>
          </a:p>
        </p:txBody>
      </p:sp>
    </p:spTree>
    <p:extLst>
      <p:ext uri="{BB962C8B-B14F-4D97-AF65-F5344CB8AC3E}">
        <p14:creationId xmlns:p14="http://schemas.microsoft.com/office/powerpoint/2010/main" val="2843864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6EC1C1C-BFE6-4D4F-B2E8-66045296BAC2}"/>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A6EC1C1C-BFE6-4D4F-B2E8-66045296BAC2}"/>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pic>
        <p:nvPicPr>
          <p:cNvPr id="8" name="Content Placeholder 7">
            <a:extLst>
              <a:ext uri="{FF2B5EF4-FFF2-40B4-BE49-F238E27FC236}">
                <a16:creationId xmlns:a16="http://schemas.microsoft.com/office/drawing/2014/main" id="{873D57CC-AC91-4E48-B575-3126CE104363}"/>
              </a:ext>
            </a:extLst>
          </p:cNvPr>
          <p:cNvPicPr>
            <a:picLocks noGrp="1" noChangeAspect="1"/>
          </p:cNvPicPr>
          <p:nvPr>
            <p:ph idx="1"/>
          </p:nvPr>
        </p:nvPicPr>
        <p:blipFill rotWithShape="1">
          <a:blip r:embed="rId5"/>
          <a:srcRect l="15761" r="23852"/>
          <a:stretch/>
        </p:blipFill>
        <p:spPr>
          <a:xfrm>
            <a:off x="1609065" y="1319213"/>
            <a:ext cx="2130016" cy="4752975"/>
          </a:xfrm>
        </p:spPr>
      </p:pic>
      <p:sp>
        <p:nvSpPr>
          <p:cNvPr id="3" name="Title 2">
            <a:extLst>
              <a:ext uri="{FF2B5EF4-FFF2-40B4-BE49-F238E27FC236}">
                <a16:creationId xmlns:a16="http://schemas.microsoft.com/office/drawing/2014/main" id="{858A0A28-9B4C-480F-81B3-5001688BFC62}"/>
              </a:ext>
            </a:extLst>
          </p:cNvPr>
          <p:cNvSpPr>
            <a:spLocks noGrp="1"/>
          </p:cNvSpPr>
          <p:nvPr>
            <p:ph type="title"/>
          </p:nvPr>
        </p:nvSpPr>
        <p:spPr/>
        <p:txBody>
          <a:bodyPr vert="horz">
            <a:normAutofit fontScale="90000"/>
          </a:bodyPr>
          <a:lstStyle/>
          <a:p>
            <a:r>
              <a:rPr lang="en-GB" dirty="0"/>
              <a:t>From the </a:t>
            </a:r>
            <a:r>
              <a:rPr lang="en-GB" dirty="0" err="1"/>
              <a:t>Herstatt</a:t>
            </a:r>
            <a:r>
              <a:rPr lang="en-GB" dirty="0"/>
              <a:t> Bank failure to the Basel Committee on Banking Supervision</a:t>
            </a:r>
          </a:p>
        </p:txBody>
      </p:sp>
      <p:pic>
        <p:nvPicPr>
          <p:cNvPr id="9" name="Picture 3">
            <a:extLst>
              <a:ext uri="{FF2B5EF4-FFF2-40B4-BE49-F238E27FC236}">
                <a16:creationId xmlns:a16="http://schemas.microsoft.com/office/drawing/2014/main" id="{C503D4F6-4240-45BE-A1FB-C9F4E31E0F02}"/>
              </a:ext>
            </a:extLst>
          </p:cNvPr>
          <p:cNvPicPr>
            <a:picLocks noChangeAspect="1" noChangeArrowheads="1"/>
          </p:cNvPicPr>
          <p:nvPr/>
        </p:nvPicPr>
        <p:blipFill>
          <a:blip r:embed="rId6"/>
          <a:srcRect/>
          <a:stretch>
            <a:fillRect/>
          </a:stretch>
        </p:blipFill>
        <p:spPr bwMode="auto">
          <a:xfrm>
            <a:off x="7898803" y="1295401"/>
            <a:ext cx="2684133" cy="1899203"/>
          </a:xfrm>
          <a:prstGeom prst="rect">
            <a:avLst/>
          </a:prstGeom>
          <a:noFill/>
          <a:ln w="9525">
            <a:noFill/>
            <a:miter lim="800000"/>
            <a:headEnd/>
            <a:tailEnd/>
          </a:ln>
          <a:effectLst/>
        </p:spPr>
      </p:pic>
      <p:pic>
        <p:nvPicPr>
          <p:cNvPr id="11" name="Picture 10">
            <a:extLst>
              <a:ext uri="{FF2B5EF4-FFF2-40B4-BE49-F238E27FC236}">
                <a16:creationId xmlns:a16="http://schemas.microsoft.com/office/drawing/2014/main" id="{C8C0F9E0-5DF2-41D6-A43F-BCCEA2F2130E}"/>
              </a:ext>
            </a:extLst>
          </p:cNvPr>
          <p:cNvPicPr>
            <a:picLocks noChangeAspect="1"/>
          </p:cNvPicPr>
          <p:nvPr/>
        </p:nvPicPr>
        <p:blipFill>
          <a:blip r:embed="rId7"/>
          <a:stretch>
            <a:fillRect/>
          </a:stretch>
        </p:blipFill>
        <p:spPr>
          <a:xfrm>
            <a:off x="7910432" y="4279024"/>
            <a:ext cx="2681369" cy="1401015"/>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21ACC4CA-6896-46A8-8C44-86A8BF7853FE}"/>
              </a:ext>
            </a:extLst>
          </p:cNvPr>
          <p:cNvSpPr txBox="1"/>
          <p:nvPr/>
        </p:nvSpPr>
        <p:spPr>
          <a:xfrm>
            <a:off x="3886200" y="1295401"/>
            <a:ext cx="3829722" cy="4752975"/>
          </a:xfrm>
          <a:prstGeom prst="rect">
            <a:avLst/>
          </a:prstGeom>
          <a:noFill/>
        </p:spPr>
        <p:txBody>
          <a:bodyPr wrap="square" rtlCol="0">
            <a:noAutofit/>
          </a:bodyPr>
          <a:lstStyle/>
          <a:p>
            <a:pPr marL="171450" indent="-171450">
              <a:buFont typeface="Wingdings" panose="05000000000000000000" pitchFamily="2" charset="2"/>
              <a:buChar char="§"/>
            </a:pPr>
            <a:r>
              <a:rPr lang="en-GB" sz="1200" dirty="0" err="1"/>
              <a:t>Herstatt</a:t>
            </a:r>
            <a:r>
              <a:rPr lang="en-GB" sz="1200" dirty="0"/>
              <a:t> Bank was a privately owned bank in Germany (Cologne), which went bankrupt on the 26</a:t>
            </a:r>
            <a:r>
              <a:rPr lang="en-GB" sz="1200" baseline="30000" dirty="0"/>
              <a:t>th</a:t>
            </a:r>
            <a:r>
              <a:rPr lang="en-GB" sz="1200" dirty="0"/>
              <a:t> of June 1974</a:t>
            </a:r>
          </a:p>
          <a:p>
            <a:pPr marL="171450" indent="-171450">
              <a:buFont typeface="Wingdings" panose="05000000000000000000" pitchFamily="2" charset="2"/>
              <a:buChar char="§"/>
            </a:pPr>
            <a:r>
              <a:rPr lang="en-GB" sz="1200" dirty="0"/>
              <a:t>In the lead up to the bankruptcy - a number of banks had released payment of DEM (</a:t>
            </a:r>
            <a:r>
              <a:rPr lang="en-GB" sz="1200" dirty="0" err="1"/>
              <a:t>Deutch</a:t>
            </a:r>
            <a:r>
              <a:rPr lang="en-GB" sz="1200" dirty="0"/>
              <a:t> Marks) to </a:t>
            </a:r>
            <a:r>
              <a:rPr lang="en-GB" sz="1200" dirty="0" err="1"/>
              <a:t>Herstatt</a:t>
            </a:r>
            <a:r>
              <a:rPr lang="en-GB" sz="1200" dirty="0"/>
              <a:t> in Frankfurt in exchange for USD that was to be delivered in New York. Because of time-zone differences, </a:t>
            </a:r>
            <a:r>
              <a:rPr lang="en-GB" sz="1200" dirty="0" err="1"/>
              <a:t>Herstatt</a:t>
            </a:r>
            <a:r>
              <a:rPr lang="en-GB" sz="1200" dirty="0"/>
              <a:t> ceased operations between the times of the respective payments and the counterparty banks did not receive their USD payments</a:t>
            </a:r>
          </a:p>
          <a:p>
            <a:pPr marL="171450" indent="-171450">
              <a:buFont typeface="Wingdings" panose="05000000000000000000" pitchFamily="2" charset="2"/>
              <a:buChar char="§"/>
            </a:pPr>
            <a:r>
              <a:rPr lang="en-GB" sz="1200" dirty="0"/>
              <a:t>On June 26, 1974, German regulators forced the ‘troubled’ Bank </a:t>
            </a:r>
            <a:r>
              <a:rPr lang="en-GB" sz="1200" dirty="0" err="1"/>
              <a:t>Herstatt</a:t>
            </a:r>
            <a:r>
              <a:rPr lang="en-GB" sz="1200" dirty="0"/>
              <a:t> into liquidation. This type of settlement risk, in which one party in a foreign exchange trade pays out the currency it sold but does not receive the currency it bought, is sometimes called </a:t>
            </a:r>
            <a:r>
              <a:rPr lang="en-GB" sz="1200" dirty="0" err="1"/>
              <a:t>Herstatt</a:t>
            </a:r>
            <a:r>
              <a:rPr lang="en-GB" sz="1200" dirty="0"/>
              <a:t> risk</a:t>
            </a:r>
          </a:p>
          <a:p>
            <a:pPr marL="171450" indent="-171450">
              <a:buFont typeface="Wingdings" panose="05000000000000000000" pitchFamily="2" charset="2"/>
              <a:buChar char="§"/>
            </a:pPr>
            <a:r>
              <a:rPr lang="en-GB" sz="1200" dirty="0"/>
              <a:t>Responding to the cross-jurisdictional implications of the </a:t>
            </a:r>
            <a:r>
              <a:rPr lang="en-GB" sz="1200" dirty="0" err="1"/>
              <a:t>Herstatt</a:t>
            </a:r>
            <a:r>
              <a:rPr lang="en-GB" sz="1200" dirty="0"/>
              <a:t> debacle, the G-10 formed a standing committee under the auspices of the Bank for International Settlements (BIS)</a:t>
            </a:r>
          </a:p>
          <a:p>
            <a:pPr marL="171450" indent="-171450">
              <a:buFont typeface="Wingdings" panose="05000000000000000000" pitchFamily="2" charset="2"/>
              <a:buChar char="§"/>
            </a:pPr>
            <a:r>
              <a:rPr lang="en-GB" sz="1200" dirty="0"/>
              <a:t>Called the Basel Committee on Banking Supervision (BCBS), the committee comprises representatives from central banks and regulatory authorities</a:t>
            </a:r>
          </a:p>
          <a:p>
            <a:pPr marL="171450" indent="-171450">
              <a:buFont typeface="Wingdings" panose="05000000000000000000" pitchFamily="2" charset="2"/>
              <a:buChar char="§"/>
            </a:pPr>
            <a:endParaRPr lang="en-GB" dirty="0">
              <a:cs typeface="Trebuchet MS"/>
            </a:endParaRPr>
          </a:p>
        </p:txBody>
      </p:sp>
    </p:spTree>
    <p:extLst>
      <p:ext uri="{BB962C8B-B14F-4D97-AF65-F5344CB8AC3E}">
        <p14:creationId xmlns:p14="http://schemas.microsoft.com/office/powerpoint/2010/main" val="24635125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981200" y="122238"/>
            <a:ext cx="7543800" cy="714474"/>
          </a:xfrm>
        </p:spPr>
        <p:txBody>
          <a:bodyPr/>
          <a:lstStyle/>
          <a:p>
            <a:r>
              <a:rPr lang="hu-HU" sz="2800" dirty="0" err="1"/>
              <a:t>Why</a:t>
            </a:r>
            <a:r>
              <a:rPr lang="hu-HU" sz="2800" dirty="0"/>
              <a:t> </a:t>
            </a:r>
            <a:r>
              <a:rPr lang="hu-HU" sz="2800" dirty="0" err="1"/>
              <a:t>regulate</a:t>
            </a:r>
            <a:r>
              <a:rPr lang="hu-HU" sz="2800" dirty="0"/>
              <a:t> </a:t>
            </a:r>
            <a:r>
              <a:rPr lang="hu-HU" sz="2800" dirty="0" err="1"/>
              <a:t>banks</a:t>
            </a:r>
            <a:r>
              <a:rPr lang="hu-HU" sz="2800" dirty="0"/>
              <a:t>?</a:t>
            </a:r>
          </a:p>
        </p:txBody>
      </p:sp>
      <p:sp>
        <p:nvSpPr>
          <p:cNvPr id="3" name="Szöveg helye 2"/>
          <p:cNvSpPr>
            <a:spLocks noGrp="1"/>
          </p:cNvSpPr>
          <p:nvPr>
            <p:ph type="body" sz="half" idx="1"/>
          </p:nvPr>
        </p:nvSpPr>
        <p:spPr>
          <a:xfrm>
            <a:off x="2063552" y="1052736"/>
            <a:ext cx="8064896" cy="5256584"/>
          </a:xfrm>
        </p:spPr>
        <p:txBody>
          <a:bodyPr>
            <a:normAutofit/>
          </a:bodyPr>
          <a:lstStyle/>
          <a:p>
            <a:r>
              <a:rPr lang="hu-HU" sz="1800" dirty="0"/>
              <a:t>Cost of </a:t>
            </a:r>
            <a:r>
              <a:rPr lang="hu-HU" sz="1800" dirty="0" err="1"/>
              <a:t>bankruptcy</a:t>
            </a:r>
            <a:r>
              <a:rPr lang="hu-HU" sz="1800" dirty="0"/>
              <a:t> is </a:t>
            </a:r>
            <a:r>
              <a:rPr lang="hu-HU" sz="1800" dirty="0" err="1"/>
              <a:t>higher</a:t>
            </a:r>
            <a:r>
              <a:rPr lang="hu-HU" sz="1800" dirty="0"/>
              <a:t> </a:t>
            </a:r>
            <a:r>
              <a:rPr lang="hu-HU" sz="1800" dirty="0" err="1"/>
              <a:t>for</a:t>
            </a:r>
            <a:r>
              <a:rPr lang="hu-HU" sz="1800" dirty="0"/>
              <a:t> </a:t>
            </a:r>
            <a:r>
              <a:rPr lang="hu-HU" sz="1800" dirty="0" err="1"/>
              <a:t>the</a:t>
            </a:r>
            <a:r>
              <a:rPr lang="hu-HU" sz="1800" dirty="0"/>
              <a:t> </a:t>
            </a:r>
            <a:r>
              <a:rPr lang="hu-HU" sz="1800" dirty="0" err="1"/>
              <a:t>society</a:t>
            </a:r>
            <a:r>
              <a:rPr lang="hu-HU" sz="1800" dirty="0"/>
              <a:t> </a:t>
            </a:r>
            <a:r>
              <a:rPr lang="hu-HU" sz="1800" dirty="0" err="1"/>
              <a:t>than</a:t>
            </a:r>
            <a:r>
              <a:rPr lang="hu-HU" sz="1800" dirty="0"/>
              <a:t> </a:t>
            </a:r>
            <a:r>
              <a:rPr lang="hu-HU" sz="1800" dirty="0" err="1"/>
              <a:t>for</a:t>
            </a:r>
            <a:r>
              <a:rPr lang="hu-HU" sz="1800" dirty="0"/>
              <a:t> </a:t>
            </a:r>
            <a:r>
              <a:rPr lang="hu-HU" sz="1800" dirty="0" err="1"/>
              <a:t>the</a:t>
            </a:r>
            <a:r>
              <a:rPr lang="hu-HU" sz="1800" dirty="0"/>
              <a:t> </a:t>
            </a:r>
            <a:r>
              <a:rPr lang="hu-HU" sz="1800" dirty="0" err="1"/>
              <a:t>owners</a:t>
            </a:r>
            <a:r>
              <a:rPr lang="hu-HU" sz="1800" dirty="0"/>
              <a:t> of a bank</a:t>
            </a:r>
          </a:p>
          <a:p>
            <a:pPr lvl="1"/>
            <a:r>
              <a:rPr lang="hu-HU" sz="1400" dirty="0" err="1"/>
              <a:t>Bankruptcy</a:t>
            </a:r>
            <a:r>
              <a:rPr lang="hu-HU" sz="1400" dirty="0"/>
              <a:t> </a:t>
            </a:r>
            <a:r>
              <a:rPr lang="hu-HU" sz="1400" dirty="0" err="1"/>
              <a:t>recreates</a:t>
            </a:r>
            <a:r>
              <a:rPr lang="hu-HU" sz="1400" dirty="0"/>
              <a:t>  </a:t>
            </a:r>
            <a:r>
              <a:rPr lang="hu-HU" sz="1400" dirty="0" err="1"/>
              <a:t>assymmetric</a:t>
            </a:r>
            <a:r>
              <a:rPr lang="hu-HU" sz="1400" dirty="0"/>
              <a:t> </a:t>
            </a:r>
            <a:r>
              <a:rPr lang="hu-HU" sz="1400" dirty="0" err="1"/>
              <a:t>information</a:t>
            </a:r>
            <a:endParaRPr lang="hu-HU" sz="1400" dirty="0"/>
          </a:p>
          <a:p>
            <a:pPr lvl="1"/>
            <a:r>
              <a:rPr lang="hu-HU" sz="1400" dirty="0" err="1"/>
              <a:t>Chance</a:t>
            </a:r>
            <a:r>
              <a:rPr lang="hu-HU" sz="1400" dirty="0"/>
              <a:t> </a:t>
            </a:r>
            <a:r>
              <a:rPr lang="hu-HU" sz="1400" dirty="0" err="1"/>
              <a:t>for</a:t>
            </a:r>
            <a:r>
              <a:rPr lang="hu-HU" sz="1400" dirty="0"/>
              <a:t> </a:t>
            </a:r>
            <a:r>
              <a:rPr lang="hu-HU" sz="1400" dirty="0" err="1"/>
              <a:t>contangion</a:t>
            </a:r>
            <a:r>
              <a:rPr lang="hu-HU" sz="1400" dirty="0"/>
              <a:t> is </a:t>
            </a:r>
            <a:r>
              <a:rPr lang="hu-HU" sz="1400" dirty="0" err="1"/>
              <a:t>higher</a:t>
            </a:r>
            <a:r>
              <a:rPr lang="hu-HU" sz="1400" dirty="0"/>
              <a:t> </a:t>
            </a:r>
            <a:r>
              <a:rPr lang="hu-HU" sz="1400" dirty="0" err="1"/>
              <a:t>because</a:t>
            </a:r>
            <a:r>
              <a:rPr lang="hu-HU" sz="1400" dirty="0"/>
              <a:t> of </a:t>
            </a:r>
            <a:r>
              <a:rPr lang="hu-HU" sz="1400" dirty="0" err="1"/>
              <a:t>the</a:t>
            </a:r>
            <a:r>
              <a:rPr lang="hu-HU" sz="1400" dirty="0"/>
              <a:t> </a:t>
            </a:r>
            <a:r>
              <a:rPr lang="hu-HU" sz="1400" dirty="0" err="1"/>
              <a:t>fragility</a:t>
            </a:r>
            <a:r>
              <a:rPr lang="hu-HU" sz="1400" dirty="0"/>
              <a:t> of </a:t>
            </a:r>
            <a:r>
              <a:rPr lang="hu-HU" sz="1400" dirty="0" err="1"/>
              <a:t>the</a:t>
            </a:r>
            <a:r>
              <a:rPr lang="hu-HU" sz="1400" dirty="0"/>
              <a:t> </a:t>
            </a:r>
            <a:r>
              <a:rPr lang="hu-HU" sz="1400" dirty="0" err="1"/>
              <a:t>banks</a:t>
            </a:r>
            <a:r>
              <a:rPr lang="hu-HU" sz="1400" dirty="0"/>
              <a:t> -&gt; </a:t>
            </a:r>
            <a:r>
              <a:rPr lang="hu-HU" sz="1400" dirty="0" err="1"/>
              <a:t>the</a:t>
            </a:r>
            <a:r>
              <a:rPr lang="hu-HU" sz="1400" dirty="0"/>
              <a:t> </a:t>
            </a:r>
            <a:r>
              <a:rPr lang="hu-HU" sz="1400" dirty="0" err="1"/>
              <a:t>whole</a:t>
            </a:r>
            <a:r>
              <a:rPr lang="hu-HU" sz="1400" dirty="0"/>
              <a:t> banking </a:t>
            </a:r>
            <a:r>
              <a:rPr lang="hu-HU" sz="1400" dirty="0" err="1"/>
              <a:t>system</a:t>
            </a:r>
            <a:r>
              <a:rPr lang="hu-HU" sz="1400" dirty="0"/>
              <a:t> </a:t>
            </a:r>
            <a:r>
              <a:rPr lang="hu-HU" sz="1400" dirty="0" err="1"/>
              <a:t>might</a:t>
            </a:r>
            <a:r>
              <a:rPr lang="hu-HU" sz="1400" dirty="0"/>
              <a:t> </a:t>
            </a:r>
            <a:r>
              <a:rPr lang="hu-HU" sz="1400" dirty="0" err="1"/>
              <a:t>collapse</a:t>
            </a:r>
            <a:endParaRPr lang="hu-HU" sz="1400" dirty="0"/>
          </a:p>
          <a:p>
            <a:pPr lvl="1"/>
            <a:r>
              <a:rPr lang="hu-HU" sz="1400" dirty="0"/>
              <a:t>Modern </a:t>
            </a:r>
            <a:r>
              <a:rPr lang="hu-HU" sz="1400" dirty="0" err="1"/>
              <a:t>money</a:t>
            </a:r>
            <a:r>
              <a:rPr lang="hu-HU" sz="1400" dirty="0"/>
              <a:t> is a bank </a:t>
            </a:r>
            <a:r>
              <a:rPr lang="hu-HU" sz="1400" dirty="0" err="1"/>
              <a:t>liability</a:t>
            </a:r>
            <a:r>
              <a:rPr lang="hu-HU" sz="1400" dirty="0"/>
              <a:t>!</a:t>
            </a:r>
          </a:p>
          <a:p>
            <a:pPr lvl="1"/>
            <a:r>
              <a:rPr lang="hu-HU" sz="1400" dirty="0" err="1"/>
              <a:t>High</a:t>
            </a:r>
            <a:r>
              <a:rPr lang="hu-HU" sz="1400" dirty="0"/>
              <a:t> </a:t>
            </a:r>
            <a:r>
              <a:rPr lang="hu-HU" sz="1400" dirty="0" err="1"/>
              <a:t>bankruptcy</a:t>
            </a:r>
            <a:r>
              <a:rPr lang="hu-HU" sz="1400" dirty="0"/>
              <a:t> cost in </a:t>
            </a:r>
            <a:r>
              <a:rPr lang="hu-HU" sz="1400" dirty="0" err="1"/>
              <a:t>case</a:t>
            </a:r>
            <a:r>
              <a:rPr lang="hu-HU" sz="1400" dirty="0"/>
              <a:t> of </a:t>
            </a:r>
            <a:r>
              <a:rPr lang="hu-HU" sz="1400" dirty="0" err="1"/>
              <a:t>small</a:t>
            </a:r>
            <a:r>
              <a:rPr lang="hu-HU" sz="1400" dirty="0"/>
              <a:t> </a:t>
            </a:r>
            <a:r>
              <a:rPr lang="hu-HU" sz="1400" dirty="0" err="1"/>
              <a:t>depositors</a:t>
            </a:r>
            <a:endParaRPr lang="hu-HU" sz="1400" dirty="0"/>
          </a:p>
          <a:p>
            <a:r>
              <a:rPr lang="hu-HU" sz="1800" dirty="0" err="1"/>
              <a:t>Protect</a:t>
            </a:r>
            <a:r>
              <a:rPr lang="hu-HU" sz="1800" dirty="0"/>
              <a:t> </a:t>
            </a:r>
            <a:r>
              <a:rPr lang="hu-HU" sz="1800" dirty="0" err="1"/>
              <a:t>depositors</a:t>
            </a:r>
            <a:r>
              <a:rPr lang="hu-HU" sz="1800" dirty="0"/>
              <a:t>?</a:t>
            </a:r>
          </a:p>
          <a:p>
            <a:r>
              <a:rPr lang="hu-HU" sz="1800" dirty="0" err="1"/>
              <a:t>Higher</a:t>
            </a:r>
            <a:r>
              <a:rPr lang="hu-HU" sz="1800" dirty="0"/>
              <a:t> </a:t>
            </a:r>
            <a:r>
              <a:rPr lang="hu-HU" sz="1800" dirty="0" err="1"/>
              <a:t>capital</a:t>
            </a:r>
            <a:r>
              <a:rPr lang="hu-HU" sz="1800" dirty="0"/>
              <a:t>, </a:t>
            </a:r>
            <a:r>
              <a:rPr lang="hu-HU" sz="1800" dirty="0" err="1"/>
              <a:t>higher</a:t>
            </a:r>
            <a:r>
              <a:rPr lang="hu-HU" sz="1800" dirty="0"/>
              <a:t> </a:t>
            </a:r>
            <a:r>
              <a:rPr lang="hu-HU" sz="1800" dirty="0" err="1"/>
              <a:t>safety</a:t>
            </a:r>
            <a:r>
              <a:rPr lang="hu-HU" sz="1800" dirty="0"/>
              <a:t>? </a:t>
            </a:r>
            <a:r>
              <a:rPr lang="hu-HU" sz="1800" dirty="0" err="1"/>
              <a:t>Risk</a:t>
            </a:r>
            <a:r>
              <a:rPr lang="hu-HU" sz="1800" dirty="0"/>
              <a:t> -&gt; Capital</a:t>
            </a:r>
          </a:p>
          <a:p>
            <a:r>
              <a:rPr lang="hu-HU" sz="1800" dirty="0" err="1"/>
              <a:t>Types</a:t>
            </a:r>
            <a:r>
              <a:rPr lang="hu-HU" sz="1800" dirty="0"/>
              <a:t> of </a:t>
            </a:r>
            <a:r>
              <a:rPr lang="hu-HU" sz="1800" dirty="0" err="1"/>
              <a:t>risks</a:t>
            </a:r>
            <a:r>
              <a:rPr lang="hu-HU" sz="1800" dirty="0"/>
              <a:t>:</a:t>
            </a:r>
          </a:p>
          <a:p>
            <a:pPr lvl="1"/>
            <a:r>
              <a:rPr lang="hu-HU" sz="1400" dirty="0"/>
              <a:t>Market</a:t>
            </a:r>
          </a:p>
          <a:p>
            <a:pPr lvl="1"/>
            <a:r>
              <a:rPr lang="hu-HU" sz="1400" dirty="0" err="1"/>
              <a:t>Liquidity</a:t>
            </a:r>
            <a:endParaRPr lang="hu-HU" sz="1400" dirty="0"/>
          </a:p>
          <a:p>
            <a:pPr lvl="1"/>
            <a:r>
              <a:rPr lang="hu-HU" sz="1400" dirty="0"/>
              <a:t>Credit</a:t>
            </a:r>
          </a:p>
          <a:p>
            <a:pPr lvl="1"/>
            <a:r>
              <a:rPr lang="hu-HU" sz="1400" dirty="0"/>
              <a:t>Interest </a:t>
            </a:r>
            <a:r>
              <a:rPr lang="hu-HU" sz="1400" dirty="0" err="1"/>
              <a:t>rate</a:t>
            </a:r>
            <a:endParaRPr lang="hu-HU" sz="1400" dirty="0"/>
          </a:p>
          <a:p>
            <a:pPr lvl="1"/>
            <a:r>
              <a:rPr lang="hu-HU" sz="1400" dirty="0" err="1"/>
              <a:t>Settlement</a:t>
            </a:r>
            <a:endParaRPr lang="hu-HU" sz="1400" dirty="0"/>
          </a:p>
          <a:p>
            <a:pPr lvl="1"/>
            <a:r>
              <a:rPr lang="hu-HU" sz="1400" dirty="0" err="1"/>
              <a:t>Reputational</a:t>
            </a:r>
            <a:endParaRPr lang="hu-HU" sz="1400" dirty="0"/>
          </a:p>
          <a:p>
            <a:pPr lvl="1"/>
            <a:r>
              <a:rPr lang="hu-HU" sz="1400" dirty="0" err="1"/>
              <a:t>Operational</a:t>
            </a:r>
            <a:endParaRPr lang="hu-HU" sz="1400" dirty="0"/>
          </a:p>
          <a:p>
            <a:pPr lvl="1"/>
            <a:r>
              <a:rPr lang="hu-HU" sz="1400" dirty="0"/>
              <a:t>…</a:t>
            </a:r>
          </a:p>
        </p:txBody>
      </p:sp>
    </p:spTree>
    <p:extLst>
      <p:ext uri="{BB962C8B-B14F-4D97-AF65-F5344CB8AC3E}">
        <p14:creationId xmlns:p14="http://schemas.microsoft.com/office/powerpoint/2010/main" val="21938193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5364E46-733F-4E8D-B1F2-1A9C3A4228CE}"/>
              </a:ext>
            </a:extLst>
          </p:cNvPr>
          <p:cNvSpPr>
            <a:spLocks noGrp="1"/>
          </p:cNvSpPr>
          <p:nvPr>
            <p:ph type="title"/>
          </p:nvPr>
        </p:nvSpPr>
        <p:spPr/>
        <p:txBody>
          <a:bodyPr/>
          <a:lstStyle/>
          <a:p>
            <a:r>
              <a:rPr lang="hu-HU" dirty="0" err="1"/>
              <a:t>Regulation</a:t>
            </a:r>
            <a:r>
              <a:rPr lang="hu-HU" dirty="0"/>
              <a:t> of </a:t>
            </a:r>
            <a:r>
              <a:rPr lang="hu-HU" dirty="0" err="1"/>
              <a:t>Banks</a:t>
            </a:r>
            <a:endParaRPr lang="hu-HU" dirty="0"/>
          </a:p>
        </p:txBody>
      </p:sp>
      <p:sp>
        <p:nvSpPr>
          <p:cNvPr id="3" name="Szöveg helye 2">
            <a:extLst>
              <a:ext uri="{FF2B5EF4-FFF2-40B4-BE49-F238E27FC236}">
                <a16:creationId xmlns:a16="http://schemas.microsoft.com/office/drawing/2014/main" id="{307FA620-5AB7-4C86-869E-30D72356ED8E}"/>
              </a:ext>
            </a:extLst>
          </p:cNvPr>
          <p:cNvSpPr>
            <a:spLocks noGrp="1"/>
          </p:cNvSpPr>
          <p:nvPr>
            <p:ph type="body" sz="half" idx="1"/>
          </p:nvPr>
        </p:nvSpPr>
        <p:spPr>
          <a:xfrm>
            <a:off x="1414731" y="1518250"/>
            <a:ext cx="8462513" cy="4468482"/>
          </a:xfrm>
        </p:spPr>
        <p:txBody>
          <a:bodyPr>
            <a:normAutofit fontScale="92500" lnSpcReduction="10000"/>
          </a:bodyPr>
          <a:lstStyle/>
          <a:p>
            <a:r>
              <a:rPr lang="hu-HU" sz="3400" dirty="0" err="1"/>
              <a:t>Organizational</a:t>
            </a:r>
            <a:r>
              <a:rPr lang="hu-HU" sz="3400" dirty="0"/>
              <a:t> </a:t>
            </a:r>
            <a:r>
              <a:rPr lang="hu-HU" sz="3400" dirty="0" err="1"/>
              <a:t>rules</a:t>
            </a:r>
            <a:endParaRPr lang="hu-HU" sz="3400" dirty="0"/>
          </a:p>
          <a:p>
            <a:pPr lvl="1"/>
            <a:r>
              <a:rPr lang="hu-HU" sz="2600" dirty="0" err="1"/>
              <a:t>What</a:t>
            </a:r>
            <a:r>
              <a:rPr lang="hu-HU" sz="2600" dirty="0"/>
              <a:t> </a:t>
            </a:r>
            <a:r>
              <a:rPr lang="hu-HU" sz="2600" dirty="0" err="1"/>
              <a:t>kind</a:t>
            </a:r>
            <a:r>
              <a:rPr lang="hu-HU" sz="2600" dirty="0"/>
              <a:t> of </a:t>
            </a:r>
            <a:r>
              <a:rPr lang="hu-HU" sz="2600" dirty="0" err="1"/>
              <a:t>enterprises</a:t>
            </a:r>
            <a:r>
              <a:rPr lang="hu-HU" sz="2600" dirty="0"/>
              <a:t> </a:t>
            </a:r>
            <a:r>
              <a:rPr lang="hu-HU" sz="2600" dirty="0" err="1"/>
              <a:t>can</a:t>
            </a:r>
            <a:r>
              <a:rPr lang="hu-HU" sz="2600" dirty="0"/>
              <a:t> </a:t>
            </a:r>
            <a:r>
              <a:rPr lang="hu-HU" sz="2600" dirty="0" err="1"/>
              <a:t>provide</a:t>
            </a:r>
            <a:r>
              <a:rPr lang="hu-HU" sz="2600" dirty="0"/>
              <a:t> </a:t>
            </a:r>
            <a:r>
              <a:rPr lang="hu-HU" sz="2600" dirty="0" err="1"/>
              <a:t>financial</a:t>
            </a:r>
            <a:r>
              <a:rPr lang="hu-HU" sz="2600" dirty="0"/>
              <a:t> </a:t>
            </a:r>
            <a:r>
              <a:rPr lang="hu-HU" sz="2600" dirty="0" err="1"/>
              <a:t>services</a:t>
            </a:r>
            <a:r>
              <a:rPr lang="hu-HU" sz="2600" dirty="0"/>
              <a:t>?</a:t>
            </a:r>
          </a:p>
          <a:p>
            <a:r>
              <a:rPr lang="hu-HU" sz="3400" dirty="0" err="1"/>
              <a:t>Procedural</a:t>
            </a:r>
            <a:r>
              <a:rPr lang="hu-HU" sz="3400" dirty="0"/>
              <a:t> </a:t>
            </a:r>
            <a:r>
              <a:rPr lang="hu-HU" sz="3400" dirty="0" err="1"/>
              <a:t>rules</a:t>
            </a:r>
            <a:endParaRPr lang="hu-HU" sz="3400" dirty="0"/>
          </a:p>
          <a:p>
            <a:pPr lvl="1"/>
            <a:r>
              <a:rPr lang="hu-HU" sz="2600" dirty="0" err="1"/>
              <a:t>What</a:t>
            </a:r>
            <a:r>
              <a:rPr lang="hu-HU" sz="2600" dirty="0"/>
              <a:t> </a:t>
            </a:r>
            <a:r>
              <a:rPr lang="hu-HU" sz="2600" dirty="0" err="1"/>
              <a:t>can</a:t>
            </a:r>
            <a:r>
              <a:rPr lang="hu-HU" sz="2600" dirty="0"/>
              <a:t> Financial </a:t>
            </a:r>
            <a:r>
              <a:rPr lang="hu-HU" sz="2600" dirty="0" err="1"/>
              <a:t>Institutions</a:t>
            </a:r>
            <a:r>
              <a:rPr lang="hu-HU" sz="2600" dirty="0"/>
              <a:t> </a:t>
            </a:r>
            <a:r>
              <a:rPr lang="hu-HU" sz="2600" dirty="0" err="1"/>
              <a:t>do</a:t>
            </a:r>
            <a:r>
              <a:rPr lang="hu-HU" sz="2600" dirty="0"/>
              <a:t>?</a:t>
            </a:r>
          </a:p>
          <a:p>
            <a:r>
              <a:rPr lang="hu-HU" sz="3400" dirty="0" err="1"/>
              <a:t>Regulatory</a:t>
            </a:r>
            <a:r>
              <a:rPr lang="hu-HU" sz="3400" dirty="0"/>
              <a:t> </a:t>
            </a:r>
            <a:r>
              <a:rPr lang="hu-HU" sz="3400" dirty="0" err="1"/>
              <a:t>tools</a:t>
            </a:r>
            <a:endParaRPr lang="hu-HU" sz="3400" dirty="0"/>
          </a:p>
          <a:p>
            <a:pPr lvl="1"/>
            <a:r>
              <a:rPr lang="hu-HU" sz="2200" dirty="0"/>
              <a:t>Interest </a:t>
            </a:r>
            <a:r>
              <a:rPr lang="hu-HU" sz="2200" dirty="0" err="1"/>
              <a:t>rate</a:t>
            </a:r>
            <a:r>
              <a:rPr lang="hu-HU" sz="2200" dirty="0"/>
              <a:t> </a:t>
            </a:r>
            <a:r>
              <a:rPr lang="hu-HU" sz="2200" dirty="0" err="1"/>
              <a:t>regulations</a:t>
            </a:r>
            <a:endParaRPr lang="hu-HU" sz="2200" dirty="0"/>
          </a:p>
          <a:p>
            <a:pPr lvl="1"/>
            <a:r>
              <a:rPr lang="hu-HU" sz="2200" dirty="0" err="1"/>
              <a:t>Constraints</a:t>
            </a:r>
            <a:r>
              <a:rPr lang="hu-HU" sz="2200" dirty="0"/>
              <a:t> </a:t>
            </a:r>
            <a:r>
              <a:rPr lang="hu-HU" sz="2200" dirty="0" err="1"/>
              <a:t>on</a:t>
            </a:r>
            <a:r>
              <a:rPr lang="hu-HU" sz="2200" dirty="0"/>
              <a:t> </a:t>
            </a:r>
            <a:r>
              <a:rPr lang="hu-HU" sz="2200" dirty="0" err="1"/>
              <a:t>mergers</a:t>
            </a:r>
            <a:r>
              <a:rPr lang="hu-HU" sz="2200" dirty="0"/>
              <a:t> and </a:t>
            </a:r>
            <a:r>
              <a:rPr lang="hu-HU" sz="2200" dirty="0" err="1"/>
              <a:t>entry</a:t>
            </a:r>
            <a:endParaRPr lang="hu-HU" sz="2200" dirty="0"/>
          </a:p>
          <a:p>
            <a:pPr lvl="1"/>
            <a:r>
              <a:rPr lang="hu-HU" sz="2200" dirty="0" err="1"/>
              <a:t>Limits</a:t>
            </a:r>
            <a:r>
              <a:rPr lang="hu-HU" sz="2200" dirty="0"/>
              <a:t> </a:t>
            </a:r>
            <a:r>
              <a:rPr lang="hu-HU" sz="2200" dirty="0" err="1"/>
              <a:t>on</a:t>
            </a:r>
            <a:r>
              <a:rPr lang="hu-HU" sz="2200" dirty="0"/>
              <a:t> </a:t>
            </a:r>
            <a:r>
              <a:rPr lang="hu-HU" sz="2200" dirty="0" err="1"/>
              <a:t>portfolios</a:t>
            </a:r>
            <a:r>
              <a:rPr lang="hu-HU" sz="2200" dirty="0"/>
              <a:t>, </a:t>
            </a:r>
            <a:r>
              <a:rPr lang="hu-HU" sz="2200" dirty="0" err="1"/>
              <a:t>reserves</a:t>
            </a:r>
            <a:endParaRPr lang="hu-HU" sz="2200" dirty="0"/>
          </a:p>
          <a:p>
            <a:pPr lvl="1"/>
            <a:r>
              <a:rPr lang="hu-HU" sz="2200" dirty="0" err="1"/>
              <a:t>Deposit</a:t>
            </a:r>
            <a:r>
              <a:rPr lang="hu-HU" sz="2200" dirty="0"/>
              <a:t> </a:t>
            </a:r>
            <a:r>
              <a:rPr lang="hu-HU" sz="2200" dirty="0" err="1"/>
              <a:t>insurance</a:t>
            </a:r>
            <a:endParaRPr lang="hu-HU" sz="2200" dirty="0"/>
          </a:p>
          <a:p>
            <a:pPr lvl="1"/>
            <a:r>
              <a:rPr lang="hu-HU" sz="2200" dirty="0"/>
              <a:t>Capital </a:t>
            </a:r>
            <a:r>
              <a:rPr lang="hu-HU" sz="2200" dirty="0" err="1"/>
              <a:t>requirements</a:t>
            </a:r>
            <a:endParaRPr lang="hu-HU" sz="2200" dirty="0"/>
          </a:p>
          <a:p>
            <a:pPr lvl="1"/>
            <a:r>
              <a:rPr lang="hu-HU" sz="2200" dirty="0" err="1"/>
              <a:t>Liquidity</a:t>
            </a:r>
            <a:r>
              <a:rPr lang="hu-HU" sz="2200" dirty="0"/>
              <a:t> </a:t>
            </a:r>
            <a:r>
              <a:rPr lang="hu-HU" sz="2200" dirty="0" err="1"/>
              <a:t>requirements</a:t>
            </a:r>
            <a:endParaRPr lang="hu-HU" sz="2200" dirty="0"/>
          </a:p>
          <a:p>
            <a:pPr lvl="1"/>
            <a:r>
              <a:rPr lang="hu-HU" sz="2200" dirty="0" err="1"/>
              <a:t>Supervisory</a:t>
            </a:r>
            <a:r>
              <a:rPr lang="hu-HU" sz="2200" dirty="0"/>
              <a:t> </a:t>
            </a:r>
            <a:r>
              <a:rPr lang="hu-HU" sz="2200" dirty="0" err="1"/>
              <a:t>control</a:t>
            </a:r>
            <a:endParaRPr lang="hu-HU" sz="2200" dirty="0"/>
          </a:p>
          <a:p>
            <a:endParaRPr lang="hu-HU" dirty="0"/>
          </a:p>
        </p:txBody>
      </p:sp>
    </p:spTree>
    <p:extLst>
      <p:ext uri="{BB962C8B-B14F-4D97-AF65-F5344CB8AC3E}">
        <p14:creationId xmlns:p14="http://schemas.microsoft.com/office/powerpoint/2010/main" val="28616679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F233B45-C646-4798-8DDF-63D6C93C69A3}"/>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2F233B45-C646-4798-8DDF-63D6C93C69A3}"/>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8" name="AutoShape 6">
            <a:extLst>
              <a:ext uri="{FF2B5EF4-FFF2-40B4-BE49-F238E27FC236}">
                <a16:creationId xmlns:a16="http://schemas.microsoft.com/office/drawing/2014/main" id="{9F39A17F-1586-47C0-923F-AEB8E91C43E8}"/>
              </a:ext>
            </a:extLst>
          </p:cNvPr>
          <p:cNvSpPr>
            <a:spLocks noChangeArrowheads="1"/>
          </p:cNvSpPr>
          <p:nvPr/>
        </p:nvSpPr>
        <p:spPr bwMode="auto">
          <a:xfrm>
            <a:off x="6350045" y="1295400"/>
            <a:ext cx="4232230" cy="4083424"/>
          </a:xfrm>
          <a:prstGeom prst="foldedCorner">
            <a:avLst>
              <a:gd name="adj" fmla="val 2755"/>
            </a:avLst>
          </a:prstGeom>
          <a:solidFill>
            <a:schemeClr val="bg1">
              <a:lumMod val="95000"/>
            </a:schemeClr>
          </a:solidFill>
          <a:ln w="9525">
            <a:solidFill>
              <a:schemeClr val="bg1">
                <a:lumMod val="75000"/>
              </a:schemeClr>
            </a:solidFill>
            <a:round/>
            <a:headEnd/>
            <a:tailEnd/>
          </a:ln>
        </p:spPr>
        <p:txBody>
          <a:bodyPr wrap="none" anchor="ctr"/>
          <a:lstStyle>
            <a:lvl1pPr eaLnBrk="0" hangingPunct="0">
              <a:defRPr>
                <a:solidFill>
                  <a:schemeClr val="tx1"/>
                </a:solidFill>
                <a:latin typeface="Arial" panose="020B0604020202020204" pitchFamily="34" charset="0"/>
                <a:ea typeface="MS PGothic" panose="020B0600070205080204" pitchFamily="34" charset="-128"/>
              </a:defRPr>
            </a:lvl1pPr>
            <a:lvl2pPr marL="742950" indent="-285750" eaLnBrk="0" hangingPunct="0">
              <a:defRPr>
                <a:solidFill>
                  <a:schemeClr val="tx1"/>
                </a:solidFill>
                <a:latin typeface="Arial" panose="020B0604020202020204" pitchFamily="34" charset="0"/>
                <a:ea typeface="MS PGothic" panose="020B0600070205080204" pitchFamily="34" charset="-128"/>
              </a:defRPr>
            </a:lvl2pPr>
            <a:lvl3pPr marL="1143000" indent="-228600" eaLnBrk="0" hangingPunct="0">
              <a:defRPr>
                <a:solidFill>
                  <a:schemeClr val="tx1"/>
                </a:solidFill>
                <a:latin typeface="Arial" panose="020B0604020202020204" pitchFamily="34" charset="0"/>
                <a:ea typeface="MS PGothic" panose="020B0600070205080204" pitchFamily="34" charset="-128"/>
              </a:defRPr>
            </a:lvl3pPr>
            <a:lvl4pPr marL="1600200" indent="-228600" eaLnBrk="0" hangingPunct="0">
              <a:defRPr>
                <a:solidFill>
                  <a:schemeClr val="tx1"/>
                </a:solidFill>
                <a:latin typeface="Arial" panose="020B0604020202020204" pitchFamily="34" charset="0"/>
                <a:ea typeface="MS PGothic" panose="020B0600070205080204" pitchFamily="34" charset="-128"/>
              </a:defRPr>
            </a:lvl4pPr>
            <a:lvl5pPr marL="2057400" indent="-228600" eaLnBrk="0" hangingPunct="0">
              <a:defRPr>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eaLnBrk="1" hangingPunct="1"/>
            <a:endParaRPr lang="en-GB" altLang="en-US" dirty="0">
              <a:latin typeface="+mj-lt"/>
            </a:endParaRPr>
          </a:p>
        </p:txBody>
      </p:sp>
      <p:sp>
        <p:nvSpPr>
          <p:cNvPr id="2" name="Title 1">
            <a:extLst>
              <a:ext uri="{FF2B5EF4-FFF2-40B4-BE49-F238E27FC236}">
                <a16:creationId xmlns:a16="http://schemas.microsoft.com/office/drawing/2014/main" id="{6017B03C-EE6E-47C6-B808-9A2B76C73153}"/>
              </a:ext>
            </a:extLst>
          </p:cNvPr>
          <p:cNvSpPr>
            <a:spLocks noGrp="1"/>
          </p:cNvSpPr>
          <p:nvPr>
            <p:ph type="title"/>
          </p:nvPr>
        </p:nvSpPr>
        <p:spPr/>
        <p:txBody>
          <a:bodyPr vert="horz"/>
          <a:lstStyle/>
          <a:p>
            <a:r>
              <a:rPr lang="en-GB" dirty="0"/>
              <a:t>What is capital and why is it important?</a:t>
            </a:r>
          </a:p>
        </p:txBody>
      </p:sp>
      <p:sp>
        <p:nvSpPr>
          <p:cNvPr id="7" name="Rectangle 6">
            <a:extLst>
              <a:ext uri="{FF2B5EF4-FFF2-40B4-BE49-F238E27FC236}">
                <a16:creationId xmlns:a16="http://schemas.microsoft.com/office/drawing/2014/main" id="{5B437E47-98BB-4CCB-8555-C2F653ADA55B}"/>
              </a:ext>
            </a:extLst>
          </p:cNvPr>
          <p:cNvSpPr/>
          <p:nvPr/>
        </p:nvSpPr>
        <p:spPr>
          <a:xfrm>
            <a:off x="1609066" y="5473014"/>
            <a:ext cx="8982735" cy="584886"/>
          </a:xfrm>
          <a:prstGeom prst="rect">
            <a:avLst/>
          </a:prstGeom>
          <a:solidFill>
            <a:schemeClr val="accent2">
              <a:lumMod val="20000"/>
              <a:lumOff val="8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r>
              <a:rPr lang="en-GB" sz="1400" b="1" dirty="0">
                <a:solidFill>
                  <a:srgbClr val="000000"/>
                </a:solidFill>
              </a:rPr>
              <a:t>Statutory (IFRS) capital does not fully reconcile with regulatory (Basel) capital, even though the former is constrained by the latter</a:t>
            </a:r>
          </a:p>
        </p:txBody>
      </p:sp>
      <p:sp>
        <p:nvSpPr>
          <p:cNvPr id="9" name="Text Box 8">
            <a:extLst>
              <a:ext uri="{FF2B5EF4-FFF2-40B4-BE49-F238E27FC236}">
                <a16:creationId xmlns:a16="http://schemas.microsoft.com/office/drawing/2014/main" id="{B2089D05-D64C-4A57-AD24-6B8AD2D7AE9E}"/>
              </a:ext>
            </a:extLst>
          </p:cNvPr>
          <p:cNvSpPr txBox="1">
            <a:spLocks noChangeArrowheads="1"/>
          </p:cNvSpPr>
          <p:nvPr/>
        </p:nvSpPr>
        <p:spPr bwMode="auto">
          <a:xfrm>
            <a:off x="7562709" y="1295401"/>
            <a:ext cx="155125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MS PGothic" panose="020B0600070205080204" pitchFamily="34" charset="-128"/>
              </a:defRPr>
            </a:lvl1pPr>
            <a:lvl2pPr marL="742950" indent="-285750" eaLnBrk="0" hangingPunct="0">
              <a:defRPr>
                <a:solidFill>
                  <a:schemeClr val="tx1"/>
                </a:solidFill>
                <a:latin typeface="Arial" panose="020B0604020202020204" pitchFamily="34" charset="0"/>
                <a:ea typeface="MS PGothic" panose="020B0600070205080204" pitchFamily="34" charset="-128"/>
              </a:defRPr>
            </a:lvl2pPr>
            <a:lvl3pPr marL="1143000" indent="-228600" eaLnBrk="0" hangingPunct="0">
              <a:defRPr>
                <a:solidFill>
                  <a:schemeClr val="tx1"/>
                </a:solidFill>
                <a:latin typeface="Arial" panose="020B0604020202020204" pitchFamily="34" charset="0"/>
                <a:ea typeface="MS PGothic" panose="020B0600070205080204" pitchFamily="34" charset="-128"/>
              </a:defRPr>
            </a:lvl3pPr>
            <a:lvl4pPr marL="1600200" indent="-228600" eaLnBrk="0" hangingPunct="0">
              <a:defRPr>
                <a:solidFill>
                  <a:schemeClr val="tx1"/>
                </a:solidFill>
                <a:latin typeface="Arial" panose="020B0604020202020204" pitchFamily="34" charset="0"/>
                <a:ea typeface="MS PGothic" panose="020B0600070205080204" pitchFamily="34" charset="-128"/>
              </a:defRPr>
            </a:lvl4pPr>
            <a:lvl5pPr marL="2057400" indent="-228600" eaLnBrk="0" hangingPunct="0">
              <a:defRPr>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eaLnBrk="1" hangingPunct="1"/>
            <a:r>
              <a:rPr lang="en-GB" altLang="en-US" sz="1200" b="1" dirty="0">
                <a:latin typeface="+mj-lt"/>
              </a:rPr>
              <a:t>Banking Balance Sheet</a:t>
            </a:r>
          </a:p>
        </p:txBody>
      </p:sp>
      <p:sp>
        <p:nvSpPr>
          <p:cNvPr id="10" name="Line 10">
            <a:extLst>
              <a:ext uri="{FF2B5EF4-FFF2-40B4-BE49-F238E27FC236}">
                <a16:creationId xmlns:a16="http://schemas.microsoft.com/office/drawing/2014/main" id="{60018172-1D9E-4922-BBFA-AC7C3594EDCE}"/>
              </a:ext>
            </a:extLst>
          </p:cNvPr>
          <p:cNvSpPr>
            <a:spLocks noChangeShapeType="1"/>
          </p:cNvSpPr>
          <p:nvPr/>
        </p:nvSpPr>
        <p:spPr bwMode="auto">
          <a:xfrm>
            <a:off x="6648585" y="1561713"/>
            <a:ext cx="358598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dirty="0">
              <a:latin typeface="+mj-lt"/>
            </a:endParaRPr>
          </a:p>
        </p:txBody>
      </p:sp>
      <p:sp>
        <p:nvSpPr>
          <p:cNvPr id="11" name="Text Box 12">
            <a:extLst>
              <a:ext uri="{FF2B5EF4-FFF2-40B4-BE49-F238E27FC236}">
                <a16:creationId xmlns:a16="http://schemas.microsoft.com/office/drawing/2014/main" id="{02D82966-5504-45BD-9DA5-6100F82F8E71}"/>
              </a:ext>
            </a:extLst>
          </p:cNvPr>
          <p:cNvSpPr txBox="1">
            <a:spLocks noChangeArrowheads="1"/>
          </p:cNvSpPr>
          <p:nvPr/>
        </p:nvSpPr>
        <p:spPr bwMode="auto">
          <a:xfrm>
            <a:off x="6489564" y="1591626"/>
            <a:ext cx="1952012" cy="3438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eaLnBrk="0" hangingPunct="0">
              <a:tabLst>
                <a:tab pos="176213" algn="l"/>
                <a:tab pos="265113" algn="l"/>
              </a:tabLst>
              <a:defRPr>
                <a:solidFill>
                  <a:schemeClr val="tx1"/>
                </a:solidFill>
                <a:latin typeface="Arial" panose="020B0604020202020204" pitchFamily="34" charset="0"/>
                <a:ea typeface="MS PGothic" panose="020B0600070205080204" pitchFamily="34" charset="-128"/>
              </a:defRPr>
            </a:lvl1pPr>
            <a:lvl2pPr marL="742950" indent="-285750" eaLnBrk="0" hangingPunct="0">
              <a:tabLst>
                <a:tab pos="176213" algn="l"/>
                <a:tab pos="265113" algn="l"/>
              </a:tabLst>
              <a:defRPr>
                <a:solidFill>
                  <a:schemeClr val="tx1"/>
                </a:solidFill>
                <a:latin typeface="Arial" panose="020B0604020202020204" pitchFamily="34" charset="0"/>
                <a:ea typeface="MS PGothic" panose="020B0600070205080204" pitchFamily="34" charset="-128"/>
              </a:defRPr>
            </a:lvl2pPr>
            <a:lvl3pPr marL="1143000" indent="-228600" eaLnBrk="0" hangingPunct="0">
              <a:tabLst>
                <a:tab pos="176213" algn="l"/>
                <a:tab pos="265113" algn="l"/>
              </a:tabLst>
              <a:defRPr>
                <a:solidFill>
                  <a:schemeClr val="tx1"/>
                </a:solidFill>
                <a:latin typeface="Arial" panose="020B0604020202020204" pitchFamily="34" charset="0"/>
                <a:ea typeface="MS PGothic" panose="020B0600070205080204" pitchFamily="34" charset="-128"/>
              </a:defRPr>
            </a:lvl3pPr>
            <a:lvl4pPr marL="1600200" indent="-228600" eaLnBrk="0" hangingPunct="0">
              <a:tabLst>
                <a:tab pos="176213" algn="l"/>
                <a:tab pos="265113" algn="l"/>
              </a:tabLst>
              <a:defRPr>
                <a:solidFill>
                  <a:schemeClr val="tx1"/>
                </a:solidFill>
                <a:latin typeface="Arial" panose="020B0604020202020204" pitchFamily="34" charset="0"/>
                <a:ea typeface="MS PGothic" panose="020B0600070205080204" pitchFamily="34" charset="-128"/>
              </a:defRPr>
            </a:lvl4pPr>
            <a:lvl5pPr marL="2057400" indent="-228600" eaLnBrk="0" hangingPunct="0">
              <a:tabLst>
                <a:tab pos="176213" algn="l"/>
                <a:tab pos="265113" algn="l"/>
              </a:tabLst>
              <a:defRPr>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tabLst>
                <a:tab pos="176213" algn="l"/>
                <a:tab pos="265113" algn="l"/>
              </a:tabLst>
              <a:defRPr>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tabLst>
                <a:tab pos="176213" algn="l"/>
                <a:tab pos="265113" algn="l"/>
              </a:tabLst>
              <a:defRPr>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tabLst>
                <a:tab pos="176213" algn="l"/>
                <a:tab pos="265113" algn="l"/>
              </a:tabLst>
              <a:defRPr>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tabLst>
                <a:tab pos="176213" algn="l"/>
                <a:tab pos="265113" algn="l"/>
              </a:tabLst>
              <a:defRPr>
                <a:solidFill>
                  <a:schemeClr val="tx1"/>
                </a:solidFill>
                <a:latin typeface="Arial" panose="020B0604020202020204" pitchFamily="34" charset="0"/>
                <a:ea typeface="MS PGothic" panose="020B0600070205080204" pitchFamily="34" charset="-128"/>
              </a:defRPr>
            </a:lvl9pPr>
          </a:lstStyle>
          <a:p>
            <a:pPr eaLnBrk="1" hangingPunct="1">
              <a:lnSpc>
                <a:spcPct val="105000"/>
              </a:lnSpc>
            </a:pPr>
            <a:r>
              <a:rPr lang="en-GB" altLang="en-US" sz="1000" dirty="0">
                <a:latin typeface="+mj-lt"/>
              </a:rPr>
              <a:t>Net Advances</a:t>
            </a:r>
          </a:p>
          <a:p>
            <a:pPr eaLnBrk="1" hangingPunct="1">
              <a:lnSpc>
                <a:spcPct val="105000"/>
              </a:lnSpc>
            </a:pPr>
            <a:r>
              <a:rPr lang="en-GB" altLang="en-US" sz="1000" dirty="0">
                <a:latin typeface="+mj-lt"/>
              </a:rPr>
              <a:t>	Total (gross) Advances</a:t>
            </a:r>
          </a:p>
          <a:p>
            <a:pPr eaLnBrk="1" hangingPunct="1">
              <a:lnSpc>
                <a:spcPct val="105000"/>
              </a:lnSpc>
            </a:pPr>
            <a:r>
              <a:rPr lang="en-GB" altLang="en-US" sz="1000" dirty="0">
                <a:latin typeface="+mj-lt"/>
              </a:rPr>
              <a:t>		Home Loans</a:t>
            </a:r>
          </a:p>
          <a:p>
            <a:pPr eaLnBrk="1" hangingPunct="1">
              <a:lnSpc>
                <a:spcPct val="105000"/>
              </a:lnSpc>
            </a:pPr>
            <a:r>
              <a:rPr lang="en-GB" altLang="en-US" sz="1000" dirty="0">
                <a:latin typeface="+mj-lt"/>
              </a:rPr>
              <a:t>	+	Credit Cards</a:t>
            </a:r>
          </a:p>
          <a:p>
            <a:pPr eaLnBrk="1" hangingPunct="1">
              <a:lnSpc>
                <a:spcPct val="105000"/>
              </a:lnSpc>
            </a:pPr>
            <a:r>
              <a:rPr lang="en-GB" altLang="en-US" sz="1000" dirty="0">
                <a:latin typeface="+mj-lt"/>
              </a:rPr>
              <a:t>	+	Car Loans</a:t>
            </a:r>
          </a:p>
          <a:p>
            <a:pPr eaLnBrk="1" hangingPunct="1">
              <a:lnSpc>
                <a:spcPct val="105000"/>
              </a:lnSpc>
            </a:pPr>
            <a:r>
              <a:rPr lang="en-GB" altLang="en-US" sz="1000" dirty="0">
                <a:latin typeface="+mj-lt"/>
              </a:rPr>
              <a:t>	+	Company Loans</a:t>
            </a:r>
          </a:p>
          <a:p>
            <a:pPr eaLnBrk="1" hangingPunct="1">
              <a:lnSpc>
                <a:spcPct val="105000"/>
              </a:lnSpc>
            </a:pPr>
            <a:r>
              <a:rPr lang="en-GB" altLang="en-US" sz="1000" dirty="0">
                <a:latin typeface="+mj-lt"/>
              </a:rPr>
              <a:t>	+	Structured Products</a:t>
            </a:r>
          </a:p>
          <a:p>
            <a:pPr eaLnBrk="1" hangingPunct="1">
              <a:lnSpc>
                <a:spcPct val="105000"/>
              </a:lnSpc>
            </a:pPr>
            <a:r>
              <a:rPr lang="en-GB" altLang="en-US" sz="1000" dirty="0">
                <a:latin typeface="+mj-lt"/>
              </a:rPr>
              <a:t>-	Non-performing Advances</a:t>
            </a:r>
          </a:p>
          <a:p>
            <a:pPr eaLnBrk="1" hangingPunct="1">
              <a:lnSpc>
                <a:spcPct val="105000"/>
              </a:lnSpc>
            </a:pPr>
            <a:endParaRPr lang="en-GB" altLang="en-US" sz="1000" dirty="0">
              <a:latin typeface="+mj-lt"/>
            </a:endParaRPr>
          </a:p>
          <a:p>
            <a:pPr eaLnBrk="1" hangingPunct="1">
              <a:lnSpc>
                <a:spcPct val="105000"/>
              </a:lnSpc>
            </a:pPr>
            <a:r>
              <a:rPr lang="en-GB" altLang="en-US" sz="1000" dirty="0">
                <a:latin typeface="+mj-lt"/>
              </a:rPr>
              <a:t>Wholesale Assets</a:t>
            </a:r>
          </a:p>
          <a:p>
            <a:pPr eaLnBrk="1" hangingPunct="1">
              <a:lnSpc>
                <a:spcPct val="105000"/>
              </a:lnSpc>
            </a:pPr>
            <a:r>
              <a:rPr lang="en-GB" altLang="en-US" sz="1000" dirty="0">
                <a:latin typeface="+mj-lt"/>
              </a:rPr>
              <a:t>	Securities lent</a:t>
            </a:r>
          </a:p>
          <a:p>
            <a:pPr eaLnBrk="1" hangingPunct="1">
              <a:lnSpc>
                <a:spcPct val="105000"/>
              </a:lnSpc>
            </a:pPr>
            <a:r>
              <a:rPr lang="en-GB" altLang="en-US" sz="1000" dirty="0">
                <a:latin typeface="+mj-lt"/>
              </a:rPr>
              <a:t>+	Repos</a:t>
            </a:r>
          </a:p>
          <a:p>
            <a:pPr eaLnBrk="1" hangingPunct="1">
              <a:lnSpc>
                <a:spcPct val="105000"/>
              </a:lnSpc>
            </a:pPr>
            <a:endParaRPr lang="en-GB" altLang="en-US" sz="1000" dirty="0">
              <a:latin typeface="+mj-lt"/>
            </a:endParaRPr>
          </a:p>
          <a:p>
            <a:pPr eaLnBrk="1" hangingPunct="1">
              <a:lnSpc>
                <a:spcPct val="105000"/>
              </a:lnSpc>
            </a:pPr>
            <a:endParaRPr lang="en-GB" altLang="en-US" sz="1000" dirty="0">
              <a:latin typeface="+mj-lt"/>
            </a:endParaRPr>
          </a:p>
          <a:p>
            <a:pPr eaLnBrk="1" hangingPunct="1">
              <a:lnSpc>
                <a:spcPct val="105000"/>
              </a:lnSpc>
            </a:pPr>
            <a:endParaRPr lang="en-GB" altLang="en-US" sz="1000" dirty="0">
              <a:latin typeface="+mj-lt"/>
            </a:endParaRPr>
          </a:p>
          <a:p>
            <a:pPr eaLnBrk="1" hangingPunct="1">
              <a:lnSpc>
                <a:spcPct val="105000"/>
              </a:lnSpc>
            </a:pPr>
            <a:endParaRPr lang="en-GB" altLang="en-US" sz="1000" dirty="0">
              <a:latin typeface="+mj-lt"/>
            </a:endParaRPr>
          </a:p>
          <a:p>
            <a:pPr eaLnBrk="1" hangingPunct="1">
              <a:lnSpc>
                <a:spcPct val="105000"/>
              </a:lnSpc>
            </a:pPr>
            <a:endParaRPr lang="en-GB" altLang="en-US" sz="1000" dirty="0">
              <a:latin typeface="+mj-lt"/>
            </a:endParaRPr>
          </a:p>
          <a:p>
            <a:pPr eaLnBrk="1" hangingPunct="1">
              <a:lnSpc>
                <a:spcPct val="105000"/>
              </a:lnSpc>
            </a:pPr>
            <a:endParaRPr lang="en-GB" altLang="en-US" sz="1000" dirty="0">
              <a:latin typeface="+mj-lt"/>
            </a:endParaRPr>
          </a:p>
          <a:p>
            <a:pPr eaLnBrk="1" hangingPunct="1">
              <a:lnSpc>
                <a:spcPct val="105000"/>
              </a:lnSpc>
            </a:pPr>
            <a:r>
              <a:rPr lang="en-GB" altLang="en-US" sz="1000" dirty="0">
                <a:latin typeface="+mj-lt"/>
              </a:rPr>
              <a:t>Inter Company Assets</a:t>
            </a:r>
          </a:p>
          <a:p>
            <a:pPr eaLnBrk="1" hangingPunct="1">
              <a:lnSpc>
                <a:spcPct val="105000"/>
              </a:lnSpc>
            </a:pPr>
            <a:endParaRPr lang="en-GB" altLang="en-US" sz="1000" dirty="0">
              <a:latin typeface="+mj-lt"/>
            </a:endParaRPr>
          </a:p>
          <a:p>
            <a:pPr eaLnBrk="1" hangingPunct="1">
              <a:lnSpc>
                <a:spcPct val="105000"/>
              </a:lnSpc>
            </a:pPr>
            <a:r>
              <a:rPr lang="en-GB" altLang="en-US" sz="1000" dirty="0">
                <a:latin typeface="+mj-lt"/>
              </a:rPr>
              <a:t>Goodwill</a:t>
            </a:r>
          </a:p>
          <a:p>
            <a:pPr eaLnBrk="1" hangingPunct="1">
              <a:lnSpc>
                <a:spcPct val="105000"/>
              </a:lnSpc>
            </a:pPr>
            <a:endParaRPr lang="en-GB" altLang="en-US" sz="1000" dirty="0">
              <a:latin typeface="+mj-lt"/>
            </a:endParaRPr>
          </a:p>
          <a:p>
            <a:pPr eaLnBrk="1" hangingPunct="1">
              <a:lnSpc>
                <a:spcPct val="105000"/>
              </a:lnSpc>
            </a:pPr>
            <a:r>
              <a:rPr lang="en-GB" altLang="en-US" sz="1000" b="1" u="sng" dirty="0">
                <a:latin typeface="+mj-lt"/>
              </a:rPr>
              <a:t>Total Assets</a:t>
            </a:r>
          </a:p>
          <a:p>
            <a:pPr eaLnBrk="1" hangingPunct="1">
              <a:lnSpc>
                <a:spcPct val="105000"/>
              </a:lnSpc>
            </a:pPr>
            <a:endParaRPr lang="en-GB" altLang="en-US" sz="1000" b="1" u="sng" dirty="0">
              <a:latin typeface="+mj-lt"/>
            </a:endParaRPr>
          </a:p>
        </p:txBody>
      </p:sp>
      <p:sp>
        <p:nvSpPr>
          <p:cNvPr id="12" name="Line 13">
            <a:extLst>
              <a:ext uri="{FF2B5EF4-FFF2-40B4-BE49-F238E27FC236}">
                <a16:creationId xmlns:a16="http://schemas.microsoft.com/office/drawing/2014/main" id="{D0A3F03C-573B-4FAE-93BC-CFE5413E4987}"/>
              </a:ext>
            </a:extLst>
          </p:cNvPr>
          <p:cNvSpPr>
            <a:spLocks noChangeShapeType="1"/>
          </p:cNvSpPr>
          <p:nvPr/>
        </p:nvSpPr>
        <p:spPr bwMode="auto">
          <a:xfrm rot="16200000">
            <a:off x="6574289" y="3429000"/>
            <a:ext cx="37345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dirty="0">
              <a:latin typeface="+mj-lt"/>
            </a:endParaRPr>
          </a:p>
        </p:txBody>
      </p:sp>
      <p:sp>
        <p:nvSpPr>
          <p:cNvPr id="13" name="Line 14">
            <a:extLst>
              <a:ext uri="{FF2B5EF4-FFF2-40B4-BE49-F238E27FC236}">
                <a16:creationId xmlns:a16="http://schemas.microsoft.com/office/drawing/2014/main" id="{E59D9DC4-7D8D-4AB3-82FB-ECAF8E11F56C}"/>
              </a:ext>
            </a:extLst>
          </p:cNvPr>
          <p:cNvSpPr>
            <a:spLocks noChangeShapeType="1"/>
          </p:cNvSpPr>
          <p:nvPr/>
        </p:nvSpPr>
        <p:spPr bwMode="auto">
          <a:xfrm>
            <a:off x="6648585" y="1561713"/>
            <a:ext cx="358598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dirty="0">
              <a:latin typeface="+mj-lt"/>
            </a:endParaRPr>
          </a:p>
        </p:txBody>
      </p:sp>
      <p:sp>
        <p:nvSpPr>
          <p:cNvPr id="14" name="Line 15">
            <a:extLst>
              <a:ext uri="{FF2B5EF4-FFF2-40B4-BE49-F238E27FC236}">
                <a16:creationId xmlns:a16="http://schemas.microsoft.com/office/drawing/2014/main" id="{0C205204-BDD8-48FD-814F-63495CAAD0EA}"/>
              </a:ext>
            </a:extLst>
          </p:cNvPr>
          <p:cNvSpPr>
            <a:spLocks noChangeShapeType="1"/>
          </p:cNvSpPr>
          <p:nvPr/>
        </p:nvSpPr>
        <p:spPr bwMode="auto">
          <a:xfrm rot="16200000">
            <a:off x="6699764" y="3303525"/>
            <a:ext cx="348362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dirty="0">
              <a:latin typeface="+mj-lt"/>
            </a:endParaRPr>
          </a:p>
        </p:txBody>
      </p:sp>
      <p:sp>
        <p:nvSpPr>
          <p:cNvPr id="15" name="Text Box 16">
            <a:extLst>
              <a:ext uri="{FF2B5EF4-FFF2-40B4-BE49-F238E27FC236}">
                <a16:creationId xmlns:a16="http://schemas.microsoft.com/office/drawing/2014/main" id="{56857640-7FEB-420C-A268-EFA49032F0CF}"/>
              </a:ext>
            </a:extLst>
          </p:cNvPr>
          <p:cNvSpPr txBox="1">
            <a:spLocks noChangeArrowheads="1"/>
          </p:cNvSpPr>
          <p:nvPr/>
        </p:nvSpPr>
        <p:spPr bwMode="auto">
          <a:xfrm>
            <a:off x="8441575" y="1591626"/>
            <a:ext cx="2035925" cy="3438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bIns="10800"/>
          <a:lstStyle>
            <a:lvl1pPr eaLnBrk="0" hangingPunct="0">
              <a:tabLst>
                <a:tab pos="176213" algn="l"/>
                <a:tab pos="265113" algn="l"/>
              </a:tabLst>
              <a:defRPr>
                <a:solidFill>
                  <a:schemeClr val="tx1"/>
                </a:solidFill>
                <a:latin typeface="Arial" panose="020B0604020202020204" pitchFamily="34" charset="0"/>
                <a:ea typeface="MS PGothic" panose="020B0600070205080204" pitchFamily="34" charset="-128"/>
              </a:defRPr>
            </a:lvl1pPr>
            <a:lvl2pPr marL="742950" indent="-285750" eaLnBrk="0" hangingPunct="0">
              <a:tabLst>
                <a:tab pos="176213" algn="l"/>
                <a:tab pos="265113" algn="l"/>
              </a:tabLst>
              <a:defRPr>
                <a:solidFill>
                  <a:schemeClr val="tx1"/>
                </a:solidFill>
                <a:latin typeface="Arial" panose="020B0604020202020204" pitchFamily="34" charset="0"/>
                <a:ea typeface="MS PGothic" panose="020B0600070205080204" pitchFamily="34" charset="-128"/>
              </a:defRPr>
            </a:lvl2pPr>
            <a:lvl3pPr marL="1143000" indent="-228600" eaLnBrk="0" hangingPunct="0">
              <a:tabLst>
                <a:tab pos="176213" algn="l"/>
                <a:tab pos="265113" algn="l"/>
              </a:tabLst>
              <a:defRPr>
                <a:solidFill>
                  <a:schemeClr val="tx1"/>
                </a:solidFill>
                <a:latin typeface="Arial" panose="020B0604020202020204" pitchFamily="34" charset="0"/>
                <a:ea typeface="MS PGothic" panose="020B0600070205080204" pitchFamily="34" charset="-128"/>
              </a:defRPr>
            </a:lvl3pPr>
            <a:lvl4pPr marL="1600200" indent="-228600" eaLnBrk="0" hangingPunct="0">
              <a:tabLst>
                <a:tab pos="176213" algn="l"/>
                <a:tab pos="265113" algn="l"/>
              </a:tabLst>
              <a:defRPr>
                <a:solidFill>
                  <a:schemeClr val="tx1"/>
                </a:solidFill>
                <a:latin typeface="Arial" panose="020B0604020202020204" pitchFamily="34" charset="0"/>
                <a:ea typeface="MS PGothic" panose="020B0600070205080204" pitchFamily="34" charset="-128"/>
              </a:defRPr>
            </a:lvl4pPr>
            <a:lvl5pPr marL="2057400" indent="-228600" eaLnBrk="0" hangingPunct="0">
              <a:tabLst>
                <a:tab pos="176213" algn="l"/>
                <a:tab pos="265113" algn="l"/>
              </a:tabLst>
              <a:defRPr>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tabLst>
                <a:tab pos="176213" algn="l"/>
                <a:tab pos="265113" algn="l"/>
              </a:tabLst>
              <a:defRPr>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tabLst>
                <a:tab pos="176213" algn="l"/>
                <a:tab pos="265113" algn="l"/>
              </a:tabLst>
              <a:defRPr>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tabLst>
                <a:tab pos="176213" algn="l"/>
                <a:tab pos="265113" algn="l"/>
              </a:tabLst>
              <a:defRPr>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tabLst>
                <a:tab pos="176213" algn="l"/>
                <a:tab pos="265113" algn="l"/>
              </a:tabLst>
              <a:defRPr>
                <a:solidFill>
                  <a:schemeClr val="tx1"/>
                </a:solidFill>
                <a:latin typeface="Arial" panose="020B0604020202020204" pitchFamily="34" charset="0"/>
                <a:ea typeface="MS PGothic" panose="020B0600070205080204" pitchFamily="34" charset="-128"/>
              </a:defRPr>
            </a:lvl9pPr>
          </a:lstStyle>
          <a:p>
            <a:pPr eaLnBrk="1" hangingPunct="1">
              <a:lnSpc>
                <a:spcPct val="105000"/>
              </a:lnSpc>
            </a:pPr>
            <a:r>
              <a:rPr lang="en-GB" altLang="en-US" sz="1000" dirty="0">
                <a:latin typeface="+mj-lt"/>
              </a:rPr>
              <a:t>Deposits</a:t>
            </a:r>
          </a:p>
          <a:p>
            <a:pPr eaLnBrk="1" hangingPunct="1">
              <a:lnSpc>
                <a:spcPct val="105000"/>
              </a:lnSpc>
            </a:pPr>
            <a:r>
              <a:rPr lang="en-GB" altLang="en-US" sz="1000" dirty="0">
                <a:latin typeface="+mj-lt"/>
              </a:rPr>
              <a:t>	Retail Deposits</a:t>
            </a:r>
          </a:p>
          <a:p>
            <a:pPr eaLnBrk="1" hangingPunct="1">
              <a:lnSpc>
                <a:spcPct val="105000"/>
              </a:lnSpc>
            </a:pPr>
            <a:r>
              <a:rPr lang="en-GB" altLang="en-US" sz="1000" dirty="0">
                <a:latin typeface="+mj-lt"/>
              </a:rPr>
              <a:t>	Wholesale Deposits</a:t>
            </a:r>
          </a:p>
          <a:p>
            <a:pPr eaLnBrk="1" hangingPunct="1">
              <a:lnSpc>
                <a:spcPct val="105000"/>
              </a:lnSpc>
            </a:pPr>
            <a:r>
              <a:rPr lang="en-GB" altLang="en-US" sz="1000" dirty="0">
                <a:latin typeface="+mj-lt"/>
              </a:rPr>
              <a:t>Wholesale Liabilities</a:t>
            </a:r>
          </a:p>
          <a:p>
            <a:pPr eaLnBrk="1" hangingPunct="1">
              <a:lnSpc>
                <a:spcPct val="105000"/>
              </a:lnSpc>
            </a:pPr>
            <a:r>
              <a:rPr lang="en-GB" altLang="en-US" sz="1000" dirty="0">
                <a:latin typeface="+mj-lt"/>
              </a:rPr>
              <a:t>	Securities borrowed</a:t>
            </a:r>
          </a:p>
          <a:p>
            <a:pPr eaLnBrk="1" hangingPunct="1">
              <a:lnSpc>
                <a:spcPct val="105000"/>
              </a:lnSpc>
            </a:pPr>
            <a:r>
              <a:rPr lang="en-GB" altLang="en-US" sz="1000" dirty="0">
                <a:latin typeface="+mj-lt"/>
              </a:rPr>
              <a:t>+	Reverse Repos</a:t>
            </a:r>
          </a:p>
          <a:p>
            <a:pPr eaLnBrk="1" hangingPunct="1">
              <a:lnSpc>
                <a:spcPct val="105000"/>
              </a:lnSpc>
            </a:pPr>
            <a:r>
              <a:rPr lang="en-GB" altLang="en-US" sz="1000" dirty="0">
                <a:latin typeface="+mj-lt"/>
              </a:rPr>
              <a:t>Inter Company Liabilities</a:t>
            </a:r>
          </a:p>
          <a:p>
            <a:pPr eaLnBrk="1" hangingPunct="1">
              <a:lnSpc>
                <a:spcPct val="105000"/>
              </a:lnSpc>
            </a:pPr>
            <a:r>
              <a:rPr lang="en-GB" altLang="en-US" sz="1000" dirty="0">
                <a:latin typeface="+mj-lt"/>
              </a:rPr>
              <a:t>Debt</a:t>
            </a:r>
          </a:p>
          <a:p>
            <a:pPr eaLnBrk="1" hangingPunct="1">
              <a:lnSpc>
                <a:spcPct val="105000"/>
              </a:lnSpc>
            </a:pPr>
            <a:r>
              <a:rPr lang="en-GB" altLang="en-US" sz="1000" dirty="0">
                <a:latin typeface="+mj-lt"/>
              </a:rPr>
              <a:t>	Senior Debt</a:t>
            </a:r>
          </a:p>
          <a:p>
            <a:pPr eaLnBrk="1" hangingPunct="1">
              <a:lnSpc>
                <a:spcPct val="105000"/>
              </a:lnSpc>
            </a:pPr>
            <a:r>
              <a:rPr lang="en-GB" altLang="en-US" sz="1000" dirty="0">
                <a:latin typeface="+mj-lt"/>
              </a:rPr>
              <a:t>+	Mezzanine Debt</a:t>
            </a:r>
          </a:p>
          <a:p>
            <a:pPr eaLnBrk="1" hangingPunct="1">
              <a:lnSpc>
                <a:spcPct val="105000"/>
              </a:lnSpc>
            </a:pPr>
            <a:r>
              <a:rPr lang="en-GB" altLang="en-US" sz="1000" dirty="0">
                <a:latin typeface="+mj-lt"/>
              </a:rPr>
              <a:t>+	Subordinated Debt</a:t>
            </a:r>
          </a:p>
          <a:p>
            <a:pPr eaLnBrk="1" hangingPunct="1">
              <a:lnSpc>
                <a:spcPct val="105000"/>
              </a:lnSpc>
            </a:pPr>
            <a:endParaRPr lang="en-GB" altLang="en-US" sz="1000" dirty="0">
              <a:latin typeface="+mj-lt"/>
            </a:endParaRPr>
          </a:p>
          <a:p>
            <a:pPr eaLnBrk="1" hangingPunct="1">
              <a:lnSpc>
                <a:spcPct val="105000"/>
              </a:lnSpc>
            </a:pPr>
            <a:r>
              <a:rPr lang="en-GB" altLang="en-US" sz="1000" b="1" u="sng" dirty="0">
                <a:latin typeface="+mj-lt"/>
              </a:rPr>
              <a:t>Total Liabilities</a:t>
            </a:r>
          </a:p>
          <a:p>
            <a:pPr eaLnBrk="1" hangingPunct="1">
              <a:lnSpc>
                <a:spcPct val="105000"/>
              </a:lnSpc>
            </a:pPr>
            <a:endParaRPr lang="en-GB" altLang="en-US" sz="1000" dirty="0">
              <a:latin typeface="+mj-lt"/>
            </a:endParaRPr>
          </a:p>
          <a:p>
            <a:pPr eaLnBrk="1" hangingPunct="1">
              <a:lnSpc>
                <a:spcPct val="105000"/>
              </a:lnSpc>
            </a:pPr>
            <a:r>
              <a:rPr lang="en-GB" altLang="en-US" sz="1000" dirty="0">
                <a:latin typeface="+mj-lt"/>
              </a:rPr>
              <a:t>Common Equity Tier 1 Capital</a:t>
            </a:r>
          </a:p>
          <a:p>
            <a:pPr eaLnBrk="1" hangingPunct="1">
              <a:lnSpc>
                <a:spcPct val="105000"/>
              </a:lnSpc>
            </a:pPr>
            <a:r>
              <a:rPr lang="en-GB" altLang="en-US" sz="1000" dirty="0">
                <a:latin typeface="+mj-lt"/>
              </a:rPr>
              <a:t>	Common Equity</a:t>
            </a:r>
          </a:p>
          <a:p>
            <a:pPr eaLnBrk="1" hangingPunct="1">
              <a:lnSpc>
                <a:spcPct val="105000"/>
              </a:lnSpc>
            </a:pPr>
            <a:r>
              <a:rPr lang="en-GB" altLang="en-US" sz="1000" dirty="0">
                <a:latin typeface="+mj-lt"/>
              </a:rPr>
              <a:t>+	Retained Earnings</a:t>
            </a:r>
          </a:p>
          <a:p>
            <a:pPr eaLnBrk="1" hangingPunct="1">
              <a:lnSpc>
                <a:spcPct val="105000"/>
              </a:lnSpc>
            </a:pPr>
            <a:r>
              <a:rPr lang="en-GB" altLang="en-US" sz="1000" dirty="0">
                <a:latin typeface="+mj-lt"/>
              </a:rPr>
              <a:t>Additional Tier 1 Capital</a:t>
            </a:r>
          </a:p>
          <a:p>
            <a:pPr eaLnBrk="1" hangingPunct="1">
              <a:lnSpc>
                <a:spcPct val="105000"/>
              </a:lnSpc>
            </a:pPr>
            <a:r>
              <a:rPr lang="en-GB" altLang="en-US" sz="1000" dirty="0">
                <a:latin typeface="+mj-lt"/>
              </a:rPr>
              <a:t>Tier 2 Capital</a:t>
            </a:r>
          </a:p>
          <a:p>
            <a:pPr eaLnBrk="1" hangingPunct="1">
              <a:lnSpc>
                <a:spcPct val="105000"/>
              </a:lnSpc>
            </a:pPr>
            <a:r>
              <a:rPr lang="en-GB" altLang="en-US" sz="1000" dirty="0">
                <a:latin typeface="+mj-lt"/>
              </a:rPr>
              <a:t>	Preference Equity</a:t>
            </a:r>
          </a:p>
          <a:p>
            <a:pPr eaLnBrk="1" hangingPunct="1">
              <a:lnSpc>
                <a:spcPct val="105000"/>
              </a:lnSpc>
            </a:pPr>
            <a:r>
              <a:rPr lang="en-GB" altLang="en-US" sz="1000" dirty="0">
                <a:latin typeface="+mj-lt"/>
              </a:rPr>
              <a:t>+	Other Equity Instruments</a:t>
            </a:r>
          </a:p>
          <a:p>
            <a:pPr eaLnBrk="1" hangingPunct="1">
              <a:lnSpc>
                <a:spcPct val="105000"/>
              </a:lnSpc>
            </a:pPr>
            <a:endParaRPr lang="en-GB" altLang="en-US" sz="1000" dirty="0">
              <a:latin typeface="+mj-lt"/>
            </a:endParaRPr>
          </a:p>
          <a:p>
            <a:pPr eaLnBrk="1" hangingPunct="1">
              <a:lnSpc>
                <a:spcPct val="105000"/>
              </a:lnSpc>
            </a:pPr>
            <a:r>
              <a:rPr lang="en-GB" altLang="en-US" sz="1000" b="1" u="sng" dirty="0">
                <a:latin typeface="+mj-lt"/>
              </a:rPr>
              <a:t>Total Equity</a:t>
            </a:r>
          </a:p>
          <a:p>
            <a:pPr eaLnBrk="1" hangingPunct="1">
              <a:lnSpc>
                <a:spcPct val="105000"/>
              </a:lnSpc>
            </a:pPr>
            <a:endParaRPr lang="en-GB" altLang="en-US" sz="1000" b="1" u="sng" dirty="0">
              <a:latin typeface="+mj-lt"/>
            </a:endParaRPr>
          </a:p>
        </p:txBody>
      </p:sp>
      <p:sp>
        <p:nvSpPr>
          <p:cNvPr id="16" name="Oval 15">
            <a:extLst>
              <a:ext uri="{FF2B5EF4-FFF2-40B4-BE49-F238E27FC236}">
                <a16:creationId xmlns:a16="http://schemas.microsoft.com/office/drawing/2014/main" id="{C88845C3-3338-4CD3-A7D0-D44018A48F5E}"/>
              </a:ext>
            </a:extLst>
          </p:cNvPr>
          <p:cNvSpPr/>
          <p:nvPr/>
        </p:nvSpPr>
        <p:spPr>
          <a:xfrm>
            <a:off x="7952592" y="3695700"/>
            <a:ext cx="3001371" cy="1428186"/>
          </a:xfrm>
          <a:prstGeom prst="ellipse">
            <a:avLst/>
          </a:prstGeom>
          <a:noFill/>
          <a:ln w="15875">
            <a:solidFill>
              <a:schemeClr val="accent6">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endParaRPr lang="en-GB" sz="1000" dirty="0">
              <a:solidFill>
                <a:srgbClr val="000000"/>
              </a:solidFill>
            </a:endParaRPr>
          </a:p>
        </p:txBody>
      </p:sp>
      <p:sp>
        <p:nvSpPr>
          <p:cNvPr id="19" name="Rectangle 18">
            <a:extLst>
              <a:ext uri="{FF2B5EF4-FFF2-40B4-BE49-F238E27FC236}">
                <a16:creationId xmlns:a16="http://schemas.microsoft.com/office/drawing/2014/main" id="{8090CD9A-A413-4588-BE85-7D59F7D2A064}"/>
              </a:ext>
            </a:extLst>
          </p:cNvPr>
          <p:cNvSpPr/>
          <p:nvPr/>
        </p:nvSpPr>
        <p:spPr>
          <a:xfrm>
            <a:off x="1609066" y="1295399"/>
            <a:ext cx="4448835" cy="1950564"/>
          </a:xfrm>
          <a:prstGeom prst="rect">
            <a:avLst/>
          </a:prstGeom>
          <a:solidFill>
            <a:schemeClr val="bg1">
              <a:lumMod val="85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lnSpc>
                <a:spcPct val="150000"/>
              </a:lnSpc>
            </a:pPr>
            <a:r>
              <a:rPr lang="en-GB" sz="1400" b="1" u="sng" dirty="0">
                <a:solidFill>
                  <a:srgbClr val="000000"/>
                </a:solidFill>
              </a:rPr>
              <a:t>What is Capital?</a:t>
            </a:r>
          </a:p>
          <a:p>
            <a:pPr algn="ctr"/>
            <a:endParaRPr lang="en-GB" sz="1400" b="1" u="sng" dirty="0">
              <a:solidFill>
                <a:srgbClr val="000000"/>
              </a:solidFill>
            </a:endParaRPr>
          </a:p>
          <a:p>
            <a:pPr algn="ctr">
              <a:lnSpc>
                <a:spcPct val="150000"/>
              </a:lnSpc>
            </a:pPr>
            <a:r>
              <a:rPr lang="en-GB" sz="1400" dirty="0">
                <a:solidFill>
                  <a:srgbClr val="000000"/>
                </a:solidFill>
              </a:rPr>
              <a:t>Capital is the money that a bank has obtained from its shareholders and other investors plus any profit that it has made and not paid out (retained earnings)</a:t>
            </a:r>
          </a:p>
        </p:txBody>
      </p:sp>
      <p:sp>
        <p:nvSpPr>
          <p:cNvPr id="20" name="Rectangle 19">
            <a:extLst>
              <a:ext uri="{FF2B5EF4-FFF2-40B4-BE49-F238E27FC236}">
                <a16:creationId xmlns:a16="http://schemas.microsoft.com/office/drawing/2014/main" id="{CFB4D2B8-E0B8-4087-923F-83F3ADFAC589}"/>
              </a:ext>
            </a:extLst>
          </p:cNvPr>
          <p:cNvSpPr/>
          <p:nvPr/>
        </p:nvSpPr>
        <p:spPr>
          <a:xfrm>
            <a:off x="1621721" y="3428258"/>
            <a:ext cx="4448835" cy="1950564"/>
          </a:xfrm>
          <a:prstGeom prst="rect">
            <a:avLst/>
          </a:prstGeom>
          <a:solidFill>
            <a:schemeClr val="bg1">
              <a:lumMod val="85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lnSpc>
                <a:spcPct val="150000"/>
              </a:lnSpc>
            </a:pPr>
            <a:r>
              <a:rPr lang="en-GB" sz="1400" b="1" u="sng" dirty="0">
                <a:solidFill>
                  <a:srgbClr val="000000"/>
                </a:solidFill>
              </a:rPr>
              <a:t>Why is Capital important?</a:t>
            </a:r>
          </a:p>
          <a:p>
            <a:pPr algn="ctr"/>
            <a:endParaRPr lang="en-GB" sz="1400" dirty="0">
              <a:solidFill>
                <a:srgbClr val="000000"/>
              </a:solidFill>
            </a:endParaRPr>
          </a:p>
          <a:p>
            <a:pPr algn="ctr">
              <a:lnSpc>
                <a:spcPct val="150000"/>
              </a:lnSpc>
            </a:pPr>
            <a:r>
              <a:rPr lang="en-GB" sz="1400" dirty="0">
                <a:solidFill>
                  <a:srgbClr val="000000"/>
                </a:solidFill>
              </a:rPr>
              <a:t>Capital is the primary financial cushion against losses, whether caused due to defaults, fair value declines or other reasons</a:t>
            </a:r>
          </a:p>
        </p:txBody>
      </p:sp>
    </p:spTree>
    <p:extLst>
      <p:ext uri="{BB962C8B-B14F-4D97-AF65-F5344CB8AC3E}">
        <p14:creationId xmlns:p14="http://schemas.microsoft.com/office/powerpoint/2010/main" val="5224963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1240AEA-2363-4C3C-80C7-661F9AA00975}"/>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D1240AEA-2363-4C3C-80C7-661F9AA00975}"/>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DEA5185-96B1-4088-A75A-59548761ACBD}"/>
              </a:ext>
            </a:extLst>
          </p:cNvPr>
          <p:cNvSpPr>
            <a:spLocks noGrp="1"/>
          </p:cNvSpPr>
          <p:nvPr>
            <p:ph type="title"/>
          </p:nvPr>
        </p:nvSpPr>
        <p:spPr/>
        <p:txBody>
          <a:bodyPr vert="horz"/>
          <a:lstStyle/>
          <a:p>
            <a:r>
              <a:rPr lang="en-GB" dirty="0"/>
              <a:t>Capital components for regulatory capital</a:t>
            </a:r>
          </a:p>
        </p:txBody>
      </p:sp>
      <p:sp>
        <p:nvSpPr>
          <p:cNvPr id="29" name="Rectangle 28">
            <a:extLst>
              <a:ext uri="{FF2B5EF4-FFF2-40B4-BE49-F238E27FC236}">
                <a16:creationId xmlns:a16="http://schemas.microsoft.com/office/drawing/2014/main" id="{F00DD7AA-CE81-4F42-81D5-CC0422BA2CD7}"/>
              </a:ext>
            </a:extLst>
          </p:cNvPr>
          <p:cNvSpPr/>
          <p:nvPr/>
        </p:nvSpPr>
        <p:spPr bwMode="auto">
          <a:xfrm>
            <a:off x="1714501" y="1305552"/>
            <a:ext cx="8866717" cy="358696"/>
          </a:xfrm>
          <a:prstGeom prst="rect">
            <a:avLst/>
          </a:prstGeom>
          <a:solidFill>
            <a:schemeClr val="accent1"/>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wrap="square" lIns="36000" tIns="36000" rIns="36000" bIns="36000" anchor="ctr" anchorCtr="0">
            <a:noAutofit/>
          </a:bodyPr>
          <a:lstStyle/>
          <a:p>
            <a:pPr algn="ctr">
              <a:lnSpc>
                <a:spcPct val="90000"/>
              </a:lnSpc>
            </a:pPr>
            <a:r>
              <a:rPr lang="en-GB" sz="1200" b="1" kern="0" dirty="0">
                <a:solidFill>
                  <a:schemeClr val="bg1"/>
                </a:solidFill>
                <a:latin typeface="+mj-lt"/>
                <a:cs typeface="Arial" panose="020B0604020202020204" pitchFamily="34" charset="0"/>
              </a:rPr>
              <a:t>Risk Weighted Assets</a:t>
            </a:r>
          </a:p>
        </p:txBody>
      </p:sp>
      <p:sp>
        <p:nvSpPr>
          <p:cNvPr id="33" name="Rectangle 32">
            <a:extLst>
              <a:ext uri="{FF2B5EF4-FFF2-40B4-BE49-F238E27FC236}">
                <a16:creationId xmlns:a16="http://schemas.microsoft.com/office/drawing/2014/main" id="{369C1A40-B9C2-4B15-A9B4-41EF6DD0D5FD}"/>
              </a:ext>
            </a:extLst>
          </p:cNvPr>
          <p:cNvSpPr/>
          <p:nvPr/>
        </p:nvSpPr>
        <p:spPr bwMode="auto">
          <a:xfrm>
            <a:off x="8103299" y="1765950"/>
            <a:ext cx="2477919" cy="760106"/>
          </a:xfrm>
          <a:prstGeom prst="rect">
            <a:avLst/>
          </a:prstGeom>
          <a:solidFill>
            <a:srgbClr val="C8CDD7"/>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wrap="square" lIns="36000" tIns="0" rIns="0" bIns="0" anchor="ctr" anchorCtr="0">
            <a:noAutofit/>
          </a:bodyPr>
          <a:lstStyle/>
          <a:p>
            <a:pPr algn="ctr">
              <a:lnSpc>
                <a:spcPct val="90000"/>
              </a:lnSpc>
              <a:spcBef>
                <a:spcPts val="600"/>
              </a:spcBef>
            </a:pPr>
            <a:r>
              <a:rPr lang="en-GB" sz="1100" kern="0" dirty="0">
                <a:solidFill>
                  <a:schemeClr val="accent1"/>
                </a:solidFill>
                <a:latin typeface="+mj-lt"/>
                <a:cs typeface="Arial" panose="020B0604020202020204" pitchFamily="34" charset="0"/>
              </a:rPr>
              <a:t>Majority of capital; low volatility, generally changing only as part of increases in capital stock</a:t>
            </a:r>
          </a:p>
        </p:txBody>
      </p:sp>
      <p:sp>
        <p:nvSpPr>
          <p:cNvPr id="19" name="Rectangle 18">
            <a:extLst>
              <a:ext uri="{FF2B5EF4-FFF2-40B4-BE49-F238E27FC236}">
                <a16:creationId xmlns:a16="http://schemas.microsoft.com/office/drawing/2014/main" id="{91AD6C72-BD08-426C-A1CE-D2ABBF719AFB}"/>
              </a:ext>
            </a:extLst>
          </p:cNvPr>
          <p:cNvSpPr/>
          <p:nvPr/>
        </p:nvSpPr>
        <p:spPr>
          <a:xfrm>
            <a:off x="1714788" y="1748981"/>
            <a:ext cx="1153056" cy="777074"/>
          </a:xfrm>
          <a:prstGeom prst="rect">
            <a:avLst/>
          </a:prstGeom>
          <a:solidFill>
            <a:srgbClr val="8496B2"/>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spcBef>
                <a:spcPts val="600"/>
              </a:spcBef>
              <a:defRPr/>
            </a:pPr>
            <a:r>
              <a:rPr lang="en-GB" sz="1200" b="1" kern="0" dirty="0">
                <a:solidFill>
                  <a:schemeClr val="bg1"/>
                </a:solidFill>
                <a:latin typeface="+mj-lt"/>
              </a:rPr>
              <a:t>Capital Components</a:t>
            </a:r>
          </a:p>
        </p:txBody>
      </p:sp>
      <p:sp>
        <p:nvSpPr>
          <p:cNvPr id="21" name="Rectangle 20">
            <a:extLst>
              <a:ext uri="{FF2B5EF4-FFF2-40B4-BE49-F238E27FC236}">
                <a16:creationId xmlns:a16="http://schemas.microsoft.com/office/drawing/2014/main" id="{90E3ECDA-286A-43EA-B894-85CF5238B41C}"/>
              </a:ext>
            </a:extLst>
          </p:cNvPr>
          <p:cNvSpPr/>
          <p:nvPr/>
        </p:nvSpPr>
        <p:spPr bwMode="auto">
          <a:xfrm>
            <a:off x="2964351" y="1748981"/>
            <a:ext cx="4971811" cy="777074"/>
          </a:xfrm>
          <a:prstGeom prst="rect">
            <a:avLst/>
          </a:prstGeom>
          <a:solidFill>
            <a:srgbClr val="C8CDD7"/>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wrap="square" lIns="36000" tIns="0" rIns="0" bIns="0" anchor="ctr" anchorCtr="0">
            <a:noAutofit/>
          </a:bodyPr>
          <a:lstStyle/>
          <a:p>
            <a:pPr marL="171450" indent="-171450">
              <a:lnSpc>
                <a:spcPct val="90000"/>
              </a:lnSpc>
              <a:spcBef>
                <a:spcPts val="600"/>
              </a:spcBef>
              <a:buFont typeface="Wingdings" panose="05000000000000000000" pitchFamily="2" charset="2"/>
              <a:buChar char="§"/>
            </a:pPr>
            <a:r>
              <a:rPr lang="en-GB" sz="1100" kern="0" dirty="0">
                <a:solidFill>
                  <a:schemeClr val="accent1"/>
                </a:solidFill>
                <a:latin typeface="+mj-lt"/>
                <a:cs typeface="Arial" panose="020B0604020202020204" pitchFamily="34" charset="0"/>
              </a:rPr>
              <a:t>Paid in Capital</a:t>
            </a:r>
          </a:p>
          <a:p>
            <a:pPr marL="171450" indent="-171450">
              <a:lnSpc>
                <a:spcPct val="90000"/>
              </a:lnSpc>
              <a:spcBef>
                <a:spcPts val="600"/>
              </a:spcBef>
              <a:buFont typeface="Wingdings" panose="05000000000000000000" pitchFamily="2" charset="2"/>
              <a:buChar char="§"/>
            </a:pPr>
            <a:r>
              <a:rPr lang="en-GB" sz="1100" kern="0" dirty="0">
                <a:solidFill>
                  <a:schemeClr val="accent1"/>
                </a:solidFill>
                <a:latin typeface="+mj-lt"/>
                <a:cs typeface="Arial" panose="020B0604020202020204" pitchFamily="34" charset="0"/>
              </a:rPr>
              <a:t>CET1 capital instruments (shareholder equity)</a:t>
            </a:r>
          </a:p>
          <a:p>
            <a:pPr marL="171450" indent="-171450">
              <a:lnSpc>
                <a:spcPct val="90000"/>
              </a:lnSpc>
              <a:spcBef>
                <a:spcPts val="600"/>
              </a:spcBef>
              <a:buFont typeface="Wingdings" panose="05000000000000000000" pitchFamily="2" charset="2"/>
              <a:buChar char="§"/>
            </a:pPr>
            <a:r>
              <a:rPr lang="en-GB" sz="1100" kern="0" dirty="0">
                <a:solidFill>
                  <a:schemeClr val="accent1"/>
                </a:solidFill>
                <a:latin typeface="+mj-lt"/>
                <a:cs typeface="Arial" panose="020B0604020202020204" pitchFamily="34" charset="0"/>
              </a:rPr>
              <a:t>Capital reserves</a:t>
            </a:r>
          </a:p>
        </p:txBody>
      </p:sp>
      <p:sp>
        <p:nvSpPr>
          <p:cNvPr id="41" name="Rectangle 40">
            <a:extLst>
              <a:ext uri="{FF2B5EF4-FFF2-40B4-BE49-F238E27FC236}">
                <a16:creationId xmlns:a16="http://schemas.microsoft.com/office/drawing/2014/main" id="{6E75B266-CE2B-4D78-AB45-0DE73D4A3619}"/>
              </a:ext>
            </a:extLst>
          </p:cNvPr>
          <p:cNvSpPr/>
          <p:nvPr/>
        </p:nvSpPr>
        <p:spPr bwMode="auto">
          <a:xfrm>
            <a:off x="8103299" y="2610788"/>
            <a:ext cx="2477919" cy="1013920"/>
          </a:xfrm>
          <a:prstGeom prst="rect">
            <a:avLst/>
          </a:prstGeom>
          <a:solidFill>
            <a:srgbClr val="C8CDD7"/>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wrap="square" lIns="36000" tIns="0" rIns="0" bIns="0" anchor="ctr" anchorCtr="0">
            <a:noAutofit/>
          </a:bodyPr>
          <a:lstStyle/>
          <a:p>
            <a:pPr algn="ctr">
              <a:lnSpc>
                <a:spcPct val="90000"/>
              </a:lnSpc>
              <a:spcBef>
                <a:spcPts val="600"/>
              </a:spcBef>
            </a:pPr>
            <a:r>
              <a:rPr lang="en-GB" sz="1100" kern="0" dirty="0">
                <a:solidFill>
                  <a:schemeClr val="accent1"/>
                </a:solidFill>
                <a:latin typeface="+mj-lt"/>
                <a:cs typeface="Arial" panose="020B0604020202020204" pitchFamily="34" charset="0"/>
              </a:rPr>
              <a:t>Other large part of capital; more volatile than capital components</a:t>
            </a:r>
          </a:p>
        </p:txBody>
      </p:sp>
      <p:sp>
        <p:nvSpPr>
          <p:cNvPr id="42" name="Rectangle 41">
            <a:extLst>
              <a:ext uri="{FF2B5EF4-FFF2-40B4-BE49-F238E27FC236}">
                <a16:creationId xmlns:a16="http://schemas.microsoft.com/office/drawing/2014/main" id="{E75F2DEE-ED9F-440A-B561-79CA96872F31}"/>
              </a:ext>
            </a:extLst>
          </p:cNvPr>
          <p:cNvSpPr/>
          <p:nvPr/>
        </p:nvSpPr>
        <p:spPr>
          <a:xfrm>
            <a:off x="1714788" y="2610788"/>
            <a:ext cx="1153056" cy="1013920"/>
          </a:xfrm>
          <a:prstGeom prst="rect">
            <a:avLst/>
          </a:prstGeom>
          <a:solidFill>
            <a:srgbClr val="8496B2"/>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spcBef>
                <a:spcPts val="600"/>
              </a:spcBef>
              <a:defRPr/>
            </a:pPr>
            <a:r>
              <a:rPr lang="en-GB" sz="1200" b="1" kern="0" dirty="0">
                <a:solidFill>
                  <a:schemeClr val="bg1"/>
                </a:solidFill>
                <a:latin typeface="+mj-lt"/>
              </a:rPr>
              <a:t>Profits</a:t>
            </a:r>
          </a:p>
        </p:txBody>
      </p:sp>
      <p:sp>
        <p:nvSpPr>
          <p:cNvPr id="43" name="Rectangle 42">
            <a:extLst>
              <a:ext uri="{FF2B5EF4-FFF2-40B4-BE49-F238E27FC236}">
                <a16:creationId xmlns:a16="http://schemas.microsoft.com/office/drawing/2014/main" id="{DF692BC5-101D-4F3A-B42C-22992F0001DE}"/>
              </a:ext>
            </a:extLst>
          </p:cNvPr>
          <p:cNvSpPr/>
          <p:nvPr/>
        </p:nvSpPr>
        <p:spPr bwMode="auto">
          <a:xfrm>
            <a:off x="2964351" y="2610788"/>
            <a:ext cx="4971811" cy="1013920"/>
          </a:xfrm>
          <a:prstGeom prst="rect">
            <a:avLst/>
          </a:prstGeom>
          <a:solidFill>
            <a:srgbClr val="C8CDD7"/>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wrap="square" lIns="36000" tIns="0" rIns="0" bIns="0" anchor="ctr" anchorCtr="0">
            <a:noAutofit/>
          </a:bodyPr>
          <a:lstStyle/>
          <a:p>
            <a:pPr marL="171450" indent="-171450">
              <a:lnSpc>
                <a:spcPct val="90000"/>
              </a:lnSpc>
              <a:spcBef>
                <a:spcPts val="600"/>
              </a:spcBef>
              <a:buFont typeface="Wingdings" panose="05000000000000000000" pitchFamily="2" charset="2"/>
              <a:buChar char="§"/>
            </a:pPr>
            <a:r>
              <a:rPr lang="en-GB" sz="1100" kern="0" dirty="0">
                <a:solidFill>
                  <a:schemeClr val="accent1"/>
                </a:solidFill>
                <a:latin typeface="+mj-lt"/>
                <a:cs typeface="Arial" panose="020B0604020202020204" pitchFamily="34" charset="0"/>
              </a:rPr>
              <a:t>Retained earnings, interim profits &amp; Other Comprehensive Income (profits only testified, losses immediately)</a:t>
            </a:r>
          </a:p>
          <a:p>
            <a:pPr marL="171450" indent="-171450">
              <a:lnSpc>
                <a:spcPct val="90000"/>
              </a:lnSpc>
              <a:spcBef>
                <a:spcPts val="600"/>
              </a:spcBef>
              <a:buFont typeface="Wingdings" panose="05000000000000000000" pitchFamily="2" charset="2"/>
              <a:buChar char="§"/>
            </a:pPr>
            <a:r>
              <a:rPr lang="en-GB" sz="1100" kern="0" dirty="0">
                <a:solidFill>
                  <a:schemeClr val="accent1"/>
                </a:solidFill>
                <a:latin typeface="+mj-lt"/>
                <a:cs typeface="Arial" panose="020B0604020202020204" pitchFamily="34" charset="0"/>
              </a:rPr>
              <a:t>Corrections for Own Credit Risk and Debt Valuation Adjustments (gains from decrease of own creditworthiness cannot be considered)</a:t>
            </a:r>
          </a:p>
          <a:p>
            <a:pPr marL="171450" indent="-171450">
              <a:lnSpc>
                <a:spcPct val="90000"/>
              </a:lnSpc>
              <a:spcBef>
                <a:spcPts val="600"/>
              </a:spcBef>
              <a:buFont typeface="Wingdings" panose="05000000000000000000" pitchFamily="2" charset="2"/>
              <a:buChar char="§"/>
            </a:pPr>
            <a:r>
              <a:rPr lang="en-GB" sz="1100" kern="0" dirty="0">
                <a:solidFill>
                  <a:schemeClr val="accent1"/>
                </a:solidFill>
                <a:latin typeface="+mj-lt"/>
                <a:cs typeface="Arial" panose="020B0604020202020204" pitchFamily="34" charset="0"/>
              </a:rPr>
              <a:t>Corrections for goodwill &amp; immaterial assets</a:t>
            </a:r>
          </a:p>
        </p:txBody>
      </p:sp>
      <p:sp>
        <p:nvSpPr>
          <p:cNvPr id="44" name="Rectangle 43">
            <a:extLst>
              <a:ext uri="{FF2B5EF4-FFF2-40B4-BE49-F238E27FC236}">
                <a16:creationId xmlns:a16="http://schemas.microsoft.com/office/drawing/2014/main" id="{A669EF28-B8AE-439A-9BFC-A49FFD2F18D7}"/>
              </a:ext>
            </a:extLst>
          </p:cNvPr>
          <p:cNvSpPr/>
          <p:nvPr/>
        </p:nvSpPr>
        <p:spPr bwMode="auto">
          <a:xfrm>
            <a:off x="8103011" y="3697391"/>
            <a:ext cx="2477919" cy="777075"/>
          </a:xfrm>
          <a:prstGeom prst="rect">
            <a:avLst/>
          </a:prstGeom>
          <a:solidFill>
            <a:srgbClr val="C8CDD7"/>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wrap="square" lIns="36000" tIns="0" rIns="0" bIns="0" anchor="ctr" anchorCtr="0">
            <a:noAutofit/>
          </a:bodyPr>
          <a:lstStyle/>
          <a:p>
            <a:pPr algn="ctr">
              <a:lnSpc>
                <a:spcPct val="90000"/>
              </a:lnSpc>
              <a:spcBef>
                <a:spcPts val="600"/>
              </a:spcBef>
            </a:pPr>
            <a:r>
              <a:rPr lang="en-GB" sz="1100" kern="0" dirty="0">
                <a:solidFill>
                  <a:schemeClr val="accent1"/>
                </a:solidFill>
                <a:latin typeface="+mj-lt"/>
                <a:cs typeface="Arial" panose="020B0604020202020204" pitchFamily="34" charset="0"/>
              </a:rPr>
              <a:t>Materiality generally low to medium, but high volatility</a:t>
            </a:r>
          </a:p>
        </p:txBody>
      </p:sp>
      <p:sp>
        <p:nvSpPr>
          <p:cNvPr id="45" name="Rectangle 44">
            <a:extLst>
              <a:ext uri="{FF2B5EF4-FFF2-40B4-BE49-F238E27FC236}">
                <a16:creationId xmlns:a16="http://schemas.microsoft.com/office/drawing/2014/main" id="{C261953D-7D74-4A03-8378-49F3EB0EE54A}"/>
              </a:ext>
            </a:extLst>
          </p:cNvPr>
          <p:cNvSpPr/>
          <p:nvPr/>
        </p:nvSpPr>
        <p:spPr>
          <a:xfrm>
            <a:off x="1714500" y="3700156"/>
            <a:ext cx="1153056" cy="777074"/>
          </a:xfrm>
          <a:prstGeom prst="rect">
            <a:avLst/>
          </a:prstGeom>
          <a:solidFill>
            <a:srgbClr val="8496B2"/>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spcBef>
                <a:spcPts val="600"/>
              </a:spcBef>
              <a:defRPr/>
            </a:pPr>
            <a:r>
              <a:rPr lang="en-GB" sz="1200" b="1" kern="0" dirty="0">
                <a:solidFill>
                  <a:schemeClr val="bg1"/>
                </a:solidFill>
                <a:latin typeface="+mj-lt"/>
              </a:rPr>
              <a:t>Prudent Valuation &amp; IRB Shortfall</a:t>
            </a:r>
          </a:p>
        </p:txBody>
      </p:sp>
      <p:sp>
        <p:nvSpPr>
          <p:cNvPr id="46" name="Rectangle 45">
            <a:extLst>
              <a:ext uri="{FF2B5EF4-FFF2-40B4-BE49-F238E27FC236}">
                <a16:creationId xmlns:a16="http://schemas.microsoft.com/office/drawing/2014/main" id="{C96FB8DB-D1A5-43E5-811E-82B36472227F}"/>
              </a:ext>
            </a:extLst>
          </p:cNvPr>
          <p:cNvSpPr/>
          <p:nvPr/>
        </p:nvSpPr>
        <p:spPr bwMode="auto">
          <a:xfrm>
            <a:off x="2964063" y="3680422"/>
            <a:ext cx="4971811" cy="796808"/>
          </a:xfrm>
          <a:prstGeom prst="rect">
            <a:avLst/>
          </a:prstGeom>
          <a:solidFill>
            <a:srgbClr val="C8CDD7"/>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wrap="square" lIns="36000" tIns="0" rIns="0" bIns="0" anchor="ctr" anchorCtr="0">
            <a:noAutofit/>
          </a:bodyPr>
          <a:lstStyle/>
          <a:p>
            <a:pPr marL="171450" indent="-171450">
              <a:lnSpc>
                <a:spcPct val="90000"/>
              </a:lnSpc>
              <a:spcBef>
                <a:spcPts val="600"/>
              </a:spcBef>
              <a:buFont typeface="Wingdings" panose="05000000000000000000" pitchFamily="2" charset="2"/>
              <a:buChar char="§"/>
            </a:pPr>
            <a:r>
              <a:rPr lang="en-GB" sz="1100" kern="0" dirty="0">
                <a:solidFill>
                  <a:schemeClr val="accent1"/>
                </a:solidFill>
                <a:latin typeface="+mj-lt"/>
                <a:cs typeface="Arial" panose="020B0604020202020204" pitchFamily="34" charset="0"/>
              </a:rPr>
              <a:t>Fair Value Adjustments in line with IFRS13</a:t>
            </a:r>
          </a:p>
          <a:p>
            <a:pPr marL="171450" indent="-171450">
              <a:lnSpc>
                <a:spcPct val="90000"/>
              </a:lnSpc>
              <a:spcBef>
                <a:spcPts val="600"/>
              </a:spcBef>
              <a:buFont typeface="Wingdings" panose="05000000000000000000" pitchFamily="2" charset="2"/>
              <a:buChar char="§"/>
            </a:pPr>
            <a:r>
              <a:rPr lang="en-GB" sz="1100" kern="0" dirty="0">
                <a:solidFill>
                  <a:schemeClr val="accent1"/>
                </a:solidFill>
                <a:latin typeface="+mj-lt"/>
                <a:cs typeface="Arial" panose="020B0604020202020204" pitchFamily="34" charset="0"/>
              </a:rPr>
              <a:t>Shortfall/Excess of IRB-EL over Impairments (shortfall to be subtracted, excess can be used up to 0.6% of Tier 2 capital)</a:t>
            </a:r>
          </a:p>
        </p:txBody>
      </p:sp>
      <p:sp>
        <p:nvSpPr>
          <p:cNvPr id="47" name="Rectangle 46">
            <a:extLst>
              <a:ext uri="{FF2B5EF4-FFF2-40B4-BE49-F238E27FC236}">
                <a16:creationId xmlns:a16="http://schemas.microsoft.com/office/drawing/2014/main" id="{1EEEEF99-C599-49BA-A2BB-A597C371EA41}"/>
              </a:ext>
            </a:extLst>
          </p:cNvPr>
          <p:cNvSpPr/>
          <p:nvPr/>
        </p:nvSpPr>
        <p:spPr bwMode="auto">
          <a:xfrm>
            <a:off x="8103010" y="4578932"/>
            <a:ext cx="2477919" cy="694945"/>
          </a:xfrm>
          <a:prstGeom prst="rect">
            <a:avLst/>
          </a:prstGeom>
          <a:solidFill>
            <a:srgbClr val="C8CDD7"/>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wrap="square" lIns="36000" tIns="0" rIns="0" bIns="0" anchor="ctr" anchorCtr="0">
            <a:noAutofit/>
          </a:bodyPr>
          <a:lstStyle/>
          <a:p>
            <a:pPr algn="ctr">
              <a:lnSpc>
                <a:spcPct val="90000"/>
              </a:lnSpc>
              <a:spcBef>
                <a:spcPts val="600"/>
              </a:spcBef>
            </a:pPr>
            <a:r>
              <a:rPr lang="en-GB" sz="1100" kern="0" dirty="0">
                <a:solidFill>
                  <a:schemeClr val="accent1"/>
                </a:solidFill>
                <a:latin typeface="+mj-lt"/>
                <a:cs typeface="Arial" panose="020B0604020202020204" pitchFamily="34" charset="0"/>
              </a:rPr>
              <a:t>Deferred tax potentially important, thresholds for FI rather high</a:t>
            </a:r>
          </a:p>
        </p:txBody>
      </p:sp>
      <p:sp>
        <p:nvSpPr>
          <p:cNvPr id="48" name="Rectangle 47">
            <a:extLst>
              <a:ext uri="{FF2B5EF4-FFF2-40B4-BE49-F238E27FC236}">
                <a16:creationId xmlns:a16="http://schemas.microsoft.com/office/drawing/2014/main" id="{B68C2D24-3F23-47DE-9C9E-BDA9F15D1514}"/>
              </a:ext>
            </a:extLst>
          </p:cNvPr>
          <p:cNvSpPr/>
          <p:nvPr/>
        </p:nvSpPr>
        <p:spPr>
          <a:xfrm>
            <a:off x="1714500" y="4561964"/>
            <a:ext cx="1153056" cy="711913"/>
          </a:xfrm>
          <a:prstGeom prst="rect">
            <a:avLst/>
          </a:prstGeom>
          <a:solidFill>
            <a:srgbClr val="8496B2"/>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spcBef>
                <a:spcPts val="600"/>
              </a:spcBef>
              <a:defRPr/>
            </a:pPr>
            <a:r>
              <a:rPr lang="en-GB" sz="1200" b="1" kern="0" dirty="0">
                <a:solidFill>
                  <a:schemeClr val="bg1"/>
                </a:solidFill>
                <a:latin typeface="+mj-lt"/>
              </a:rPr>
              <a:t>Tax and Financial Investment</a:t>
            </a:r>
          </a:p>
        </p:txBody>
      </p:sp>
      <p:sp>
        <p:nvSpPr>
          <p:cNvPr id="49" name="Rectangle 48">
            <a:extLst>
              <a:ext uri="{FF2B5EF4-FFF2-40B4-BE49-F238E27FC236}">
                <a16:creationId xmlns:a16="http://schemas.microsoft.com/office/drawing/2014/main" id="{D1E0A1A4-A7CD-4529-AF11-311302B118D0}"/>
              </a:ext>
            </a:extLst>
          </p:cNvPr>
          <p:cNvSpPr/>
          <p:nvPr/>
        </p:nvSpPr>
        <p:spPr bwMode="auto">
          <a:xfrm>
            <a:off x="2964063" y="4561964"/>
            <a:ext cx="4971811" cy="711913"/>
          </a:xfrm>
          <a:prstGeom prst="rect">
            <a:avLst/>
          </a:prstGeom>
          <a:solidFill>
            <a:srgbClr val="C8CDD7"/>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wrap="square" lIns="36000" tIns="0" rIns="0" bIns="0" anchor="ctr" anchorCtr="0">
            <a:noAutofit/>
          </a:bodyPr>
          <a:lstStyle/>
          <a:p>
            <a:pPr marL="171450" indent="-171450">
              <a:lnSpc>
                <a:spcPct val="90000"/>
              </a:lnSpc>
              <a:spcBef>
                <a:spcPts val="600"/>
              </a:spcBef>
              <a:buFont typeface="Wingdings" panose="05000000000000000000" pitchFamily="2" charset="2"/>
              <a:buChar char="§"/>
            </a:pPr>
            <a:r>
              <a:rPr lang="en-GB" sz="1100" kern="0" dirty="0">
                <a:solidFill>
                  <a:schemeClr val="accent1"/>
                </a:solidFill>
                <a:latin typeface="+mj-lt"/>
                <a:cs typeface="Arial" panose="020B0604020202020204" pitchFamily="34" charset="0"/>
              </a:rPr>
              <a:t>Correction for tax assets assuming future profits</a:t>
            </a:r>
          </a:p>
          <a:p>
            <a:pPr marL="171450" indent="-171450">
              <a:lnSpc>
                <a:spcPct val="90000"/>
              </a:lnSpc>
              <a:spcBef>
                <a:spcPts val="600"/>
              </a:spcBef>
              <a:buFont typeface="Wingdings" panose="05000000000000000000" pitchFamily="2" charset="2"/>
              <a:buChar char="§"/>
            </a:pPr>
            <a:r>
              <a:rPr lang="en-GB" sz="1100" kern="0" dirty="0">
                <a:solidFill>
                  <a:schemeClr val="accent1"/>
                </a:solidFill>
                <a:latin typeface="+mj-lt"/>
                <a:cs typeface="Arial" panose="020B0604020202020204" pitchFamily="34" charset="0"/>
              </a:rPr>
              <a:t>Correction for large CET1 and AT1 financial investments </a:t>
            </a:r>
          </a:p>
        </p:txBody>
      </p:sp>
      <p:sp>
        <p:nvSpPr>
          <p:cNvPr id="50" name="Rectangle 49">
            <a:extLst>
              <a:ext uri="{FF2B5EF4-FFF2-40B4-BE49-F238E27FC236}">
                <a16:creationId xmlns:a16="http://schemas.microsoft.com/office/drawing/2014/main" id="{A67CD0E6-1BD4-4269-9EF8-CA7182CCC9C5}"/>
              </a:ext>
            </a:extLst>
          </p:cNvPr>
          <p:cNvSpPr/>
          <p:nvPr/>
        </p:nvSpPr>
        <p:spPr bwMode="auto">
          <a:xfrm>
            <a:off x="8103299" y="5362956"/>
            <a:ext cx="2477919" cy="694945"/>
          </a:xfrm>
          <a:prstGeom prst="rect">
            <a:avLst/>
          </a:prstGeom>
          <a:solidFill>
            <a:srgbClr val="C8CDD7"/>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wrap="square" lIns="36000" tIns="0" rIns="0" bIns="0" anchor="ctr" anchorCtr="0">
            <a:noAutofit/>
          </a:bodyPr>
          <a:lstStyle/>
          <a:p>
            <a:pPr algn="ctr">
              <a:lnSpc>
                <a:spcPct val="90000"/>
              </a:lnSpc>
              <a:spcBef>
                <a:spcPts val="600"/>
              </a:spcBef>
            </a:pPr>
            <a:r>
              <a:rPr lang="en-GB" sz="1100" kern="0" dirty="0">
                <a:solidFill>
                  <a:schemeClr val="accent1"/>
                </a:solidFill>
                <a:latin typeface="+mj-lt"/>
                <a:cs typeface="Arial" panose="020B0604020202020204" pitchFamily="34" charset="0"/>
              </a:rPr>
              <a:t>Importance decreasing, Grandfathering agreements ran out end of 2017</a:t>
            </a:r>
          </a:p>
        </p:txBody>
      </p:sp>
      <p:sp>
        <p:nvSpPr>
          <p:cNvPr id="51" name="Rectangle 50">
            <a:extLst>
              <a:ext uri="{FF2B5EF4-FFF2-40B4-BE49-F238E27FC236}">
                <a16:creationId xmlns:a16="http://schemas.microsoft.com/office/drawing/2014/main" id="{57550BC6-D4E5-4634-BF6B-A464D932F37F}"/>
              </a:ext>
            </a:extLst>
          </p:cNvPr>
          <p:cNvSpPr/>
          <p:nvPr/>
        </p:nvSpPr>
        <p:spPr>
          <a:xfrm>
            <a:off x="1714789" y="5345988"/>
            <a:ext cx="1153056" cy="711913"/>
          </a:xfrm>
          <a:prstGeom prst="rect">
            <a:avLst/>
          </a:prstGeom>
          <a:solidFill>
            <a:srgbClr val="8496B2"/>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spcBef>
                <a:spcPts val="600"/>
              </a:spcBef>
              <a:defRPr/>
            </a:pPr>
            <a:r>
              <a:rPr lang="en-GB" sz="1200" b="1" kern="0" dirty="0">
                <a:solidFill>
                  <a:schemeClr val="bg1"/>
                </a:solidFill>
                <a:latin typeface="+mj-lt"/>
              </a:rPr>
              <a:t>AT1 and T2 Capital Instruments</a:t>
            </a:r>
          </a:p>
        </p:txBody>
      </p:sp>
      <p:sp>
        <p:nvSpPr>
          <p:cNvPr id="52" name="Rectangle 51">
            <a:extLst>
              <a:ext uri="{FF2B5EF4-FFF2-40B4-BE49-F238E27FC236}">
                <a16:creationId xmlns:a16="http://schemas.microsoft.com/office/drawing/2014/main" id="{FB970FB6-DF6D-4300-A483-C6475340C7E1}"/>
              </a:ext>
            </a:extLst>
          </p:cNvPr>
          <p:cNvSpPr/>
          <p:nvPr/>
        </p:nvSpPr>
        <p:spPr bwMode="auto">
          <a:xfrm>
            <a:off x="2964352" y="5345988"/>
            <a:ext cx="4971811" cy="711913"/>
          </a:xfrm>
          <a:prstGeom prst="rect">
            <a:avLst/>
          </a:prstGeom>
          <a:solidFill>
            <a:srgbClr val="C8CDD7"/>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wrap="square" lIns="36000" tIns="0" rIns="0" bIns="0" anchor="ctr" anchorCtr="0">
            <a:noAutofit/>
          </a:bodyPr>
          <a:lstStyle/>
          <a:p>
            <a:pPr marL="171450" indent="-171450">
              <a:lnSpc>
                <a:spcPct val="90000"/>
              </a:lnSpc>
              <a:spcBef>
                <a:spcPts val="600"/>
              </a:spcBef>
              <a:buFont typeface="Wingdings" panose="05000000000000000000" pitchFamily="2" charset="2"/>
              <a:buChar char="§"/>
            </a:pPr>
            <a:r>
              <a:rPr lang="en-GB" sz="1100" kern="0" dirty="0">
                <a:solidFill>
                  <a:schemeClr val="accent1"/>
                </a:solidFill>
                <a:latin typeface="+mj-lt"/>
                <a:cs typeface="Arial" panose="020B0604020202020204" pitchFamily="34" charset="0"/>
              </a:rPr>
              <a:t>AT1: Co</a:t>
            </a:r>
            <a:r>
              <a:rPr lang="hu-HU" sz="1100" kern="0" dirty="0" err="1">
                <a:solidFill>
                  <a:schemeClr val="accent1"/>
                </a:solidFill>
                <a:latin typeface="+mj-lt"/>
                <a:cs typeface="Arial" panose="020B0604020202020204" pitchFamily="34" charset="0"/>
              </a:rPr>
              <a:t>ntingent</a:t>
            </a:r>
            <a:r>
              <a:rPr lang="en-GB" sz="1100" kern="0" dirty="0">
                <a:solidFill>
                  <a:schemeClr val="accent1"/>
                </a:solidFill>
                <a:latin typeface="+mj-lt"/>
                <a:cs typeface="Arial" panose="020B0604020202020204" pitchFamily="34" charset="0"/>
              </a:rPr>
              <a:t>Co</a:t>
            </a:r>
            <a:r>
              <a:rPr lang="hu-HU" sz="1100" kern="0" dirty="0" err="1">
                <a:solidFill>
                  <a:schemeClr val="accent1"/>
                </a:solidFill>
                <a:latin typeface="+mj-lt"/>
                <a:cs typeface="Arial" panose="020B0604020202020204" pitchFamily="34" charset="0"/>
              </a:rPr>
              <a:t>nvertibles</a:t>
            </a:r>
            <a:r>
              <a:rPr lang="en-GB" sz="1100" kern="0" dirty="0">
                <a:solidFill>
                  <a:schemeClr val="accent1"/>
                </a:solidFill>
                <a:latin typeface="+mj-lt"/>
                <a:cs typeface="Arial" panose="020B0604020202020204" pitchFamily="34" charset="0"/>
              </a:rPr>
              <a:t> (transforming to equity latest at 5.25% CET1-Ratio), preferred stock</a:t>
            </a:r>
          </a:p>
          <a:p>
            <a:pPr marL="171450" indent="-171450">
              <a:lnSpc>
                <a:spcPct val="90000"/>
              </a:lnSpc>
              <a:spcBef>
                <a:spcPts val="600"/>
              </a:spcBef>
              <a:buFont typeface="Wingdings" panose="05000000000000000000" pitchFamily="2" charset="2"/>
              <a:buChar char="§"/>
            </a:pPr>
            <a:r>
              <a:rPr lang="en-GB" sz="1100" kern="0" dirty="0">
                <a:solidFill>
                  <a:schemeClr val="accent1"/>
                </a:solidFill>
                <a:latin typeface="+mj-lt"/>
                <a:cs typeface="Arial" panose="020B0604020202020204" pitchFamily="34" charset="0"/>
              </a:rPr>
              <a:t>T2: Subordinated Debt</a:t>
            </a:r>
          </a:p>
        </p:txBody>
      </p:sp>
    </p:spTree>
    <p:extLst>
      <p:ext uri="{BB962C8B-B14F-4D97-AF65-F5344CB8AC3E}">
        <p14:creationId xmlns:p14="http://schemas.microsoft.com/office/powerpoint/2010/main" val="31060598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0234FB8-18E2-4DB4-95B5-5B88C19A2E1E}"/>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B0234FB8-18E2-4DB4-95B5-5B88C19A2E1E}"/>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2" name="Content Placeholder 1">
            <a:extLst>
              <a:ext uri="{FF2B5EF4-FFF2-40B4-BE49-F238E27FC236}">
                <a16:creationId xmlns:a16="http://schemas.microsoft.com/office/drawing/2014/main" id="{F8F67438-6052-4838-851A-553A12A1C3FE}"/>
              </a:ext>
            </a:extLst>
          </p:cNvPr>
          <p:cNvSpPr>
            <a:spLocks noGrp="1"/>
          </p:cNvSpPr>
          <p:nvPr>
            <p:ph idx="1"/>
          </p:nvPr>
        </p:nvSpPr>
        <p:spPr>
          <a:xfrm>
            <a:off x="5187875" y="1306801"/>
            <a:ext cx="5393342" cy="1296551"/>
          </a:xfrm>
          <a:solidFill>
            <a:schemeClr val="bg1">
              <a:lumMod val="95000"/>
            </a:schemeClr>
          </a:solidFill>
          <a:effectLst>
            <a:outerShdw blurRad="50800" dist="38100" dir="2700000" algn="tl" rotWithShape="0">
              <a:prstClr val="black">
                <a:alpha val="40000"/>
              </a:prstClr>
            </a:outerShdw>
          </a:effectLst>
        </p:spPr>
        <p:txBody>
          <a:bodyPr>
            <a:normAutofit fontScale="47500" lnSpcReduction="20000"/>
          </a:bodyPr>
          <a:lstStyle/>
          <a:p>
            <a:pPr marL="0" indent="0">
              <a:buNone/>
            </a:pPr>
            <a:r>
              <a:rPr lang="en-GB" dirty="0"/>
              <a:t>Basel I was introduced in 1988 with two fundamental objectives: </a:t>
            </a:r>
          </a:p>
          <a:p>
            <a:r>
              <a:rPr lang="en-GB" dirty="0"/>
              <a:t>To “strengthen the soundness and stability of the international banking system”</a:t>
            </a:r>
          </a:p>
          <a:p>
            <a:r>
              <a:rPr lang="en-GB" dirty="0"/>
              <a:t>To provide “a high degree of consistency in its application to banks in different countries with a view to diminishing an existing source of competitive inequality among international banks”</a:t>
            </a:r>
          </a:p>
          <a:p>
            <a:endParaRPr lang="en-GB" dirty="0"/>
          </a:p>
        </p:txBody>
      </p:sp>
      <p:sp>
        <p:nvSpPr>
          <p:cNvPr id="3" name="Title 2">
            <a:extLst>
              <a:ext uri="{FF2B5EF4-FFF2-40B4-BE49-F238E27FC236}">
                <a16:creationId xmlns:a16="http://schemas.microsoft.com/office/drawing/2014/main" id="{6EFE7CE9-518A-4617-8BA1-67E24F92446D}"/>
              </a:ext>
            </a:extLst>
          </p:cNvPr>
          <p:cNvSpPr>
            <a:spLocks noGrp="1"/>
          </p:cNvSpPr>
          <p:nvPr>
            <p:ph type="title"/>
          </p:nvPr>
        </p:nvSpPr>
        <p:spPr/>
        <p:txBody>
          <a:bodyPr vert="horz"/>
          <a:lstStyle/>
          <a:p>
            <a:r>
              <a:rPr lang="en-GB" dirty="0"/>
              <a:t>The 1988 Basle Capital Accord (Basel I)</a:t>
            </a:r>
          </a:p>
        </p:txBody>
      </p:sp>
      <p:pic>
        <p:nvPicPr>
          <p:cNvPr id="9" name="Picture 8">
            <a:extLst>
              <a:ext uri="{FF2B5EF4-FFF2-40B4-BE49-F238E27FC236}">
                <a16:creationId xmlns:a16="http://schemas.microsoft.com/office/drawing/2014/main" id="{A4A27250-C42B-4A4E-963C-F6E06D7B11F1}"/>
              </a:ext>
            </a:extLst>
          </p:cNvPr>
          <p:cNvPicPr>
            <a:picLocks noChangeAspect="1"/>
          </p:cNvPicPr>
          <p:nvPr/>
        </p:nvPicPr>
        <p:blipFill>
          <a:blip r:embed="rId5"/>
          <a:stretch>
            <a:fillRect/>
          </a:stretch>
        </p:blipFill>
        <p:spPr>
          <a:xfrm>
            <a:off x="1600200" y="1295400"/>
            <a:ext cx="3345532" cy="4752000"/>
          </a:xfrm>
          <a:prstGeom prst="rect">
            <a:avLst/>
          </a:prstGeom>
          <a:effectLst>
            <a:outerShdw blurRad="50800" dist="38100" dir="2700000" algn="tl" rotWithShape="0">
              <a:prstClr val="black">
                <a:alpha val="40000"/>
              </a:prstClr>
            </a:outerShdw>
          </a:effectLst>
        </p:spPr>
      </p:pic>
      <p:graphicFrame>
        <p:nvGraphicFramePr>
          <p:cNvPr id="16" name="Table 15">
            <a:extLst>
              <a:ext uri="{FF2B5EF4-FFF2-40B4-BE49-F238E27FC236}">
                <a16:creationId xmlns:a16="http://schemas.microsoft.com/office/drawing/2014/main" id="{22978644-FFC0-4254-81EE-0E08751AAC78}"/>
              </a:ext>
            </a:extLst>
          </p:cNvPr>
          <p:cNvGraphicFramePr>
            <a:graphicFrameLocks noGrp="1"/>
          </p:cNvGraphicFramePr>
          <p:nvPr/>
        </p:nvGraphicFramePr>
        <p:xfrm>
          <a:off x="5198457" y="2893419"/>
          <a:ext cx="5393342" cy="3163136"/>
        </p:xfrm>
        <a:graphic>
          <a:graphicData uri="http://schemas.openxmlformats.org/drawingml/2006/table">
            <a:tbl>
              <a:tblPr firstRow="1" bandRow="1">
                <a:tableStyleId>{21E4AEA4-8DFA-4A89-87EB-49C32662AFE0}</a:tableStyleId>
              </a:tblPr>
              <a:tblGrid>
                <a:gridCol w="1059991">
                  <a:extLst>
                    <a:ext uri="{9D8B030D-6E8A-4147-A177-3AD203B41FA5}">
                      <a16:colId xmlns:a16="http://schemas.microsoft.com/office/drawing/2014/main" val="20000"/>
                    </a:ext>
                  </a:extLst>
                </a:gridCol>
                <a:gridCol w="4333351">
                  <a:extLst>
                    <a:ext uri="{9D8B030D-6E8A-4147-A177-3AD203B41FA5}">
                      <a16:colId xmlns:a16="http://schemas.microsoft.com/office/drawing/2014/main" val="20001"/>
                    </a:ext>
                  </a:extLst>
                </a:gridCol>
              </a:tblGrid>
              <a:tr h="303774">
                <a:tc>
                  <a:txBody>
                    <a:bodyPr/>
                    <a:lstStyle/>
                    <a:p>
                      <a:pPr marL="0" indent="0"/>
                      <a:r>
                        <a:rPr lang="en-GB" sz="1200" dirty="0"/>
                        <a:t>Risk Weight</a:t>
                      </a:r>
                    </a:p>
                  </a:txBody>
                  <a:tcPr/>
                </a:tc>
                <a:tc>
                  <a:txBody>
                    <a:bodyPr/>
                    <a:lstStyle/>
                    <a:p>
                      <a:pPr marL="0" indent="0"/>
                      <a:r>
                        <a:rPr lang="en-GB" sz="1200" dirty="0"/>
                        <a:t>Example</a:t>
                      </a:r>
                    </a:p>
                  </a:txBody>
                  <a:tcPr/>
                </a:tc>
                <a:extLst>
                  <a:ext uri="{0D108BD9-81ED-4DB2-BD59-A6C34878D82A}">
                    <a16:rowId xmlns:a16="http://schemas.microsoft.com/office/drawing/2014/main" val="10000"/>
                  </a:ext>
                </a:extLst>
              </a:tr>
              <a:tr h="557226">
                <a:tc>
                  <a:txBody>
                    <a:bodyPr/>
                    <a:lstStyle/>
                    <a:p>
                      <a:pPr marL="0" indent="0"/>
                      <a:r>
                        <a:rPr lang="en-GB" sz="1200" dirty="0">
                          <a:solidFill>
                            <a:schemeClr val="tx1"/>
                          </a:solidFill>
                        </a:rPr>
                        <a:t>0%</a:t>
                      </a:r>
                    </a:p>
                  </a:txBody>
                  <a:tcPr/>
                </a:tc>
                <a:tc>
                  <a:txBody>
                    <a:bodyPr/>
                    <a:lstStyle/>
                    <a:p>
                      <a:pPr marL="180975" indent="-180975">
                        <a:buClrTx/>
                        <a:buSzPct val="100000"/>
                        <a:buFont typeface="Wingdings" panose="05000000000000000000" pitchFamily="2" charset="2"/>
                        <a:buChar char="§"/>
                      </a:pPr>
                      <a:r>
                        <a:rPr lang="en-GB" sz="1200" dirty="0">
                          <a:solidFill>
                            <a:schemeClr val="tx1"/>
                          </a:solidFill>
                        </a:rPr>
                        <a:t>Cash</a:t>
                      </a:r>
                    </a:p>
                    <a:p>
                      <a:pPr marL="180975" indent="-180975">
                        <a:buClrTx/>
                        <a:buSzPct val="100000"/>
                        <a:buFont typeface="Wingdings" panose="05000000000000000000" pitchFamily="2" charset="2"/>
                        <a:buChar char="§"/>
                      </a:pPr>
                      <a:r>
                        <a:rPr lang="en-GB" sz="1200" dirty="0">
                          <a:solidFill>
                            <a:schemeClr val="tx1"/>
                          </a:solidFill>
                        </a:rPr>
                        <a:t>Claims on central governments</a:t>
                      </a:r>
                    </a:p>
                  </a:txBody>
                  <a:tcPr/>
                </a:tc>
                <a:extLst>
                  <a:ext uri="{0D108BD9-81ED-4DB2-BD59-A6C34878D82A}">
                    <a16:rowId xmlns:a16="http://schemas.microsoft.com/office/drawing/2014/main" val="10001"/>
                  </a:ext>
                </a:extLst>
              </a:tr>
              <a:tr h="551847">
                <a:tc>
                  <a:txBody>
                    <a:bodyPr/>
                    <a:lstStyle/>
                    <a:p>
                      <a:pPr marL="0" indent="0"/>
                      <a:r>
                        <a:rPr lang="en-GB" sz="1200" dirty="0">
                          <a:solidFill>
                            <a:schemeClr val="tx1"/>
                          </a:solidFill>
                        </a:rPr>
                        <a:t>10%</a:t>
                      </a:r>
                    </a:p>
                  </a:txBody>
                  <a:tcPr/>
                </a:tc>
                <a:tc>
                  <a:txBody>
                    <a:bodyPr/>
                    <a:lstStyle/>
                    <a:p>
                      <a:pPr marL="180975" indent="-180975">
                        <a:buClrTx/>
                        <a:buSzPct val="100000"/>
                        <a:buFont typeface="Wingdings" panose="05000000000000000000" pitchFamily="2" charset="2"/>
                        <a:buChar char="§"/>
                      </a:pPr>
                      <a:r>
                        <a:rPr lang="en-GB" sz="1200" dirty="0">
                          <a:solidFill>
                            <a:schemeClr val="tx1"/>
                          </a:solidFill>
                        </a:rPr>
                        <a:t>Claims on domestic public sector</a:t>
                      </a:r>
                      <a:r>
                        <a:rPr lang="en-GB" sz="1200" baseline="0" dirty="0">
                          <a:solidFill>
                            <a:schemeClr val="tx1"/>
                          </a:solidFill>
                        </a:rPr>
                        <a:t> entities (national discretion)</a:t>
                      </a:r>
                      <a:endParaRPr lang="en-GB" sz="1200" dirty="0">
                        <a:solidFill>
                          <a:schemeClr val="tx1"/>
                        </a:solidFill>
                      </a:endParaRPr>
                    </a:p>
                  </a:txBody>
                  <a:tcPr/>
                </a:tc>
                <a:extLst>
                  <a:ext uri="{0D108BD9-81ED-4DB2-BD59-A6C34878D82A}">
                    <a16:rowId xmlns:a16="http://schemas.microsoft.com/office/drawing/2014/main" val="10002"/>
                  </a:ext>
                </a:extLst>
              </a:tr>
              <a:tr h="640080">
                <a:tc>
                  <a:txBody>
                    <a:bodyPr/>
                    <a:lstStyle/>
                    <a:p>
                      <a:pPr marL="0" indent="0"/>
                      <a:r>
                        <a:rPr lang="en-GB" sz="1200" dirty="0">
                          <a:solidFill>
                            <a:schemeClr val="tx1"/>
                          </a:solidFill>
                        </a:rPr>
                        <a:t>20%</a:t>
                      </a:r>
                    </a:p>
                  </a:txBody>
                  <a:tcPr/>
                </a:tc>
                <a:tc>
                  <a:txBody>
                    <a:bodyPr/>
                    <a:lstStyle/>
                    <a:p>
                      <a:pPr marL="180975" indent="-180975">
                        <a:buClrTx/>
                        <a:buSzPct val="100000"/>
                        <a:buFont typeface="Wingdings" panose="05000000000000000000" pitchFamily="2" charset="2"/>
                        <a:buChar char="§"/>
                      </a:pPr>
                      <a:r>
                        <a:rPr lang="en-GB" sz="1200" dirty="0">
                          <a:solidFill>
                            <a:schemeClr val="tx1"/>
                          </a:solidFill>
                        </a:rPr>
                        <a:t>Claims on or guaranteed by banks incorporated in the OECD</a:t>
                      </a:r>
                    </a:p>
                    <a:p>
                      <a:pPr marL="180975" indent="-180975">
                        <a:buClrTx/>
                        <a:buSzPct val="100000"/>
                        <a:buFont typeface="Wingdings" panose="05000000000000000000" pitchFamily="2" charset="2"/>
                        <a:buChar char="§"/>
                      </a:pPr>
                      <a:r>
                        <a:rPr lang="en-GB" sz="1200" dirty="0">
                          <a:solidFill>
                            <a:schemeClr val="tx1"/>
                          </a:solidFill>
                        </a:rPr>
                        <a:t>Cash items in the process of collection</a:t>
                      </a:r>
                    </a:p>
                  </a:txBody>
                  <a:tcPr/>
                </a:tc>
                <a:extLst>
                  <a:ext uri="{0D108BD9-81ED-4DB2-BD59-A6C34878D82A}">
                    <a16:rowId xmlns:a16="http://schemas.microsoft.com/office/drawing/2014/main" val="10003"/>
                  </a:ext>
                </a:extLst>
              </a:tr>
              <a:tr h="433513">
                <a:tc>
                  <a:txBody>
                    <a:bodyPr/>
                    <a:lstStyle/>
                    <a:p>
                      <a:pPr marL="0" indent="0"/>
                      <a:r>
                        <a:rPr lang="en-GB" sz="1200" dirty="0">
                          <a:solidFill>
                            <a:schemeClr val="tx1"/>
                          </a:solidFill>
                        </a:rPr>
                        <a:t>50%</a:t>
                      </a:r>
                    </a:p>
                  </a:txBody>
                  <a:tcPr/>
                </a:tc>
                <a:tc>
                  <a:txBody>
                    <a:bodyPr/>
                    <a:lstStyle/>
                    <a:p>
                      <a:pPr marL="180975" indent="-180975">
                        <a:buClrTx/>
                        <a:buSzPct val="100000"/>
                        <a:buFont typeface="Wingdings" panose="05000000000000000000" pitchFamily="2" charset="2"/>
                        <a:buChar char="§"/>
                      </a:pPr>
                      <a:r>
                        <a:rPr lang="en-GB" sz="1200" dirty="0">
                          <a:solidFill>
                            <a:schemeClr val="tx1"/>
                          </a:solidFill>
                        </a:rPr>
                        <a:t>Loans fully secured by mortgage on residential property</a:t>
                      </a:r>
                    </a:p>
                  </a:txBody>
                  <a:tcPr/>
                </a:tc>
                <a:extLst>
                  <a:ext uri="{0D108BD9-81ED-4DB2-BD59-A6C34878D82A}">
                    <a16:rowId xmlns:a16="http://schemas.microsoft.com/office/drawing/2014/main" val="10004"/>
                  </a:ext>
                </a:extLst>
              </a:tr>
              <a:tr h="676696">
                <a:tc>
                  <a:txBody>
                    <a:bodyPr/>
                    <a:lstStyle/>
                    <a:p>
                      <a:pPr marL="0" indent="0"/>
                      <a:r>
                        <a:rPr lang="en-GB" sz="1200" dirty="0">
                          <a:solidFill>
                            <a:schemeClr val="tx1"/>
                          </a:solidFill>
                        </a:rPr>
                        <a:t>100%</a:t>
                      </a:r>
                    </a:p>
                  </a:txBody>
                  <a:tcPr/>
                </a:tc>
                <a:tc>
                  <a:txBody>
                    <a:bodyPr/>
                    <a:lstStyle/>
                    <a:p>
                      <a:pPr marL="180975" indent="-180975">
                        <a:buClrTx/>
                        <a:buSzPct val="100000"/>
                        <a:buFont typeface="Wingdings" panose="05000000000000000000" pitchFamily="2" charset="2"/>
                        <a:buChar char="§"/>
                      </a:pPr>
                      <a:r>
                        <a:rPr lang="en-GB" sz="1200" dirty="0">
                          <a:solidFill>
                            <a:schemeClr val="tx1"/>
                          </a:solidFill>
                        </a:rPr>
                        <a:t>Claims on the private sector (ex. residential mortgages)</a:t>
                      </a:r>
                    </a:p>
                    <a:p>
                      <a:pPr marL="180975" indent="-180975">
                        <a:buClrTx/>
                        <a:buSzPct val="100000"/>
                        <a:buFont typeface="Wingdings" panose="05000000000000000000" pitchFamily="2" charset="2"/>
                        <a:buChar char="§"/>
                      </a:pPr>
                      <a:r>
                        <a:rPr lang="en-GB" sz="1200" dirty="0">
                          <a:solidFill>
                            <a:schemeClr val="tx1"/>
                          </a:solidFill>
                        </a:rPr>
                        <a:t>Fixed</a:t>
                      </a:r>
                      <a:r>
                        <a:rPr lang="en-GB" sz="1200" baseline="0" dirty="0">
                          <a:solidFill>
                            <a:schemeClr val="tx1"/>
                          </a:solidFill>
                        </a:rPr>
                        <a:t> assets</a:t>
                      </a:r>
                    </a:p>
                    <a:p>
                      <a:pPr marL="180975" indent="-180975">
                        <a:buClrTx/>
                        <a:buSzPct val="100000"/>
                        <a:buFont typeface="Wingdings" panose="05000000000000000000" pitchFamily="2" charset="2"/>
                        <a:buChar char="§"/>
                      </a:pPr>
                      <a:r>
                        <a:rPr lang="en-GB" sz="1200" baseline="0" dirty="0">
                          <a:solidFill>
                            <a:schemeClr val="tx1"/>
                          </a:solidFill>
                        </a:rPr>
                        <a:t>Capital instruments issued by other banks</a:t>
                      </a:r>
                      <a:endParaRPr lang="en-GB" sz="1200" dirty="0">
                        <a:solidFill>
                          <a:schemeClr val="tx1"/>
                        </a:solidFill>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442149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0234FB8-18E2-4DB4-95B5-5B88C19A2E1E}"/>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B0234FB8-18E2-4DB4-95B5-5B88C19A2E1E}"/>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2" name="Content Placeholder 1">
            <a:extLst>
              <a:ext uri="{FF2B5EF4-FFF2-40B4-BE49-F238E27FC236}">
                <a16:creationId xmlns:a16="http://schemas.microsoft.com/office/drawing/2014/main" id="{F8F67438-6052-4838-851A-553A12A1C3FE}"/>
              </a:ext>
            </a:extLst>
          </p:cNvPr>
          <p:cNvSpPr>
            <a:spLocks noGrp="1"/>
          </p:cNvSpPr>
          <p:nvPr>
            <p:ph idx="1"/>
          </p:nvPr>
        </p:nvSpPr>
        <p:spPr>
          <a:xfrm>
            <a:off x="5187875" y="1306801"/>
            <a:ext cx="5393342" cy="1296551"/>
          </a:xfrm>
          <a:solidFill>
            <a:schemeClr val="bg1">
              <a:lumMod val="95000"/>
            </a:schemeClr>
          </a:solidFill>
          <a:effectLst>
            <a:outerShdw blurRad="50800" dist="38100" dir="2700000" algn="tl" rotWithShape="0">
              <a:prstClr val="black">
                <a:alpha val="40000"/>
              </a:prstClr>
            </a:outerShdw>
          </a:effectLst>
        </p:spPr>
        <p:txBody>
          <a:bodyPr>
            <a:normAutofit fontScale="70000" lnSpcReduction="20000"/>
          </a:bodyPr>
          <a:lstStyle/>
          <a:p>
            <a:pPr marL="0" indent="0">
              <a:buNone/>
            </a:pPr>
            <a:r>
              <a:rPr lang="en-GB" dirty="0"/>
              <a:t>The focus of the original Basel framework was on credit risk and as such was enhanced in 1996 by the Market Risk Amendment in order to cover the risks embedded in the trading book</a:t>
            </a:r>
          </a:p>
        </p:txBody>
      </p:sp>
      <p:sp>
        <p:nvSpPr>
          <p:cNvPr id="3" name="Title 2">
            <a:extLst>
              <a:ext uri="{FF2B5EF4-FFF2-40B4-BE49-F238E27FC236}">
                <a16:creationId xmlns:a16="http://schemas.microsoft.com/office/drawing/2014/main" id="{6EFE7CE9-518A-4617-8BA1-67E24F92446D}"/>
              </a:ext>
            </a:extLst>
          </p:cNvPr>
          <p:cNvSpPr>
            <a:spLocks noGrp="1"/>
          </p:cNvSpPr>
          <p:nvPr>
            <p:ph type="title"/>
          </p:nvPr>
        </p:nvSpPr>
        <p:spPr/>
        <p:txBody>
          <a:bodyPr vert="horz"/>
          <a:lstStyle/>
          <a:p>
            <a:r>
              <a:rPr lang="en-GB" dirty="0"/>
              <a:t>The 1996 Market Risk Amendment</a:t>
            </a:r>
          </a:p>
        </p:txBody>
      </p:sp>
      <p:graphicFrame>
        <p:nvGraphicFramePr>
          <p:cNvPr id="16" name="Table 15">
            <a:extLst>
              <a:ext uri="{FF2B5EF4-FFF2-40B4-BE49-F238E27FC236}">
                <a16:creationId xmlns:a16="http://schemas.microsoft.com/office/drawing/2014/main" id="{22978644-FFC0-4254-81EE-0E08751AAC78}"/>
              </a:ext>
            </a:extLst>
          </p:cNvPr>
          <p:cNvGraphicFramePr>
            <a:graphicFrameLocks noGrp="1"/>
          </p:cNvGraphicFramePr>
          <p:nvPr/>
        </p:nvGraphicFramePr>
        <p:xfrm>
          <a:off x="5198457" y="2893420"/>
          <a:ext cx="5393342" cy="3179273"/>
        </p:xfrm>
        <a:graphic>
          <a:graphicData uri="http://schemas.openxmlformats.org/drawingml/2006/table">
            <a:tbl>
              <a:tblPr firstRow="1" bandRow="1">
                <a:tableStyleId>{21E4AEA4-8DFA-4A89-87EB-49C32662AFE0}</a:tableStyleId>
              </a:tblPr>
              <a:tblGrid>
                <a:gridCol w="1269578">
                  <a:extLst>
                    <a:ext uri="{9D8B030D-6E8A-4147-A177-3AD203B41FA5}">
                      <a16:colId xmlns:a16="http://schemas.microsoft.com/office/drawing/2014/main" val="20000"/>
                    </a:ext>
                  </a:extLst>
                </a:gridCol>
                <a:gridCol w="2061882">
                  <a:extLst>
                    <a:ext uri="{9D8B030D-6E8A-4147-A177-3AD203B41FA5}">
                      <a16:colId xmlns:a16="http://schemas.microsoft.com/office/drawing/2014/main" val="1425171187"/>
                    </a:ext>
                  </a:extLst>
                </a:gridCol>
                <a:gridCol w="2061882">
                  <a:extLst>
                    <a:ext uri="{9D8B030D-6E8A-4147-A177-3AD203B41FA5}">
                      <a16:colId xmlns:a16="http://schemas.microsoft.com/office/drawing/2014/main" val="20001"/>
                    </a:ext>
                  </a:extLst>
                </a:gridCol>
              </a:tblGrid>
              <a:tr h="303774">
                <a:tc>
                  <a:txBody>
                    <a:bodyPr/>
                    <a:lstStyle/>
                    <a:p>
                      <a:pPr marL="0" indent="0"/>
                      <a:r>
                        <a:rPr lang="en-GB" sz="1200" dirty="0"/>
                        <a:t>Market Risk</a:t>
                      </a:r>
                    </a:p>
                  </a:txBody>
                  <a:tcPr/>
                </a:tc>
                <a:tc gridSpan="2">
                  <a:txBody>
                    <a:bodyPr/>
                    <a:lstStyle/>
                    <a:p>
                      <a:pPr marL="0" indent="0" algn="ctr"/>
                      <a:r>
                        <a:rPr lang="en-GB" sz="1200" dirty="0"/>
                        <a:t>Options and variables</a:t>
                      </a:r>
                    </a:p>
                  </a:txBody>
                  <a:tcPr/>
                </a:tc>
                <a:tc hMerge="1">
                  <a:txBody>
                    <a:bodyPr/>
                    <a:lstStyle/>
                    <a:p>
                      <a:pPr marL="0" indent="0"/>
                      <a:endParaRPr lang="en-GB" sz="1200" dirty="0"/>
                    </a:p>
                  </a:txBody>
                  <a:tcPr/>
                </a:tc>
                <a:extLst>
                  <a:ext uri="{0D108BD9-81ED-4DB2-BD59-A6C34878D82A}">
                    <a16:rowId xmlns:a16="http://schemas.microsoft.com/office/drawing/2014/main" val="10000"/>
                  </a:ext>
                </a:extLst>
              </a:tr>
              <a:tr h="557226">
                <a:tc>
                  <a:txBody>
                    <a:bodyPr/>
                    <a:lstStyle/>
                    <a:p>
                      <a:pPr marL="0" indent="0"/>
                      <a:r>
                        <a:rPr lang="en-GB" sz="1200" b="1" dirty="0">
                          <a:solidFill>
                            <a:schemeClr val="accent6">
                              <a:lumMod val="50000"/>
                            </a:schemeClr>
                          </a:solidFill>
                        </a:rPr>
                        <a:t>Types</a:t>
                      </a:r>
                    </a:p>
                  </a:txBody>
                  <a:tcPr/>
                </a:tc>
                <a:tc>
                  <a:txBody>
                    <a:bodyPr/>
                    <a:lstStyle/>
                    <a:p>
                      <a:pPr marL="0" indent="0" algn="ctr">
                        <a:buClrTx/>
                        <a:buSzPct val="100000"/>
                        <a:buFont typeface="Wingdings" panose="05000000000000000000" pitchFamily="2" charset="2"/>
                        <a:buNone/>
                      </a:pPr>
                      <a:r>
                        <a:rPr lang="en-GB" sz="1200" dirty="0">
                          <a:solidFill>
                            <a:schemeClr val="accent6">
                              <a:lumMod val="50000"/>
                            </a:schemeClr>
                          </a:solidFill>
                        </a:rPr>
                        <a:t>General Market Risk</a:t>
                      </a:r>
                    </a:p>
                    <a:p>
                      <a:pPr marL="180975" indent="-180975">
                        <a:buClrTx/>
                        <a:buSzPct val="100000"/>
                        <a:buFont typeface="Wingdings" panose="05000000000000000000" pitchFamily="2" charset="2"/>
                        <a:buChar char="§"/>
                      </a:pPr>
                      <a:r>
                        <a:rPr lang="en-GB" sz="1200" dirty="0">
                          <a:solidFill>
                            <a:srgbClr val="000000"/>
                          </a:solidFill>
                        </a:rPr>
                        <a:t>Changes in market values due to large market movements</a:t>
                      </a:r>
                      <a:endParaRPr lang="en-GB" sz="1200" dirty="0">
                        <a:solidFill>
                          <a:schemeClr val="accent6">
                            <a:lumMod val="50000"/>
                          </a:schemeClr>
                        </a:solidFill>
                      </a:endParaRPr>
                    </a:p>
                  </a:txBody>
                  <a:tcPr/>
                </a:tc>
                <a:tc>
                  <a:txBody>
                    <a:bodyPr/>
                    <a:lstStyle/>
                    <a:p>
                      <a:pPr marL="0" indent="0" algn="ctr">
                        <a:buClrTx/>
                        <a:buSzPct val="100000"/>
                        <a:buFont typeface="Wingdings" panose="05000000000000000000" pitchFamily="2" charset="2"/>
                        <a:buNone/>
                      </a:pPr>
                      <a:r>
                        <a:rPr lang="en-GB" sz="1200" dirty="0">
                          <a:solidFill>
                            <a:schemeClr val="accent6">
                              <a:lumMod val="50000"/>
                            </a:schemeClr>
                          </a:solidFill>
                        </a:rPr>
                        <a:t>Specific Market Risk</a:t>
                      </a:r>
                    </a:p>
                    <a:p>
                      <a:pPr marL="180975" indent="-180975">
                        <a:buClrTx/>
                        <a:buSzPct val="100000"/>
                        <a:buFont typeface="Wingdings" panose="05000000000000000000" pitchFamily="2" charset="2"/>
                        <a:buChar char="§"/>
                      </a:pPr>
                      <a:r>
                        <a:rPr lang="en-GB" sz="1200" dirty="0">
                          <a:solidFill>
                            <a:srgbClr val="000000"/>
                          </a:solidFill>
                        </a:rPr>
                        <a:t>Changes in the value of an individual asset due to factors related to the issuer of the security</a:t>
                      </a:r>
                      <a:endParaRPr lang="en-GB" sz="1200" dirty="0">
                        <a:solidFill>
                          <a:schemeClr val="accent6">
                            <a:lumMod val="50000"/>
                          </a:schemeClr>
                        </a:solidFill>
                      </a:endParaRPr>
                    </a:p>
                  </a:txBody>
                  <a:tcPr/>
                </a:tc>
                <a:extLst>
                  <a:ext uri="{0D108BD9-81ED-4DB2-BD59-A6C34878D82A}">
                    <a16:rowId xmlns:a16="http://schemas.microsoft.com/office/drawing/2014/main" val="10001"/>
                  </a:ext>
                </a:extLst>
              </a:tr>
              <a:tr h="818616">
                <a:tc>
                  <a:txBody>
                    <a:bodyPr/>
                    <a:lstStyle/>
                    <a:p>
                      <a:pPr marL="0" indent="0"/>
                      <a:r>
                        <a:rPr lang="en-GB" sz="1200" b="1" dirty="0">
                          <a:solidFill>
                            <a:schemeClr val="accent6">
                              <a:lumMod val="50000"/>
                            </a:schemeClr>
                          </a:solidFill>
                        </a:rPr>
                        <a:t>Variables</a:t>
                      </a:r>
                    </a:p>
                  </a:txBody>
                  <a:tcPr/>
                </a:tc>
                <a:tc gridSpan="2">
                  <a:txBody>
                    <a:bodyPr/>
                    <a:lstStyle/>
                    <a:p>
                      <a:pPr marL="1430338" indent="-180975">
                        <a:buClrTx/>
                        <a:buSzPct val="100000"/>
                        <a:buFont typeface="Wingdings" panose="05000000000000000000" pitchFamily="2" charset="2"/>
                        <a:buChar char="§"/>
                      </a:pPr>
                      <a:r>
                        <a:rPr lang="en-GB" sz="1200" dirty="0">
                          <a:solidFill>
                            <a:schemeClr val="accent6">
                              <a:lumMod val="50000"/>
                            </a:schemeClr>
                          </a:solidFill>
                        </a:rPr>
                        <a:t>Interest rates</a:t>
                      </a:r>
                    </a:p>
                    <a:p>
                      <a:pPr marL="1430338" indent="-180975">
                        <a:buClrTx/>
                        <a:buSzPct val="100000"/>
                        <a:buFont typeface="Wingdings" panose="05000000000000000000" pitchFamily="2" charset="2"/>
                        <a:buChar char="§"/>
                      </a:pPr>
                      <a:r>
                        <a:rPr lang="en-GB" sz="1200" dirty="0">
                          <a:solidFill>
                            <a:schemeClr val="accent6">
                              <a:lumMod val="50000"/>
                            </a:schemeClr>
                          </a:solidFill>
                        </a:rPr>
                        <a:t>Foreign Exchange</a:t>
                      </a:r>
                    </a:p>
                    <a:p>
                      <a:pPr marL="1430338" indent="-180975">
                        <a:buClrTx/>
                        <a:buSzPct val="100000"/>
                        <a:buFont typeface="Wingdings" panose="05000000000000000000" pitchFamily="2" charset="2"/>
                        <a:buChar char="§"/>
                      </a:pPr>
                      <a:r>
                        <a:rPr lang="en-GB" sz="1200" dirty="0">
                          <a:solidFill>
                            <a:schemeClr val="accent6">
                              <a:lumMod val="50000"/>
                            </a:schemeClr>
                          </a:solidFill>
                        </a:rPr>
                        <a:t>Equities</a:t>
                      </a:r>
                    </a:p>
                    <a:p>
                      <a:pPr marL="1430338" indent="-180975">
                        <a:buClrTx/>
                        <a:buSzPct val="100000"/>
                        <a:buFont typeface="Wingdings" panose="05000000000000000000" pitchFamily="2" charset="2"/>
                        <a:buChar char="§"/>
                      </a:pPr>
                      <a:r>
                        <a:rPr lang="en-GB" sz="1200" dirty="0">
                          <a:solidFill>
                            <a:schemeClr val="accent6">
                              <a:lumMod val="50000"/>
                            </a:schemeClr>
                          </a:solidFill>
                        </a:rPr>
                        <a:t>Commodities</a:t>
                      </a:r>
                    </a:p>
                  </a:txBody>
                  <a:tcPr/>
                </a:tc>
                <a:tc hMerge="1">
                  <a:txBody>
                    <a:bodyPr/>
                    <a:lstStyle/>
                    <a:p>
                      <a:pPr marL="180975" indent="-180975">
                        <a:buClrTx/>
                        <a:buSzPct val="100000"/>
                        <a:buFont typeface="Wingdings" panose="05000000000000000000" pitchFamily="2" charset="2"/>
                        <a:buChar char="§"/>
                      </a:pPr>
                      <a:endParaRPr lang="en-GB" sz="1200" dirty="0">
                        <a:solidFill>
                          <a:schemeClr val="accent6">
                            <a:lumMod val="50000"/>
                          </a:schemeClr>
                        </a:solidFill>
                      </a:endParaRPr>
                    </a:p>
                  </a:txBody>
                  <a:tcPr/>
                </a:tc>
                <a:extLst>
                  <a:ext uri="{0D108BD9-81ED-4DB2-BD59-A6C34878D82A}">
                    <a16:rowId xmlns:a16="http://schemas.microsoft.com/office/drawing/2014/main" val="10002"/>
                  </a:ext>
                </a:extLst>
              </a:tr>
              <a:tr h="589499">
                <a:tc>
                  <a:txBody>
                    <a:bodyPr/>
                    <a:lstStyle/>
                    <a:p>
                      <a:pPr marL="0" indent="0"/>
                      <a:r>
                        <a:rPr lang="en-GB" sz="1200" b="1" dirty="0">
                          <a:solidFill>
                            <a:schemeClr val="accent6">
                              <a:lumMod val="50000"/>
                            </a:schemeClr>
                          </a:solidFill>
                        </a:rPr>
                        <a:t>Approaches</a:t>
                      </a:r>
                    </a:p>
                  </a:txBody>
                  <a:tcPr/>
                </a:tc>
                <a:tc>
                  <a:txBody>
                    <a:bodyPr/>
                    <a:lstStyle/>
                    <a:p>
                      <a:pPr marL="0" indent="0" algn="ctr">
                        <a:buClrTx/>
                        <a:buSzPct val="100000"/>
                        <a:buFont typeface="Wingdings" panose="05000000000000000000" pitchFamily="2" charset="2"/>
                        <a:buNone/>
                      </a:pPr>
                      <a:r>
                        <a:rPr lang="en-GB" sz="1200" dirty="0">
                          <a:solidFill>
                            <a:schemeClr val="accent6">
                              <a:lumMod val="50000"/>
                            </a:schemeClr>
                          </a:solidFill>
                        </a:rPr>
                        <a:t>Standardised</a:t>
                      </a:r>
                    </a:p>
                  </a:txBody>
                  <a:tcPr/>
                </a:tc>
                <a:tc>
                  <a:txBody>
                    <a:bodyPr/>
                    <a:lstStyle/>
                    <a:p>
                      <a:pPr marL="0" indent="0" algn="ctr">
                        <a:buClrTx/>
                        <a:buSzPct val="100000"/>
                        <a:buFont typeface="Wingdings" panose="05000000000000000000" pitchFamily="2" charset="2"/>
                        <a:buNone/>
                      </a:pPr>
                      <a:r>
                        <a:rPr lang="en-GB" sz="1200" dirty="0">
                          <a:solidFill>
                            <a:schemeClr val="accent6">
                              <a:lumMod val="50000"/>
                            </a:schemeClr>
                          </a:solidFill>
                        </a:rPr>
                        <a:t>Internal VaR models</a:t>
                      </a:r>
                    </a:p>
                  </a:txBody>
                  <a:tcPr/>
                </a:tc>
                <a:extLst>
                  <a:ext uri="{0D108BD9-81ED-4DB2-BD59-A6C34878D82A}">
                    <a16:rowId xmlns:a16="http://schemas.microsoft.com/office/drawing/2014/main" val="10003"/>
                  </a:ext>
                </a:extLst>
              </a:tr>
              <a:tr h="433513">
                <a:tc>
                  <a:txBody>
                    <a:bodyPr/>
                    <a:lstStyle/>
                    <a:p>
                      <a:pPr marL="0" indent="0"/>
                      <a:r>
                        <a:rPr lang="en-GB" sz="1200" b="1" dirty="0">
                          <a:solidFill>
                            <a:schemeClr val="accent6">
                              <a:lumMod val="50000"/>
                            </a:schemeClr>
                          </a:solidFill>
                        </a:rPr>
                        <a:t>Eligible capital</a:t>
                      </a:r>
                    </a:p>
                  </a:txBody>
                  <a:tcPr/>
                </a:tc>
                <a:tc gridSpan="2">
                  <a:txBody>
                    <a:bodyPr/>
                    <a:lstStyle/>
                    <a:p>
                      <a:pPr marL="180975" indent="-180975">
                        <a:buClrTx/>
                        <a:buSzPct val="100000"/>
                        <a:buFont typeface="Wingdings" panose="05000000000000000000" pitchFamily="2" charset="2"/>
                        <a:buChar char="§"/>
                      </a:pPr>
                      <a:r>
                        <a:rPr lang="en-GB" sz="1200" dirty="0">
                          <a:solidFill>
                            <a:srgbClr val="000000"/>
                          </a:solidFill>
                        </a:rPr>
                        <a:t>The 1996 revision added a third tier for total capital, which includes short-term unsecured debts</a:t>
                      </a:r>
                      <a:endParaRPr lang="en-GB" sz="1200" dirty="0">
                        <a:solidFill>
                          <a:schemeClr val="accent6">
                            <a:lumMod val="50000"/>
                          </a:schemeClr>
                        </a:solidFill>
                      </a:endParaRPr>
                    </a:p>
                  </a:txBody>
                  <a:tcPr/>
                </a:tc>
                <a:tc hMerge="1">
                  <a:txBody>
                    <a:bodyPr/>
                    <a:lstStyle/>
                    <a:p>
                      <a:pPr marL="180975" indent="-180975">
                        <a:buClrTx/>
                        <a:buSzPct val="100000"/>
                        <a:buFont typeface="Wingdings" panose="05000000000000000000" pitchFamily="2" charset="2"/>
                        <a:buChar char="§"/>
                      </a:pPr>
                      <a:endParaRPr lang="en-GB" sz="1200" dirty="0">
                        <a:solidFill>
                          <a:schemeClr val="accent6">
                            <a:lumMod val="50000"/>
                          </a:schemeClr>
                        </a:solidFill>
                      </a:endParaRPr>
                    </a:p>
                  </a:txBody>
                  <a:tcPr/>
                </a:tc>
                <a:extLst>
                  <a:ext uri="{0D108BD9-81ED-4DB2-BD59-A6C34878D82A}">
                    <a16:rowId xmlns:a16="http://schemas.microsoft.com/office/drawing/2014/main" val="10004"/>
                  </a:ext>
                </a:extLst>
              </a:tr>
            </a:tbl>
          </a:graphicData>
        </a:graphic>
      </p:graphicFrame>
      <p:pic>
        <p:nvPicPr>
          <p:cNvPr id="10" name="Picture 9">
            <a:extLst>
              <a:ext uri="{FF2B5EF4-FFF2-40B4-BE49-F238E27FC236}">
                <a16:creationId xmlns:a16="http://schemas.microsoft.com/office/drawing/2014/main" id="{E9872876-CDE6-44CD-89D8-29B557B96360}"/>
              </a:ext>
            </a:extLst>
          </p:cNvPr>
          <p:cNvPicPr>
            <a:picLocks noChangeAspect="1"/>
          </p:cNvPicPr>
          <p:nvPr/>
        </p:nvPicPr>
        <p:blipFill>
          <a:blip r:embed="rId5"/>
          <a:stretch>
            <a:fillRect/>
          </a:stretch>
        </p:blipFill>
        <p:spPr>
          <a:xfrm>
            <a:off x="1600200" y="1306800"/>
            <a:ext cx="3349474" cy="4751100"/>
          </a:xfrm>
          <a:prstGeom prst="rect">
            <a:avLst/>
          </a:prstGeom>
          <a:effectLst>
            <a:outerShdw blurRad="50800" dist="38100" dir="2700000" algn="tl" rotWithShape="0">
              <a:prstClr val="black">
                <a:alpha val="40000"/>
              </a:prstClr>
            </a:outerShdw>
          </a:effectLst>
        </p:spPr>
      </p:pic>
      <p:sp>
        <p:nvSpPr>
          <p:cNvPr id="7" name="Oval 6">
            <a:extLst>
              <a:ext uri="{FF2B5EF4-FFF2-40B4-BE49-F238E27FC236}">
                <a16:creationId xmlns:a16="http://schemas.microsoft.com/office/drawing/2014/main" id="{DB277053-F53E-47D6-8244-FB30986FB9F2}"/>
              </a:ext>
            </a:extLst>
          </p:cNvPr>
          <p:cNvSpPr/>
          <p:nvPr/>
        </p:nvSpPr>
        <p:spPr>
          <a:xfrm>
            <a:off x="8447443" y="3281082"/>
            <a:ext cx="150607" cy="147918"/>
          </a:xfrm>
          <a:prstGeom prst="ellipse">
            <a:avLst/>
          </a:prstGeom>
          <a:solidFill>
            <a:schemeClr val="accent6">
              <a:lumMod val="60000"/>
              <a:lumOff val="4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endParaRPr lang="en-GB" sz="1200" b="1" dirty="0">
              <a:solidFill>
                <a:srgbClr val="000000"/>
              </a:solidFill>
            </a:endParaRPr>
          </a:p>
        </p:txBody>
      </p:sp>
      <p:sp>
        <p:nvSpPr>
          <p:cNvPr id="12" name="Oval 11">
            <a:extLst>
              <a:ext uri="{FF2B5EF4-FFF2-40B4-BE49-F238E27FC236}">
                <a16:creationId xmlns:a16="http://schemas.microsoft.com/office/drawing/2014/main" id="{7108A237-FC9C-4936-AB09-1E45771315AE}"/>
              </a:ext>
            </a:extLst>
          </p:cNvPr>
          <p:cNvSpPr/>
          <p:nvPr/>
        </p:nvSpPr>
        <p:spPr>
          <a:xfrm>
            <a:off x="8449236" y="5100917"/>
            <a:ext cx="150607" cy="147918"/>
          </a:xfrm>
          <a:prstGeom prst="ellipse">
            <a:avLst/>
          </a:prstGeom>
          <a:solidFill>
            <a:schemeClr val="accent6">
              <a:lumMod val="60000"/>
              <a:lumOff val="4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endParaRPr lang="en-GB" sz="1200" b="1" dirty="0">
              <a:solidFill>
                <a:srgbClr val="000000"/>
              </a:solidFill>
            </a:endParaRPr>
          </a:p>
        </p:txBody>
      </p:sp>
      <p:sp>
        <p:nvSpPr>
          <p:cNvPr id="13" name="Oval 12">
            <a:extLst>
              <a:ext uri="{FF2B5EF4-FFF2-40B4-BE49-F238E27FC236}">
                <a16:creationId xmlns:a16="http://schemas.microsoft.com/office/drawing/2014/main" id="{ECC78ADA-19DB-409E-9025-4C2ABF1EDF0A}"/>
              </a:ext>
            </a:extLst>
          </p:cNvPr>
          <p:cNvSpPr/>
          <p:nvPr/>
        </p:nvSpPr>
        <p:spPr>
          <a:xfrm>
            <a:off x="10402197" y="5640593"/>
            <a:ext cx="150607" cy="147918"/>
          </a:xfrm>
          <a:prstGeom prst="ellipse">
            <a:avLst/>
          </a:prstGeom>
          <a:solidFill>
            <a:schemeClr val="accent6">
              <a:lumMod val="60000"/>
              <a:lumOff val="4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endParaRPr lang="en-GB" sz="1200" b="1" dirty="0">
              <a:solidFill>
                <a:srgbClr val="000000"/>
              </a:solidFill>
            </a:endParaRPr>
          </a:p>
        </p:txBody>
      </p:sp>
      <p:sp>
        <p:nvSpPr>
          <p:cNvPr id="14" name="Oval 13">
            <a:extLst>
              <a:ext uri="{FF2B5EF4-FFF2-40B4-BE49-F238E27FC236}">
                <a16:creationId xmlns:a16="http://schemas.microsoft.com/office/drawing/2014/main" id="{62C42ECD-9E8D-4EAE-BE9A-B556940A9FB9}"/>
              </a:ext>
            </a:extLst>
          </p:cNvPr>
          <p:cNvSpPr/>
          <p:nvPr/>
        </p:nvSpPr>
        <p:spPr>
          <a:xfrm>
            <a:off x="5198458" y="6214842"/>
            <a:ext cx="150607" cy="147918"/>
          </a:xfrm>
          <a:prstGeom prst="ellipse">
            <a:avLst/>
          </a:prstGeom>
          <a:solidFill>
            <a:schemeClr val="accent6">
              <a:lumMod val="60000"/>
              <a:lumOff val="4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endParaRPr lang="en-GB" sz="1200" b="1" dirty="0">
              <a:solidFill>
                <a:srgbClr val="000000"/>
              </a:solidFill>
            </a:endParaRPr>
          </a:p>
        </p:txBody>
      </p:sp>
      <p:sp>
        <p:nvSpPr>
          <p:cNvPr id="8" name="TextBox 7">
            <a:extLst>
              <a:ext uri="{FF2B5EF4-FFF2-40B4-BE49-F238E27FC236}">
                <a16:creationId xmlns:a16="http://schemas.microsoft.com/office/drawing/2014/main" id="{320C16B1-4881-4AF2-94C1-05777272139B}"/>
              </a:ext>
            </a:extLst>
          </p:cNvPr>
          <p:cNvSpPr txBox="1"/>
          <p:nvPr/>
        </p:nvSpPr>
        <p:spPr>
          <a:xfrm>
            <a:off x="5490833" y="6154659"/>
            <a:ext cx="5061971" cy="284181"/>
          </a:xfrm>
          <a:prstGeom prst="rect">
            <a:avLst/>
          </a:prstGeom>
          <a:noFill/>
        </p:spPr>
        <p:txBody>
          <a:bodyPr wrap="square" rtlCol="0" anchor="ctr">
            <a:noAutofit/>
          </a:bodyPr>
          <a:lstStyle/>
          <a:p>
            <a:r>
              <a:rPr lang="en-GB" sz="1000" dirty="0">
                <a:cs typeface="Trebuchet MS"/>
              </a:rPr>
              <a:t>Modified by subsequent Market Risk revisions</a:t>
            </a:r>
          </a:p>
        </p:txBody>
      </p:sp>
    </p:spTree>
    <p:extLst>
      <p:ext uri="{BB962C8B-B14F-4D97-AF65-F5344CB8AC3E}">
        <p14:creationId xmlns:p14="http://schemas.microsoft.com/office/powerpoint/2010/main" val="4011237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Object 43" hidden="1">
            <a:extLst>
              <a:ext uri="{FF2B5EF4-FFF2-40B4-BE49-F238E27FC236}">
                <a16:creationId xmlns:a16="http://schemas.microsoft.com/office/drawing/2014/main" id="{426628E5-7C2C-4629-9A65-9AD2AB7346FD}"/>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44" name="Object 43" hidden="1">
                        <a:extLst>
                          <a:ext uri="{FF2B5EF4-FFF2-40B4-BE49-F238E27FC236}">
                            <a16:creationId xmlns:a16="http://schemas.microsoft.com/office/drawing/2014/main" id="{426628E5-7C2C-4629-9A65-9AD2AB7346FD}"/>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4D8E5013-2FEA-4D88-8460-963E920B9456}"/>
              </a:ext>
            </a:extLst>
          </p:cNvPr>
          <p:cNvSpPr>
            <a:spLocks noGrp="1"/>
          </p:cNvSpPr>
          <p:nvPr>
            <p:ph type="title"/>
          </p:nvPr>
        </p:nvSpPr>
        <p:spPr/>
        <p:txBody>
          <a:bodyPr vert="horz"/>
          <a:lstStyle/>
          <a:p>
            <a:r>
              <a:rPr lang="en-GB" dirty="0"/>
              <a:t>From Basel I to Basel II</a:t>
            </a:r>
          </a:p>
        </p:txBody>
      </p:sp>
      <p:grpSp>
        <p:nvGrpSpPr>
          <p:cNvPr id="5" name="Group 4">
            <a:extLst>
              <a:ext uri="{FF2B5EF4-FFF2-40B4-BE49-F238E27FC236}">
                <a16:creationId xmlns:a16="http://schemas.microsoft.com/office/drawing/2014/main" id="{8C0C2784-5BD9-46C4-9397-8958A343464B}"/>
              </a:ext>
            </a:extLst>
          </p:cNvPr>
          <p:cNvGrpSpPr/>
          <p:nvPr/>
        </p:nvGrpSpPr>
        <p:grpSpPr>
          <a:xfrm>
            <a:off x="2866599" y="1667821"/>
            <a:ext cx="6458802" cy="2393645"/>
            <a:chOff x="272582" y="1660197"/>
            <a:chExt cx="4467595" cy="1655699"/>
          </a:xfrm>
        </p:grpSpPr>
        <p:cxnSp>
          <p:nvCxnSpPr>
            <p:cNvPr id="6" name="Straight Connector 5">
              <a:extLst>
                <a:ext uri="{FF2B5EF4-FFF2-40B4-BE49-F238E27FC236}">
                  <a16:creationId xmlns:a16="http://schemas.microsoft.com/office/drawing/2014/main" id="{B4B2704B-664C-44EE-A6F0-F9DCA8F099A0}"/>
                </a:ext>
              </a:extLst>
            </p:cNvPr>
            <p:cNvCxnSpPr/>
            <p:nvPr/>
          </p:nvCxnSpPr>
          <p:spPr>
            <a:xfrm rot="5400000">
              <a:off x="816222" y="2247679"/>
              <a:ext cx="204750" cy="0"/>
            </a:xfrm>
            <a:prstGeom prst="line">
              <a:avLst/>
            </a:prstGeom>
            <a:noFill/>
            <a:ln w="15875" cap="flat" cmpd="sng" algn="ctr">
              <a:solidFill>
                <a:srgbClr val="13245A"/>
              </a:solidFill>
              <a:prstDash val="solid"/>
              <a:tailEnd type="diamond"/>
            </a:ln>
            <a:effectLst/>
          </p:spPr>
        </p:cxnSp>
        <p:cxnSp>
          <p:nvCxnSpPr>
            <p:cNvPr id="7" name="Straight Arrow Connector 6">
              <a:extLst>
                <a:ext uri="{FF2B5EF4-FFF2-40B4-BE49-F238E27FC236}">
                  <a16:creationId xmlns:a16="http://schemas.microsoft.com/office/drawing/2014/main" id="{41F5BE01-50B0-46ED-AC82-893C4BD719DF}"/>
                </a:ext>
              </a:extLst>
            </p:cNvPr>
            <p:cNvCxnSpPr/>
            <p:nvPr/>
          </p:nvCxnSpPr>
          <p:spPr>
            <a:xfrm>
              <a:off x="352677" y="2058155"/>
              <a:ext cx="4387500" cy="1290"/>
            </a:xfrm>
            <a:prstGeom prst="straightConnector1">
              <a:avLst/>
            </a:prstGeom>
            <a:noFill/>
            <a:ln w="15875" cap="flat" cmpd="sng" algn="ctr">
              <a:solidFill>
                <a:srgbClr val="13245A"/>
              </a:solidFill>
              <a:prstDash val="solid"/>
              <a:tailEnd type="arrow"/>
            </a:ln>
            <a:effectLst/>
          </p:spPr>
        </p:cxnSp>
        <p:sp>
          <p:nvSpPr>
            <p:cNvPr id="8" name="TextBox 7">
              <a:extLst>
                <a:ext uri="{FF2B5EF4-FFF2-40B4-BE49-F238E27FC236}">
                  <a16:creationId xmlns:a16="http://schemas.microsoft.com/office/drawing/2014/main" id="{A245467C-401A-469B-A753-CF71439F9CF3}"/>
                </a:ext>
              </a:extLst>
            </p:cNvPr>
            <p:cNvSpPr txBox="1"/>
            <p:nvPr/>
          </p:nvSpPr>
          <p:spPr>
            <a:xfrm>
              <a:off x="272582" y="1902658"/>
              <a:ext cx="364721" cy="243147"/>
            </a:xfrm>
            <a:prstGeom prst="rect">
              <a:avLst/>
            </a:prstGeom>
            <a:noFill/>
          </p:spPr>
          <p:txBody>
            <a:bodyPr wrap="square" rtlCol="0">
              <a:noAutofit/>
            </a:bodyPr>
            <a:lstStyle/>
            <a:p>
              <a:pPr defTabSz="371475"/>
              <a:r>
                <a:rPr lang="en-GB" sz="700" dirty="0">
                  <a:solidFill>
                    <a:prstClr val="black"/>
                  </a:solidFill>
                  <a:latin typeface="Trebuchet MS"/>
                  <a:cs typeface="Trebuchet MS"/>
                </a:rPr>
                <a:t>1973</a:t>
              </a:r>
            </a:p>
          </p:txBody>
        </p:sp>
        <p:sp>
          <p:nvSpPr>
            <p:cNvPr id="9" name="TextBox 8">
              <a:extLst>
                <a:ext uri="{FF2B5EF4-FFF2-40B4-BE49-F238E27FC236}">
                  <a16:creationId xmlns:a16="http://schemas.microsoft.com/office/drawing/2014/main" id="{BB01D023-2D2F-4149-BC11-CD667CB2506E}"/>
                </a:ext>
              </a:extLst>
            </p:cNvPr>
            <p:cNvSpPr txBox="1"/>
            <p:nvPr/>
          </p:nvSpPr>
          <p:spPr>
            <a:xfrm>
              <a:off x="3693148" y="1902658"/>
              <a:ext cx="364721" cy="243147"/>
            </a:xfrm>
            <a:prstGeom prst="rect">
              <a:avLst/>
            </a:prstGeom>
            <a:noFill/>
          </p:spPr>
          <p:txBody>
            <a:bodyPr wrap="square" rtlCol="0">
              <a:noAutofit/>
            </a:bodyPr>
            <a:lstStyle/>
            <a:p>
              <a:pPr defTabSz="371475"/>
              <a:r>
                <a:rPr lang="en-GB" sz="700" dirty="0">
                  <a:solidFill>
                    <a:prstClr val="black"/>
                  </a:solidFill>
                  <a:latin typeface="Trebuchet MS"/>
                  <a:cs typeface="Trebuchet MS"/>
                </a:rPr>
                <a:t>2005</a:t>
              </a:r>
            </a:p>
          </p:txBody>
        </p:sp>
        <p:sp>
          <p:nvSpPr>
            <p:cNvPr id="10" name="TextBox 9">
              <a:extLst>
                <a:ext uri="{FF2B5EF4-FFF2-40B4-BE49-F238E27FC236}">
                  <a16:creationId xmlns:a16="http://schemas.microsoft.com/office/drawing/2014/main" id="{99F60ABB-D36C-4D2F-BC43-47CBF4A78F72}"/>
                </a:ext>
              </a:extLst>
            </p:cNvPr>
            <p:cNvSpPr txBox="1"/>
            <p:nvPr/>
          </p:nvSpPr>
          <p:spPr>
            <a:xfrm>
              <a:off x="4165915" y="1902658"/>
              <a:ext cx="364721" cy="243147"/>
            </a:xfrm>
            <a:prstGeom prst="rect">
              <a:avLst/>
            </a:prstGeom>
            <a:noFill/>
          </p:spPr>
          <p:txBody>
            <a:bodyPr wrap="square" rtlCol="0">
              <a:noAutofit/>
            </a:bodyPr>
            <a:lstStyle/>
            <a:p>
              <a:pPr defTabSz="371475"/>
              <a:r>
                <a:rPr lang="en-GB" sz="700" dirty="0">
                  <a:solidFill>
                    <a:prstClr val="black"/>
                  </a:solidFill>
                  <a:latin typeface="Trebuchet MS"/>
                  <a:cs typeface="Trebuchet MS"/>
                </a:rPr>
                <a:t>2006</a:t>
              </a:r>
            </a:p>
          </p:txBody>
        </p:sp>
        <p:sp>
          <p:nvSpPr>
            <p:cNvPr id="11" name="TextBox 10">
              <a:extLst>
                <a:ext uri="{FF2B5EF4-FFF2-40B4-BE49-F238E27FC236}">
                  <a16:creationId xmlns:a16="http://schemas.microsoft.com/office/drawing/2014/main" id="{208D72DC-62E3-4C97-8714-2F96B905B590}"/>
                </a:ext>
              </a:extLst>
            </p:cNvPr>
            <p:cNvSpPr txBox="1"/>
            <p:nvPr/>
          </p:nvSpPr>
          <p:spPr>
            <a:xfrm>
              <a:off x="2747612" y="1902658"/>
              <a:ext cx="364721" cy="243147"/>
            </a:xfrm>
            <a:prstGeom prst="rect">
              <a:avLst/>
            </a:prstGeom>
            <a:noFill/>
          </p:spPr>
          <p:txBody>
            <a:bodyPr wrap="square" rtlCol="0">
              <a:noAutofit/>
            </a:bodyPr>
            <a:lstStyle/>
            <a:p>
              <a:pPr defTabSz="371475"/>
              <a:r>
                <a:rPr lang="en-GB" sz="700" dirty="0">
                  <a:solidFill>
                    <a:prstClr val="black"/>
                  </a:solidFill>
                  <a:latin typeface="Trebuchet MS"/>
                  <a:cs typeface="Trebuchet MS"/>
                </a:rPr>
                <a:t>2002</a:t>
              </a:r>
            </a:p>
          </p:txBody>
        </p:sp>
        <p:sp>
          <p:nvSpPr>
            <p:cNvPr id="12" name="TextBox 11">
              <a:extLst>
                <a:ext uri="{FF2B5EF4-FFF2-40B4-BE49-F238E27FC236}">
                  <a16:creationId xmlns:a16="http://schemas.microsoft.com/office/drawing/2014/main" id="{F29DD48F-2315-454F-B1C9-6BF11D275855}"/>
                </a:ext>
              </a:extLst>
            </p:cNvPr>
            <p:cNvSpPr txBox="1"/>
            <p:nvPr/>
          </p:nvSpPr>
          <p:spPr>
            <a:xfrm>
              <a:off x="3220380" y="1902658"/>
              <a:ext cx="364721" cy="243147"/>
            </a:xfrm>
            <a:prstGeom prst="rect">
              <a:avLst/>
            </a:prstGeom>
            <a:noFill/>
          </p:spPr>
          <p:txBody>
            <a:bodyPr wrap="square" rtlCol="0">
              <a:noAutofit/>
            </a:bodyPr>
            <a:lstStyle/>
            <a:p>
              <a:pPr defTabSz="371475"/>
              <a:r>
                <a:rPr lang="en-GB" sz="700" dirty="0">
                  <a:solidFill>
                    <a:prstClr val="black"/>
                  </a:solidFill>
                  <a:latin typeface="Trebuchet MS"/>
                  <a:cs typeface="Trebuchet MS"/>
                </a:rPr>
                <a:t>2004</a:t>
              </a:r>
            </a:p>
          </p:txBody>
        </p:sp>
        <p:sp>
          <p:nvSpPr>
            <p:cNvPr id="13" name="TextBox 12">
              <a:extLst>
                <a:ext uri="{FF2B5EF4-FFF2-40B4-BE49-F238E27FC236}">
                  <a16:creationId xmlns:a16="http://schemas.microsoft.com/office/drawing/2014/main" id="{8949C616-2543-4CFF-89BA-7BFD002853C8}"/>
                </a:ext>
              </a:extLst>
            </p:cNvPr>
            <p:cNvSpPr txBox="1"/>
            <p:nvPr/>
          </p:nvSpPr>
          <p:spPr>
            <a:xfrm>
              <a:off x="2274844" y="1902658"/>
              <a:ext cx="364721" cy="243147"/>
            </a:xfrm>
            <a:prstGeom prst="rect">
              <a:avLst/>
            </a:prstGeom>
            <a:noFill/>
          </p:spPr>
          <p:txBody>
            <a:bodyPr wrap="square" rtlCol="0">
              <a:noAutofit/>
            </a:bodyPr>
            <a:lstStyle/>
            <a:p>
              <a:pPr defTabSz="371475"/>
              <a:r>
                <a:rPr lang="en-GB" sz="700" dirty="0">
                  <a:solidFill>
                    <a:prstClr val="black"/>
                  </a:solidFill>
                  <a:latin typeface="Trebuchet MS"/>
                  <a:cs typeface="Trebuchet MS"/>
                </a:rPr>
                <a:t>1999</a:t>
              </a:r>
            </a:p>
          </p:txBody>
        </p:sp>
        <p:sp>
          <p:nvSpPr>
            <p:cNvPr id="14" name="TextBox 13">
              <a:extLst>
                <a:ext uri="{FF2B5EF4-FFF2-40B4-BE49-F238E27FC236}">
                  <a16:creationId xmlns:a16="http://schemas.microsoft.com/office/drawing/2014/main" id="{9FB66F20-2177-4247-84EF-23F50CBB813D}"/>
                </a:ext>
              </a:extLst>
            </p:cNvPr>
            <p:cNvSpPr txBox="1"/>
            <p:nvPr/>
          </p:nvSpPr>
          <p:spPr>
            <a:xfrm>
              <a:off x="1329309" y="1902658"/>
              <a:ext cx="364721" cy="243147"/>
            </a:xfrm>
            <a:prstGeom prst="rect">
              <a:avLst/>
            </a:prstGeom>
            <a:noFill/>
          </p:spPr>
          <p:txBody>
            <a:bodyPr wrap="square" rtlCol="0">
              <a:noAutofit/>
            </a:bodyPr>
            <a:lstStyle/>
            <a:p>
              <a:pPr defTabSz="371475"/>
              <a:r>
                <a:rPr lang="en-GB" sz="700" dirty="0">
                  <a:solidFill>
                    <a:prstClr val="black"/>
                  </a:solidFill>
                  <a:latin typeface="Trebuchet MS"/>
                  <a:cs typeface="Trebuchet MS"/>
                </a:rPr>
                <a:t>1988</a:t>
              </a:r>
            </a:p>
          </p:txBody>
        </p:sp>
        <p:sp>
          <p:nvSpPr>
            <p:cNvPr id="15" name="TextBox 14">
              <a:extLst>
                <a:ext uri="{FF2B5EF4-FFF2-40B4-BE49-F238E27FC236}">
                  <a16:creationId xmlns:a16="http://schemas.microsoft.com/office/drawing/2014/main" id="{63D9A11F-5189-42DA-8FCE-653E89628F6B}"/>
                </a:ext>
              </a:extLst>
            </p:cNvPr>
            <p:cNvSpPr txBox="1"/>
            <p:nvPr/>
          </p:nvSpPr>
          <p:spPr>
            <a:xfrm>
              <a:off x="745350" y="1902658"/>
              <a:ext cx="364721" cy="243147"/>
            </a:xfrm>
            <a:prstGeom prst="rect">
              <a:avLst/>
            </a:prstGeom>
            <a:noFill/>
          </p:spPr>
          <p:txBody>
            <a:bodyPr wrap="square" rtlCol="0">
              <a:noAutofit/>
            </a:bodyPr>
            <a:lstStyle/>
            <a:p>
              <a:pPr defTabSz="371475"/>
              <a:r>
                <a:rPr lang="en-GB" sz="700" dirty="0">
                  <a:solidFill>
                    <a:prstClr val="black"/>
                  </a:solidFill>
                  <a:latin typeface="Trebuchet MS"/>
                  <a:cs typeface="Trebuchet MS"/>
                </a:rPr>
                <a:t>1974</a:t>
              </a:r>
            </a:p>
          </p:txBody>
        </p:sp>
        <p:sp>
          <p:nvSpPr>
            <p:cNvPr id="16" name="TextBox 15">
              <a:extLst>
                <a:ext uri="{FF2B5EF4-FFF2-40B4-BE49-F238E27FC236}">
                  <a16:creationId xmlns:a16="http://schemas.microsoft.com/office/drawing/2014/main" id="{A2CCC085-581F-4D8E-8FFE-13B4BAF15D01}"/>
                </a:ext>
              </a:extLst>
            </p:cNvPr>
            <p:cNvSpPr txBox="1"/>
            <p:nvPr/>
          </p:nvSpPr>
          <p:spPr>
            <a:xfrm>
              <a:off x="1802077" y="1902658"/>
              <a:ext cx="364721" cy="243147"/>
            </a:xfrm>
            <a:prstGeom prst="rect">
              <a:avLst/>
            </a:prstGeom>
            <a:noFill/>
          </p:spPr>
          <p:txBody>
            <a:bodyPr wrap="square" rtlCol="0">
              <a:noAutofit/>
            </a:bodyPr>
            <a:lstStyle/>
            <a:p>
              <a:pPr defTabSz="371475"/>
              <a:r>
                <a:rPr lang="en-GB" sz="700" dirty="0">
                  <a:solidFill>
                    <a:prstClr val="black"/>
                  </a:solidFill>
                  <a:latin typeface="Trebuchet MS"/>
                  <a:cs typeface="Trebuchet MS"/>
                </a:rPr>
                <a:t>1996</a:t>
              </a:r>
            </a:p>
          </p:txBody>
        </p:sp>
        <p:cxnSp>
          <p:nvCxnSpPr>
            <p:cNvPr id="17" name="Straight Connector 16">
              <a:extLst>
                <a:ext uri="{FF2B5EF4-FFF2-40B4-BE49-F238E27FC236}">
                  <a16:creationId xmlns:a16="http://schemas.microsoft.com/office/drawing/2014/main" id="{8D438EBA-8E64-4E5C-9A88-E4A1937125DF}"/>
                </a:ext>
              </a:extLst>
            </p:cNvPr>
            <p:cNvCxnSpPr/>
            <p:nvPr/>
          </p:nvCxnSpPr>
          <p:spPr>
            <a:xfrm rot="5400000">
              <a:off x="897193" y="2071308"/>
              <a:ext cx="42810" cy="0"/>
            </a:xfrm>
            <a:prstGeom prst="line">
              <a:avLst/>
            </a:prstGeom>
            <a:noFill/>
            <a:ln w="15875" cap="flat" cmpd="sng" algn="ctr">
              <a:solidFill>
                <a:srgbClr val="13245A"/>
              </a:solidFill>
              <a:prstDash val="solid"/>
            </a:ln>
            <a:effectLst/>
          </p:spPr>
        </p:cxnSp>
        <p:cxnSp>
          <p:nvCxnSpPr>
            <p:cNvPr id="18" name="Straight Connector 17">
              <a:extLst>
                <a:ext uri="{FF2B5EF4-FFF2-40B4-BE49-F238E27FC236}">
                  <a16:creationId xmlns:a16="http://schemas.microsoft.com/office/drawing/2014/main" id="{854897EC-8608-4702-877B-88B8322E8035}"/>
                </a:ext>
              </a:extLst>
            </p:cNvPr>
            <p:cNvCxnSpPr/>
            <p:nvPr/>
          </p:nvCxnSpPr>
          <p:spPr>
            <a:xfrm rot="5400000">
              <a:off x="423933" y="2071308"/>
              <a:ext cx="42810" cy="0"/>
            </a:xfrm>
            <a:prstGeom prst="line">
              <a:avLst/>
            </a:prstGeom>
            <a:noFill/>
            <a:ln w="15875" cap="flat" cmpd="sng" algn="ctr">
              <a:solidFill>
                <a:srgbClr val="13245A"/>
              </a:solidFill>
              <a:prstDash val="solid"/>
            </a:ln>
            <a:effectLst/>
          </p:spPr>
        </p:cxnSp>
        <p:cxnSp>
          <p:nvCxnSpPr>
            <p:cNvPr id="19" name="Straight Connector 18">
              <a:extLst>
                <a:ext uri="{FF2B5EF4-FFF2-40B4-BE49-F238E27FC236}">
                  <a16:creationId xmlns:a16="http://schemas.microsoft.com/office/drawing/2014/main" id="{157449BC-386D-4517-95D6-EEC6A24125DB}"/>
                </a:ext>
              </a:extLst>
            </p:cNvPr>
            <p:cNvCxnSpPr/>
            <p:nvPr/>
          </p:nvCxnSpPr>
          <p:spPr>
            <a:xfrm rot="6600000">
              <a:off x="1148697" y="2071308"/>
              <a:ext cx="42810" cy="0"/>
            </a:xfrm>
            <a:prstGeom prst="line">
              <a:avLst/>
            </a:prstGeom>
            <a:noFill/>
            <a:ln w="15875" cap="flat" cmpd="sng" algn="ctr">
              <a:solidFill>
                <a:srgbClr val="13245A"/>
              </a:solidFill>
              <a:prstDash val="solid"/>
            </a:ln>
            <a:effectLst/>
          </p:spPr>
        </p:cxnSp>
        <p:cxnSp>
          <p:nvCxnSpPr>
            <p:cNvPr id="20" name="Straight Connector 19">
              <a:extLst>
                <a:ext uri="{FF2B5EF4-FFF2-40B4-BE49-F238E27FC236}">
                  <a16:creationId xmlns:a16="http://schemas.microsoft.com/office/drawing/2014/main" id="{9E14A023-6A00-4AEE-A720-9AFCE1BCC64A}"/>
                </a:ext>
              </a:extLst>
            </p:cNvPr>
            <p:cNvCxnSpPr/>
            <p:nvPr/>
          </p:nvCxnSpPr>
          <p:spPr>
            <a:xfrm rot="5400000">
              <a:off x="1482629" y="2071308"/>
              <a:ext cx="42810" cy="0"/>
            </a:xfrm>
            <a:prstGeom prst="line">
              <a:avLst/>
            </a:prstGeom>
            <a:noFill/>
            <a:ln w="15875" cap="flat" cmpd="sng" algn="ctr">
              <a:solidFill>
                <a:srgbClr val="13245A"/>
              </a:solidFill>
              <a:prstDash val="solid"/>
            </a:ln>
            <a:effectLst/>
          </p:spPr>
        </p:cxnSp>
        <p:cxnSp>
          <p:nvCxnSpPr>
            <p:cNvPr id="21" name="Straight Connector 20">
              <a:extLst>
                <a:ext uri="{FF2B5EF4-FFF2-40B4-BE49-F238E27FC236}">
                  <a16:creationId xmlns:a16="http://schemas.microsoft.com/office/drawing/2014/main" id="{D3BFCC1B-5711-4E94-BA13-FA7848756515}"/>
                </a:ext>
              </a:extLst>
            </p:cNvPr>
            <p:cNvCxnSpPr/>
            <p:nvPr/>
          </p:nvCxnSpPr>
          <p:spPr>
            <a:xfrm rot="5400000">
              <a:off x="1955889" y="2071308"/>
              <a:ext cx="42810" cy="0"/>
            </a:xfrm>
            <a:prstGeom prst="line">
              <a:avLst/>
            </a:prstGeom>
            <a:noFill/>
            <a:ln w="15875" cap="flat" cmpd="sng" algn="ctr">
              <a:solidFill>
                <a:srgbClr val="13245A"/>
              </a:solidFill>
              <a:prstDash val="solid"/>
            </a:ln>
            <a:effectLst/>
          </p:spPr>
        </p:cxnSp>
        <p:cxnSp>
          <p:nvCxnSpPr>
            <p:cNvPr id="22" name="Straight Connector 21">
              <a:extLst>
                <a:ext uri="{FF2B5EF4-FFF2-40B4-BE49-F238E27FC236}">
                  <a16:creationId xmlns:a16="http://schemas.microsoft.com/office/drawing/2014/main" id="{5BEFDA26-99C9-4125-8CEF-AECBE3556829}"/>
                </a:ext>
              </a:extLst>
            </p:cNvPr>
            <p:cNvCxnSpPr/>
            <p:nvPr/>
          </p:nvCxnSpPr>
          <p:spPr>
            <a:xfrm rot="5400000">
              <a:off x="2429149" y="2071308"/>
              <a:ext cx="42810" cy="0"/>
            </a:xfrm>
            <a:prstGeom prst="line">
              <a:avLst/>
            </a:prstGeom>
            <a:noFill/>
            <a:ln w="15875" cap="flat" cmpd="sng" algn="ctr">
              <a:solidFill>
                <a:srgbClr val="13245A"/>
              </a:solidFill>
              <a:prstDash val="solid"/>
            </a:ln>
            <a:effectLst/>
          </p:spPr>
        </p:cxnSp>
        <p:cxnSp>
          <p:nvCxnSpPr>
            <p:cNvPr id="23" name="Straight Connector 22">
              <a:extLst>
                <a:ext uri="{FF2B5EF4-FFF2-40B4-BE49-F238E27FC236}">
                  <a16:creationId xmlns:a16="http://schemas.microsoft.com/office/drawing/2014/main" id="{2DC8BB3D-2745-411C-8093-B217BA87676A}"/>
                </a:ext>
              </a:extLst>
            </p:cNvPr>
            <p:cNvCxnSpPr/>
            <p:nvPr/>
          </p:nvCxnSpPr>
          <p:spPr>
            <a:xfrm rot="5400000">
              <a:off x="2902410" y="2071308"/>
              <a:ext cx="42810" cy="0"/>
            </a:xfrm>
            <a:prstGeom prst="line">
              <a:avLst/>
            </a:prstGeom>
            <a:noFill/>
            <a:ln w="15875" cap="flat" cmpd="sng" algn="ctr">
              <a:solidFill>
                <a:srgbClr val="13245A"/>
              </a:solidFill>
              <a:prstDash val="solid"/>
            </a:ln>
            <a:effectLst/>
          </p:spPr>
        </p:cxnSp>
        <p:cxnSp>
          <p:nvCxnSpPr>
            <p:cNvPr id="24" name="Straight Connector 23">
              <a:extLst>
                <a:ext uri="{FF2B5EF4-FFF2-40B4-BE49-F238E27FC236}">
                  <a16:creationId xmlns:a16="http://schemas.microsoft.com/office/drawing/2014/main" id="{9BF783F5-CC2B-48F6-891D-670B0FEAAC66}"/>
                </a:ext>
              </a:extLst>
            </p:cNvPr>
            <p:cNvCxnSpPr/>
            <p:nvPr/>
          </p:nvCxnSpPr>
          <p:spPr>
            <a:xfrm rot="5400000">
              <a:off x="3375670" y="2071308"/>
              <a:ext cx="42810" cy="0"/>
            </a:xfrm>
            <a:prstGeom prst="line">
              <a:avLst/>
            </a:prstGeom>
            <a:noFill/>
            <a:ln w="15875" cap="flat" cmpd="sng" algn="ctr">
              <a:solidFill>
                <a:srgbClr val="13245A"/>
              </a:solidFill>
              <a:prstDash val="solid"/>
            </a:ln>
            <a:effectLst/>
          </p:spPr>
        </p:cxnSp>
        <p:cxnSp>
          <p:nvCxnSpPr>
            <p:cNvPr id="25" name="Straight Connector 24">
              <a:extLst>
                <a:ext uri="{FF2B5EF4-FFF2-40B4-BE49-F238E27FC236}">
                  <a16:creationId xmlns:a16="http://schemas.microsoft.com/office/drawing/2014/main" id="{4046279A-98C0-4C3B-8370-CC5339260D17}"/>
                </a:ext>
              </a:extLst>
            </p:cNvPr>
            <p:cNvCxnSpPr/>
            <p:nvPr/>
          </p:nvCxnSpPr>
          <p:spPr>
            <a:xfrm rot="5400000">
              <a:off x="3848930" y="2071308"/>
              <a:ext cx="42810" cy="0"/>
            </a:xfrm>
            <a:prstGeom prst="line">
              <a:avLst/>
            </a:prstGeom>
            <a:noFill/>
            <a:ln w="15875" cap="flat" cmpd="sng" algn="ctr">
              <a:solidFill>
                <a:srgbClr val="13245A"/>
              </a:solidFill>
              <a:prstDash val="solid"/>
            </a:ln>
            <a:effectLst/>
          </p:spPr>
        </p:cxnSp>
        <p:cxnSp>
          <p:nvCxnSpPr>
            <p:cNvPr id="26" name="Straight Connector 25">
              <a:extLst>
                <a:ext uri="{FF2B5EF4-FFF2-40B4-BE49-F238E27FC236}">
                  <a16:creationId xmlns:a16="http://schemas.microsoft.com/office/drawing/2014/main" id="{ED4557C0-0D5E-4095-BFBF-CD2D2EA30024}"/>
                </a:ext>
              </a:extLst>
            </p:cNvPr>
            <p:cNvCxnSpPr/>
            <p:nvPr/>
          </p:nvCxnSpPr>
          <p:spPr>
            <a:xfrm rot="5400000">
              <a:off x="4322190" y="2071308"/>
              <a:ext cx="42810" cy="0"/>
            </a:xfrm>
            <a:prstGeom prst="line">
              <a:avLst/>
            </a:prstGeom>
            <a:noFill/>
            <a:ln w="15875" cap="flat" cmpd="sng" algn="ctr">
              <a:solidFill>
                <a:srgbClr val="13245A"/>
              </a:solidFill>
              <a:prstDash val="solid"/>
            </a:ln>
            <a:effectLst/>
          </p:spPr>
        </p:cxnSp>
        <p:cxnSp>
          <p:nvCxnSpPr>
            <p:cNvPr id="27" name="Straight Connector 26">
              <a:extLst>
                <a:ext uri="{FF2B5EF4-FFF2-40B4-BE49-F238E27FC236}">
                  <a16:creationId xmlns:a16="http://schemas.microsoft.com/office/drawing/2014/main" id="{99D34C3D-D77E-4C2C-A4BE-97BBA3417A8E}"/>
                </a:ext>
              </a:extLst>
            </p:cNvPr>
            <p:cNvCxnSpPr/>
            <p:nvPr/>
          </p:nvCxnSpPr>
          <p:spPr>
            <a:xfrm rot="5400000">
              <a:off x="3153836" y="2394429"/>
              <a:ext cx="497250" cy="2"/>
            </a:xfrm>
            <a:prstGeom prst="line">
              <a:avLst/>
            </a:prstGeom>
            <a:noFill/>
            <a:ln w="15875" cap="flat" cmpd="sng" algn="ctr">
              <a:solidFill>
                <a:srgbClr val="13245A"/>
              </a:solidFill>
              <a:prstDash val="solid"/>
              <a:tailEnd type="diamond"/>
            </a:ln>
            <a:effectLst/>
          </p:spPr>
        </p:cxnSp>
        <p:cxnSp>
          <p:nvCxnSpPr>
            <p:cNvPr id="28" name="Straight Connector 27">
              <a:extLst>
                <a:ext uri="{FF2B5EF4-FFF2-40B4-BE49-F238E27FC236}">
                  <a16:creationId xmlns:a16="http://schemas.microsoft.com/office/drawing/2014/main" id="{4E2DA258-3B18-42CC-AA4A-8EC47EE0D6BE}"/>
                </a:ext>
              </a:extLst>
            </p:cNvPr>
            <p:cNvCxnSpPr/>
            <p:nvPr/>
          </p:nvCxnSpPr>
          <p:spPr>
            <a:xfrm rot="6600000">
              <a:off x="1173859" y="2070553"/>
              <a:ext cx="42810" cy="0"/>
            </a:xfrm>
            <a:prstGeom prst="line">
              <a:avLst/>
            </a:prstGeom>
            <a:noFill/>
            <a:ln w="15875" cap="flat" cmpd="sng" algn="ctr">
              <a:solidFill>
                <a:srgbClr val="13245A"/>
              </a:solidFill>
              <a:prstDash val="solid"/>
            </a:ln>
            <a:effectLst/>
          </p:spPr>
        </p:cxnSp>
        <p:sp>
          <p:nvSpPr>
            <p:cNvPr id="29" name="TextBox 28">
              <a:extLst>
                <a:ext uri="{FF2B5EF4-FFF2-40B4-BE49-F238E27FC236}">
                  <a16:creationId xmlns:a16="http://schemas.microsoft.com/office/drawing/2014/main" id="{87C2425C-6034-41C7-8D33-7B334D055D40}"/>
                </a:ext>
              </a:extLst>
            </p:cNvPr>
            <p:cNvSpPr txBox="1"/>
            <p:nvPr/>
          </p:nvSpPr>
          <p:spPr>
            <a:xfrm>
              <a:off x="518209" y="2444261"/>
              <a:ext cx="819000" cy="438750"/>
            </a:xfrm>
            <a:prstGeom prst="rect">
              <a:avLst/>
            </a:prstGeom>
            <a:solidFill>
              <a:srgbClr val="FFFFFF"/>
            </a:solidFill>
          </p:spPr>
          <p:txBody>
            <a:bodyPr wrap="square" rtlCol="0">
              <a:noAutofit/>
            </a:bodyPr>
            <a:lstStyle/>
            <a:p>
              <a:pPr defTabSz="371475">
                <a:defRPr/>
              </a:pPr>
              <a:r>
                <a:rPr lang="en-GB" sz="700" kern="0" dirty="0">
                  <a:solidFill>
                    <a:prstClr val="black"/>
                  </a:solidFill>
                  <a:latin typeface="Trebuchet MS"/>
                  <a:cs typeface="Trebuchet MS"/>
                </a:rPr>
                <a:t>Basel Committee on Banking Supervision  gets established</a:t>
              </a:r>
            </a:p>
          </p:txBody>
        </p:sp>
        <p:cxnSp>
          <p:nvCxnSpPr>
            <p:cNvPr id="30" name="Straight Connector 29">
              <a:extLst>
                <a:ext uri="{FF2B5EF4-FFF2-40B4-BE49-F238E27FC236}">
                  <a16:creationId xmlns:a16="http://schemas.microsoft.com/office/drawing/2014/main" id="{5936A48B-55D3-40B7-AE8F-40E3CAF7983A}"/>
                </a:ext>
              </a:extLst>
            </p:cNvPr>
            <p:cNvCxnSpPr/>
            <p:nvPr/>
          </p:nvCxnSpPr>
          <p:spPr>
            <a:xfrm rot="5400000">
              <a:off x="1134127" y="2515708"/>
              <a:ext cx="739811" cy="2"/>
            </a:xfrm>
            <a:prstGeom prst="line">
              <a:avLst/>
            </a:prstGeom>
            <a:noFill/>
            <a:ln w="15875" cap="flat" cmpd="sng" algn="ctr">
              <a:solidFill>
                <a:srgbClr val="13245A"/>
              </a:solidFill>
              <a:prstDash val="solid"/>
              <a:tailEnd type="diamond"/>
            </a:ln>
            <a:effectLst/>
          </p:spPr>
        </p:cxnSp>
        <p:cxnSp>
          <p:nvCxnSpPr>
            <p:cNvPr id="31" name="Straight Connector 30">
              <a:extLst>
                <a:ext uri="{FF2B5EF4-FFF2-40B4-BE49-F238E27FC236}">
                  <a16:creationId xmlns:a16="http://schemas.microsoft.com/office/drawing/2014/main" id="{81466B9A-88C8-4432-ADAC-C30A3637D500}"/>
                </a:ext>
              </a:extLst>
            </p:cNvPr>
            <p:cNvCxnSpPr/>
            <p:nvPr/>
          </p:nvCxnSpPr>
          <p:spPr>
            <a:xfrm rot="5400000">
              <a:off x="1875419" y="2247679"/>
              <a:ext cx="203751" cy="0"/>
            </a:xfrm>
            <a:prstGeom prst="line">
              <a:avLst/>
            </a:prstGeom>
            <a:noFill/>
            <a:ln w="15875" cap="flat" cmpd="sng" algn="ctr">
              <a:solidFill>
                <a:srgbClr val="13245A"/>
              </a:solidFill>
              <a:prstDash val="solid"/>
              <a:tailEnd type="diamond"/>
            </a:ln>
            <a:effectLst/>
          </p:spPr>
        </p:cxnSp>
        <p:sp>
          <p:nvSpPr>
            <p:cNvPr id="32" name="TextBox 31">
              <a:extLst>
                <a:ext uri="{FF2B5EF4-FFF2-40B4-BE49-F238E27FC236}">
                  <a16:creationId xmlns:a16="http://schemas.microsoft.com/office/drawing/2014/main" id="{7C2E0E3C-5AA3-432B-A57D-DCA80FA62351}"/>
                </a:ext>
              </a:extLst>
            </p:cNvPr>
            <p:cNvSpPr txBox="1"/>
            <p:nvPr/>
          </p:nvSpPr>
          <p:spPr>
            <a:xfrm>
              <a:off x="1558208" y="2388052"/>
              <a:ext cx="819000" cy="438750"/>
            </a:xfrm>
            <a:prstGeom prst="rect">
              <a:avLst/>
            </a:prstGeom>
            <a:solidFill>
              <a:srgbClr val="FFFFFF"/>
            </a:solidFill>
          </p:spPr>
          <p:txBody>
            <a:bodyPr wrap="square" rtlCol="0">
              <a:noAutofit/>
            </a:bodyPr>
            <a:lstStyle/>
            <a:p>
              <a:pPr defTabSz="371475">
                <a:defRPr/>
              </a:pPr>
              <a:r>
                <a:rPr lang="en-GB" sz="700" kern="0" dirty="0">
                  <a:solidFill>
                    <a:prstClr val="black"/>
                  </a:solidFill>
                  <a:latin typeface="Trebuchet MS"/>
                  <a:cs typeface="Trebuchet MS"/>
                </a:rPr>
                <a:t>The Market Risk Amendment is introduced</a:t>
              </a:r>
            </a:p>
          </p:txBody>
        </p:sp>
        <p:sp>
          <p:nvSpPr>
            <p:cNvPr id="33" name="Pentagon 288">
              <a:extLst>
                <a:ext uri="{FF2B5EF4-FFF2-40B4-BE49-F238E27FC236}">
                  <a16:creationId xmlns:a16="http://schemas.microsoft.com/office/drawing/2014/main" id="{CCEE07FF-6C5D-4E9A-94D1-88CDB6988FD0}"/>
                </a:ext>
              </a:extLst>
            </p:cNvPr>
            <p:cNvSpPr/>
            <p:nvPr/>
          </p:nvSpPr>
          <p:spPr>
            <a:xfrm>
              <a:off x="2457422" y="2309378"/>
              <a:ext cx="936000" cy="146781"/>
            </a:xfrm>
            <a:prstGeom prst="homePlate">
              <a:avLst/>
            </a:prstGeom>
            <a:gradFill rotWithShape="1">
              <a:gsLst>
                <a:gs pos="0">
                  <a:srgbClr val="13245A">
                    <a:tint val="50000"/>
                    <a:satMod val="300000"/>
                  </a:srgbClr>
                </a:gs>
                <a:gs pos="35000">
                  <a:srgbClr val="13245A">
                    <a:tint val="37000"/>
                    <a:satMod val="300000"/>
                  </a:srgbClr>
                </a:gs>
                <a:gs pos="100000">
                  <a:srgbClr val="13245A">
                    <a:tint val="15000"/>
                    <a:satMod val="350000"/>
                  </a:srgbClr>
                </a:gs>
              </a:gsLst>
              <a:lin ang="16200000" scaled="1"/>
            </a:gradFill>
            <a:ln w="9525" cap="flat" cmpd="sng" algn="ctr">
              <a:solidFill>
                <a:srgbClr val="13245A">
                  <a:shade val="95000"/>
                  <a:satMod val="105000"/>
                </a:srgbClr>
              </a:solidFill>
              <a:prstDash val="solid"/>
            </a:ln>
            <a:effectLst/>
          </p:spPr>
          <p:txBody>
            <a:bodyPr wrap="square" rtlCol="0">
              <a:noAutofit/>
            </a:bodyPr>
            <a:lstStyle/>
            <a:p>
              <a:pPr defTabSz="371475">
                <a:defRPr/>
              </a:pPr>
              <a:r>
                <a:rPr lang="en-GB" sz="700" kern="0" dirty="0">
                  <a:solidFill>
                    <a:prstClr val="black"/>
                  </a:solidFill>
                  <a:latin typeface="Trebuchet MS"/>
                  <a:cs typeface="Trebuchet MS"/>
                </a:rPr>
                <a:t>Basel II consultative papers</a:t>
              </a:r>
            </a:p>
          </p:txBody>
        </p:sp>
        <p:sp>
          <p:nvSpPr>
            <p:cNvPr id="34" name="TextBox 33">
              <a:extLst>
                <a:ext uri="{FF2B5EF4-FFF2-40B4-BE49-F238E27FC236}">
                  <a16:creationId xmlns:a16="http://schemas.microsoft.com/office/drawing/2014/main" id="{B1204177-C582-42FA-9E7C-3EBF70FED2A1}"/>
                </a:ext>
              </a:extLst>
            </p:cNvPr>
            <p:cNvSpPr txBox="1"/>
            <p:nvPr/>
          </p:nvSpPr>
          <p:spPr>
            <a:xfrm>
              <a:off x="1922286" y="3064022"/>
              <a:ext cx="1074577" cy="251874"/>
            </a:xfrm>
            <a:prstGeom prst="rect">
              <a:avLst/>
            </a:prstGeom>
            <a:solidFill>
              <a:srgbClr val="FFFFFF"/>
            </a:solidFill>
          </p:spPr>
          <p:txBody>
            <a:bodyPr wrap="square" rtlCol="0">
              <a:noAutofit/>
            </a:bodyPr>
            <a:lstStyle/>
            <a:p>
              <a:pPr defTabSz="371475">
                <a:defRPr/>
              </a:pPr>
              <a:r>
                <a:rPr lang="en-GB" sz="700" kern="0" dirty="0">
                  <a:solidFill>
                    <a:prstClr val="black"/>
                  </a:solidFill>
                  <a:latin typeface="Trebuchet MS"/>
                  <a:cs typeface="Trebuchet MS"/>
                </a:rPr>
                <a:t>Basel Committee issues a proposal for a revised capital framework</a:t>
              </a:r>
            </a:p>
          </p:txBody>
        </p:sp>
        <p:cxnSp>
          <p:nvCxnSpPr>
            <p:cNvPr id="35" name="Straight Connector 34">
              <a:extLst>
                <a:ext uri="{FF2B5EF4-FFF2-40B4-BE49-F238E27FC236}">
                  <a16:creationId xmlns:a16="http://schemas.microsoft.com/office/drawing/2014/main" id="{24A69113-50EB-42D9-8FC1-F8A3427E45D1}"/>
                </a:ext>
              </a:extLst>
            </p:cNvPr>
            <p:cNvCxnSpPr/>
            <p:nvPr/>
          </p:nvCxnSpPr>
          <p:spPr>
            <a:xfrm rot="5400000">
              <a:off x="2034652" y="2567975"/>
              <a:ext cx="828863" cy="1"/>
            </a:xfrm>
            <a:prstGeom prst="line">
              <a:avLst/>
            </a:prstGeom>
            <a:noFill/>
            <a:ln w="15875" cap="flat" cmpd="sng" algn="ctr">
              <a:solidFill>
                <a:srgbClr val="13245A"/>
              </a:solidFill>
              <a:prstDash val="solid"/>
              <a:tailEnd type="diamond"/>
            </a:ln>
            <a:effectLst/>
          </p:spPr>
        </p:cxnSp>
        <p:sp>
          <p:nvSpPr>
            <p:cNvPr id="36" name="TextBox 35">
              <a:extLst>
                <a:ext uri="{FF2B5EF4-FFF2-40B4-BE49-F238E27FC236}">
                  <a16:creationId xmlns:a16="http://schemas.microsoft.com/office/drawing/2014/main" id="{5C504127-4DD6-46F3-B0A5-243FF418C716}"/>
                </a:ext>
              </a:extLst>
            </p:cNvPr>
            <p:cNvSpPr txBox="1"/>
            <p:nvPr/>
          </p:nvSpPr>
          <p:spPr>
            <a:xfrm>
              <a:off x="3153837" y="2719645"/>
              <a:ext cx="497250" cy="263250"/>
            </a:xfrm>
            <a:prstGeom prst="rect">
              <a:avLst/>
            </a:prstGeom>
            <a:solidFill>
              <a:srgbClr val="FFFFFF"/>
            </a:solidFill>
          </p:spPr>
          <p:txBody>
            <a:bodyPr wrap="square" rtlCol="0">
              <a:noAutofit/>
            </a:bodyPr>
            <a:lstStyle/>
            <a:p>
              <a:pPr defTabSz="371475">
                <a:defRPr/>
              </a:pPr>
              <a:r>
                <a:rPr lang="en-GB" sz="700" kern="0" dirty="0">
                  <a:solidFill>
                    <a:prstClr val="black"/>
                  </a:solidFill>
                  <a:latin typeface="Trebuchet MS"/>
                  <a:cs typeface="Trebuchet MS"/>
                </a:rPr>
                <a:t>Basel II is issued</a:t>
              </a:r>
            </a:p>
          </p:txBody>
        </p:sp>
        <p:cxnSp>
          <p:nvCxnSpPr>
            <p:cNvPr id="37" name="Straight Connector 36">
              <a:extLst>
                <a:ext uri="{FF2B5EF4-FFF2-40B4-BE49-F238E27FC236}">
                  <a16:creationId xmlns:a16="http://schemas.microsoft.com/office/drawing/2014/main" id="{3BA5A3C7-4943-476B-BC7E-31C92E80422B}"/>
                </a:ext>
              </a:extLst>
            </p:cNvPr>
            <p:cNvCxnSpPr/>
            <p:nvPr/>
          </p:nvCxnSpPr>
          <p:spPr>
            <a:xfrm rot="5400000">
              <a:off x="3519335" y="2504546"/>
              <a:ext cx="702000" cy="0"/>
            </a:xfrm>
            <a:prstGeom prst="line">
              <a:avLst/>
            </a:prstGeom>
            <a:noFill/>
            <a:ln w="15875" cap="flat" cmpd="sng" algn="ctr">
              <a:solidFill>
                <a:srgbClr val="13245A"/>
              </a:solidFill>
              <a:prstDash val="solid"/>
              <a:tailEnd type="diamond"/>
            </a:ln>
            <a:effectLst/>
          </p:spPr>
        </p:cxnSp>
        <p:sp>
          <p:nvSpPr>
            <p:cNvPr id="38" name="TextBox 37">
              <a:extLst>
                <a:ext uri="{FF2B5EF4-FFF2-40B4-BE49-F238E27FC236}">
                  <a16:creationId xmlns:a16="http://schemas.microsoft.com/office/drawing/2014/main" id="{AAEB476B-7FE5-45C3-BAE6-1BB251E87E2F}"/>
                </a:ext>
              </a:extLst>
            </p:cNvPr>
            <p:cNvSpPr txBox="1"/>
            <p:nvPr/>
          </p:nvSpPr>
          <p:spPr>
            <a:xfrm>
              <a:off x="3437912" y="2889159"/>
              <a:ext cx="848250" cy="426736"/>
            </a:xfrm>
            <a:prstGeom prst="rect">
              <a:avLst/>
            </a:prstGeom>
            <a:noFill/>
          </p:spPr>
          <p:txBody>
            <a:bodyPr wrap="square" rtlCol="0">
              <a:noAutofit/>
            </a:bodyPr>
            <a:lstStyle/>
            <a:p>
              <a:pPr defTabSz="371475">
                <a:defRPr/>
              </a:pPr>
              <a:r>
                <a:rPr lang="en-GB" sz="700" kern="0" dirty="0">
                  <a:solidFill>
                    <a:prstClr val="black"/>
                  </a:solidFill>
                  <a:latin typeface="Trebuchet MS"/>
                  <a:cs typeface="Trebuchet MS"/>
                </a:rPr>
                <a:t>Amendment to the Capital Accord to incorporate Market Risks (including Trading Activities)</a:t>
              </a:r>
            </a:p>
          </p:txBody>
        </p:sp>
        <p:sp>
          <p:nvSpPr>
            <p:cNvPr id="39" name="TextBox 38">
              <a:extLst>
                <a:ext uri="{FF2B5EF4-FFF2-40B4-BE49-F238E27FC236}">
                  <a16:creationId xmlns:a16="http://schemas.microsoft.com/office/drawing/2014/main" id="{209E4688-E83A-4FFA-AA98-01113734781B}"/>
                </a:ext>
              </a:extLst>
            </p:cNvPr>
            <p:cNvSpPr txBox="1"/>
            <p:nvPr/>
          </p:nvSpPr>
          <p:spPr>
            <a:xfrm>
              <a:off x="3943717" y="2431329"/>
              <a:ext cx="789750" cy="172014"/>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p:spPr>
          <p:txBody>
            <a:bodyPr wrap="square" rtlCol="0">
              <a:noAutofit/>
            </a:bodyPr>
            <a:lstStyle/>
            <a:p>
              <a:pPr algn="ctr" defTabSz="371475">
                <a:defRPr/>
              </a:pPr>
              <a:r>
                <a:rPr lang="en-GB" sz="700" b="1" kern="0" dirty="0">
                  <a:solidFill>
                    <a:prstClr val="black"/>
                  </a:solidFill>
                  <a:latin typeface="Trebuchet MS"/>
                  <a:cs typeface="Trebuchet MS"/>
                </a:rPr>
                <a:t>Basel II Go live</a:t>
              </a:r>
            </a:p>
          </p:txBody>
        </p:sp>
        <p:cxnSp>
          <p:nvCxnSpPr>
            <p:cNvPr id="40" name="Straight Connector 39">
              <a:extLst>
                <a:ext uri="{FF2B5EF4-FFF2-40B4-BE49-F238E27FC236}">
                  <a16:creationId xmlns:a16="http://schemas.microsoft.com/office/drawing/2014/main" id="{482A8208-3751-41C7-9661-1920C39ED4C1}"/>
                </a:ext>
              </a:extLst>
            </p:cNvPr>
            <p:cNvCxnSpPr/>
            <p:nvPr/>
          </p:nvCxnSpPr>
          <p:spPr>
            <a:xfrm rot="5400000">
              <a:off x="4241719" y="2247680"/>
              <a:ext cx="203751" cy="0"/>
            </a:xfrm>
            <a:prstGeom prst="line">
              <a:avLst/>
            </a:prstGeom>
            <a:noFill/>
            <a:ln w="15875" cap="flat" cmpd="sng" algn="ctr">
              <a:solidFill>
                <a:srgbClr val="13245A"/>
              </a:solidFill>
              <a:prstDash val="solid"/>
              <a:tailEnd type="diamond"/>
            </a:ln>
            <a:effectLst/>
          </p:spPr>
        </p:cxnSp>
        <p:sp>
          <p:nvSpPr>
            <p:cNvPr id="41" name="TextBox 40">
              <a:extLst>
                <a:ext uri="{FF2B5EF4-FFF2-40B4-BE49-F238E27FC236}">
                  <a16:creationId xmlns:a16="http://schemas.microsoft.com/office/drawing/2014/main" id="{A6EF902E-FF2F-4402-8BE1-DFDA2D5A4521}"/>
                </a:ext>
              </a:extLst>
            </p:cNvPr>
            <p:cNvSpPr txBox="1"/>
            <p:nvPr/>
          </p:nvSpPr>
          <p:spPr>
            <a:xfrm>
              <a:off x="1072516" y="2924364"/>
              <a:ext cx="892041" cy="207053"/>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p:spPr>
          <p:txBody>
            <a:bodyPr wrap="square" rtlCol="0">
              <a:noAutofit/>
            </a:bodyPr>
            <a:lstStyle/>
            <a:p>
              <a:pPr algn="ctr" defTabSz="371475">
                <a:defRPr/>
              </a:pPr>
              <a:r>
                <a:rPr lang="en-GB" sz="700" b="1" kern="0" dirty="0">
                  <a:solidFill>
                    <a:prstClr val="black"/>
                  </a:solidFill>
                  <a:latin typeface="Trebuchet MS"/>
                  <a:cs typeface="Trebuchet MS"/>
                </a:rPr>
                <a:t>The Basel Capital Accord (Basel I) is introduced</a:t>
              </a:r>
            </a:p>
          </p:txBody>
        </p:sp>
        <p:sp>
          <p:nvSpPr>
            <p:cNvPr id="42" name="Pentagon 1">
              <a:extLst>
                <a:ext uri="{FF2B5EF4-FFF2-40B4-BE49-F238E27FC236}">
                  <a16:creationId xmlns:a16="http://schemas.microsoft.com/office/drawing/2014/main" id="{5539BA8B-89EC-45B8-8C9D-C688ED4C8F82}"/>
                </a:ext>
              </a:extLst>
            </p:cNvPr>
            <p:cNvSpPr/>
            <p:nvPr/>
          </p:nvSpPr>
          <p:spPr>
            <a:xfrm>
              <a:off x="352678" y="1660197"/>
              <a:ext cx="4380790" cy="201082"/>
            </a:xfrm>
            <a:prstGeom prst="homePlate">
              <a:avLst/>
            </a:prstGeom>
            <a:solidFill>
              <a:srgbClr val="7E99AA">
                <a:lumMod val="50000"/>
              </a:srgbClr>
            </a:solidFill>
            <a:ln w="15875" cap="flat" cmpd="sng" algn="ctr">
              <a:noFill/>
              <a:prstDash val="solid"/>
            </a:ln>
            <a:effectLst/>
          </p:spPr>
          <p:txBody>
            <a:bodyPr rot="0" spcFirstLastPara="0" vertOverflow="overflow" horzOverflow="overflow" vert="horz" wrap="square" lIns="74294" tIns="37147" rIns="74294" bIns="37147" numCol="1" spcCol="0" rtlCol="0" fromWordArt="0" anchor="ctr" anchorCtr="0" forceAA="0" compatLnSpc="1">
              <a:prstTxWarp prst="textNoShape">
                <a:avLst/>
              </a:prstTxWarp>
              <a:noAutofit/>
            </a:bodyPr>
            <a:lstStyle/>
            <a:p>
              <a:pPr algn="ctr" defTabSz="371475"/>
              <a:r>
                <a:rPr lang="en-GB" sz="1200" b="1" kern="0" dirty="0">
                  <a:solidFill>
                    <a:srgbClr val="FFFFFF"/>
                  </a:solidFill>
                  <a:latin typeface="Trebuchet MS"/>
                </a:rPr>
                <a:t>Basel I and Basel II</a:t>
              </a:r>
            </a:p>
          </p:txBody>
        </p:sp>
      </p:grpSp>
      <p:sp>
        <p:nvSpPr>
          <p:cNvPr id="47" name="Content Placeholder 1">
            <a:extLst>
              <a:ext uri="{FF2B5EF4-FFF2-40B4-BE49-F238E27FC236}">
                <a16:creationId xmlns:a16="http://schemas.microsoft.com/office/drawing/2014/main" id="{86DB5B3D-83F9-41AD-A39B-A6D9DEFB6951}"/>
              </a:ext>
            </a:extLst>
          </p:cNvPr>
          <p:cNvSpPr txBox="1">
            <a:spLocks/>
          </p:cNvSpPr>
          <p:nvPr/>
        </p:nvSpPr>
        <p:spPr>
          <a:xfrm>
            <a:off x="1614938" y="4622119"/>
            <a:ext cx="8953113" cy="1439518"/>
          </a:xfrm>
          <a:prstGeom prst="rect">
            <a:avLst/>
          </a:prstGeom>
          <a:solidFill>
            <a:schemeClr val="bg1">
              <a:lumMod val="95000"/>
            </a:schemeClr>
          </a:solidFill>
          <a:effectLst>
            <a:outerShdw blurRad="50800" dist="38100" dir="2700000" algn="tl" rotWithShape="0">
              <a:prstClr val="black">
                <a:alpha val="40000"/>
              </a:prstClr>
            </a:outerShdw>
          </a:effectLst>
        </p:spPr>
        <p:txBody>
          <a:bodyPr/>
          <a:lstStyle>
            <a:lvl1pPr marL="180975" indent="-180975" algn="l" defTabSz="457200" rtl="0" eaLnBrk="1" latinLnBrk="0" hangingPunct="1">
              <a:spcBef>
                <a:spcPct val="20000"/>
              </a:spcBef>
              <a:buFont typeface="Wingdings" charset="2"/>
              <a:buChar char="§"/>
              <a:defRPr sz="1200" kern="1200" baseline="0">
                <a:solidFill>
                  <a:schemeClr val="tx1"/>
                </a:solidFill>
                <a:latin typeface="+mn-lt"/>
                <a:ea typeface="+mn-ea"/>
                <a:cs typeface="+mn-cs"/>
              </a:defRPr>
            </a:lvl1pPr>
            <a:lvl2pPr marL="447675" indent="-180975" algn="l" defTabSz="457200" rtl="0" eaLnBrk="1" latinLnBrk="0" hangingPunct="1">
              <a:spcBef>
                <a:spcPct val="20000"/>
              </a:spcBef>
              <a:buFont typeface="Arial"/>
              <a:buChar char="–"/>
              <a:defRPr sz="1200" kern="1200">
                <a:solidFill>
                  <a:schemeClr val="tx1"/>
                </a:solidFill>
                <a:latin typeface="+mn-lt"/>
                <a:ea typeface="+mn-ea"/>
                <a:cs typeface="+mn-cs"/>
              </a:defRPr>
            </a:lvl2pPr>
            <a:lvl3pPr marL="714375" indent="-180975" algn="l" defTabSz="457200" rtl="0" eaLnBrk="1" latinLnBrk="0" hangingPunct="1">
              <a:spcBef>
                <a:spcPct val="20000"/>
              </a:spcBef>
              <a:buFont typeface="Lucida Grande"/>
              <a:buChar char="»"/>
              <a:defRPr sz="1200" kern="1200">
                <a:solidFill>
                  <a:schemeClr val="tx1"/>
                </a:solidFill>
                <a:latin typeface="+mn-lt"/>
                <a:ea typeface="+mn-ea"/>
                <a:cs typeface="+mn-cs"/>
              </a:defRPr>
            </a:lvl3pPr>
            <a:lvl4pPr marL="981075" indent="-169863" algn="l" defTabSz="457200" rtl="0" eaLnBrk="1" latinLnBrk="0" hangingPunct="1">
              <a:spcBef>
                <a:spcPct val="20000"/>
              </a:spcBef>
              <a:buFont typeface="Arial"/>
              <a:buChar char="–"/>
              <a:defRPr sz="1200" kern="1200">
                <a:solidFill>
                  <a:schemeClr val="tx1"/>
                </a:solidFill>
                <a:latin typeface="+mn-lt"/>
                <a:ea typeface="+mn-ea"/>
                <a:cs typeface="+mn-cs"/>
              </a:defRPr>
            </a:lvl4pPr>
            <a:lvl5pPr marL="1258888" indent="-180975" algn="l" defTabSz="457200" rtl="0" eaLnBrk="1" latinLnBrk="0" hangingPunct="1">
              <a:spcBef>
                <a:spcPct val="20000"/>
              </a:spcBef>
              <a:buFont typeface="Arial"/>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lnSpc>
                <a:spcPct val="150000"/>
              </a:lnSpc>
              <a:buNone/>
            </a:pPr>
            <a:r>
              <a:rPr lang="en-GB" sz="1400" dirty="0"/>
              <a:t>“</a:t>
            </a:r>
            <a:r>
              <a:rPr lang="en-GB" sz="1400" i="1" dirty="0"/>
              <a:t>The fundamental objective [of Basel II] has been to develop a framework that would further </a:t>
            </a:r>
          </a:p>
          <a:p>
            <a:pPr marL="0" indent="0" algn="ctr">
              <a:lnSpc>
                <a:spcPct val="150000"/>
              </a:lnSpc>
              <a:buNone/>
            </a:pPr>
            <a:r>
              <a:rPr lang="en-GB" sz="1600" b="1" i="1" dirty="0"/>
              <a:t>strengthen the soundness and stability</a:t>
            </a:r>
            <a:r>
              <a:rPr lang="en-GB" sz="1400" b="1" i="1" dirty="0"/>
              <a:t> </a:t>
            </a:r>
            <a:r>
              <a:rPr lang="en-GB" sz="1400" i="1" dirty="0"/>
              <a:t>of the international banking system while maintaining sufficient consistency that capital adequacy regulation will not be a significant source of competitive inequality among internationally active banks”</a:t>
            </a:r>
          </a:p>
        </p:txBody>
      </p:sp>
    </p:spTree>
    <p:extLst>
      <p:ext uri="{BB962C8B-B14F-4D97-AF65-F5344CB8AC3E}">
        <p14:creationId xmlns:p14="http://schemas.microsoft.com/office/powerpoint/2010/main" val="6436703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6A89C3D-B4B6-4EA3-B578-00CF18546B38}"/>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4" name="Object 3" hidden="1">
                        <a:extLst>
                          <a:ext uri="{FF2B5EF4-FFF2-40B4-BE49-F238E27FC236}">
                            <a16:creationId xmlns:a16="http://schemas.microsoft.com/office/drawing/2014/main" id="{F6A89C3D-B4B6-4EA3-B578-00CF18546B38}"/>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77DC5EE-B4C4-4986-82EB-12F1AF459334}"/>
              </a:ext>
            </a:extLst>
          </p:cNvPr>
          <p:cNvSpPr>
            <a:spLocks noGrp="1"/>
          </p:cNvSpPr>
          <p:nvPr>
            <p:ph type="title"/>
          </p:nvPr>
        </p:nvSpPr>
        <p:spPr/>
        <p:txBody>
          <a:bodyPr vert="horz">
            <a:normAutofit fontScale="90000"/>
          </a:bodyPr>
          <a:lstStyle/>
          <a:p>
            <a:r>
              <a:rPr lang="en-GB" dirty="0"/>
              <a:t>Well, the objectives were not quite achieved…</a:t>
            </a:r>
          </a:p>
        </p:txBody>
      </p:sp>
      <p:pic>
        <p:nvPicPr>
          <p:cNvPr id="8" name="Picture 7">
            <a:extLst>
              <a:ext uri="{FF2B5EF4-FFF2-40B4-BE49-F238E27FC236}">
                <a16:creationId xmlns:a16="http://schemas.microsoft.com/office/drawing/2014/main" id="{74589F15-4FA5-4EC1-AFCE-29858077E1A4}"/>
              </a:ext>
            </a:extLst>
          </p:cNvPr>
          <p:cNvPicPr>
            <a:picLocks noChangeAspect="1"/>
          </p:cNvPicPr>
          <p:nvPr/>
        </p:nvPicPr>
        <p:blipFill rotWithShape="1">
          <a:blip r:embed="rId5"/>
          <a:srcRect t="15122" b="8113"/>
          <a:stretch/>
        </p:blipFill>
        <p:spPr>
          <a:xfrm>
            <a:off x="1143000" y="1155547"/>
            <a:ext cx="9900952" cy="5702454"/>
          </a:xfrm>
          <a:prstGeom prst="rect">
            <a:avLst/>
          </a:prstGeom>
        </p:spPr>
      </p:pic>
      <p:sp>
        <p:nvSpPr>
          <p:cNvPr id="10" name="Rectangle 9">
            <a:extLst>
              <a:ext uri="{FF2B5EF4-FFF2-40B4-BE49-F238E27FC236}">
                <a16:creationId xmlns:a16="http://schemas.microsoft.com/office/drawing/2014/main" id="{FA87AD7E-5F4C-4D53-854D-705A14664267}"/>
              </a:ext>
            </a:extLst>
          </p:cNvPr>
          <p:cNvSpPr/>
          <p:nvPr/>
        </p:nvSpPr>
        <p:spPr>
          <a:xfrm rot="16200000">
            <a:off x="3243838" y="-942115"/>
            <a:ext cx="5702453" cy="9897776"/>
          </a:xfrm>
          <a:prstGeom prst="rect">
            <a:avLst/>
          </a:prstGeom>
          <a:gradFill>
            <a:gsLst>
              <a:gs pos="97000">
                <a:schemeClr val="bg1"/>
              </a:gs>
              <a:gs pos="56000">
                <a:schemeClr val="bg1">
                  <a:alpha val="53000"/>
                </a:schemeClr>
              </a:gs>
            </a:gsLst>
            <a:lin ang="0" scaled="1"/>
          </a:gradFill>
          <a:ln w="158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endParaRPr lang="en-GB" sz="1000" dirty="0">
              <a:solidFill>
                <a:srgbClr val="000000"/>
              </a:solidFill>
            </a:endParaRPr>
          </a:p>
        </p:txBody>
      </p:sp>
    </p:spTree>
    <p:extLst>
      <p:ext uri="{BB962C8B-B14F-4D97-AF65-F5344CB8AC3E}">
        <p14:creationId xmlns:p14="http://schemas.microsoft.com/office/powerpoint/2010/main" val="12239594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C69C2D3F-E609-4C3D-BDBD-55DEA13EB2B1}"/>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4" name="Object 3" hidden="1">
                        <a:extLst>
                          <a:ext uri="{FF2B5EF4-FFF2-40B4-BE49-F238E27FC236}">
                            <a16:creationId xmlns:a16="http://schemas.microsoft.com/office/drawing/2014/main" id="{C69C2D3F-E609-4C3D-BDBD-55DEA13EB2B1}"/>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BE9EFA1-8196-409B-88CE-7F5E0D79012D}"/>
              </a:ext>
            </a:extLst>
          </p:cNvPr>
          <p:cNvSpPr>
            <a:spLocks noGrp="1"/>
          </p:cNvSpPr>
          <p:nvPr>
            <p:ph type="title"/>
          </p:nvPr>
        </p:nvSpPr>
        <p:spPr/>
        <p:txBody>
          <a:bodyPr vert="horz">
            <a:normAutofit fontScale="90000"/>
          </a:bodyPr>
          <a:lstStyle/>
          <a:p>
            <a:r>
              <a:rPr lang="en-GB" dirty="0"/>
              <a:t>And Basel III arrived a lot faster than expected…</a:t>
            </a:r>
          </a:p>
        </p:txBody>
      </p:sp>
      <p:grpSp>
        <p:nvGrpSpPr>
          <p:cNvPr id="69" name="Group 68">
            <a:extLst>
              <a:ext uri="{FF2B5EF4-FFF2-40B4-BE49-F238E27FC236}">
                <a16:creationId xmlns:a16="http://schemas.microsoft.com/office/drawing/2014/main" id="{7FFA1711-F72F-44C3-AE16-62F76B881D33}"/>
              </a:ext>
            </a:extLst>
          </p:cNvPr>
          <p:cNvGrpSpPr/>
          <p:nvPr/>
        </p:nvGrpSpPr>
        <p:grpSpPr>
          <a:xfrm>
            <a:off x="2244705" y="1302462"/>
            <a:ext cx="8111391" cy="2400646"/>
            <a:chOff x="1101704" y="1302462"/>
            <a:chExt cx="8111391" cy="2400646"/>
          </a:xfrm>
        </p:grpSpPr>
        <p:cxnSp>
          <p:nvCxnSpPr>
            <p:cNvPr id="8" name="Straight Arrow Connector 7">
              <a:extLst>
                <a:ext uri="{FF2B5EF4-FFF2-40B4-BE49-F238E27FC236}">
                  <a16:creationId xmlns:a16="http://schemas.microsoft.com/office/drawing/2014/main" id="{F0388126-9C8A-43AF-A69E-C27CC7EF4763}"/>
                </a:ext>
              </a:extLst>
            </p:cNvPr>
            <p:cNvCxnSpPr/>
            <p:nvPr/>
          </p:nvCxnSpPr>
          <p:spPr>
            <a:xfrm>
              <a:off x="1125752" y="1839810"/>
              <a:ext cx="7678545" cy="0"/>
            </a:xfrm>
            <a:prstGeom prst="straightConnector1">
              <a:avLst/>
            </a:prstGeom>
            <a:noFill/>
            <a:ln w="15875" cap="flat" cmpd="sng" algn="ctr">
              <a:solidFill>
                <a:srgbClr val="13245A"/>
              </a:solidFill>
              <a:prstDash val="solid"/>
              <a:tailEnd type="arrow"/>
            </a:ln>
            <a:effectLst/>
          </p:spPr>
        </p:cxnSp>
        <p:sp>
          <p:nvSpPr>
            <p:cNvPr id="9" name="TextBox 8">
              <a:extLst>
                <a:ext uri="{FF2B5EF4-FFF2-40B4-BE49-F238E27FC236}">
                  <a16:creationId xmlns:a16="http://schemas.microsoft.com/office/drawing/2014/main" id="{360FDEAA-3680-4A1A-AAC8-25D7299C38E5}"/>
                </a:ext>
              </a:extLst>
            </p:cNvPr>
            <p:cNvSpPr txBox="1"/>
            <p:nvPr/>
          </p:nvSpPr>
          <p:spPr>
            <a:xfrm>
              <a:off x="1125752" y="1626288"/>
              <a:ext cx="496696" cy="331130"/>
            </a:xfrm>
            <a:prstGeom prst="rect">
              <a:avLst/>
            </a:prstGeom>
            <a:noFill/>
          </p:spPr>
          <p:txBody>
            <a:bodyPr wrap="square" rtlCol="0">
              <a:noAutofit/>
            </a:bodyPr>
            <a:lstStyle/>
            <a:p>
              <a:pPr algn="ctr" defTabSz="371475"/>
              <a:r>
                <a:rPr lang="en-GB" sz="731" dirty="0">
                  <a:solidFill>
                    <a:prstClr val="black"/>
                  </a:solidFill>
                  <a:latin typeface="Trebuchet MS"/>
                  <a:cs typeface="Trebuchet MS"/>
                </a:rPr>
                <a:t>2009</a:t>
              </a:r>
            </a:p>
          </p:txBody>
        </p:sp>
        <p:sp>
          <p:nvSpPr>
            <p:cNvPr id="10" name="TextBox 9">
              <a:extLst>
                <a:ext uri="{FF2B5EF4-FFF2-40B4-BE49-F238E27FC236}">
                  <a16:creationId xmlns:a16="http://schemas.microsoft.com/office/drawing/2014/main" id="{740CCFCB-966E-4BF2-BD76-CB40C310D215}"/>
                </a:ext>
              </a:extLst>
            </p:cNvPr>
            <p:cNvSpPr txBox="1"/>
            <p:nvPr/>
          </p:nvSpPr>
          <p:spPr>
            <a:xfrm>
              <a:off x="1702841" y="1626288"/>
              <a:ext cx="496696" cy="331130"/>
            </a:xfrm>
            <a:prstGeom prst="rect">
              <a:avLst/>
            </a:prstGeom>
            <a:noFill/>
          </p:spPr>
          <p:txBody>
            <a:bodyPr wrap="square" rtlCol="0">
              <a:noAutofit/>
            </a:bodyPr>
            <a:lstStyle/>
            <a:p>
              <a:pPr algn="ctr" defTabSz="371475"/>
              <a:r>
                <a:rPr lang="en-GB" sz="731" dirty="0">
                  <a:solidFill>
                    <a:prstClr val="black"/>
                  </a:solidFill>
                  <a:latin typeface="Trebuchet MS"/>
                  <a:cs typeface="Trebuchet MS"/>
                </a:rPr>
                <a:t>2010</a:t>
              </a:r>
            </a:p>
          </p:txBody>
        </p:sp>
        <p:sp>
          <p:nvSpPr>
            <p:cNvPr id="11" name="TextBox 10">
              <a:extLst>
                <a:ext uri="{FF2B5EF4-FFF2-40B4-BE49-F238E27FC236}">
                  <a16:creationId xmlns:a16="http://schemas.microsoft.com/office/drawing/2014/main" id="{8F512880-4A6F-48EC-A7B0-167BCB27D08C}"/>
                </a:ext>
              </a:extLst>
            </p:cNvPr>
            <p:cNvSpPr txBox="1"/>
            <p:nvPr/>
          </p:nvSpPr>
          <p:spPr>
            <a:xfrm>
              <a:off x="2694478" y="1625998"/>
              <a:ext cx="496696" cy="331130"/>
            </a:xfrm>
            <a:prstGeom prst="rect">
              <a:avLst/>
            </a:prstGeom>
            <a:noFill/>
          </p:spPr>
          <p:txBody>
            <a:bodyPr wrap="square" rtlCol="0">
              <a:noAutofit/>
            </a:bodyPr>
            <a:lstStyle/>
            <a:p>
              <a:pPr algn="ctr" defTabSz="371475"/>
              <a:r>
                <a:rPr lang="en-GB" sz="731" dirty="0">
                  <a:solidFill>
                    <a:prstClr val="black"/>
                  </a:solidFill>
                  <a:latin typeface="Trebuchet MS"/>
                  <a:cs typeface="Trebuchet MS"/>
                </a:rPr>
                <a:t>2012</a:t>
              </a:r>
            </a:p>
          </p:txBody>
        </p:sp>
        <p:cxnSp>
          <p:nvCxnSpPr>
            <p:cNvPr id="12" name="Straight Connector 11">
              <a:extLst>
                <a:ext uri="{FF2B5EF4-FFF2-40B4-BE49-F238E27FC236}">
                  <a16:creationId xmlns:a16="http://schemas.microsoft.com/office/drawing/2014/main" id="{FC84471F-C13E-4DF4-AA84-AD0A39A71240}"/>
                </a:ext>
              </a:extLst>
            </p:cNvPr>
            <p:cNvCxnSpPr/>
            <p:nvPr/>
          </p:nvCxnSpPr>
          <p:spPr>
            <a:xfrm rot="5400000">
              <a:off x="1917004" y="1855966"/>
              <a:ext cx="58301" cy="0"/>
            </a:xfrm>
            <a:prstGeom prst="line">
              <a:avLst/>
            </a:prstGeom>
            <a:noFill/>
            <a:ln w="15875" cap="flat" cmpd="sng" algn="ctr">
              <a:solidFill>
                <a:srgbClr val="13245A"/>
              </a:solidFill>
              <a:prstDash val="solid"/>
            </a:ln>
            <a:effectLst/>
          </p:spPr>
        </p:cxnSp>
        <p:cxnSp>
          <p:nvCxnSpPr>
            <p:cNvPr id="13" name="Straight Connector 12">
              <a:extLst>
                <a:ext uri="{FF2B5EF4-FFF2-40B4-BE49-F238E27FC236}">
                  <a16:creationId xmlns:a16="http://schemas.microsoft.com/office/drawing/2014/main" id="{13759141-316B-4214-99AC-998F3FC5CFE3}"/>
                </a:ext>
              </a:extLst>
            </p:cNvPr>
            <p:cNvCxnSpPr/>
            <p:nvPr/>
          </p:nvCxnSpPr>
          <p:spPr>
            <a:xfrm rot="5400000">
              <a:off x="2907101" y="1854936"/>
              <a:ext cx="58301" cy="0"/>
            </a:xfrm>
            <a:prstGeom prst="line">
              <a:avLst/>
            </a:prstGeom>
            <a:noFill/>
            <a:ln w="15875" cap="flat" cmpd="sng" algn="ctr">
              <a:solidFill>
                <a:srgbClr val="13245A"/>
              </a:solidFill>
              <a:prstDash val="solid"/>
            </a:ln>
            <a:effectLst/>
          </p:spPr>
        </p:cxnSp>
        <p:cxnSp>
          <p:nvCxnSpPr>
            <p:cNvPr id="14" name="Straight Connector 13">
              <a:extLst>
                <a:ext uri="{FF2B5EF4-FFF2-40B4-BE49-F238E27FC236}">
                  <a16:creationId xmlns:a16="http://schemas.microsoft.com/office/drawing/2014/main" id="{D7302D0D-1C21-4E79-A656-4D27531528E4}"/>
                </a:ext>
              </a:extLst>
            </p:cNvPr>
            <p:cNvCxnSpPr/>
            <p:nvPr/>
          </p:nvCxnSpPr>
          <p:spPr>
            <a:xfrm rot="5400000">
              <a:off x="5007621" y="2136672"/>
              <a:ext cx="358507" cy="0"/>
            </a:xfrm>
            <a:prstGeom prst="line">
              <a:avLst/>
            </a:prstGeom>
            <a:noFill/>
            <a:ln w="15875" cap="flat" cmpd="sng" algn="ctr">
              <a:solidFill>
                <a:srgbClr val="13245A"/>
              </a:solidFill>
              <a:prstDash val="solid"/>
              <a:tailEnd type="diamond"/>
            </a:ln>
            <a:effectLst/>
          </p:spPr>
        </p:cxnSp>
        <p:sp>
          <p:nvSpPr>
            <p:cNvPr id="15" name="TextBox 14">
              <a:extLst>
                <a:ext uri="{FF2B5EF4-FFF2-40B4-BE49-F238E27FC236}">
                  <a16:creationId xmlns:a16="http://schemas.microsoft.com/office/drawing/2014/main" id="{AA7C64AE-2CCB-4310-AFC6-AC41C189957C}"/>
                </a:ext>
              </a:extLst>
            </p:cNvPr>
            <p:cNvSpPr txBox="1"/>
            <p:nvPr/>
          </p:nvSpPr>
          <p:spPr>
            <a:xfrm>
              <a:off x="6601840" y="1626287"/>
              <a:ext cx="496696" cy="331130"/>
            </a:xfrm>
            <a:prstGeom prst="rect">
              <a:avLst/>
            </a:prstGeom>
            <a:noFill/>
          </p:spPr>
          <p:txBody>
            <a:bodyPr wrap="square" rtlCol="0">
              <a:noAutofit/>
            </a:bodyPr>
            <a:lstStyle/>
            <a:p>
              <a:pPr algn="ctr" defTabSz="371475"/>
              <a:r>
                <a:rPr lang="en-GB" sz="731" dirty="0">
                  <a:solidFill>
                    <a:prstClr val="black"/>
                  </a:solidFill>
                  <a:latin typeface="Trebuchet MS"/>
                  <a:cs typeface="Trebuchet MS"/>
                </a:rPr>
                <a:t>2019</a:t>
              </a:r>
            </a:p>
          </p:txBody>
        </p:sp>
        <p:cxnSp>
          <p:nvCxnSpPr>
            <p:cNvPr id="16" name="Straight Connector 15">
              <a:extLst>
                <a:ext uri="{FF2B5EF4-FFF2-40B4-BE49-F238E27FC236}">
                  <a16:creationId xmlns:a16="http://schemas.microsoft.com/office/drawing/2014/main" id="{3ACACDAB-576E-4A02-9363-84849B9C16A8}"/>
                </a:ext>
              </a:extLst>
            </p:cNvPr>
            <p:cNvCxnSpPr/>
            <p:nvPr/>
          </p:nvCxnSpPr>
          <p:spPr>
            <a:xfrm rot="5400000">
              <a:off x="6812776" y="1855966"/>
              <a:ext cx="58301" cy="0"/>
            </a:xfrm>
            <a:prstGeom prst="line">
              <a:avLst/>
            </a:prstGeom>
            <a:noFill/>
            <a:ln w="15875" cap="flat" cmpd="sng" algn="ctr">
              <a:solidFill>
                <a:srgbClr val="13245A"/>
              </a:solidFill>
              <a:prstDash val="solid"/>
            </a:ln>
            <a:effectLst/>
          </p:spPr>
        </p:cxnSp>
        <p:sp>
          <p:nvSpPr>
            <p:cNvPr id="17" name="TextBox 16">
              <a:extLst>
                <a:ext uri="{FF2B5EF4-FFF2-40B4-BE49-F238E27FC236}">
                  <a16:creationId xmlns:a16="http://schemas.microsoft.com/office/drawing/2014/main" id="{8AB1AA3B-8E38-48FC-96AE-5FB909EC1248}"/>
                </a:ext>
              </a:extLst>
            </p:cNvPr>
            <p:cNvSpPr txBox="1"/>
            <p:nvPr/>
          </p:nvSpPr>
          <p:spPr>
            <a:xfrm>
              <a:off x="1514464" y="3083939"/>
              <a:ext cx="876351" cy="358507"/>
            </a:xfrm>
            <a:prstGeom prst="rect">
              <a:avLst/>
            </a:prstGeom>
            <a:noFill/>
          </p:spPr>
          <p:txBody>
            <a:bodyPr wrap="square" lIns="36000" rIns="36000" rtlCol="0">
              <a:noAutofit/>
            </a:bodyPr>
            <a:lstStyle/>
            <a:p>
              <a:pPr algn="ctr" defTabSz="371475">
                <a:defRPr/>
              </a:pPr>
              <a:r>
                <a:rPr lang="en-GB" sz="800" kern="0" dirty="0">
                  <a:solidFill>
                    <a:prstClr val="black"/>
                  </a:solidFill>
                  <a:latin typeface="Trebuchet MS"/>
                  <a:cs typeface="Trebuchet MS"/>
                </a:rPr>
                <a:t>Basel III final publication</a:t>
              </a:r>
            </a:p>
          </p:txBody>
        </p:sp>
        <p:cxnSp>
          <p:nvCxnSpPr>
            <p:cNvPr id="18" name="Straight Connector 17">
              <a:extLst>
                <a:ext uri="{FF2B5EF4-FFF2-40B4-BE49-F238E27FC236}">
                  <a16:creationId xmlns:a16="http://schemas.microsoft.com/office/drawing/2014/main" id="{8175031F-9035-4AED-9960-D3AAD1771983}"/>
                </a:ext>
              </a:extLst>
            </p:cNvPr>
            <p:cNvCxnSpPr>
              <a:cxnSpLocks/>
            </p:cNvCxnSpPr>
            <p:nvPr/>
          </p:nvCxnSpPr>
          <p:spPr>
            <a:xfrm>
              <a:off x="1946155" y="1957418"/>
              <a:ext cx="0" cy="1006914"/>
            </a:xfrm>
            <a:prstGeom prst="line">
              <a:avLst/>
            </a:prstGeom>
            <a:noFill/>
            <a:ln w="15875" cap="flat" cmpd="sng" algn="ctr">
              <a:solidFill>
                <a:srgbClr val="13245A"/>
              </a:solidFill>
              <a:prstDash val="solid"/>
              <a:tailEnd type="diamond"/>
            </a:ln>
            <a:effectLst/>
          </p:spPr>
        </p:cxnSp>
        <p:sp>
          <p:nvSpPr>
            <p:cNvPr id="19" name="TextBox 18">
              <a:extLst>
                <a:ext uri="{FF2B5EF4-FFF2-40B4-BE49-F238E27FC236}">
                  <a16:creationId xmlns:a16="http://schemas.microsoft.com/office/drawing/2014/main" id="{6306E208-1E3A-43DC-8AEE-F6ACC507A0C9}"/>
                </a:ext>
              </a:extLst>
            </p:cNvPr>
            <p:cNvSpPr txBox="1"/>
            <p:nvPr/>
          </p:nvSpPr>
          <p:spPr>
            <a:xfrm>
              <a:off x="1101704" y="2451166"/>
              <a:ext cx="836517" cy="513164"/>
            </a:xfrm>
            <a:prstGeom prst="rect">
              <a:avLst/>
            </a:prstGeom>
            <a:noFill/>
          </p:spPr>
          <p:txBody>
            <a:bodyPr wrap="square" lIns="36000" rIns="36000" rtlCol="0">
              <a:noAutofit/>
            </a:bodyPr>
            <a:lstStyle/>
            <a:p>
              <a:pPr algn="ctr" defTabSz="371475">
                <a:defRPr/>
              </a:pPr>
              <a:r>
                <a:rPr lang="en-GB" sz="800" kern="0" dirty="0">
                  <a:solidFill>
                    <a:prstClr val="black"/>
                  </a:solidFill>
                  <a:latin typeface="Trebuchet MS"/>
                  <a:cs typeface="Trebuchet MS"/>
                </a:rPr>
                <a:t>Market Risk revisions (Basel 2.5)</a:t>
              </a:r>
            </a:p>
          </p:txBody>
        </p:sp>
        <p:cxnSp>
          <p:nvCxnSpPr>
            <p:cNvPr id="20" name="Straight Connector 19">
              <a:extLst>
                <a:ext uri="{FF2B5EF4-FFF2-40B4-BE49-F238E27FC236}">
                  <a16:creationId xmlns:a16="http://schemas.microsoft.com/office/drawing/2014/main" id="{6182F0E7-C946-4346-B5D2-5AE6CFA1F53C}"/>
                </a:ext>
              </a:extLst>
            </p:cNvPr>
            <p:cNvCxnSpPr>
              <a:cxnSpLocks/>
            </p:cNvCxnSpPr>
            <p:nvPr/>
          </p:nvCxnSpPr>
          <p:spPr>
            <a:xfrm>
              <a:off x="1600960" y="1957418"/>
              <a:ext cx="0" cy="386616"/>
            </a:xfrm>
            <a:prstGeom prst="line">
              <a:avLst/>
            </a:prstGeom>
            <a:noFill/>
            <a:ln w="15875" cap="flat" cmpd="sng" algn="ctr">
              <a:solidFill>
                <a:srgbClr val="13245A"/>
              </a:solidFill>
              <a:prstDash val="solid"/>
              <a:tailEnd type="diamond"/>
            </a:ln>
            <a:effectLst/>
          </p:spPr>
        </p:cxnSp>
        <p:sp>
          <p:nvSpPr>
            <p:cNvPr id="21" name="TextBox 20">
              <a:extLst>
                <a:ext uri="{FF2B5EF4-FFF2-40B4-BE49-F238E27FC236}">
                  <a16:creationId xmlns:a16="http://schemas.microsoft.com/office/drawing/2014/main" id="{C005E926-0A67-4F84-9A6C-0E93CC0E7975}"/>
                </a:ext>
              </a:extLst>
            </p:cNvPr>
            <p:cNvSpPr txBox="1"/>
            <p:nvPr/>
          </p:nvSpPr>
          <p:spPr>
            <a:xfrm>
              <a:off x="4692692" y="2449764"/>
              <a:ext cx="995853" cy="358507"/>
            </a:xfrm>
            <a:prstGeom prst="rect">
              <a:avLst/>
            </a:prstGeom>
            <a:noFill/>
          </p:spPr>
          <p:txBody>
            <a:bodyPr wrap="square" lIns="36000" rIns="36000" rtlCol="0">
              <a:noAutofit/>
            </a:bodyPr>
            <a:lstStyle/>
            <a:p>
              <a:pPr algn="ctr" defTabSz="371475">
                <a:defRPr/>
              </a:pPr>
              <a:r>
                <a:rPr lang="en-GB" sz="800" kern="0" dirty="0">
                  <a:solidFill>
                    <a:prstClr val="black"/>
                  </a:solidFill>
                  <a:latin typeface="Trebuchet MS"/>
                  <a:cs typeface="Trebuchet MS"/>
                </a:rPr>
                <a:t>Minimum capital </a:t>
              </a:r>
              <a:r>
                <a:rPr lang="en-GB" sz="800" kern="0" dirty="0" err="1">
                  <a:solidFill>
                    <a:prstClr val="black"/>
                  </a:solidFill>
                  <a:latin typeface="Trebuchet MS"/>
                  <a:cs typeface="Trebuchet MS"/>
                </a:rPr>
                <a:t>reqts</a:t>
              </a:r>
              <a:r>
                <a:rPr lang="en-GB" sz="800" kern="0" dirty="0">
                  <a:solidFill>
                    <a:prstClr val="black"/>
                  </a:solidFill>
                  <a:latin typeface="Trebuchet MS"/>
                  <a:cs typeface="Trebuchet MS"/>
                </a:rPr>
                <a:t> for Market Risk introduced</a:t>
              </a:r>
            </a:p>
          </p:txBody>
        </p:sp>
        <p:sp>
          <p:nvSpPr>
            <p:cNvPr id="22" name="TextBox 21">
              <a:extLst>
                <a:ext uri="{FF2B5EF4-FFF2-40B4-BE49-F238E27FC236}">
                  <a16:creationId xmlns:a16="http://schemas.microsoft.com/office/drawing/2014/main" id="{8D84BA44-9D3A-4C97-AFBF-64BCE2B18E3D}"/>
                </a:ext>
              </a:extLst>
            </p:cNvPr>
            <p:cNvSpPr txBox="1"/>
            <p:nvPr/>
          </p:nvSpPr>
          <p:spPr>
            <a:xfrm>
              <a:off x="6074034" y="1625998"/>
              <a:ext cx="496696" cy="331130"/>
            </a:xfrm>
            <a:prstGeom prst="rect">
              <a:avLst/>
            </a:prstGeom>
            <a:noFill/>
          </p:spPr>
          <p:txBody>
            <a:bodyPr wrap="square" rtlCol="0">
              <a:noAutofit/>
            </a:bodyPr>
            <a:lstStyle/>
            <a:p>
              <a:pPr algn="ctr" defTabSz="371475"/>
              <a:r>
                <a:rPr lang="en-GB" sz="731" dirty="0">
                  <a:solidFill>
                    <a:prstClr val="black"/>
                  </a:solidFill>
                  <a:latin typeface="Trebuchet MS"/>
                  <a:cs typeface="Trebuchet MS"/>
                </a:rPr>
                <a:t>2018</a:t>
              </a:r>
            </a:p>
          </p:txBody>
        </p:sp>
        <p:cxnSp>
          <p:nvCxnSpPr>
            <p:cNvPr id="23" name="Straight Connector 22">
              <a:extLst>
                <a:ext uri="{FF2B5EF4-FFF2-40B4-BE49-F238E27FC236}">
                  <a16:creationId xmlns:a16="http://schemas.microsoft.com/office/drawing/2014/main" id="{8A3D6454-7945-435E-8128-7C8F8FA564F5}"/>
                </a:ext>
              </a:extLst>
            </p:cNvPr>
            <p:cNvCxnSpPr/>
            <p:nvPr/>
          </p:nvCxnSpPr>
          <p:spPr>
            <a:xfrm rot="5400000">
              <a:off x="6293232" y="1855966"/>
              <a:ext cx="58301" cy="0"/>
            </a:xfrm>
            <a:prstGeom prst="line">
              <a:avLst/>
            </a:prstGeom>
            <a:noFill/>
            <a:ln w="15875" cap="flat" cmpd="sng" algn="ctr">
              <a:solidFill>
                <a:srgbClr val="13245A"/>
              </a:solidFill>
              <a:prstDash val="solid"/>
            </a:ln>
            <a:effectLst/>
          </p:spPr>
        </p:cxnSp>
        <p:cxnSp>
          <p:nvCxnSpPr>
            <p:cNvPr id="24" name="Straight Connector 23">
              <a:extLst>
                <a:ext uri="{FF2B5EF4-FFF2-40B4-BE49-F238E27FC236}">
                  <a16:creationId xmlns:a16="http://schemas.microsoft.com/office/drawing/2014/main" id="{3FC80189-08C7-4B39-9915-8E8188EBAE0B}"/>
                </a:ext>
              </a:extLst>
            </p:cNvPr>
            <p:cNvCxnSpPr/>
            <p:nvPr/>
          </p:nvCxnSpPr>
          <p:spPr>
            <a:xfrm rot="5400000">
              <a:off x="6143128" y="2135535"/>
              <a:ext cx="358507" cy="0"/>
            </a:xfrm>
            <a:prstGeom prst="line">
              <a:avLst/>
            </a:prstGeom>
            <a:noFill/>
            <a:ln w="15875" cap="flat" cmpd="sng" algn="ctr">
              <a:solidFill>
                <a:srgbClr val="13245A"/>
              </a:solidFill>
              <a:prstDash val="solid"/>
              <a:tailEnd type="diamond"/>
            </a:ln>
            <a:effectLst/>
          </p:spPr>
        </p:cxnSp>
        <p:sp>
          <p:nvSpPr>
            <p:cNvPr id="25" name="TextBox 24">
              <a:extLst>
                <a:ext uri="{FF2B5EF4-FFF2-40B4-BE49-F238E27FC236}">
                  <a16:creationId xmlns:a16="http://schemas.microsoft.com/office/drawing/2014/main" id="{C25D75BA-D1AF-4901-94A4-07EFBFFA2B2E}"/>
                </a:ext>
              </a:extLst>
            </p:cNvPr>
            <p:cNvSpPr txBox="1"/>
            <p:nvPr/>
          </p:nvSpPr>
          <p:spPr>
            <a:xfrm>
              <a:off x="5795420" y="2448627"/>
              <a:ext cx="1078780" cy="358507"/>
            </a:xfrm>
            <a:prstGeom prst="rect">
              <a:avLst/>
            </a:prstGeom>
            <a:noFill/>
          </p:spPr>
          <p:txBody>
            <a:bodyPr wrap="square" lIns="36000" rIns="36000" rtlCol="0">
              <a:noAutofit/>
            </a:bodyPr>
            <a:lstStyle/>
            <a:p>
              <a:pPr algn="ctr" defTabSz="371475">
                <a:defRPr/>
              </a:pPr>
              <a:r>
                <a:rPr lang="en-GB" sz="800" kern="0" dirty="0">
                  <a:solidFill>
                    <a:prstClr val="black"/>
                  </a:solidFill>
                  <a:latin typeface="Trebuchet MS"/>
                  <a:cs typeface="Trebuchet MS"/>
                </a:rPr>
                <a:t>IRRBB implementation</a:t>
              </a:r>
            </a:p>
          </p:txBody>
        </p:sp>
        <p:sp>
          <p:nvSpPr>
            <p:cNvPr id="26" name="TextBox 25">
              <a:extLst>
                <a:ext uri="{FF2B5EF4-FFF2-40B4-BE49-F238E27FC236}">
                  <a16:creationId xmlns:a16="http://schemas.microsoft.com/office/drawing/2014/main" id="{59073530-6042-4B49-BD95-17BBECD3E0D9}"/>
                </a:ext>
              </a:extLst>
            </p:cNvPr>
            <p:cNvSpPr txBox="1"/>
            <p:nvPr/>
          </p:nvSpPr>
          <p:spPr>
            <a:xfrm>
              <a:off x="3257737" y="1625998"/>
              <a:ext cx="496696" cy="331130"/>
            </a:xfrm>
            <a:prstGeom prst="rect">
              <a:avLst/>
            </a:prstGeom>
            <a:noFill/>
          </p:spPr>
          <p:txBody>
            <a:bodyPr wrap="square" rtlCol="0">
              <a:noAutofit/>
            </a:bodyPr>
            <a:lstStyle/>
            <a:p>
              <a:pPr algn="ctr" defTabSz="371475"/>
              <a:r>
                <a:rPr lang="en-GB" sz="731" dirty="0">
                  <a:solidFill>
                    <a:prstClr val="black"/>
                  </a:solidFill>
                  <a:latin typeface="Trebuchet MS"/>
                  <a:cs typeface="Trebuchet MS"/>
                </a:rPr>
                <a:t>2013</a:t>
              </a:r>
            </a:p>
          </p:txBody>
        </p:sp>
        <p:sp>
          <p:nvSpPr>
            <p:cNvPr id="27" name="TextBox 26">
              <a:extLst>
                <a:ext uri="{FF2B5EF4-FFF2-40B4-BE49-F238E27FC236}">
                  <a16:creationId xmlns:a16="http://schemas.microsoft.com/office/drawing/2014/main" id="{09FA7945-67C5-4434-AC9E-5D60867859FD}"/>
                </a:ext>
              </a:extLst>
            </p:cNvPr>
            <p:cNvSpPr txBox="1"/>
            <p:nvPr/>
          </p:nvSpPr>
          <p:spPr>
            <a:xfrm>
              <a:off x="3820996" y="1625998"/>
              <a:ext cx="496696" cy="331130"/>
            </a:xfrm>
            <a:prstGeom prst="rect">
              <a:avLst/>
            </a:prstGeom>
            <a:noFill/>
          </p:spPr>
          <p:txBody>
            <a:bodyPr wrap="square" rtlCol="0">
              <a:noAutofit/>
            </a:bodyPr>
            <a:lstStyle/>
            <a:p>
              <a:pPr algn="ctr" defTabSz="371475"/>
              <a:r>
                <a:rPr lang="en-GB" sz="731" dirty="0">
                  <a:solidFill>
                    <a:prstClr val="black"/>
                  </a:solidFill>
                  <a:latin typeface="Trebuchet MS"/>
                  <a:cs typeface="Trebuchet MS"/>
                </a:rPr>
                <a:t>2014</a:t>
              </a:r>
            </a:p>
          </p:txBody>
        </p:sp>
        <p:sp>
          <p:nvSpPr>
            <p:cNvPr id="28" name="TextBox 27">
              <a:extLst>
                <a:ext uri="{FF2B5EF4-FFF2-40B4-BE49-F238E27FC236}">
                  <a16:creationId xmlns:a16="http://schemas.microsoft.com/office/drawing/2014/main" id="{89918206-C74A-408C-AF60-AA562C6867BF}"/>
                </a:ext>
              </a:extLst>
            </p:cNvPr>
            <p:cNvSpPr txBox="1"/>
            <p:nvPr/>
          </p:nvSpPr>
          <p:spPr>
            <a:xfrm>
              <a:off x="4384256" y="1625998"/>
              <a:ext cx="496696" cy="331130"/>
            </a:xfrm>
            <a:prstGeom prst="rect">
              <a:avLst/>
            </a:prstGeom>
            <a:noFill/>
          </p:spPr>
          <p:txBody>
            <a:bodyPr wrap="square" rtlCol="0">
              <a:noAutofit/>
            </a:bodyPr>
            <a:lstStyle/>
            <a:p>
              <a:pPr algn="ctr" defTabSz="371475"/>
              <a:r>
                <a:rPr lang="en-GB" sz="731" dirty="0">
                  <a:solidFill>
                    <a:prstClr val="black"/>
                  </a:solidFill>
                  <a:latin typeface="Trebuchet MS"/>
                  <a:cs typeface="Trebuchet MS"/>
                </a:rPr>
                <a:t>2015</a:t>
              </a:r>
            </a:p>
          </p:txBody>
        </p:sp>
        <p:sp>
          <p:nvSpPr>
            <p:cNvPr id="29" name="TextBox 28">
              <a:extLst>
                <a:ext uri="{FF2B5EF4-FFF2-40B4-BE49-F238E27FC236}">
                  <a16:creationId xmlns:a16="http://schemas.microsoft.com/office/drawing/2014/main" id="{C3D3923B-8F3B-437F-AB6A-1910D071A953}"/>
                </a:ext>
              </a:extLst>
            </p:cNvPr>
            <p:cNvSpPr txBox="1"/>
            <p:nvPr/>
          </p:nvSpPr>
          <p:spPr>
            <a:xfrm>
              <a:off x="4947514" y="1625998"/>
              <a:ext cx="496696" cy="331130"/>
            </a:xfrm>
            <a:prstGeom prst="rect">
              <a:avLst/>
            </a:prstGeom>
            <a:noFill/>
          </p:spPr>
          <p:txBody>
            <a:bodyPr wrap="square" rtlCol="0">
              <a:noAutofit/>
            </a:bodyPr>
            <a:lstStyle/>
            <a:p>
              <a:pPr algn="ctr" defTabSz="371475"/>
              <a:r>
                <a:rPr lang="en-GB" sz="731" dirty="0">
                  <a:solidFill>
                    <a:prstClr val="black"/>
                  </a:solidFill>
                  <a:latin typeface="Trebuchet MS"/>
                  <a:cs typeface="Trebuchet MS"/>
                </a:rPr>
                <a:t>2016</a:t>
              </a:r>
            </a:p>
          </p:txBody>
        </p:sp>
        <p:sp>
          <p:nvSpPr>
            <p:cNvPr id="30" name="TextBox 29">
              <a:extLst>
                <a:ext uri="{FF2B5EF4-FFF2-40B4-BE49-F238E27FC236}">
                  <a16:creationId xmlns:a16="http://schemas.microsoft.com/office/drawing/2014/main" id="{12E8E19A-5CD0-4AEF-830E-581E6F6D0FCE}"/>
                </a:ext>
              </a:extLst>
            </p:cNvPr>
            <p:cNvSpPr txBox="1"/>
            <p:nvPr/>
          </p:nvSpPr>
          <p:spPr>
            <a:xfrm>
              <a:off x="5510773" y="1625998"/>
              <a:ext cx="496696" cy="331130"/>
            </a:xfrm>
            <a:prstGeom prst="rect">
              <a:avLst/>
            </a:prstGeom>
            <a:noFill/>
          </p:spPr>
          <p:txBody>
            <a:bodyPr wrap="square" rtlCol="0">
              <a:noAutofit/>
            </a:bodyPr>
            <a:lstStyle/>
            <a:p>
              <a:pPr algn="ctr" defTabSz="371475"/>
              <a:r>
                <a:rPr lang="en-GB" sz="731" dirty="0">
                  <a:solidFill>
                    <a:prstClr val="black"/>
                  </a:solidFill>
                  <a:latin typeface="Trebuchet MS"/>
                  <a:cs typeface="Trebuchet MS"/>
                </a:rPr>
                <a:t>2017</a:t>
              </a:r>
            </a:p>
          </p:txBody>
        </p:sp>
        <p:cxnSp>
          <p:nvCxnSpPr>
            <p:cNvPr id="31" name="Straight Connector 30">
              <a:extLst>
                <a:ext uri="{FF2B5EF4-FFF2-40B4-BE49-F238E27FC236}">
                  <a16:creationId xmlns:a16="http://schemas.microsoft.com/office/drawing/2014/main" id="{57C9D033-5099-4EFD-B389-9FD362BCA667}"/>
                </a:ext>
              </a:extLst>
            </p:cNvPr>
            <p:cNvCxnSpPr/>
            <p:nvPr/>
          </p:nvCxnSpPr>
          <p:spPr>
            <a:xfrm rot="5400000">
              <a:off x="2907101" y="1854936"/>
              <a:ext cx="58301" cy="0"/>
            </a:xfrm>
            <a:prstGeom prst="line">
              <a:avLst/>
            </a:prstGeom>
            <a:noFill/>
            <a:ln w="15875" cap="flat" cmpd="sng" algn="ctr">
              <a:solidFill>
                <a:srgbClr val="13245A"/>
              </a:solidFill>
              <a:prstDash val="solid"/>
            </a:ln>
            <a:effectLst/>
          </p:spPr>
        </p:cxnSp>
        <p:cxnSp>
          <p:nvCxnSpPr>
            <p:cNvPr id="32" name="Straight Connector 31">
              <a:extLst>
                <a:ext uri="{FF2B5EF4-FFF2-40B4-BE49-F238E27FC236}">
                  <a16:creationId xmlns:a16="http://schemas.microsoft.com/office/drawing/2014/main" id="{4FE72F6B-7A39-4099-BC85-BA40654C03E0}"/>
                </a:ext>
              </a:extLst>
            </p:cNvPr>
            <p:cNvCxnSpPr/>
            <p:nvPr/>
          </p:nvCxnSpPr>
          <p:spPr>
            <a:xfrm rot="5400000">
              <a:off x="6293231" y="1854936"/>
              <a:ext cx="58301" cy="0"/>
            </a:xfrm>
            <a:prstGeom prst="line">
              <a:avLst/>
            </a:prstGeom>
            <a:noFill/>
            <a:ln w="15875" cap="flat" cmpd="sng" algn="ctr">
              <a:solidFill>
                <a:srgbClr val="13245A"/>
              </a:solidFill>
              <a:prstDash val="solid"/>
            </a:ln>
            <a:effectLst/>
          </p:spPr>
        </p:cxnSp>
        <p:cxnSp>
          <p:nvCxnSpPr>
            <p:cNvPr id="33" name="Straight Connector 32">
              <a:extLst>
                <a:ext uri="{FF2B5EF4-FFF2-40B4-BE49-F238E27FC236}">
                  <a16:creationId xmlns:a16="http://schemas.microsoft.com/office/drawing/2014/main" id="{FAFE6367-ECDC-46F5-9E23-E4676A760AEB}"/>
                </a:ext>
              </a:extLst>
            </p:cNvPr>
            <p:cNvCxnSpPr/>
            <p:nvPr/>
          </p:nvCxnSpPr>
          <p:spPr>
            <a:xfrm rot="5400000">
              <a:off x="3471456" y="1854936"/>
              <a:ext cx="58301" cy="0"/>
            </a:xfrm>
            <a:prstGeom prst="line">
              <a:avLst/>
            </a:prstGeom>
            <a:noFill/>
            <a:ln w="15875" cap="flat" cmpd="sng" algn="ctr">
              <a:solidFill>
                <a:srgbClr val="13245A"/>
              </a:solidFill>
              <a:prstDash val="solid"/>
            </a:ln>
            <a:effectLst/>
          </p:spPr>
        </p:cxnSp>
        <p:cxnSp>
          <p:nvCxnSpPr>
            <p:cNvPr id="34" name="Straight Connector 33">
              <a:extLst>
                <a:ext uri="{FF2B5EF4-FFF2-40B4-BE49-F238E27FC236}">
                  <a16:creationId xmlns:a16="http://schemas.microsoft.com/office/drawing/2014/main" id="{3ABA94EC-AAFE-408B-BE79-D6677254C1DC}"/>
                </a:ext>
              </a:extLst>
            </p:cNvPr>
            <p:cNvCxnSpPr/>
            <p:nvPr/>
          </p:nvCxnSpPr>
          <p:spPr>
            <a:xfrm rot="5400000">
              <a:off x="4035811" y="1854936"/>
              <a:ext cx="58301" cy="0"/>
            </a:xfrm>
            <a:prstGeom prst="line">
              <a:avLst/>
            </a:prstGeom>
            <a:noFill/>
            <a:ln w="15875" cap="flat" cmpd="sng" algn="ctr">
              <a:solidFill>
                <a:srgbClr val="13245A"/>
              </a:solidFill>
              <a:prstDash val="solid"/>
            </a:ln>
            <a:effectLst/>
          </p:spPr>
        </p:cxnSp>
        <p:cxnSp>
          <p:nvCxnSpPr>
            <p:cNvPr id="35" name="Straight Connector 34">
              <a:extLst>
                <a:ext uri="{FF2B5EF4-FFF2-40B4-BE49-F238E27FC236}">
                  <a16:creationId xmlns:a16="http://schemas.microsoft.com/office/drawing/2014/main" id="{FC811029-F8B0-4CB9-8824-F35A9B80B652}"/>
                </a:ext>
              </a:extLst>
            </p:cNvPr>
            <p:cNvCxnSpPr/>
            <p:nvPr/>
          </p:nvCxnSpPr>
          <p:spPr>
            <a:xfrm rot="5400000">
              <a:off x="4600167" y="1854936"/>
              <a:ext cx="58301" cy="0"/>
            </a:xfrm>
            <a:prstGeom prst="line">
              <a:avLst/>
            </a:prstGeom>
            <a:noFill/>
            <a:ln w="15875" cap="flat" cmpd="sng" algn="ctr">
              <a:solidFill>
                <a:srgbClr val="13245A"/>
              </a:solidFill>
              <a:prstDash val="solid"/>
            </a:ln>
            <a:effectLst/>
          </p:spPr>
        </p:cxnSp>
        <p:cxnSp>
          <p:nvCxnSpPr>
            <p:cNvPr id="36" name="Straight Connector 35">
              <a:extLst>
                <a:ext uri="{FF2B5EF4-FFF2-40B4-BE49-F238E27FC236}">
                  <a16:creationId xmlns:a16="http://schemas.microsoft.com/office/drawing/2014/main" id="{E23A9A60-3D7B-41F9-ACED-5EB1418C5151}"/>
                </a:ext>
              </a:extLst>
            </p:cNvPr>
            <p:cNvCxnSpPr/>
            <p:nvPr/>
          </p:nvCxnSpPr>
          <p:spPr>
            <a:xfrm rot="5400000">
              <a:off x="5164522" y="1854936"/>
              <a:ext cx="58301" cy="0"/>
            </a:xfrm>
            <a:prstGeom prst="line">
              <a:avLst/>
            </a:prstGeom>
            <a:noFill/>
            <a:ln w="15875" cap="flat" cmpd="sng" algn="ctr">
              <a:solidFill>
                <a:srgbClr val="13245A"/>
              </a:solidFill>
              <a:prstDash val="solid"/>
            </a:ln>
            <a:effectLst/>
          </p:spPr>
        </p:cxnSp>
        <p:cxnSp>
          <p:nvCxnSpPr>
            <p:cNvPr id="37" name="Straight Connector 36">
              <a:extLst>
                <a:ext uri="{FF2B5EF4-FFF2-40B4-BE49-F238E27FC236}">
                  <a16:creationId xmlns:a16="http://schemas.microsoft.com/office/drawing/2014/main" id="{C76EB2C9-7FD8-4ECD-B97C-20AD7F10145C}"/>
                </a:ext>
              </a:extLst>
            </p:cNvPr>
            <p:cNvCxnSpPr/>
            <p:nvPr/>
          </p:nvCxnSpPr>
          <p:spPr>
            <a:xfrm rot="5400000">
              <a:off x="5728879" y="1854936"/>
              <a:ext cx="58301" cy="0"/>
            </a:xfrm>
            <a:prstGeom prst="line">
              <a:avLst/>
            </a:prstGeom>
            <a:noFill/>
            <a:ln w="15875" cap="flat" cmpd="sng" algn="ctr">
              <a:solidFill>
                <a:srgbClr val="13245A"/>
              </a:solidFill>
              <a:prstDash val="solid"/>
            </a:ln>
            <a:effectLst/>
          </p:spPr>
        </p:cxnSp>
        <p:sp>
          <p:nvSpPr>
            <p:cNvPr id="38" name="TextBox 37">
              <a:extLst>
                <a:ext uri="{FF2B5EF4-FFF2-40B4-BE49-F238E27FC236}">
                  <a16:creationId xmlns:a16="http://schemas.microsoft.com/office/drawing/2014/main" id="{42471CD0-08F0-4FB0-AF5B-9388C32DF43D}"/>
                </a:ext>
              </a:extLst>
            </p:cNvPr>
            <p:cNvSpPr txBox="1"/>
            <p:nvPr/>
          </p:nvSpPr>
          <p:spPr>
            <a:xfrm>
              <a:off x="2223263" y="1625998"/>
              <a:ext cx="496696" cy="331130"/>
            </a:xfrm>
            <a:prstGeom prst="rect">
              <a:avLst/>
            </a:prstGeom>
            <a:noFill/>
          </p:spPr>
          <p:txBody>
            <a:bodyPr wrap="square" rtlCol="0">
              <a:noAutofit/>
            </a:bodyPr>
            <a:lstStyle/>
            <a:p>
              <a:pPr algn="ctr" defTabSz="371475"/>
              <a:r>
                <a:rPr lang="en-GB" sz="731" dirty="0">
                  <a:solidFill>
                    <a:prstClr val="black"/>
                  </a:solidFill>
                  <a:latin typeface="Trebuchet MS"/>
                  <a:cs typeface="Trebuchet MS"/>
                </a:rPr>
                <a:t>2011</a:t>
              </a:r>
            </a:p>
          </p:txBody>
        </p:sp>
        <p:cxnSp>
          <p:nvCxnSpPr>
            <p:cNvPr id="39" name="Straight Connector 38">
              <a:extLst>
                <a:ext uri="{FF2B5EF4-FFF2-40B4-BE49-F238E27FC236}">
                  <a16:creationId xmlns:a16="http://schemas.microsoft.com/office/drawing/2014/main" id="{160905E0-DF9B-4D89-9A0F-A88C69D80445}"/>
                </a:ext>
              </a:extLst>
            </p:cNvPr>
            <p:cNvCxnSpPr/>
            <p:nvPr/>
          </p:nvCxnSpPr>
          <p:spPr>
            <a:xfrm rot="5400000">
              <a:off x="2437428" y="1855674"/>
              <a:ext cx="58301" cy="0"/>
            </a:xfrm>
            <a:prstGeom prst="line">
              <a:avLst/>
            </a:prstGeom>
            <a:noFill/>
            <a:ln w="15875" cap="flat" cmpd="sng" algn="ctr">
              <a:solidFill>
                <a:srgbClr val="13245A"/>
              </a:solidFill>
              <a:prstDash val="solid"/>
            </a:ln>
            <a:effectLst/>
          </p:spPr>
        </p:cxnSp>
        <p:cxnSp>
          <p:nvCxnSpPr>
            <p:cNvPr id="40" name="Straight Connector 39">
              <a:extLst>
                <a:ext uri="{FF2B5EF4-FFF2-40B4-BE49-F238E27FC236}">
                  <a16:creationId xmlns:a16="http://schemas.microsoft.com/office/drawing/2014/main" id="{CCDAFC4F-2744-4234-A551-361B26C57890}"/>
                </a:ext>
              </a:extLst>
            </p:cNvPr>
            <p:cNvCxnSpPr/>
            <p:nvPr/>
          </p:nvCxnSpPr>
          <p:spPr>
            <a:xfrm rot="5400000">
              <a:off x="3879901" y="2164778"/>
              <a:ext cx="358507" cy="0"/>
            </a:xfrm>
            <a:prstGeom prst="line">
              <a:avLst/>
            </a:prstGeom>
            <a:noFill/>
            <a:ln w="15875" cap="flat" cmpd="sng" algn="ctr">
              <a:solidFill>
                <a:srgbClr val="13245A"/>
              </a:solidFill>
              <a:prstDash val="solid"/>
              <a:tailEnd type="diamond"/>
            </a:ln>
            <a:effectLst/>
          </p:spPr>
        </p:cxnSp>
        <p:sp>
          <p:nvSpPr>
            <p:cNvPr id="41" name="TextBox 40">
              <a:extLst>
                <a:ext uri="{FF2B5EF4-FFF2-40B4-BE49-F238E27FC236}">
                  <a16:creationId xmlns:a16="http://schemas.microsoft.com/office/drawing/2014/main" id="{8AA3BC86-841E-4154-860D-4ED22D7EC91C}"/>
                </a:ext>
              </a:extLst>
            </p:cNvPr>
            <p:cNvSpPr txBox="1"/>
            <p:nvPr/>
          </p:nvSpPr>
          <p:spPr>
            <a:xfrm>
              <a:off x="3561228" y="2477870"/>
              <a:ext cx="995853" cy="358507"/>
            </a:xfrm>
            <a:prstGeom prst="rect">
              <a:avLst/>
            </a:prstGeom>
            <a:noFill/>
          </p:spPr>
          <p:txBody>
            <a:bodyPr wrap="square" lIns="36000" rIns="36000" rtlCol="0">
              <a:noAutofit/>
            </a:bodyPr>
            <a:lstStyle/>
            <a:p>
              <a:pPr algn="ctr" defTabSz="371475">
                <a:defRPr/>
              </a:pPr>
              <a:r>
                <a:rPr lang="en-GB" sz="800" kern="0" dirty="0" err="1">
                  <a:solidFill>
                    <a:prstClr val="black"/>
                  </a:solidFill>
                  <a:latin typeface="Trebuchet MS"/>
                  <a:cs typeface="Trebuchet MS"/>
                </a:rPr>
                <a:t>NSFR</a:t>
              </a:r>
              <a:r>
                <a:rPr lang="en-GB" sz="800" kern="0" dirty="0">
                  <a:solidFill>
                    <a:prstClr val="black"/>
                  </a:solidFill>
                  <a:latin typeface="Trebuchet MS"/>
                  <a:cs typeface="Trebuchet MS"/>
                </a:rPr>
                <a:t> final</a:t>
              </a:r>
            </a:p>
          </p:txBody>
        </p:sp>
        <p:cxnSp>
          <p:nvCxnSpPr>
            <p:cNvPr id="42" name="Straight Connector 41">
              <a:extLst>
                <a:ext uri="{FF2B5EF4-FFF2-40B4-BE49-F238E27FC236}">
                  <a16:creationId xmlns:a16="http://schemas.microsoft.com/office/drawing/2014/main" id="{ECDE5119-A3B6-42A7-AA52-E9399675347A}"/>
                </a:ext>
              </a:extLst>
            </p:cNvPr>
            <p:cNvCxnSpPr/>
            <p:nvPr/>
          </p:nvCxnSpPr>
          <p:spPr>
            <a:xfrm rot="5400000">
              <a:off x="3420937" y="2067419"/>
              <a:ext cx="159337" cy="0"/>
            </a:xfrm>
            <a:prstGeom prst="line">
              <a:avLst/>
            </a:prstGeom>
            <a:noFill/>
            <a:ln w="15875" cap="flat" cmpd="sng" algn="ctr">
              <a:solidFill>
                <a:srgbClr val="13245A"/>
              </a:solidFill>
              <a:prstDash val="solid"/>
              <a:tailEnd type="diamond"/>
            </a:ln>
            <a:effectLst/>
          </p:spPr>
        </p:cxnSp>
        <p:sp>
          <p:nvSpPr>
            <p:cNvPr id="43" name="TextBox 42">
              <a:extLst>
                <a:ext uri="{FF2B5EF4-FFF2-40B4-BE49-F238E27FC236}">
                  <a16:creationId xmlns:a16="http://schemas.microsoft.com/office/drawing/2014/main" id="{61B9D9A7-F496-4184-AC0E-D72CDD2C1D70}"/>
                </a:ext>
              </a:extLst>
            </p:cNvPr>
            <p:cNvSpPr txBox="1"/>
            <p:nvPr/>
          </p:nvSpPr>
          <p:spPr>
            <a:xfrm>
              <a:off x="3005515" y="2228436"/>
              <a:ext cx="995853" cy="358507"/>
            </a:xfrm>
            <a:prstGeom prst="rect">
              <a:avLst/>
            </a:prstGeom>
            <a:noFill/>
          </p:spPr>
          <p:txBody>
            <a:bodyPr wrap="square" lIns="36000" rIns="36000" rtlCol="0">
              <a:noAutofit/>
            </a:bodyPr>
            <a:lstStyle/>
            <a:p>
              <a:pPr algn="ctr" defTabSz="371475">
                <a:defRPr/>
              </a:pPr>
              <a:r>
                <a:rPr lang="en-GB" sz="800" kern="0" dirty="0" err="1">
                  <a:solidFill>
                    <a:prstClr val="black"/>
                  </a:solidFill>
                  <a:latin typeface="Trebuchet MS"/>
                  <a:cs typeface="Trebuchet MS"/>
                </a:rPr>
                <a:t>LCR</a:t>
              </a:r>
              <a:r>
                <a:rPr lang="en-GB" sz="800" kern="0" dirty="0">
                  <a:solidFill>
                    <a:prstClr val="black"/>
                  </a:solidFill>
                  <a:latin typeface="Trebuchet MS"/>
                  <a:cs typeface="Trebuchet MS"/>
                </a:rPr>
                <a:t> final</a:t>
              </a:r>
            </a:p>
          </p:txBody>
        </p:sp>
        <p:sp>
          <p:nvSpPr>
            <p:cNvPr id="44" name="Chevron 2">
              <a:extLst>
                <a:ext uri="{FF2B5EF4-FFF2-40B4-BE49-F238E27FC236}">
                  <a16:creationId xmlns:a16="http://schemas.microsoft.com/office/drawing/2014/main" id="{F2D51D9B-7DCF-4DFA-A5FE-8C3702C242D1}"/>
                </a:ext>
              </a:extLst>
            </p:cNvPr>
            <p:cNvSpPr/>
            <p:nvPr/>
          </p:nvSpPr>
          <p:spPr>
            <a:xfrm>
              <a:off x="1344880" y="1302462"/>
              <a:ext cx="7459416" cy="273844"/>
            </a:xfrm>
            <a:prstGeom prst="chevron">
              <a:avLst/>
            </a:prstGeom>
            <a:solidFill>
              <a:srgbClr val="7E99AA">
                <a:lumMod val="50000"/>
              </a:srgbClr>
            </a:solidFill>
            <a:ln w="15875" cap="flat" cmpd="sng" algn="ctr">
              <a:noFill/>
              <a:prstDash val="solid"/>
            </a:ln>
            <a:effectLst/>
          </p:spPr>
          <p:txBody>
            <a:bodyPr rot="0" spcFirstLastPara="0" vertOverflow="overflow" horzOverflow="overflow" vert="horz" wrap="square" lIns="74294" tIns="37147" rIns="74294" bIns="37147" numCol="1" spcCol="0" rtlCol="0" fromWordArt="0" anchor="ctr" anchorCtr="0" forceAA="0" compatLnSpc="1">
              <a:prstTxWarp prst="textNoShape">
                <a:avLst/>
              </a:prstTxWarp>
              <a:noAutofit/>
            </a:bodyPr>
            <a:lstStyle/>
            <a:p>
              <a:pPr algn="ctr" defTabSz="371475"/>
              <a:r>
                <a:rPr lang="en-GB" sz="1300" b="1" kern="0" dirty="0">
                  <a:solidFill>
                    <a:srgbClr val="FFFFFF"/>
                  </a:solidFill>
                  <a:latin typeface="Trebuchet MS"/>
                </a:rPr>
                <a:t>Basel III</a:t>
              </a:r>
            </a:p>
          </p:txBody>
        </p:sp>
        <p:sp>
          <p:nvSpPr>
            <p:cNvPr id="45" name="Chevron 446">
              <a:extLst>
                <a:ext uri="{FF2B5EF4-FFF2-40B4-BE49-F238E27FC236}">
                  <a16:creationId xmlns:a16="http://schemas.microsoft.com/office/drawing/2014/main" id="{6FD8F88D-5EE3-4912-A15D-90EEB0F627A9}"/>
                </a:ext>
              </a:extLst>
            </p:cNvPr>
            <p:cNvSpPr/>
            <p:nvPr/>
          </p:nvSpPr>
          <p:spPr>
            <a:xfrm>
              <a:off x="1128665" y="1307140"/>
              <a:ext cx="245434" cy="273844"/>
            </a:xfrm>
            <a:prstGeom prst="chevron">
              <a:avLst/>
            </a:prstGeom>
            <a:solidFill>
              <a:srgbClr val="7E99AA">
                <a:lumMod val="50000"/>
              </a:srgbClr>
            </a:solidFill>
            <a:ln w="15875" cap="flat" cmpd="sng" algn="ctr">
              <a:solidFill>
                <a:srgbClr val="7E99AA"/>
              </a:solidFill>
              <a:prstDash val="solid"/>
            </a:ln>
            <a:effectLst/>
          </p:spPr>
          <p:txBody>
            <a:bodyPr rot="0" spcFirstLastPara="0" vertOverflow="overflow" horzOverflow="overflow" vert="horz" wrap="square" lIns="74294" tIns="37147" rIns="74294" bIns="37147" numCol="1" spcCol="0" rtlCol="0" fromWordArt="0" anchor="ctr" anchorCtr="0" forceAA="0" compatLnSpc="1">
              <a:prstTxWarp prst="textNoShape">
                <a:avLst/>
              </a:prstTxWarp>
              <a:noAutofit/>
            </a:bodyPr>
            <a:lstStyle/>
            <a:p>
              <a:pPr algn="ctr" defTabSz="371475"/>
              <a:endParaRPr lang="en-GB" sz="1300" b="1" kern="0" dirty="0">
                <a:solidFill>
                  <a:srgbClr val="FFFFFF"/>
                </a:solidFill>
                <a:latin typeface="Trebuchet MS"/>
              </a:endParaRPr>
            </a:p>
          </p:txBody>
        </p:sp>
        <p:cxnSp>
          <p:nvCxnSpPr>
            <p:cNvPr id="46" name="Straight Connector 45">
              <a:extLst>
                <a:ext uri="{FF2B5EF4-FFF2-40B4-BE49-F238E27FC236}">
                  <a16:creationId xmlns:a16="http://schemas.microsoft.com/office/drawing/2014/main" id="{81B852F2-5DF4-4667-8880-E04BD23CE3FE}"/>
                </a:ext>
              </a:extLst>
            </p:cNvPr>
            <p:cNvCxnSpPr/>
            <p:nvPr/>
          </p:nvCxnSpPr>
          <p:spPr>
            <a:xfrm>
              <a:off x="5760225" y="1957420"/>
              <a:ext cx="0" cy="1125026"/>
            </a:xfrm>
            <a:prstGeom prst="line">
              <a:avLst/>
            </a:prstGeom>
            <a:noFill/>
            <a:ln w="15875" cap="flat" cmpd="sng" algn="ctr">
              <a:solidFill>
                <a:srgbClr val="13245A"/>
              </a:solidFill>
              <a:prstDash val="solid"/>
              <a:tailEnd type="diamond"/>
            </a:ln>
            <a:effectLst/>
          </p:spPr>
        </p:cxnSp>
        <p:sp>
          <p:nvSpPr>
            <p:cNvPr id="47" name="TextBox 46">
              <a:extLst>
                <a:ext uri="{FF2B5EF4-FFF2-40B4-BE49-F238E27FC236}">
                  <a16:creationId xmlns:a16="http://schemas.microsoft.com/office/drawing/2014/main" id="{59461924-E5A8-4A50-BEA8-1306C574522F}"/>
                </a:ext>
              </a:extLst>
            </p:cNvPr>
            <p:cNvSpPr txBox="1"/>
            <p:nvPr/>
          </p:nvSpPr>
          <p:spPr>
            <a:xfrm>
              <a:off x="5257390" y="3172357"/>
              <a:ext cx="995853" cy="358507"/>
            </a:xfrm>
            <a:prstGeom prst="rect">
              <a:avLst/>
            </a:prstGeom>
            <a:noFill/>
          </p:spPr>
          <p:txBody>
            <a:bodyPr wrap="square" lIns="36000" rIns="36000" rtlCol="0">
              <a:noAutofit/>
            </a:bodyPr>
            <a:lstStyle/>
            <a:p>
              <a:pPr algn="ctr" defTabSz="371475">
                <a:defRPr/>
              </a:pPr>
              <a:r>
                <a:rPr lang="en-GB" sz="800" kern="0" dirty="0">
                  <a:solidFill>
                    <a:prstClr val="black"/>
                  </a:solidFill>
                  <a:latin typeface="Trebuchet MS"/>
                  <a:cs typeface="Trebuchet MS"/>
                </a:rPr>
                <a:t>Finalisation of Basel III standards</a:t>
              </a:r>
            </a:p>
          </p:txBody>
        </p:sp>
        <p:grpSp>
          <p:nvGrpSpPr>
            <p:cNvPr id="48" name="Group 47">
              <a:extLst>
                <a:ext uri="{FF2B5EF4-FFF2-40B4-BE49-F238E27FC236}">
                  <a16:creationId xmlns:a16="http://schemas.microsoft.com/office/drawing/2014/main" id="{575CEAF2-05F1-4359-8CAE-86BDD520A1B8}"/>
                </a:ext>
              </a:extLst>
            </p:cNvPr>
            <p:cNvGrpSpPr/>
            <p:nvPr/>
          </p:nvGrpSpPr>
          <p:grpSpPr>
            <a:xfrm>
              <a:off x="7175875" y="1818731"/>
              <a:ext cx="34267" cy="59329"/>
              <a:chOff x="1592525" y="1883120"/>
              <a:chExt cx="30969" cy="53619"/>
            </a:xfrm>
          </p:grpSpPr>
          <p:cxnSp>
            <p:nvCxnSpPr>
              <p:cNvPr id="58" name="Straight Connector 57">
                <a:extLst>
                  <a:ext uri="{FF2B5EF4-FFF2-40B4-BE49-F238E27FC236}">
                    <a16:creationId xmlns:a16="http://schemas.microsoft.com/office/drawing/2014/main" id="{EFF37209-25A5-4FDB-ACB2-ABD33CBF7484}"/>
                  </a:ext>
                </a:extLst>
              </p:cNvPr>
              <p:cNvCxnSpPr/>
              <p:nvPr/>
            </p:nvCxnSpPr>
            <p:spPr>
              <a:xfrm rot="6600000">
                <a:off x="1566180" y="1910395"/>
                <a:ext cx="52689" cy="0"/>
              </a:xfrm>
              <a:prstGeom prst="line">
                <a:avLst/>
              </a:prstGeom>
              <a:noFill/>
              <a:ln w="15875" cap="flat" cmpd="sng" algn="ctr">
                <a:solidFill>
                  <a:srgbClr val="13245A"/>
                </a:solidFill>
                <a:prstDash val="solid"/>
              </a:ln>
              <a:effectLst/>
            </p:spPr>
          </p:cxnSp>
          <p:cxnSp>
            <p:nvCxnSpPr>
              <p:cNvPr id="59" name="Straight Connector 58">
                <a:extLst>
                  <a:ext uri="{FF2B5EF4-FFF2-40B4-BE49-F238E27FC236}">
                    <a16:creationId xmlns:a16="http://schemas.microsoft.com/office/drawing/2014/main" id="{4BA48D34-7461-4D6D-AB6C-81C0E6111FBD}"/>
                  </a:ext>
                </a:extLst>
              </p:cNvPr>
              <p:cNvCxnSpPr/>
              <p:nvPr/>
            </p:nvCxnSpPr>
            <p:spPr>
              <a:xfrm rot="6600000">
                <a:off x="1597149" y="1909465"/>
                <a:ext cx="52689" cy="0"/>
              </a:xfrm>
              <a:prstGeom prst="line">
                <a:avLst/>
              </a:prstGeom>
              <a:noFill/>
              <a:ln w="15875" cap="flat" cmpd="sng" algn="ctr">
                <a:solidFill>
                  <a:srgbClr val="13245A"/>
                </a:solidFill>
                <a:prstDash val="solid"/>
              </a:ln>
              <a:effectLst/>
            </p:spPr>
          </p:cxnSp>
        </p:grpSp>
        <p:sp>
          <p:nvSpPr>
            <p:cNvPr id="49" name="TextBox 48">
              <a:extLst>
                <a:ext uri="{FF2B5EF4-FFF2-40B4-BE49-F238E27FC236}">
                  <a16:creationId xmlns:a16="http://schemas.microsoft.com/office/drawing/2014/main" id="{77805AAB-328F-4379-A7B1-398E695688CC}"/>
                </a:ext>
              </a:extLst>
            </p:cNvPr>
            <p:cNvSpPr txBox="1"/>
            <p:nvPr/>
          </p:nvSpPr>
          <p:spPr>
            <a:xfrm>
              <a:off x="7292113" y="1626287"/>
              <a:ext cx="496696" cy="331130"/>
            </a:xfrm>
            <a:prstGeom prst="rect">
              <a:avLst/>
            </a:prstGeom>
            <a:noFill/>
          </p:spPr>
          <p:txBody>
            <a:bodyPr wrap="square" rtlCol="0">
              <a:noAutofit/>
            </a:bodyPr>
            <a:lstStyle/>
            <a:p>
              <a:pPr algn="ctr" defTabSz="371475"/>
              <a:r>
                <a:rPr lang="en-GB" sz="731" dirty="0">
                  <a:solidFill>
                    <a:prstClr val="black"/>
                  </a:solidFill>
                  <a:latin typeface="Trebuchet MS"/>
                  <a:cs typeface="Trebuchet MS"/>
                </a:rPr>
                <a:t>2022</a:t>
              </a:r>
            </a:p>
          </p:txBody>
        </p:sp>
        <p:sp>
          <p:nvSpPr>
            <p:cNvPr id="50" name="TextBox 49">
              <a:extLst>
                <a:ext uri="{FF2B5EF4-FFF2-40B4-BE49-F238E27FC236}">
                  <a16:creationId xmlns:a16="http://schemas.microsoft.com/office/drawing/2014/main" id="{A96032CC-A545-4EA1-B265-F8CE6D4B3EAD}"/>
                </a:ext>
              </a:extLst>
            </p:cNvPr>
            <p:cNvSpPr txBox="1"/>
            <p:nvPr/>
          </p:nvSpPr>
          <p:spPr>
            <a:xfrm>
              <a:off x="8339698" y="1625998"/>
              <a:ext cx="496696" cy="331130"/>
            </a:xfrm>
            <a:prstGeom prst="rect">
              <a:avLst/>
            </a:prstGeom>
            <a:noFill/>
          </p:spPr>
          <p:txBody>
            <a:bodyPr wrap="square" rtlCol="0">
              <a:noAutofit/>
            </a:bodyPr>
            <a:lstStyle/>
            <a:p>
              <a:pPr algn="ctr" defTabSz="371475"/>
              <a:r>
                <a:rPr lang="en-GB" sz="731" dirty="0">
                  <a:solidFill>
                    <a:prstClr val="black"/>
                  </a:solidFill>
                  <a:latin typeface="Trebuchet MS"/>
                  <a:cs typeface="Trebuchet MS"/>
                </a:rPr>
                <a:t>2027</a:t>
              </a:r>
            </a:p>
          </p:txBody>
        </p:sp>
        <p:sp>
          <p:nvSpPr>
            <p:cNvPr id="51" name="TextBox 50">
              <a:extLst>
                <a:ext uri="{FF2B5EF4-FFF2-40B4-BE49-F238E27FC236}">
                  <a16:creationId xmlns:a16="http://schemas.microsoft.com/office/drawing/2014/main" id="{F0F5523B-5BC0-423D-90A6-F1DF19092875}"/>
                </a:ext>
              </a:extLst>
            </p:cNvPr>
            <p:cNvSpPr txBox="1"/>
            <p:nvPr/>
          </p:nvSpPr>
          <p:spPr>
            <a:xfrm>
              <a:off x="7966935" y="3260524"/>
              <a:ext cx="1246160" cy="442584"/>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ysDash"/>
            </a:ln>
            <a:effectLst/>
          </p:spPr>
          <p:txBody>
            <a:bodyPr wrap="square" rtlCol="0" anchor="ctr">
              <a:noAutofit/>
            </a:bodyPr>
            <a:lstStyle/>
            <a:p>
              <a:pPr algn="ctr" defTabSz="371475">
                <a:defRPr/>
              </a:pPr>
              <a:r>
                <a:rPr lang="en-GB" sz="650" b="1" kern="0" dirty="0">
                  <a:solidFill>
                    <a:prstClr val="black"/>
                  </a:solidFill>
                  <a:latin typeface="Trebuchet MS"/>
                  <a:cs typeface="Trebuchet MS"/>
                </a:rPr>
                <a:t>End of Basel III roll out timeline </a:t>
              </a:r>
              <a:r>
                <a:rPr lang="en-GB" sz="650" b="1" kern="0" dirty="0" err="1">
                  <a:solidFill>
                    <a:prstClr val="black"/>
                  </a:solidFill>
                  <a:latin typeface="Trebuchet MS"/>
                  <a:cs typeface="Trebuchet MS"/>
                </a:rPr>
                <a:t>incl</a:t>
              </a:r>
              <a:r>
                <a:rPr lang="en-GB" sz="650" b="1" kern="0" dirty="0">
                  <a:solidFill>
                    <a:prstClr val="black"/>
                  </a:solidFill>
                  <a:latin typeface="Trebuchet MS"/>
                  <a:cs typeface="Trebuchet MS"/>
                </a:rPr>
                <a:t> Output floors</a:t>
              </a:r>
            </a:p>
          </p:txBody>
        </p:sp>
        <p:cxnSp>
          <p:nvCxnSpPr>
            <p:cNvPr id="52" name="Straight Connector 51">
              <a:extLst>
                <a:ext uri="{FF2B5EF4-FFF2-40B4-BE49-F238E27FC236}">
                  <a16:creationId xmlns:a16="http://schemas.microsoft.com/office/drawing/2014/main" id="{175612AA-4CFB-4352-A62D-C3F5BDE574B7}"/>
                </a:ext>
              </a:extLst>
            </p:cNvPr>
            <p:cNvCxnSpPr/>
            <p:nvPr/>
          </p:nvCxnSpPr>
          <p:spPr>
            <a:xfrm rot="5400000">
              <a:off x="7981181" y="2552646"/>
              <a:ext cx="1195024" cy="0"/>
            </a:xfrm>
            <a:prstGeom prst="line">
              <a:avLst/>
            </a:prstGeom>
            <a:noFill/>
            <a:ln w="15875" cap="flat" cmpd="sng" algn="ctr">
              <a:solidFill>
                <a:srgbClr val="13245A"/>
              </a:solidFill>
              <a:prstDash val="solid"/>
              <a:tailEnd type="diamond"/>
            </a:ln>
            <a:effectLst/>
          </p:spPr>
        </p:cxnSp>
        <p:cxnSp>
          <p:nvCxnSpPr>
            <p:cNvPr id="53" name="Straight Connector 52">
              <a:extLst>
                <a:ext uri="{FF2B5EF4-FFF2-40B4-BE49-F238E27FC236}">
                  <a16:creationId xmlns:a16="http://schemas.microsoft.com/office/drawing/2014/main" id="{D46095BE-822A-4D32-8B04-625799A19C55}"/>
                </a:ext>
              </a:extLst>
            </p:cNvPr>
            <p:cNvCxnSpPr>
              <a:cxnSpLocks/>
            </p:cNvCxnSpPr>
            <p:nvPr/>
          </p:nvCxnSpPr>
          <p:spPr>
            <a:xfrm rot="5400000">
              <a:off x="8549543" y="1855966"/>
              <a:ext cx="58301" cy="0"/>
            </a:xfrm>
            <a:prstGeom prst="line">
              <a:avLst/>
            </a:prstGeom>
            <a:noFill/>
            <a:ln w="15875" cap="flat" cmpd="sng" algn="ctr">
              <a:solidFill>
                <a:srgbClr val="13245A"/>
              </a:solidFill>
              <a:prstDash val="solid"/>
            </a:ln>
            <a:effectLst/>
          </p:spPr>
        </p:cxnSp>
        <p:cxnSp>
          <p:nvCxnSpPr>
            <p:cNvPr id="54" name="Straight Connector 53">
              <a:extLst>
                <a:ext uri="{FF2B5EF4-FFF2-40B4-BE49-F238E27FC236}">
                  <a16:creationId xmlns:a16="http://schemas.microsoft.com/office/drawing/2014/main" id="{A9C53400-95F5-4E06-BE00-472339B2F353}"/>
                </a:ext>
              </a:extLst>
            </p:cNvPr>
            <p:cNvCxnSpPr/>
            <p:nvPr/>
          </p:nvCxnSpPr>
          <p:spPr>
            <a:xfrm rot="5400000">
              <a:off x="7489930" y="1855966"/>
              <a:ext cx="58301" cy="0"/>
            </a:xfrm>
            <a:prstGeom prst="line">
              <a:avLst/>
            </a:prstGeom>
            <a:noFill/>
            <a:ln w="15875" cap="flat" cmpd="sng" algn="ctr">
              <a:solidFill>
                <a:srgbClr val="13245A"/>
              </a:solidFill>
              <a:prstDash val="solid"/>
            </a:ln>
            <a:effectLst/>
          </p:spPr>
        </p:cxnSp>
        <p:cxnSp>
          <p:nvCxnSpPr>
            <p:cNvPr id="55" name="Straight Connector 54">
              <a:extLst>
                <a:ext uri="{FF2B5EF4-FFF2-40B4-BE49-F238E27FC236}">
                  <a16:creationId xmlns:a16="http://schemas.microsoft.com/office/drawing/2014/main" id="{D7A0CEB1-8E21-46D2-9EFF-120347EF59A4}"/>
                </a:ext>
              </a:extLst>
            </p:cNvPr>
            <p:cNvCxnSpPr>
              <a:cxnSpLocks/>
            </p:cNvCxnSpPr>
            <p:nvPr/>
          </p:nvCxnSpPr>
          <p:spPr>
            <a:xfrm>
              <a:off x="7521517" y="1956281"/>
              <a:ext cx="0" cy="228843"/>
            </a:xfrm>
            <a:prstGeom prst="line">
              <a:avLst/>
            </a:prstGeom>
            <a:noFill/>
            <a:ln w="15875" cap="flat" cmpd="sng" algn="ctr">
              <a:solidFill>
                <a:srgbClr val="13245A"/>
              </a:solidFill>
              <a:prstDash val="solid"/>
              <a:tailEnd type="diamond"/>
            </a:ln>
            <a:effectLst/>
          </p:spPr>
        </p:cxnSp>
        <p:sp>
          <p:nvSpPr>
            <p:cNvPr id="56" name="TextBox 55">
              <a:extLst>
                <a:ext uri="{FF2B5EF4-FFF2-40B4-BE49-F238E27FC236}">
                  <a16:creationId xmlns:a16="http://schemas.microsoft.com/office/drawing/2014/main" id="{1531BD30-4B4D-426F-9E1D-B3B07683045B}"/>
                </a:ext>
              </a:extLst>
            </p:cNvPr>
            <p:cNvSpPr txBox="1"/>
            <p:nvPr/>
          </p:nvSpPr>
          <p:spPr>
            <a:xfrm>
              <a:off x="7115901" y="2308775"/>
              <a:ext cx="814572" cy="431072"/>
            </a:xfrm>
            <a:prstGeom prst="rect">
              <a:avLst/>
            </a:prstGeom>
            <a:noFill/>
          </p:spPr>
          <p:txBody>
            <a:bodyPr wrap="square" lIns="36000" rIns="36000" rtlCol="0">
              <a:noAutofit/>
            </a:bodyPr>
            <a:lstStyle/>
            <a:p>
              <a:pPr algn="ctr" defTabSz="371475">
                <a:defRPr/>
              </a:pPr>
              <a:r>
                <a:rPr lang="en-GB" sz="800" kern="0" dirty="0">
                  <a:solidFill>
                    <a:prstClr val="black"/>
                  </a:solidFill>
                  <a:latin typeface="Trebuchet MS"/>
                  <a:cs typeface="Trebuchet MS"/>
                </a:rPr>
                <a:t>Beginning of Basel III phase in</a:t>
              </a:r>
            </a:p>
          </p:txBody>
        </p:sp>
        <p:sp>
          <p:nvSpPr>
            <p:cNvPr id="60" name="TextBox 59">
              <a:extLst>
                <a:ext uri="{FF2B5EF4-FFF2-40B4-BE49-F238E27FC236}">
                  <a16:creationId xmlns:a16="http://schemas.microsoft.com/office/drawing/2014/main" id="{359D0DBC-88CF-46EE-900B-90574544C194}"/>
                </a:ext>
              </a:extLst>
            </p:cNvPr>
            <p:cNvSpPr txBox="1"/>
            <p:nvPr/>
          </p:nvSpPr>
          <p:spPr>
            <a:xfrm>
              <a:off x="7743662" y="1625998"/>
              <a:ext cx="496696" cy="331130"/>
            </a:xfrm>
            <a:prstGeom prst="rect">
              <a:avLst/>
            </a:prstGeom>
            <a:noFill/>
          </p:spPr>
          <p:txBody>
            <a:bodyPr wrap="square" rtlCol="0">
              <a:noAutofit/>
            </a:bodyPr>
            <a:lstStyle/>
            <a:p>
              <a:pPr algn="ctr" defTabSz="371475"/>
              <a:r>
                <a:rPr lang="en-GB" sz="731" dirty="0">
                  <a:solidFill>
                    <a:prstClr val="black"/>
                  </a:solidFill>
                  <a:latin typeface="Trebuchet MS"/>
                  <a:cs typeface="Trebuchet MS"/>
                </a:rPr>
                <a:t>2023</a:t>
              </a:r>
            </a:p>
          </p:txBody>
        </p:sp>
        <p:cxnSp>
          <p:nvCxnSpPr>
            <p:cNvPr id="61" name="Straight Connector 60">
              <a:extLst>
                <a:ext uri="{FF2B5EF4-FFF2-40B4-BE49-F238E27FC236}">
                  <a16:creationId xmlns:a16="http://schemas.microsoft.com/office/drawing/2014/main" id="{5C4BB813-08BE-4426-BB4E-836B60C6D49B}"/>
                </a:ext>
              </a:extLst>
            </p:cNvPr>
            <p:cNvCxnSpPr>
              <a:cxnSpLocks/>
            </p:cNvCxnSpPr>
            <p:nvPr/>
          </p:nvCxnSpPr>
          <p:spPr>
            <a:xfrm rot="5400000">
              <a:off x="7954598" y="1855966"/>
              <a:ext cx="58301" cy="0"/>
            </a:xfrm>
            <a:prstGeom prst="line">
              <a:avLst/>
            </a:prstGeom>
            <a:noFill/>
            <a:ln w="15875" cap="flat" cmpd="sng" algn="ctr">
              <a:solidFill>
                <a:srgbClr val="13245A"/>
              </a:solidFill>
              <a:prstDash val="solid"/>
            </a:ln>
            <a:effectLst/>
          </p:spPr>
        </p:cxnSp>
        <p:cxnSp>
          <p:nvCxnSpPr>
            <p:cNvPr id="62" name="Straight Connector 61">
              <a:extLst>
                <a:ext uri="{FF2B5EF4-FFF2-40B4-BE49-F238E27FC236}">
                  <a16:creationId xmlns:a16="http://schemas.microsoft.com/office/drawing/2014/main" id="{203EB965-04C2-4986-9A09-9E52E1BA4285}"/>
                </a:ext>
              </a:extLst>
            </p:cNvPr>
            <p:cNvCxnSpPr>
              <a:cxnSpLocks/>
            </p:cNvCxnSpPr>
            <p:nvPr/>
          </p:nvCxnSpPr>
          <p:spPr>
            <a:xfrm>
              <a:off x="7983749" y="1956281"/>
              <a:ext cx="0" cy="761349"/>
            </a:xfrm>
            <a:prstGeom prst="line">
              <a:avLst/>
            </a:prstGeom>
            <a:noFill/>
            <a:ln w="15875" cap="flat" cmpd="sng" algn="ctr">
              <a:solidFill>
                <a:srgbClr val="13245A"/>
              </a:solidFill>
              <a:prstDash val="solid"/>
              <a:tailEnd type="diamond"/>
            </a:ln>
            <a:effectLst/>
          </p:spPr>
        </p:cxnSp>
        <p:sp>
          <p:nvSpPr>
            <p:cNvPr id="63" name="TextBox 62">
              <a:extLst>
                <a:ext uri="{FF2B5EF4-FFF2-40B4-BE49-F238E27FC236}">
                  <a16:creationId xmlns:a16="http://schemas.microsoft.com/office/drawing/2014/main" id="{8E919E9A-3683-4481-B904-AD60CAFACCCA}"/>
                </a:ext>
              </a:extLst>
            </p:cNvPr>
            <p:cNvSpPr txBox="1"/>
            <p:nvPr/>
          </p:nvSpPr>
          <p:spPr>
            <a:xfrm>
              <a:off x="7452620" y="2834945"/>
              <a:ext cx="1078780" cy="358507"/>
            </a:xfrm>
            <a:prstGeom prst="rect">
              <a:avLst/>
            </a:prstGeom>
            <a:noFill/>
          </p:spPr>
          <p:txBody>
            <a:bodyPr wrap="square" lIns="36000" rIns="36000" rtlCol="0">
              <a:noAutofit/>
            </a:bodyPr>
            <a:lstStyle/>
            <a:p>
              <a:pPr algn="ctr" defTabSz="371475">
                <a:defRPr/>
              </a:pPr>
              <a:r>
                <a:rPr lang="en-GB" sz="800" kern="0" dirty="0">
                  <a:solidFill>
                    <a:prstClr val="black"/>
                  </a:solidFill>
                  <a:latin typeface="Trebuchet MS"/>
                  <a:cs typeface="Trebuchet MS"/>
                </a:rPr>
                <a:t>Revised (post Covid) implementation date</a:t>
              </a:r>
            </a:p>
          </p:txBody>
        </p:sp>
        <p:sp>
          <p:nvSpPr>
            <p:cNvPr id="68" name="Oval 67">
              <a:extLst>
                <a:ext uri="{FF2B5EF4-FFF2-40B4-BE49-F238E27FC236}">
                  <a16:creationId xmlns:a16="http://schemas.microsoft.com/office/drawing/2014/main" id="{F6529B92-6481-412B-A03C-B09448AC668C}"/>
                </a:ext>
              </a:extLst>
            </p:cNvPr>
            <p:cNvSpPr/>
            <p:nvPr/>
          </p:nvSpPr>
          <p:spPr>
            <a:xfrm>
              <a:off x="7292113" y="2834945"/>
              <a:ext cx="1367788" cy="373844"/>
            </a:xfrm>
            <a:prstGeom prst="ellipse">
              <a:avLst/>
            </a:prstGeom>
            <a:noFill/>
            <a:ln w="15875">
              <a:solidFill>
                <a:schemeClr val="accent6">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endParaRPr lang="en-GB" sz="1000" dirty="0">
                <a:solidFill>
                  <a:srgbClr val="000000"/>
                </a:solidFill>
              </a:endParaRPr>
            </a:p>
          </p:txBody>
        </p:sp>
      </p:grpSp>
      <p:sp>
        <p:nvSpPr>
          <p:cNvPr id="70" name="Speech Bubble: Rectangle with Corners Rounded 69">
            <a:extLst>
              <a:ext uri="{FF2B5EF4-FFF2-40B4-BE49-F238E27FC236}">
                <a16:creationId xmlns:a16="http://schemas.microsoft.com/office/drawing/2014/main" id="{C6378064-5144-4B96-B420-81867E5D19F0}"/>
              </a:ext>
            </a:extLst>
          </p:cNvPr>
          <p:cNvSpPr/>
          <p:nvPr/>
        </p:nvSpPr>
        <p:spPr>
          <a:xfrm>
            <a:off x="4520902" y="4260028"/>
            <a:ext cx="4365761" cy="1797868"/>
          </a:xfrm>
          <a:prstGeom prst="wedgeRoundRectCallout">
            <a:avLst>
              <a:gd name="adj1" fmla="val 3562"/>
              <a:gd name="adj2" fmla="val -91277"/>
              <a:gd name="adj3" fmla="val 16667"/>
            </a:avLst>
          </a:prstGeom>
          <a:solidFill>
            <a:schemeClr val="bg1">
              <a:lumMod val="95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lnSpc>
                <a:spcPct val="150000"/>
              </a:lnSpc>
            </a:pPr>
            <a:r>
              <a:rPr lang="en-GB" sz="1400" dirty="0">
                <a:solidFill>
                  <a:srgbClr val="000000"/>
                </a:solidFill>
              </a:rPr>
              <a:t>With even further refinements in 2017, euphemistically termed ‘Basel IV’</a:t>
            </a:r>
          </a:p>
        </p:txBody>
      </p:sp>
    </p:spTree>
    <p:extLst>
      <p:ext uri="{BB962C8B-B14F-4D97-AF65-F5344CB8AC3E}">
        <p14:creationId xmlns:p14="http://schemas.microsoft.com/office/powerpoint/2010/main" val="11466089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B90198B-9BB6-4928-8223-64A49B1925EB}"/>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6B90198B-9BB6-4928-8223-64A49B1925EB}"/>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F9EACBD-079A-48E7-AE3F-594E387A9D4C}"/>
              </a:ext>
            </a:extLst>
          </p:cNvPr>
          <p:cNvSpPr>
            <a:spLocks noGrp="1"/>
          </p:cNvSpPr>
          <p:nvPr>
            <p:ph type="title"/>
          </p:nvPr>
        </p:nvSpPr>
        <p:spPr/>
        <p:txBody>
          <a:bodyPr vert="horz">
            <a:normAutofit fontScale="90000"/>
          </a:bodyPr>
          <a:lstStyle/>
          <a:p>
            <a:r>
              <a:rPr lang="en-GB" dirty="0"/>
              <a:t>Basel III is an extension, not a replacement of Basel II</a:t>
            </a:r>
          </a:p>
        </p:txBody>
      </p:sp>
      <p:sp>
        <p:nvSpPr>
          <p:cNvPr id="4" name="Arrow: Pentagon 3">
            <a:extLst>
              <a:ext uri="{FF2B5EF4-FFF2-40B4-BE49-F238E27FC236}">
                <a16:creationId xmlns:a16="http://schemas.microsoft.com/office/drawing/2014/main" id="{C1FB6C50-B518-4B74-9596-0749F1E4F304}"/>
              </a:ext>
            </a:extLst>
          </p:cNvPr>
          <p:cNvSpPr/>
          <p:nvPr/>
        </p:nvSpPr>
        <p:spPr>
          <a:xfrm>
            <a:off x="2961042" y="1295401"/>
            <a:ext cx="2543586" cy="511885"/>
          </a:xfrm>
          <a:prstGeom prst="homePlate">
            <a:avLst/>
          </a:prstGeom>
          <a:solidFill>
            <a:schemeClr val="accent2">
              <a:lumMod val="60000"/>
              <a:lumOff val="40000"/>
            </a:schemeClr>
          </a:solidFill>
          <a:ln w="28575">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r>
              <a:rPr lang="en-GB" sz="1400" b="1" dirty="0">
                <a:solidFill>
                  <a:srgbClr val="000000"/>
                </a:solidFill>
              </a:rPr>
              <a:t>Basel I</a:t>
            </a:r>
          </a:p>
        </p:txBody>
      </p:sp>
      <p:sp>
        <p:nvSpPr>
          <p:cNvPr id="14" name="Arrow: Chevron 13">
            <a:extLst>
              <a:ext uri="{FF2B5EF4-FFF2-40B4-BE49-F238E27FC236}">
                <a16:creationId xmlns:a16="http://schemas.microsoft.com/office/drawing/2014/main" id="{B5A0B9CF-1A78-4CF0-BD15-259286DFE853}"/>
              </a:ext>
            </a:extLst>
          </p:cNvPr>
          <p:cNvSpPr/>
          <p:nvPr/>
        </p:nvSpPr>
        <p:spPr>
          <a:xfrm>
            <a:off x="8048214" y="1295401"/>
            <a:ext cx="2543587" cy="511885"/>
          </a:xfrm>
          <a:prstGeom prst="chevron">
            <a:avLst/>
          </a:prstGeom>
          <a:solidFill>
            <a:schemeClr val="accent2">
              <a:lumMod val="60000"/>
              <a:lumOff val="40000"/>
            </a:schemeClr>
          </a:solidFill>
          <a:ln w="28575">
            <a:solidFill>
              <a:schemeClr val="accent2">
                <a:lumMod val="75000"/>
              </a:schemeClr>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endParaRPr lang="en-GB" sz="1400" b="1" dirty="0">
              <a:solidFill>
                <a:srgbClr val="000000"/>
              </a:solidFill>
            </a:endParaRPr>
          </a:p>
        </p:txBody>
      </p:sp>
      <p:sp>
        <p:nvSpPr>
          <p:cNvPr id="16" name="Arrow: Chevron 15">
            <a:extLst>
              <a:ext uri="{FF2B5EF4-FFF2-40B4-BE49-F238E27FC236}">
                <a16:creationId xmlns:a16="http://schemas.microsoft.com/office/drawing/2014/main" id="{472E8158-9361-4CA5-B50E-34F71A104659}"/>
              </a:ext>
            </a:extLst>
          </p:cNvPr>
          <p:cNvSpPr/>
          <p:nvPr/>
        </p:nvSpPr>
        <p:spPr>
          <a:xfrm>
            <a:off x="8048214" y="1846282"/>
            <a:ext cx="2543586" cy="511885"/>
          </a:xfrm>
          <a:prstGeom prst="chevron">
            <a:avLst/>
          </a:prstGeom>
          <a:solidFill>
            <a:schemeClr val="accent2">
              <a:lumMod val="60000"/>
              <a:lumOff val="40000"/>
            </a:schemeClr>
          </a:solidFill>
          <a:ln w="28575">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r>
              <a:rPr lang="en-GB" sz="1400" b="1" dirty="0">
                <a:solidFill>
                  <a:srgbClr val="000000"/>
                </a:solidFill>
              </a:rPr>
              <a:t>Basel III</a:t>
            </a:r>
          </a:p>
        </p:txBody>
      </p:sp>
      <p:sp>
        <p:nvSpPr>
          <p:cNvPr id="6" name="Arrow: Chevron 5">
            <a:extLst>
              <a:ext uri="{FF2B5EF4-FFF2-40B4-BE49-F238E27FC236}">
                <a16:creationId xmlns:a16="http://schemas.microsoft.com/office/drawing/2014/main" id="{7FB6788B-7DAB-429F-843F-6930F4FB99C7}"/>
              </a:ext>
            </a:extLst>
          </p:cNvPr>
          <p:cNvSpPr/>
          <p:nvPr/>
        </p:nvSpPr>
        <p:spPr>
          <a:xfrm>
            <a:off x="5504628" y="1295401"/>
            <a:ext cx="2802965" cy="511885"/>
          </a:xfrm>
          <a:prstGeom prst="chevron">
            <a:avLst/>
          </a:prstGeom>
          <a:solidFill>
            <a:schemeClr val="accent2">
              <a:lumMod val="60000"/>
              <a:lumOff val="40000"/>
            </a:schemeClr>
          </a:solidFill>
          <a:ln w="28575">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r>
              <a:rPr lang="en-GB" sz="1400" b="1" dirty="0">
                <a:solidFill>
                  <a:srgbClr val="000000"/>
                </a:solidFill>
              </a:rPr>
              <a:t>Basel II</a:t>
            </a:r>
          </a:p>
        </p:txBody>
      </p:sp>
      <p:sp>
        <p:nvSpPr>
          <p:cNvPr id="18" name="Rectangle 17">
            <a:extLst>
              <a:ext uri="{FF2B5EF4-FFF2-40B4-BE49-F238E27FC236}">
                <a16:creationId xmlns:a16="http://schemas.microsoft.com/office/drawing/2014/main" id="{A6EE377D-3C5C-453D-A7A8-2D557E412C22}"/>
              </a:ext>
            </a:extLst>
          </p:cNvPr>
          <p:cNvSpPr/>
          <p:nvPr/>
        </p:nvSpPr>
        <p:spPr>
          <a:xfrm>
            <a:off x="1609065" y="2457450"/>
            <a:ext cx="1212128" cy="1746136"/>
          </a:xfrm>
          <a:prstGeom prst="rect">
            <a:avLst/>
          </a:prstGeom>
          <a:solidFill>
            <a:schemeClr val="bg1">
              <a:lumMod val="85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r>
              <a:rPr lang="en-GB" sz="1200" b="1" dirty="0">
                <a:solidFill>
                  <a:srgbClr val="000000"/>
                </a:solidFill>
              </a:rPr>
              <a:t>Main contributions</a:t>
            </a:r>
          </a:p>
        </p:txBody>
      </p:sp>
      <p:sp>
        <p:nvSpPr>
          <p:cNvPr id="19" name="Rectangle 18">
            <a:extLst>
              <a:ext uri="{FF2B5EF4-FFF2-40B4-BE49-F238E27FC236}">
                <a16:creationId xmlns:a16="http://schemas.microsoft.com/office/drawing/2014/main" id="{08CDB6AA-9CDB-4C12-A48D-7624223E5FBB}"/>
              </a:ext>
            </a:extLst>
          </p:cNvPr>
          <p:cNvSpPr/>
          <p:nvPr/>
        </p:nvSpPr>
        <p:spPr>
          <a:xfrm>
            <a:off x="1609065" y="4311764"/>
            <a:ext cx="1212128" cy="1746136"/>
          </a:xfrm>
          <a:prstGeom prst="rect">
            <a:avLst/>
          </a:prstGeom>
          <a:solidFill>
            <a:schemeClr val="bg1">
              <a:lumMod val="85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r>
              <a:rPr lang="en-GB" sz="1200" b="1" dirty="0">
                <a:solidFill>
                  <a:srgbClr val="000000"/>
                </a:solidFill>
              </a:rPr>
              <a:t>Shortcomings</a:t>
            </a:r>
          </a:p>
        </p:txBody>
      </p:sp>
      <p:sp>
        <p:nvSpPr>
          <p:cNvPr id="22" name="Rectangle 21">
            <a:extLst>
              <a:ext uri="{FF2B5EF4-FFF2-40B4-BE49-F238E27FC236}">
                <a16:creationId xmlns:a16="http://schemas.microsoft.com/office/drawing/2014/main" id="{BED5C5E7-EC05-41CF-9F88-1C07A34F756F}"/>
              </a:ext>
            </a:extLst>
          </p:cNvPr>
          <p:cNvSpPr/>
          <p:nvPr/>
        </p:nvSpPr>
        <p:spPr>
          <a:xfrm>
            <a:off x="2961042" y="2457450"/>
            <a:ext cx="2409252" cy="1746136"/>
          </a:xfrm>
          <a:prstGeom prst="rect">
            <a:avLst/>
          </a:prstGeom>
          <a:solidFill>
            <a:schemeClr val="bg1"/>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marL="171450" indent="-171450">
              <a:buFont typeface="Wingdings" panose="05000000000000000000" pitchFamily="2" charset="2"/>
              <a:buChar char="§"/>
            </a:pPr>
            <a:r>
              <a:rPr lang="en-GB" sz="1200" dirty="0">
                <a:solidFill>
                  <a:srgbClr val="000000"/>
                </a:solidFill>
              </a:rPr>
              <a:t>First standardised capital framework for Credit and Market Risk</a:t>
            </a:r>
          </a:p>
        </p:txBody>
      </p:sp>
      <p:sp>
        <p:nvSpPr>
          <p:cNvPr id="23" name="Rectangle 22">
            <a:extLst>
              <a:ext uri="{FF2B5EF4-FFF2-40B4-BE49-F238E27FC236}">
                <a16:creationId xmlns:a16="http://schemas.microsoft.com/office/drawing/2014/main" id="{E0DD4205-A50D-4CED-9AB4-54132D550652}"/>
              </a:ext>
            </a:extLst>
          </p:cNvPr>
          <p:cNvSpPr/>
          <p:nvPr/>
        </p:nvSpPr>
        <p:spPr>
          <a:xfrm>
            <a:off x="2961042" y="4311764"/>
            <a:ext cx="2409252" cy="1746136"/>
          </a:xfrm>
          <a:prstGeom prst="rect">
            <a:avLst/>
          </a:prstGeom>
          <a:solidFill>
            <a:schemeClr val="bg1"/>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marL="171450" indent="-171450">
              <a:buFont typeface="Wingdings" panose="05000000000000000000" pitchFamily="2" charset="2"/>
              <a:buChar char="§"/>
            </a:pPr>
            <a:r>
              <a:rPr lang="en-GB" sz="1200" dirty="0">
                <a:solidFill>
                  <a:srgbClr val="000000"/>
                </a:solidFill>
              </a:rPr>
              <a:t>Limited differentiation of risk</a:t>
            </a:r>
          </a:p>
          <a:p>
            <a:pPr marL="171450" indent="-171450">
              <a:buFont typeface="Wingdings" panose="05000000000000000000" pitchFamily="2" charset="2"/>
              <a:buChar char="§"/>
            </a:pPr>
            <a:r>
              <a:rPr lang="en-GB" sz="1200" dirty="0">
                <a:solidFill>
                  <a:srgbClr val="000000"/>
                </a:solidFill>
              </a:rPr>
              <a:t>No recognition of term structure of risk</a:t>
            </a:r>
          </a:p>
          <a:p>
            <a:pPr marL="171450" indent="-171450">
              <a:buFont typeface="Wingdings" panose="05000000000000000000" pitchFamily="2" charset="2"/>
              <a:buChar char="§"/>
            </a:pPr>
            <a:r>
              <a:rPr lang="en-GB" sz="1200" dirty="0">
                <a:solidFill>
                  <a:srgbClr val="000000"/>
                </a:solidFill>
              </a:rPr>
              <a:t>Lack of recognition of portfolio diversification (and concentration) effects</a:t>
            </a:r>
          </a:p>
          <a:p>
            <a:pPr marL="171450" indent="-171450">
              <a:buFont typeface="Wingdings" panose="05000000000000000000" pitchFamily="2" charset="2"/>
              <a:buChar char="§"/>
            </a:pPr>
            <a:r>
              <a:rPr lang="en-GB" sz="1200" dirty="0">
                <a:solidFill>
                  <a:srgbClr val="000000"/>
                </a:solidFill>
              </a:rPr>
              <a:t>Inadequate treatment of securitisation structures</a:t>
            </a:r>
          </a:p>
        </p:txBody>
      </p:sp>
      <p:sp>
        <p:nvSpPr>
          <p:cNvPr id="24" name="Rectangle 23">
            <a:extLst>
              <a:ext uri="{FF2B5EF4-FFF2-40B4-BE49-F238E27FC236}">
                <a16:creationId xmlns:a16="http://schemas.microsoft.com/office/drawing/2014/main" id="{D3ACE5DC-1338-4ED7-AA18-B2ACE1C0998F}"/>
              </a:ext>
            </a:extLst>
          </p:cNvPr>
          <p:cNvSpPr/>
          <p:nvPr/>
        </p:nvSpPr>
        <p:spPr>
          <a:xfrm>
            <a:off x="5514645" y="2457450"/>
            <a:ext cx="2409252" cy="1746136"/>
          </a:xfrm>
          <a:prstGeom prst="rect">
            <a:avLst/>
          </a:prstGeom>
          <a:solidFill>
            <a:schemeClr val="bg1"/>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marL="171450" indent="-171450">
              <a:buFont typeface="Wingdings" panose="05000000000000000000" pitchFamily="2" charset="2"/>
              <a:buChar char="§"/>
            </a:pPr>
            <a:r>
              <a:rPr lang="en-GB" sz="1200" dirty="0">
                <a:solidFill>
                  <a:srgbClr val="000000"/>
                </a:solidFill>
              </a:rPr>
              <a:t>Better risk sensitivity</a:t>
            </a:r>
          </a:p>
          <a:p>
            <a:pPr marL="171450" indent="-171450">
              <a:buFont typeface="Wingdings" panose="05000000000000000000" pitchFamily="2" charset="2"/>
              <a:buChar char="§"/>
            </a:pPr>
            <a:r>
              <a:rPr lang="en-GB" sz="1200" dirty="0">
                <a:solidFill>
                  <a:srgbClr val="000000"/>
                </a:solidFill>
              </a:rPr>
              <a:t>Introduction of internal approaches for Credit Risk</a:t>
            </a:r>
          </a:p>
          <a:p>
            <a:pPr marL="171450" indent="-171450">
              <a:buFont typeface="Wingdings" panose="05000000000000000000" pitchFamily="2" charset="2"/>
              <a:buChar char="§"/>
            </a:pPr>
            <a:r>
              <a:rPr lang="en-GB" sz="1200" dirty="0">
                <a:solidFill>
                  <a:srgbClr val="000000"/>
                </a:solidFill>
              </a:rPr>
              <a:t>Explicit capital requirements for Ops risk</a:t>
            </a:r>
          </a:p>
          <a:p>
            <a:pPr marL="171450" indent="-171450">
              <a:buFont typeface="Wingdings" panose="05000000000000000000" pitchFamily="2" charset="2"/>
              <a:buChar char="§"/>
            </a:pPr>
            <a:r>
              <a:rPr lang="en-GB" sz="1200" dirty="0">
                <a:solidFill>
                  <a:srgbClr val="000000"/>
                </a:solidFill>
              </a:rPr>
              <a:t>Supervisory review (Pillar 2) &amp; public disclosures (Pillar 3)</a:t>
            </a:r>
          </a:p>
        </p:txBody>
      </p:sp>
      <p:sp>
        <p:nvSpPr>
          <p:cNvPr id="25" name="Rectangle 24">
            <a:extLst>
              <a:ext uri="{FF2B5EF4-FFF2-40B4-BE49-F238E27FC236}">
                <a16:creationId xmlns:a16="http://schemas.microsoft.com/office/drawing/2014/main" id="{B310368C-E6A3-4090-9BE5-FE27D410EE58}"/>
              </a:ext>
            </a:extLst>
          </p:cNvPr>
          <p:cNvSpPr/>
          <p:nvPr/>
        </p:nvSpPr>
        <p:spPr>
          <a:xfrm>
            <a:off x="5514645" y="4311764"/>
            <a:ext cx="2409252" cy="1746136"/>
          </a:xfrm>
          <a:prstGeom prst="rect">
            <a:avLst/>
          </a:prstGeom>
          <a:solidFill>
            <a:schemeClr val="bg1"/>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marL="171450" indent="-171450">
              <a:buFont typeface="Wingdings" panose="05000000000000000000" pitchFamily="2" charset="2"/>
              <a:buChar char="§"/>
            </a:pPr>
            <a:r>
              <a:rPr lang="en-GB" sz="1200" dirty="0">
                <a:solidFill>
                  <a:srgbClr val="000000"/>
                </a:solidFill>
              </a:rPr>
              <a:t>Insufficient quantity of capital</a:t>
            </a:r>
          </a:p>
          <a:p>
            <a:pPr marL="171450" indent="-171450">
              <a:buFont typeface="Wingdings" panose="05000000000000000000" pitchFamily="2" charset="2"/>
              <a:buChar char="§"/>
            </a:pPr>
            <a:r>
              <a:rPr lang="en-GB" sz="1200" dirty="0">
                <a:solidFill>
                  <a:srgbClr val="000000"/>
                </a:solidFill>
              </a:rPr>
              <a:t>Insufficient quality of capital</a:t>
            </a:r>
          </a:p>
          <a:p>
            <a:pPr marL="171450" indent="-171450">
              <a:buFont typeface="Wingdings" panose="05000000000000000000" pitchFamily="2" charset="2"/>
              <a:buChar char="§"/>
            </a:pPr>
            <a:r>
              <a:rPr lang="en-GB" sz="1200" dirty="0">
                <a:solidFill>
                  <a:srgbClr val="000000"/>
                </a:solidFill>
              </a:rPr>
              <a:t>Procyclical nature of capital standards</a:t>
            </a:r>
          </a:p>
          <a:p>
            <a:pPr marL="171450" indent="-171450">
              <a:buFont typeface="Wingdings" panose="05000000000000000000" pitchFamily="2" charset="2"/>
              <a:buChar char="§"/>
            </a:pPr>
            <a:r>
              <a:rPr lang="en-GB" sz="1200" dirty="0">
                <a:solidFill>
                  <a:srgbClr val="000000"/>
                </a:solidFill>
              </a:rPr>
              <a:t>Large divergence of capital requirements, even for similar portfolios</a:t>
            </a:r>
          </a:p>
        </p:txBody>
      </p:sp>
      <p:sp>
        <p:nvSpPr>
          <p:cNvPr id="26" name="Rectangle 25">
            <a:extLst>
              <a:ext uri="{FF2B5EF4-FFF2-40B4-BE49-F238E27FC236}">
                <a16:creationId xmlns:a16="http://schemas.microsoft.com/office/drawing/2014/main" id="{6806678F-34A5-4EE0-94FC-7EC365C52E68}"/>
              </a:ext>
            </a:extLst>
          </p:cNvPr>
          <p:cNvSpPr/>
          <p:nvPr/>
        </p:nvSpPr>
        <p:spPr>
          <a:xfrm>
            <a:off x="8068248" y="2457450"/>
            <a:ext cx="2409252" cy="1746136"/>
          </a:xfrm>
          <a:prstGeom prst="rect">
            <a:avLst/>
          </a:prstGeom>
          <a:solidFill>
            <a:schemeClr val="bg1"/>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marL="171450" indent="-171450">
              <a:buFont typeface="Wingdings" panose="05000000000000000000" pitchFamily="2" charset="2"/>
              <a:buChar char="§"/>
            </a:pPr>
            <a:r>
              <a:rPr lang="en-GB" sz="1200" dirty="0">
                <a:solidFill>
                  <a:srgbClr val="000000"/>
                </a:solidFill>
              </a:rPr>
              <a:t>Strengthening quantity and quality of capital</a:t>
            </a:r>
          </a:p>
          <a:p>
            <a:pPr marL="171450" indent="-171450">
              <a:buFont typeface="Wingdings" panose="05000000000000000000" pitchFamily="2" charset="2"/>
              <a:buChar char="§"/>
            </a:pPr>
            <a:r>
              <a:rPr lang="en-GB" sz="1200" dirty="0">
                <a:solidFill>
                  <a:srgbClr val="000000"/>
                </a:solidFill>
              </a:rPr>
              <a:t>Better risk coverage for Market Risk, CCR, securitisations</a:t>
            </a:r>
          </a:p>
          <a:p>
            <a:pPr marL="171450" indent="-171450">
              <a:buFont typeface="Wingdings" panose="05000000000000000000" pitchFamily="2" charset="2"/>
              <a:buChar char="§"/>
            </a:pPr>
            <a:r>
              <a:rPr lang="en-GB" sz="1200" dirty="0">
                <a:solidFill>
                  <a:srgbClr val="000000"/>
                </a:solidFill>
              </a:rPr>
              <a:t>Non-risk sensitive leverage ratio</a:t>
            </a:r>
          </a:p>
          <a:p>
            <a:pPr marL="171450" indent="-171450">
              <a:buFont typeface="Wingdings" panose="05000000000000000000" pitchFamily="2" charset="2"/>
              <a:buChar char="§"/>
            </a:pPr>
            <a:r>
              <a:rPr lang="en-GB" sz="1200" dirty="0">
                <a:solidFill>
                  <a:srgbClr val="000000"/>
                </a:solidFill>
              </a:rPr>
              <a:t>Lower reliance on internal modelling assumptions</a:t>
            </a:r>
          </a:p>
          <a:p>
            <a:pPr marL="171450" indent="-171450">
              <a:buFont typeface="Wingdings" panose="05000000000000000000" pitchFamily="2" charset="2"/>
              <a:buChar char="§"/>
            </a:pPr>
            <a:r>
              <a:rPr lang="en-GB" sz="1200" dirty="0">
                <a:solidFill>
                  <a:srgbClr val="000000"/>
                </a:solidFill>
              </a:rPr>
              <a:t>Explicit liquidity standards</a:t>
            </a:r>
          </a:p>
        </p:txBody>
      </p:sp>
      <p:sp>
        <p:nvSpPr>
          <p:cNvPr id="27" name="Rectangle 26">
            <a:extLst>
              <a:ext uri="{FF2B5EF4-FFF2-40B4-BE49-F238E27FC236}">
                <a16:creationId xmlns:a16="http://schemas.microsoft.com/office/drawing/2014/main" id="{E2CB03D7-8D13-4052-9AAB-584C817D5D6B}"/>
              </a:ext>
            </a:extLst>
          </p:cNvPr>
          <p:cNvSpPr/>
          <p:nvPr/>
        </p:nvSpPr>
        <p:spPr>
          <a:xfrm>
            <a:off x="8068248" y="4311764"/>
            <a:ext cx="2409252" cy="1746136"/>
          </a:xfrm>
          <a:prstGeom prst="rect">
            <a:avLst/>
          </a:prstGeom>
          <a:solidFill>
            <a:schemeClr val="bg1"/>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r>
              <a:rPr lang="en-GB" sz="4800" dirty="0">
                <a:solidFill>
                  <a:srgbClr val="000000"/>
                </a:solidFill>
              </a:rPr>
              <a:t>?</a:t>
            </a:r>
            <a:endParaRPr lang="en-GB" sz="1200" dirty="0">
              <a:solidFill>
                <a:srgbClr val="000000"/>
              </a:solidFill>
            </a:endParaRPr>
          </a:p>
        </p:txBody>
      </p:sp>
      <p:sp>
        <p:nvSpPr>
          <p:cNvPr id="7" name="TextBox 6">
            <a:extLst>
              <a:ext uri="{FF2B5EF4-FFF2-40B4-BE49-F238E27FC236}">
                <a16:creationId xmlns:a16="http://schemas.microsoft.com/office/drawing/2014/main" id="{1754043B-11AF-4DCC-98A5-F6A0D1667D42}"/>
              </a:ext>
            </a:extLst>
          </p:cNvPr>
          <p:cNvSpPr txBox="1"/>
          <p:nvPr/>
        </p:nvSpPr>
        <p:spPr>
          <a:xfrm>
            <a:off x="8068248" y="5056095"/>
            <a:ext cx="2409252" cy="1001806"/>
          </a:xfrm>
          <a:prstGeom prst="rect">
            <a:avLst/>
          </a:prstGeom>
          <a:noFill/>
        </p:spPr>
        <p:txBody>
          <a:bodyPr wrap="square" lIns="36000" rIns="36000" rtlCol="0">
            <a:noAutofit/>
          </a:bodyPr>
          <a:lstStyle/>
          <a:p>
            <a:pPr marL="171450" indent="-171450">
              <a:buFont typeface="Wingdings" panose="05000000000000000000" pitchFamily="2" charset="2"/>
              <a:buChar char="§"/>
            </a:pPr>
            <a:r>
              <a:rPr lang="en-GB" sz="1200" dirty="0">
                <a:cs typeface="Trebuchet MS"/>
              </a:rPr>
              <a:t>Complexity?</a:t>
            </a:r>
          </a:p>
          <a:p>
            <a:pPr marL="171450" indent="-171450">
              <a:buFont typeface="Wingdings" panose="05000000000000000000" pitchFamily="2" charset="2"/>
              <a:buChar char="§"/>
            </a:pPr>
            <a:r>
              <a:rPr lang="en-GB" sz="1200" dirty="0">
                <a:cs typeface="Trebuchet MS"/>
              </a:rPr>
              <a:t>Shifting of financial activity to non regulated sectors (shadow banking)?</a:t>
            </a:r>
          </a:p>
        </p:txBody>
      </p:sp>
    </p:spTree>
    <p:extLst>
      <p:ext uri="{BB962C8B-B14F-4D97-AF65-F5344CB8AC3E}">
        <p14:creationId xmlns:p14="http://schemas.microsoft.com/office/powerpoint/2010/main" val="28983175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Object 22" hidden="1">
            <a:extLst>
              <a:ext uri="{FF2B5EF4-FFF2-40B4-BE49-F238E27FC236}">
                <a16:creationId xmlns:a16="http://schemas.microsoft.com/office/drawing/2014/main" id="{C76248FE-33B2-4FF6-9DA6-9F62940D90ED}"/>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23" name="Object 22" hidden="1">
                        <a:extLst>
                          <a:ext uri="{FF2B5EF4-FFF2-40B4-BE49-F238E27FC236}">
                            <a16:creationId xmlns:a16="http://schemas.microsoft.com/office/drawing/2014/main" id="{C76248FE-33B2-4FF6-9DA6-9F62940D90ED}"/>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67CF521-BDE8-4D55-982A-773E1A608120}"/>
              </a:ext>
            </a:extLst>
          </p:cNvPr>
          <p:cNvSpPr>
            <a:spLocks noGrp="1"/>
          </p:cNvSpPr>
          <p:nvPr>
            <p:ph type="title"/>
          </p:nvPr>
        </p:nvSpPr>
        <p:spPr/>
        <p:txBody>
          <a:bodyPr vert="horz"/>
          <a:lstStyle/>
          <a:p>
            <a:r>
              <a:rPr lang="en-GB" dirty="0"/>
              <a:t>The core structure of Basel II and Basel III</a:t>
            </a:r>
          </a:p>
        </p:txBody>
      </p:sp>
      <p:grpSp>
        <p:nvGrpSpPr>
          <p:cNvPr id="3" name="Group 82">
            <a:extLst>
              <a:ext uri="{FF2B5EF4-FFF2-40B4-BE49-F238E27FC236}">
                <a16:creationId xmlns:a16="http://schemas.microsoft.com/office/drawing/2014/main" id="{539DB919-6024-4EB0-AABB-9EEDDE52357A}"/>
              </a:ext>
            </a:extLst>
          </p:cNvPr>
          <p:cNvGrpSpPr/>
          <p:nvPr/>
        </p:nvGrpSpPr>
        <p:grpSpPr>
          <a:xfrm>
            <a:off x="1714501" y="1295401"/>
            <a:ext cx="728207" cy="1499957"/>
            <a:chOff x="539750" y="1270000"/>
            <a:chExt cx="674664" cy="1133468"/>
          </a:xfrm>
          <a:solidFill>
            <a:schemeClr val="accent2"/>
          </a:solidFill>
        </p:grpSpPr>
        <p:sp>
          <p:nvSpPr>
            <p:cNvPr id="4" name="Rectangle 3">
              <a:extLst>
                <a:ext uri="{FF2B5EF4-FFF2-40B4-BE49-F238E27FC236}">
                  <a16:creationId xmlns:a16="http://schemas.microsoft.com/office/drawing/2014/main" id="{273417A4-9FF5-4064-B85B-C503195CF14B}"/>
                </a:ext>
              </a:extLst>
            </p:cNvPr>
            <p:cNvSpPr/>
            <p:nvPr/>
          </p:nvSpPr>
          <p:spPr>
            <a:xfrm>
              <a:off x="539750" y="1270000"/>
              <a:ext cx="674664" cy="1133468"/>
            </a:xfrm>
            <a:prstGeom prst="rect">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latin typeface="+mj-lt"/>
                <a:cs typeface="Calibri" pitchFamily="34" charset="0"/>
              </a:endParaRPr>
            </a:p>
          </p:txBody>
        </p:sp>
        <p:sp>
          <p:nvSpPr>
            <p:cNvPr id="5" name="TextBox 4">
              <a:extLst>
                <a:ext uri="{FF2B5EF4-FFF2-40B4-BE49-F238E27FC236}">
                  <a16:creationId xmlns:a16="http://schemas.microsoft.com/office/drawing/2014/main" id="{928FF316-690C-4FDE-AEDC-019BB325F294}"/>
                </a:ext>
              </a:extLst>
            </p:cNvPr>
            <p:cNvSpPr txBox="1"/>
            <p:nvPr/>
          </p:nvSpPr>
          <p:spPr>
            <a:xfrm rot="16200000">
              <a:off x="579070" y="1669910"/>
              <a:ext cx="615602" cy="342176"/>
            </a:xfrm>
            <a:prstGeom prst="rect">
              <a:avLst/>
            </a:prstGeom>
            <a:grpFill/>
          </p:spPr>
          <p:txBody>
            <a:bodyPr wrap="none" rtlCol="0">
              <a:spAutoFit/>
            </a:bodyPr>
            <a:lstStyle/>
            <a:p>
              <a:r>
                <a:rPr lang="en-GB" dirty="0">
                  <a:solidFill>
                    <a:schemeClr val="bg1"/>
                  </a:solidFill>
                  <a:latin typeface="+mj-lt"/>
                  <a:cs typeface="Calibri" pitchFamily="34" charset="0"/>
                </a:rPr>
                <a:t>Pillar 1</a:t>
              </a:r>
            </a:p>
          </p:txBody>
        </p:sp>
      </p:grpSp>
      <p:sp>
        <p:nvSpPr>
          <p:cNvPr id="6" name="Rectangle 5">
            <a:extLst>
              <a:ext uri="{FF2B5EF4-FFF2-40B4-BE49-F238E27FC236}">
                <a16:creationId xmlns:a16="http://schemas.microsoft.com/office/drawing/2014/main" id="{12FC5B23-7B28-41A7-A488-E6CBC84A580B}"/>
              </a:ext>
            </a:extLst>
          </p:cNvPr>
          <p:cNvSpPr/>
          <p:nvPr/>
        </p:nvSpPr>
        <p:spPr>
          <a:xfrm>
            <a:off x="2585834" y="1305895"/>
            <a:ext cx="7891667" cy="1478969"/>
          </a:xfrm>
          <a:prstGeom prst="rect">
            <a:avLst/>
          </a:prstGeom>
          <a:solidFill>
            <a:schemeClr val="bg1">
              <a:lumMod val="8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just">
              <a:spcBef>
                <a:spcPts val="600"/>
              </a:spcBef>
            </a:pPr>
            <a:r>
              <a:rPr lang="en-GB" sz="1400" b="1" u="sng" dirty="0">
                <a:solidFill>
                  <a:schemeClr val="tx1"/>
                </a:solidFill>
                <a:latin typeface="+mj-lt"/>
                <a:cs typeface="Calibri" pitchFamily="34" charset="0"/>
              </a:rPr>
              <a:t>MEASURE - Minimum Capital Requirements &amp; Liquidity Standards</a:t>
            </a:r>
          </a:p>
          <a:p>
            <a:pPr algn="just"/>
            <a:endParaRPr lang="en-GB" sz="400" b="1" u="sng" dirty="0">
              <a:solidFill>
                <a:schemeClr val="tx1"/>
              </a:solidFill>
              <a:latin typeface="+mj-lt"/>
              <a:cs typeface="Calibri" pitchFamily="34" charset="0"/>
            </a:endParaRPr>
          </a:p>
          <a:p>
            <a:pPr marL="174625" indent="-174625" algn="just">
              <a:spcAft>
                <a:spcPts val="600"/>
              </a:spcAft>
              <a:buSzPct val="90000"/>
              <a:buFont typeface="Wingdings" pitchFamily="2" charset="2"/>
              <a:buChar char="§"/>
            </a:pPr>
            <a:r>
              <a:rPr lang="en-GB" sz="1200" dirty="0">
                <a:solidFill>
                  <a:schemeClr val="tx1"/>
                </a:solidFill>
                <a:latin typeface="+mj-lt"/>
                <a:cs typeface="Calibri" pitchFamily="34" charset="0"/>
              </a:rPr>
              <a:t>Advanced calculation of required capital for Credit, Market &amp; Operational Risk</a:t>
            </a:r>
          </a:p>
          <a:p>
            <a:pPr marL="174625" indent="-174625" algn="just">
              <a:spcAft>
                <a:spcPts val="600"/>
              </a:spcAft>
              <a:buSzPct val="90000"/>
              <a:buFont typeface="Wingdings" pitchFamily="2" charset="2"/>
              <a:buChar char="§"/>
            </a:pPr>
            <a:r>
              <a:rPr lang="en-GB" sz="1200" dirty="0">
                <a:solidFill>
                  <a:schemeClr val="tx1"/>
                </a:solidFill>
                <a:latin typeface="+mj-lt"/>
                <a:cs typeface="Calibri" pitchFamily="34" charset="0"/>
              </a:rPr>
              <a:t>Permits selection of calculation method (subject to regulatory approval)</a:t>
            </a:r>
          </a:p>
          <a:p>
            <a:pPr marL="174625" indent="-174625" algn="just">
              <a:spcAft>
                <a:spcPts val="600"/>
              </a:spcAft>
              <a:buSzPct val="90000"/>
              <a:buFont typeface="Wingdings" pitchFamily="2" charset="2"/>
              <a:buChar char="§"/>
            </a:pPr>
            <a:r>
              <a:rPr lang="en-GB" sz="1200" dirty="0">
                <a:solidFill>
                  <a:schemeClr val="tx1"/>
                </a:solidFill>
                <a:latin typeface="+mj-lt"/>
                <a:cs typeface="Calibri" pitchFamily="34" charset="0"/>
              </a:rPr>
              <a:t>Liquidity standards (Basel III)</a:t>
            </a:r>
          </a:p>
        </p:txBody>
      </p:sp>
      <p:grpSp>
        <p:nvGrpSpPr>
          <p:cNvPr id="7" name="Group 83">
            <a:extLst>
              <a:ext uri="{FF2B5EF4-FFF2-40B4-BE49-F238E27FC236}">
                <a16:creationId xmlns:a16="http://schemas.microsoft.com/office/drawing/2014/main" id="{27738AC7-D225-4018-95CF-7E62CBEE6A34}"/>
              </a:ext>
            </a:extLst>
          </p:cNvPr>
          <p:cNvGrpSpPr/>
          <p:nvPr/>
        </p:nvGrpSpPr>
        <p:grpSpPr>
          <a:xfrm>
            <a:off x="1714501" y="2926671"/>
            <a:ext cx="728207" cy="1499957"/>
            <a:chOff x="539750" y="1270000"/>
            <a:chExt cx="674664" cy="1133468"/>
          </a:xfrm>
          <a:solidFill>
            <a:schemeClr val="accent2"/>
          </a:solidFill>
        </p:grpSpPr>
        <p:sp>
          <p:nvSpPr>
            <p:cNvPr id="8" name="Rectangle 7">
              <a:extLst>
                <a:ext uri="{FF2B5EF4-FFF2-40B4-BE49-F238E27FC236}">
                  <a16:creationId xmlns:a16="http://schemas.microsoft.com/office/drawing/2014/main" id="{68CE9597-8BD1-416F-9A0B-226F8EBFCA0C}"/>
                </a:ext>
              </a:extLst>
            </p:cNvPr>
            <p:cNvSpPr/>
            <p:nvPr/>
          </p:nvSpPr>
          <p:spPr>
            <a:xfrm>
              <a:off x="539750" y="1270000"/>
              <a:ext cx="674664" cy="1133468"/>
            </a:xfrm>
            <a:prstGeom prst="rect">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latin typeface="+mj-lt"/>
                <a:cs typeface="Calibri" pitchFamily="34" charset="0"/>
              </a:endParaRPr>
            </a:p>
          </p:txBody>
        </p:sp>
        <p:sp>
          <p:nvSpPr>
            <p:cNvPr id="9" name="TextBox 8">
              <a:extLst>
                <a:ext uri="{FF2B5EF4-FFF2-40B4-BE49-F238E27FC236}">
                  <a16:creationId xmlns:a16="http://schemas.microsoft.com/office/drawing/2014/main" id="{18143286-2237-42A2-8FB7-474E1C3961E4}"/>
                </a:ext>
              </a:extLst>
            </p:cNvPr>
            <p:cNvSpPr txBox="1"/>
            <p:nvPr/>
          </p:nvSpPr>
          <p:spPr>
            <a:xfrm rot="16200000">
              <a:off x="579070" y="1669910"/>
              <a:ext cx="615602" cy="342176"/>
            </a:xfrm>
            <a:prstGeom prst="rect">
              <a:avLst/>
            </a:prstGeom>
            <a:grpFill/>
          </p:spPr>
          <p:txBody>
            <a:bodyPr wrap="none" rtlCol="0">
              <a:spAutoFit/>
            </a:bodyPr>
            <a:lstStyle/>
            <a:p>
              <a:r>
                <a:rPr lang="en-GB" dirty="0">
                  <a:solidFill>
                    <a:schemeClr val="bg1"/>
                  </a:solidFill>
                  <a:latin typeface="+mj-lt"/>
                  <a:cs typeface="Calibri" pitchFamily="34" charset="0"/>
                </a:rPr>
                <a:t>Pillar 2</a:t>
              </a:r>
            </a:p>
          </p:txBody>
        </p:sp>
      </p:grpSp>
      <p:sp>
        <p:nvSpPr>
          <p:cNvPr id="10" name="Rectangle 9">
            <a:extLst>
              <a:ext uri="{FF2B5EF4-FFF2-40B4-BE49-F238E27FC236}">
                <a16:creationId xmlns:a16="http://schemas.microsoft.com/office/drawing/2014/main" id="{91E87DB7-A92C-4C1F-8723-84D328D0804B}"/>
              </a:ext>
            </a:extLst>
          </p:cNvPr>
          <p:cNvSpPr/>
          <p:nvPr/>
        </p:nvSpPr>
        <p:spPr>
          <a:xfrm>
            <a:off x="2585833" y="2937165"/>
            <a:ext cx="6477032" cy="1478969"/>
          </a:xfrm>
          <a:prstGeom prst="rect">
            <a:avLst/>
          </a:prstGeom>
          <a:solidFill>
            <a:schemeClr val="bg1">
              <a:lumMod val="8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just">
              <a:spcBef>
                <a:spcPts val="600"/>
              </a:spcBef>
            </a:pPr>
            <a:r>
              <a:rPr lang="en-GB" sz="1400" b="1" u="sng" dirty="0">
                <a:solidFill>
                  <a:schemeClr val="tx1"/>
                </a:solidFill>
                <a:latin typeface="+mj-lt"/>
                <a:cs typeface="Calibri" pitchFamily="34" charset="0"/>
              </a:rPr>
              <a:t>MANAGE - Self Assessment &amp; Supervisory Review</a:t>
            </a:r>
          </a:p>
          <a:p>
            <a:pPr algn="just"/>
            <a:endParaRPr lang="en-GB" sz="400" b="1" u="sng" dirty="0">
              <a:solidFill>
                <a:schemeClr val="tx1"/>
              </a:solidFill>
              <a:latin typeface="+mj-lt"/>
              <a:cs typeface="Calibri" pitchFamily="34" charset="0"/>
            </a:endParaRPr>
          </a:p>
          <a:p>
            <a:pPr marL="174625" indent="-174625" algn="just">
              <a:spcAft>
                <a:spcPts val="600"/>
              </a:spcAft>
              <a:buSzPct val="90000"/>
              <a:buFont typeface="Wingdings" pitchFamily="2" charset="2"/>
              <a:buChar char="§"/>
            </a:pPr>
            <a:r>
              <a:rPr lang="en-GB" sz="1200" dirty="0">
                <a:solidFill>
                  <a:schemeClr val="tx1"/>
                </a:solidFill>
                <a:latin typeface="+mj-lt"/>
                <a:cs typeface="Calibri" pitchFamily="34" charset="0"/>
              </a:rPr>
              <a:t>Establishment of Capital &amp; Liquidity adequacy assessment process (ICAAP &amp; </a:t>
            </a:r>
            <a:r>
              <a:rPr lang="en-GB" sz="1200" dirty="0" err="1">
                <a:solidFill>
                  <a:schemeClr val="tx1"/>
                </a:solidFill>
                <a:latin typeface="+mj-lt"/>
                <a:cs typeface="Calibri" pitchFamily="34" charset="0"/>
              </a:rPr>
              <a:t>ILAAP</a:t>
            </a:r>
            <a:r>
              <a:rPr lang="en-GB" sz="1200" dirty="0">
                <a:solidFill>
                  <a:schemeClr val="tx1"/>
                </a:solidFill>
                <a:latin typeface="+mj-lt"/>
                <a:cs typeface="Calibri" pitchFamily="34" charset="0"/>
              </a:rPr>
              <a:t>)</a:t>
            </a:r>
          </a:p>
          <a:p>
            <a:pPr marL="174625" indent="-174625">
              <a:buSzPct val="90000"/>
              <a:buFont typeface="Wingdings" pitchFamily="2" charset="2"/>
              <a:buChar char="§"/>
            </a:pPr>
            <a:r>
              <a:rPr lang="en-GB" sz="1200" dirty="0">
                <a:solidFill>
                  <a:srgbClr val="000000"/>
                </a:solidFill>
                <a:latin typeface="Trebuchet MS" pitchFamily="34" charset="0"/>
              </a:rPr>
              <a:t>A comprehensive assessment of risks (i.e. beyond Pillar 1) as well as a consistent supervisory assessment of banks’ capital adequacy</a:t>
            </a:r>
            <a:endParaRPr lang="en-GB" sz="1200" b="1" u="sng" dirty="0">
              <a:solidFill>
                <a:schemeClr val="tx1"/>
              </a:solidFill>
              <a:latin typeface="+mj-lt"/>
              <a:cs typeface="Calibri" pitchFamily="34" charset="0"/>
            </a:endParaRPr>
          </a:p>
        </p:txBody>
      </p:sp>
      <p:sp>
        <p:nvSpPr>
          <p:cNvPr id="11" name="Rectangle 10">
            <a:extLst>
              <a:ext uri="{FF2B5EF4-FFF2-40B4-BE49-F238E27FC236}">
                <a16:creationId xmlns:a16="http://schemas.microsoft.com/office/drawing/2014/main" id="{43C976CC-8F71-4295-AEED-B6C91CD5F725}"/>
              </a:ext>
            </a:extLst>
          </p:cNvPr>
          <p:cNvSpPr/>
          <p:nvPr/>
        </p:nvSpPr>
        <p:spPr>
          <a:xfrm>
            <a:off x="9243788" y="2937165"/>
            <a:ext cx="1233712" cy="1478969"/>
          </a:xfrm>
          <a:prstGeom prst="rect">
            <a:avLst/>
          </a:prstGeom>
          <a:solidFill>
            <a:schemeClr val="bg1">
              <a:lumMod val="8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600"/>
              </a:spcBef>
            </a:pPr>
            <a:r>
              <a:rPr lang="en-GB" sz="1200" dirty="0">
                <a:solidFill>
                  <a:schemeClr val="tx1"/>
                </a:solidFill>
                <a:latin typeface="+mj-lt"/>
                <a:cs typeface="Calibri" pitchFamily="34" charset="0"/>
              </a:rPr>
              <a:t>Evaluation and review by Regulator</a:t>
            </a:r>
          </a:p>
        </p:txBody>
      </p:sp>
      <p:grpSp>
        <p:nvGrpSpPr>
          <p:cNvPr id="12" name="Group 86">
            <a:extLst>
              <a:ext uri="{FF2B5EF4-FFF2-40B4-BE49-F238E27FC236}">
                <a16:creationId xmlns:a16="http://schemas.microsoft.com/office/drawing/2014/main" id="{788CBF6B-9A83-4DFA-8821-D8002B8990BE}"/>
              </a:ext>
            </a:extLst>
          </p:cNvPr>
          <p:cNvGrpSpPr/>
          <p:nvPr/>
        </p:nvGrpSpPr>
        <p:grpSpPr>
          <a:xfrm>
            <a:off x="1714501" y="4557943"/>
            <a:ext cx="728207" cy="1499957"/>
            <a:chOff x="539750" y="1270000"/>
            <a:chExt cx="674664" cy="1133468"/>
          </a:xfrm>
          <a:solidFill>
            <a:schemeClr val="accent2"/>
          </a:solidFill>
        </p:grpSpPr>
        <p:sp>
          <p:nvSpPr>
            <p:cNvPr id="13" name="Rectangle 12">
              <a:extLst>
                <a:ext uri="{FF2B5EF4-FFF2-40B4-BE49-F238E27FC236}">
                  <a16:creationId xmlns:a16="http://schemas.microsoft.com/office/drawing/2014/main" id="{4524171C-481E-422C-A392-359EC82A2366}"/>
                </a:ext>
              </a:extLst>
            </p:cNvPr>
            <p:cNvSpPr/>
            <p:nvPr/>
          </p:nvSpPr>
          <p:spPr>
            <a:xfrm>
              <a:off x="539750" y="1270000"/>
              <a:ext cx="674664" cy="1133468"/>
            </a:xfrm>
            <a:prstGeom prst="rect">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latin typeface="+mj-lt"/>
                <a:cs typeface="Calibri" pitchFamily="34" charset="0"/>
              </a:endParaRPr>
            </a:p>
          </p:txBody>
        </p:sp>
        <p:sp>
          <p:nvSpPr>
            <p:cNvPr id="14" name="TextBox 13">
              <a:extLst>
                <a:ext uri="{FF2B5EF4-FFF2-40B4-BE49-F238E27FC236}">
                  <a16:creationId xmlns:a16="http://schemas.microsoft.com/office/drawing/2014/main" id="{1619218F-328E-4B23-A4E1-22A46BC681E3}"/>
                </a:ext>
              </a:extLst>
            </p:cNvPr>
            <p:cNvSpPr txBox="1"/>
            <p:nvPr/>
          </p:nvSpPr>
          <p:spPr>
            <a:xfrm rot="16200000">
              <a:off x="579070" y="1669910"/>
              <a:ext cx="615602" cy="342176"/>
            </a:xfrm>
            <a:prstGeom prst="rect">
              <a:avLst/>
            </a:prstGeom>
            <a:grpFill/>
          </p:spPr>
          <p:txBody>
            <a:bodyPr wrap="none" rtlCol="0">
              <a:spAutoFit/>
            </a:bodyPr>
            <a:lstStyle/>
            <a:p>
              <a:r>
                <a:rPr lang="en-GB" dirty="0">
                  <a:solidFill>
                    <a:schemeClr val="bg1"/>
                  </a:solidFill>
                  <a:latin typeface="+mj-lt"/>
                  <a:cs typeface="Calibri" pitchFamily="34" charset="0"/>
                </a:rPr>
                <a:t>Pillar 3</a:t>
              </a:r>
            </a:p>
          </p:txBody>
        </p:sp>
      </p:grpSp>
      <p:sp>
        <p:nvSpPr>
          <p:cNvPr id="15" name="Rectangle 14">
            <a:extLst>
              <a:ext uri="{FF2B5EF4-FFF2-40B4-BE49-F238E27FC236}">
                <a16:creationId xmlns:a16="http://schemas.microsoft.com/office/drawing/2014/main" id="{58C6875C-AB66-4B2E-A7DF-1FEB3625AA77}"/>
              </a:ext>
            </a:extLst>
          </p:cNvPr>
          <p:cNvSpPr/>
          <p:nvPr/>
        </p:nvSpPr>
        <p:spPr>
          <a:xfrm>
            <a:off x="2585833" y="4568437"/>
            <a:ext cx="6468786" cy="1478969"/>
          </a:xfrm>
          <a:prstGeom prst="rect">
            <a:avLst/>
          </a:prstGeom>
          <a:solidFill>
            <a:schemeClr val="bg1">
              <a:lumMod val="8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just">
              <a:spcBef>
                <a:spcPts val="600"/>
              </a:spcBef>
            </a:pPr>
            <a:r>
              <a:rPr lang="en-GB" sz="1400" b="1" u="sng" dirty="0">
                <a:solidFill>
                  <a:schemeClr val="tx1"/>
                </a:solidFill>
                <a:latin typeface="+mj-lt"/>
                <a:cs typeface="Calibri" pitchFamily="34" charset="0"/>
              </a:rPr>
              <a:t>REPORT - Market Discipline</a:t>
            </a:r>
          </a:p>
          <a:p>
            <a:pPr algn="just"/>
            <a:endParaRPr lang="en-GB" sz="400" b="1" u="sng" dirty="0">
              <a:solidFill>
                <a:schemeClr val="tx1"/>
              </a:solidFill>
              <a:latin typeface="+mj-lt"/>
              <a:cs typeface="Calibri" pitchFamily="34" charset="0"/>
            </a:endParaRPr>
          </a:p>
          <a:p>
            <a:pPr marL="174625" indent="-174625" algn="just">
              <a:spcAft>
                <a:spcPts val="600"/>
              </a:spcAft>
              <a:buSzPct val="90000"/>
              <a:buFont typeface="Wingdings" pitchFamily="2" charset="2"/>
              <a:buChar char="§"/>
            </a:pPr>
            <a:r>
              <a:rPr lang="en-GB" sz="1200" dirty="0">
                <a:solidFill>
                  <a:schemeClr val="tx1"/>
                </a:solidFill>
                <a:latin typeface="+mj-lt"/>
                <a:cs typeface="Calibri" pitchFamily="34" charset="0"/>
              </a:rPr>
              <a:t>Required risk disclosures in addition to existing statutory disclosure requirements</a:t>
            </a:r>
          </a:p>
          <a:p>
            <a:pPr marL="174625" indent="-174625" algn="just">
              <a:spcAft>
                <a:spcPts val="600"/>
              </a:spcAft>
              <a:buSzPct val="90000"/>
              <a:buFont typeface="Wingdings" pitchFamily="2" charset="2"/>
              <a:buChar char="§"/>
            </a:pPr>
            <a:r>
              <a:rPr lang="en-GB" sz="1200" dirty="0">
                <a:solidFill>
                  <a:srgbClr val="000000"/>
                </a:solidFill>
                <a:latin typeface="Trebuchet MS" pitchFamily="34" charset="0"/>
              </a:rPr>
              <a:t>Increased disclosure of risk-relevant information and thus fosters market discipline</a:t>
            </a:r>
          </a:p>
        </p:txBody>
      </p:sp>
      <p:sp>
        <p:nvSpPr>
          <p:cNvPr id="16" name="Rectangle 15">
            <a:extLst>
              <a:ext uri="{FF2B5EF4-FFF2-40B4-BE49-F238E27FC236}">
                <a16:creationId xmlns:a16="http://schemas.microsoft.com/office/drawing/2014/main" id="{BC12163E-1FCB-4C59-8985-D9857ECDE19C}"/>
              </a:ext>
            </a:extLst>
          </p:cNvPr>
          <p:cNvSpPr/>
          <p:nvPr/>
        </p:nvSpPr>
        <p:spPr>
          <a:xfrm>
            <a:off x="9241732" y="4557943"/>
            <a:ext cx="1234740" cy="1478969"/>
          </a:xfrm>
          <a:prstGeom prst="rect">
            <a:avLst/>
          </a:prstGeom>
          <a:solidFill>
            <a:schemeClr val="bg1">
              <a:lumMod val="8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600"/>
              </a:spcBef>
            </a:pPr>
            <a:r>
              <a:rPr lang="en-GB" sz="1200" dirty="0">
                <a:solidFill>
                  <a:schemeClr val="tx1"/>
                </a:solidFill>
                <a:latin typeface="+mj-lt"/>
                <a:cs typeface="Calibri" pitchFamily="34" charset="0"/>
              </a:rPr>
              <a:t>Assessed by Markets</a:t>
            </a:r>
            <a:endParaRPr lang="en-GB" sz="1200" b="1" u="sng" dirty="0">
              <a:latin typeface="+mj-lt"/>
              <a:cs typeface="Calibri" pitchFamily="34" charset="0"/>
            </a:endParaRPr>
          </a:p>
        </p:txBody>
      </p:sp>
      <p:sp>
        <p:nvSpPr>
          <p:cNvPr id="24" name="Isosceles Triangle 23">
            <a:extLst>
              <a:ext uri="{FF2B5EF4-FFF2-40B4-BE49-F238E27FC236}">
                <a16:creationId xmlns:a16="http://schemas.microsoft.com/office/drawing/2014/main" id="{93BA2545-7269-4C77-A2FD-722D781F316F}"/>
              </a:ext>
            </a:extLst>
          </p:cNvPr>
          <p:cNvSpPr/>
          <p:nvPr/>
        </p:nvSpPr>
        <p:spPr>
          <a:xfrm rot="5400000">
            <a:off x="8848121" y="3622994"/>
            <a:ext cx="602428" cy="96819"/>
          </a:xfrm>
          <a:prstGeom prst="triangle">
            <a:avLst/>
          </a:prstGeom>
          <a:solidFill>
            <a:srgbClr val="C8CDD7"/>
          </a:solidFill>
          <a:ln w="158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endParaRPr lang="en-GB" sz="1000" dirty="0">
              <a:solidFill>
                <a:srgbClr val="000000"/>
              </a:solidFill>
            </a:endParaRPr>
          </a:p>
        </p:txBody>
      </p:sp>
      <p:sp>
        <p:nvSpPr>
          <p:cNvPr id="25" name="Isosceles Triangle 24">
            <a:extLst>
              <a:ext uri="{FF2B5EF4-FFF2-40B4-BE49-F238E27FC236}">
                <a16:creationId xmlns:a16="http://schemas.microsoft.com/office/drawing/2014/main" id="{3CAD0D21-2E58-4C10-AFEE-BC27EEDCBBCA}"/>
              </a:ext>
            </a:extLst>
          </p:cNvPr>
          <p:cNvSpPr/>
          <p:nvPr/>
        </p:nvSpPr>
        <p:spPr>
          <a:xfrm rot="5400000">
            <a:off x="8848121" y="5259513"/>
            <a:ext cx="602428" cy="96819"/>
          </a:xfrm>
          <a:prstGeom prst="triangle">
            <a:avLst/>
          </a:prstGeom>
          <a:solidFill>
            <a:srgbClr val="C8CDD7"/>
          </a:solidFill>
          <a:ln w="158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endParaRPr lang="en-GB" sz="1000" dirty="0">
              <a:solidFill>
                <a:srgbClr val="000000"/>
              </a:solidFill>
            </a:endParaRPr>
          </a:p>
        </p:txBody>
      </p:sp>
    </p:spTree>
    <p:extLst>
      <p:ext uri="{BB962C8B-B14F-4D97-AF65-F5344CB8AC3E}">
        <p14:creationId xmlns:p14="http://schemas.microsoft.com/office/powerpoint/2010/main" val="298919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A2733D4-3FE7-4D4D-8D25-325899695AAA}"/>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4" name="Object 3" hidden="1">
                        <a:extLst>
                          <a:ext uri="{FF2B5EF4-FFF2-40B4-BE49-F238E27FC236}">
                            <a16:creationId xmlns:a16="http://schemas.microsoft.com/office/drawing/2014/main" id="{2A2733D4-3FE7-4D4D-8D25-325899695AAA}"/>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graphicFrame>
        <p:nvGraphicFramePr>
          <p:cNvPr id="5" name="Content Placeholder 4">
            <a:extLst>
              <a:ext uri="{FF2B5EF4-FFF2-40B4-BE49-F238E27FC236}">
                <a16:creationId xmlns:a16="http://schemas.microsoft.com/office/drawing/2014/main" id="{93C46882-5B22-433A-BC43-7CB5EE77F8DD}"/>
              </a:ext>
            </a:extLst>
          </p:cNvPr>
          <p:cNvGraphicFramePr>
            <a:graphicFrameLocks noGrp="1"/>
          </p:cNvGraphicFramePr>
          <p:nvPr>
            <p:ph idx="1"/>
          </p:nvPr>
        </p:nvGraphicFramePr>
        <p:xfrm>
          <a:off x="1609726" y="1288041"/>
          <a:ext cx="8970967" cy="4769859"/>
        </p:xfrm>
        <a:graphic>
          <a:graphicData uri="http://schemas.openxmlformats.org/drawingml/2006/table">
            <a:tbl>
              <a:tblPr firstRow="1" bandRow="1">
                <a:tableStyleId>{21E4AEA4-8DFA-4A89-87EB-49C32662AFE0}</a:tableStyleId>
              </a:tblPr>
              <a:tblGrid>
                <a:gridCol w="1146922">
                  <a:extLst>
                    <a:ext uri="{9D8B030D-6E8A-4147-A177-3AD203B41FA5}">
                      <a16:colId xmlns:a16="http://schemas.microsoft.com/office/drawing/2014/main" val="1122537696"/>
                    </a:ext>
                  </a:extLst>
                </a:gridCol>
                <a:gridCol w="1564809">
                  <a:extLst>
                    <a:ext uri="{9D8B030D-6E8A-4147-A177-3AD203B41FA5}">
                      <a16:colId xmlns:a16="http://schemas.microsoft.com/office/drawing/2014/main" val="3544305943"/>
                    </a:ext>
                  </a:extLst>
                </a:gridCol>
                <a:gridCol w="1564809">
                  <a:extLst>
                    <a:ext uri="{9D8B030D-6E8A-4147-A177-3AD203B41FA5}">
                      <a16:colId xmlns:a16="http://schemas.microsoft.com/office/drawing/2014/main" val="576380981"/>
                    </a:ext>
                  </a:extLst>
                </a:gridCol>
                <a:gridCol w="1564809">
                  <a:extLst>
                    <a:ext uri="{9D8B030D-6E8A-4147-A177-3AD203B41FA5}">
                      <a16:colId xmlns:a16="http://schemas.microsoft.com/office/drawing/2014/main" val="1269485783"/>
                    </a:ext>
                  </a:extLst>
                </a:gridCol>
                <a:gridCol w="1564809">
                  <a:extLst>
                    <a:ext uri="{9D8B030D-6E8A-4147-A177-3AD203B41FA5}">
                      <a16:colId xmlns:a16="http://schemas.microsoft.com/office/drawing/2014/main" val="1127007534"/>
                    </a:ext>
                  </a:extLst>
                </a:gridCol>
                <a:gridCol w="1564809">
                  <a:extLst>
                    <a:ext uri="{9D8B030D-6E8A-4147-A177-3AD203B41FA5}">
                      <a16:colId xmlns:a16="http://schemas.microsoft.com/office/drawing/2014/main" val="1875110397"/>
                    </a:ext>
                  </a:extLst>
                </a:gridCol>
              </a:tblGrid>
              <a:tr h="416162">
                <a:tc>
                  <a:txBody>
                    <a:bodyPr/>
                    <a:lstStyle/>
                    <a:p>
                      <a:pPr algn="ctr"/>
                      <a:endParaRPr lang="en-GB" sz="1200" dirty="0"/>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000" b="1" u="none" strike="noStrike" kern="1200" baseline="0" dirty="0">
                          <a:solidFill>
                            <a:schemeClr val="lt1"/>
                          </a:solidFill>
                        </a:rPr>
                        <a:t>Increase the level and quality of capital </a:t>
                      </a:r>
                      <a:endParaRPr lang="en-GB" sz="1000" b="0" i="0" u="none" strike="noStrike" kern="1200" baseline="0" dirty="0">
                        <a:solidFill>
                          <a:schemeClr val="lt1"/>
                        </a:solidFill>
                        <a:latin typeface="+mn-lt"/>
                        <a:ea typeface="+mn-ea"/>
                        <a:cs typeface="+mn-cs"/>
                      </a:endParaRPr>
                    </a:p>
                  </a:txBody>
                  <a:tcPr marL="36000" marR="36000" anchor="ctr"/>
                </a:tc>
                <a:tc>
                  <a:txBody>
                    <a:bodyPr/>
                    <a:lstStyle/>
                    <a:p>
                      <a:pPr algn="ctr"/>
                      <a:r>
                        <a:rPr lang="en-GB" sz="1000" dirty="0"/>
                        <a:t>Enhance risk capture</a:t>
                      </a:r>
                    </a:p>
                  </a:txBody>
                  <a:tcPr marL="36000" marR="36000" anchor="ctr"/>
                </a:tc>
                <a:tc>
                  <a:txBody>
                    <a:bodyPr/>
                    <a:lstStyle/>
                    <a:p>
                      <a:pPr algn="ctr"/>
                      <a:r>
                        <a:rPr lang="en-GB" sz="1000" dirty="0"/>
                        <a:t>Constrain bank leverage</a:t>
                      </a:r>
                    </a:p>
                  </a:txBody>
                  <a:tcPr marL="36000" marR="36000" anchor="ctr"/>
                </a:tc>
                <a:tc>
                  <a:txBody>
                    <a:bodyPr/>
                    <a:lstStyle/>
                    <a:p>
                      <a:pPr algn="ctr"/>
                      <a:r>
                        <a:rPr lang="en-GB" sz="1000" dirty="0"/>
                        <a:t>Improve bank liquidity</a:t>
                      </a:r>
                    </a:p>
                  </a:txBody>
                  <a:tcPr marL="36000" marR="36000"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1000" b="1" u="none" strike="noStrike" kern="1200" baseline="0" dirty="0">
                          <a:solidFill>
                            <a:schemeClr val="lt1"/>
                          </a:solidFill>
                        </a:rPr>
                        <a:t>Limit procyclicality </a:t>
                      </a:r>
                      <a:endParaRPr lang="en-GB" sz="1000" b="0" i="0" u="none" strike="noStrike" kern="1200" baseline="0" dirty="0">
                        <a:solidFill>
                          <a:schemeClr val="lt1"/>
                        </a:solidFill>
                        <a:latin typeface="+mn-lt"/>
                        <a:ea typeface="+mn-ea"/>
                        <a:cs typeface="+mn-cs"/>
                      </a:endParaRPr>
                    </a:p>
                  </a:txBody>
                  <a:tcPr marL="36000" marR="36000" anchor="ctr"/>
                </a:tc>
                <a:extLst>
                  <a:ext uri="{0D108BD9-81ED-4DB2-BD59-A6C34878D82A}">
                    <a16:rowId xmlns:a16="http://schemas.microsoft.com/office/drawing/2014/main" val="1544305177"/>
                  </a:ext>
                </a:extLst>
              </a:tr>
              <a:tr h="1856724">
                <a:tc>
                  <a:txBody>
                    <a:bodyPr/>
                    <a:lstStyle/>
                    <a:p>
                      <a:pPr algn="ctr"/>
                      <a:r>
                        <a:rPr lang="en-GB" sz="1000" b="1" dirty="0"/>
                        <a:t>Introduced in 2010</a:t>
                      </a:r>
                    </a:p>
                  </a:txBody>
                  <a:tcPr anchor="ctr"/>
                </a:tc>
                <a:tc rowSpan="2">
                  <a:txBody>
                    <a:bodyPr/>
                    <a:lstStyle/>
                    <a:p>
                      <a:pPr marL="171450" indent="-171450">
                        <a:buFont typeface="Wingdings" panose="05000000000000000000" pitchFamily="2" charset="2"/>
                        <a:buChar char="§"/>
                      </a:pPr>
                      <a:r>
                        <a:rPr lang="en-GB" sz="1000" dirty="0"/>
                        <a:t>Banks required to maintain more capital of higher quality to cover unexpected losses</a:t>
                      </a:r>
                    </a:p>
                    <a:p>
                      <a:pPr marL="171450" indent="-171450">
                        <a:buFont typeface="Wingdings" panose="05000000000000000000" pitchFamily="2" charset="2"/>
                        <a:buChar char="§"/>
                      </a:pPr>
                      <a:r>
                        <a:rPr lang="en-GB" sz="1000" dirty="0"/>
                        <a:t>Minimum Tier 1 capital rises from 4% to 6%, of which at least three quarters must be the highest quality </a:t>
                      </a:r>
                    </a:p>
                    <a:p>
                      <a:pPr marL="171450" indent="-171450">
                        <a:buFont typeface="Wingdings" panose="05000000000000000000" pitchFamily="2" charset="2"/>
                        <a:buChar char="§"/>
                      </a:pPr>
                      <a:r>
                        <a:rPr lang="en-GB" sz="1000" dirty="0"/>
                        <a:t>Global systematically important banks (G-SIBs) are subject to additional capital requirements</a:t>
                      </a:r>
                    </a:p>
                  </a:txBody>
                  <a:tcPr marL="36000" marR="36000"/>
                </a:tc>
                <a:tc>
                  <a:txBody>
                    <a:bodyPr/>
                    <a:lstStyle/>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000" b="0" u="none" strike="noStrike" kern="1200" baseline="0" dirty="0">
                          <a:solidFill>
                            <a:schemeClr val="dk1"/>
                          </a:solidFill>
                        </a:rPr>
                        <a:t>Capital requirements for market risk rise significantly</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000" b="0" u="none" strike="noStrike" kern="1200" baseline="0" dirty="0">
                          <a:solidFill>
                            <a:schemeClr val="dk1"/>
                          </a:solidFill>
                        </a:rPr>
                        <a:t>Requirements are calculated based on 12 months of market stress </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000" b="0" u="none" strike="noStrike" kern="1200" baseline="0" dirty="0">
                          <a:solidFill>
                            <a:schemeClr val="dk1"/>
                          </a:solidFill>
                        </a:rPr>
                        <a:t>Credit Valuation Adjustment risk is included in the framework </a:t>
                      </a:r>
                      <a:endParaRPr lang="en-GB" sz="1000" b="0" i="0" u="none" strike="noStrike" kern="1200" baseline="0" dirty="0">
                        <a:solidFill>
                          <a:schemeClr val="dk1"/>
                        </a:solidFill>
                        <a:latin typeface="+mn-lt"/>
                        <a:ea typeface="+mn-ea"/>
                        <a:cs typeface="+mn-cs"/>
                      </a:endParaRPr>
                    </a:p>
                  </a:txBody>
                  <a:tcPr marL="36000" marR="36000"/>
                </a:tc>
                <a:tc>
                  <a:txBody>
                    <a:bodyPr/>
                    <a:lstStyle/>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000" b="0" u="none" strike="noStrike" kern="1200" baseline="0" dirty="0">
                          <a:solidFill>
                            <a:schemeClr val="dk1"/>
                          </a:solidFill>
                        </a:rPr>
                        <a:t>A leverage ratio constrains the build-up of debt to fund banks' investment and activities, reducing the risk of a deleveraging spiral during downturns </a:t>
                      </a:r>
                      <a:endParaRPr lang="en-GB" sz="1000" b="0" i="0" u="none" strike="noStrike" kern="1200" baseline="0" dirty="0">
                        <a:solidFill>
                          <a:schemeClr val="dk1"/>
                        </a:solidFill>
                        <a:latin typeface="+mn-lt"/>
                        <a:ea typeface="+mn-ea"/>
                        <a:cs typeface="+mn-cs"/>
                      </a:endParaRPr>
                    </a:p>
                  </a:txBody>
                  <a:tcPr marL="36000" marR="36000"/>
                </a:tc>
                <a:tc rowSpan="2">
                  <a:txBody>
                    <a:bodyPr/>
                    <a:lstStyle/>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000" b="0" u="none" strike="noStrike" kern="1200" baseline="0" dirty="0">
                          <a:solidFill>
                            <a:schemeClr val="dk1"/>
                          </a:solidFill>
                        </a:rPr>
                        <a:t>The Liquidity Coverage Ratio requires banks to hold sufficient liquid assets to sustain them for 30 days during times of stress</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000" b="0" u="none" strike="noStrike" kern="1200" baseline="0" dirty="0">
                          <a:solidFill>
                            <a:schemeClr val="dk1"/>
                          </a:solidFill>
                        </a:rPr>
                        <a:t>The Net Stable Funding Ratio encourages banks to better match the duration of their assets and liabilities </a:t>
                      </a:r>
                      <a:endParaRPr lang="en-GB" sz="1000" b="0" i="0" u="none" strike="noStrike" kern="1200" baseline="0" dirty="0">
                        <a:solidFill>
                          <a:schemeClr val="dk1"/>
                        </a:solidFill>
                        <a:latin typeface="+mn-lt"/>
                        <a:ea typeface="+mn-ea"/>
                        <a:cs typeface="+mn-cs"/>
                      </a:endParaRPr>
                    </a:p>
                  </a:txBody>
                  <a:tcPr marL="36000" marR="36000"/>
                </a:tc>
                <a:tc rowSpan="2">
                  <a:txBody>
                    <a:bodyPr/>
                    <a:lstStyle/>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000" b="0" u="none" strike="noStrike" kern="1200" baseline="0" dirty="0">
                          <a:solidFill>
                            <a:schemeClr val="dk1"/>
                          </a:solidFill>
                        </a:rPr>
                        <a:t>Banks retain earnings to build up capital buffers during periods of high economic growth so that they can draw them down during periods of economic stress </a:t>
                      </a:r>
                      <a:endParaRPr lang="en-GB" sz="1000" b="0" i="0" u="none" strike="noStrike" kern="1200" baseline="0" dirty="0">
                        <a:solidFill>
                          <a:schemeClr val="dk1"/>
                        </a:solidFill>
                        <a:latin typeface="+mn-lt"/>
                        <a:ea typeface="+mn-ea"/>
                        <a:cs typeface="+mn-cs"/>
                      </a:endParaRPr>
                    </a:p>
                  </a:txBody>
                  <a:tcPr marL="36000" marR="36000"/>
                </a:tc>
                <a:extLst>
                  <a:ext uri="{0D108BD9-81ED-4DB2-BD59-A6C34878D82A}">
                    <a16:rowId xmlns:a16="http://schemas.microsoft.com/office/drawing/2014/main" val="4214931841"/>
                  </a:ext>
                </a:extLst>
              </a:tr>
              <a:tr h="2496973">
                <a:tc>
                  <a:txBody>
                    <a:bodyPr/>
                    <a:lstStyle/>
                    <a:p>
                      <a:pPr algn="ctr"/>
                      <a:r>
                        <a:rPr lang="en-GB" sz="1000" b="1" dirty="0"/>
                        <a:t>Introduced in 2017</a:t>
                      </a:r>
                    </a:p>
                  </a:txBody>
                  <a:tcPr anchor="ctr"/>
                </a:tc>
                <a:tc vMerge="1">
                  <a:txBody>
                    <a:bodyPr/>
                    <a:lstStyle/>
                    <a:p>
                      <a:endParaRPr lang="en-GB" sz="1200" dirty="0"/>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000" b="0" u="none" strike="noStrike" kern="1200" baseline="0" dirty="0">
                          <a:solidFill>
                            <a:schemeClr val="dk1"/>
                          </a:solidFill>
                        </a:rPr>
                        <a:t>Revisions to the SAs mean greater risk sensitivity and comparability</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000" b="0" u="none" strike="noStrike" kern="1200" baseline="0" dirty="0">
                          <a:solidFill>
                            <a:schemeClr val="dk1"/>
                          </a:solidFill>
                        </a:rPr>
                        <a:t>Constraints on using internal models aim to reduce unwarranted variability in banks' RWAs</a:t>
                      </a:r>
                    </a:p>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000" b="0" u="none" strike="noStrike" kern="1200" baseline="0" dirty="0">
                          <a:solidFill>
                            <a:schemeClr val="dk1"/>
                          </a:solidFill>
                        </a:rPr>
                        <a:t>An output floor limits the benefits banks can derive from using internal models to calculate minimum capital requirements  </a:t>
                      </a:r>
                      <a:endParaRPr lang="en-GB" sz="1000" b="0" i="0" u="none" strike="noStrike" kern="1200" baseline="0" dirty="0">
                        <a:solidFill>
                          <a:schemeClr val="dk1"/>
                        </a:solidFill>
                        <a:latin typeface="+mn-lt"/>
                        <a:ea typeface="+mn-ea"/>
                        <a:cs typeface="+mn-cs"/>
                      </a:endParaRPr>
                    </a:p>
                  </a:txBody>
                  <a:tcPr marL="36000" marR="36000"/>
                </a:tc>
                <a:tc>
                  <a:txBody>
                    <a:bodyPr/>
                    <a:lstStyle/>
                    <a:p>
                      <a:pPr marL="171450" marR="0" lvl="0" indent="-1714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000" b="0" u="none" strike="noStrike" kern="1200" baseline="0" dirty="0">
                          <a:solidFill>
                            <a:schemeClr val="dk1"/>
                          </a:solidFill>
                        </a:rPr>
                        <a:t>G-SIBs are subject to higher leverage ratio requirements</a:t>
                      </a:r>
                      <a:endParaRPr lang="en-GB" sz="1000" b="0" i="0" u="none" strike="noStrike" kern="1200" baseline="0" dirty="0">
                        <a:solidFill>
                          <a:schemeClr val="dk1"/>
                        </a:solidFill>
                        <a:latin typeface="+mn-lt"/>
                        <a:ea typeface="+mn-ea"/>
                        <a:cs typeface="+mn-cs"/>
                      </a:endParaRPr>
                    </a:p>
                  </a:txBody>
                  <a:tcPr marL="36000" marR="36000"/>
                </a:tc>
                <a:tc vMerge="1">
                  <a:txBody>
                    <a:bodyPr/>
                    <a:lstStyle/>
                    <a:p>
                      <a:endParaRPr lang="en-GB" sz="1200" dirty="0"/>
                    </a:p>
                  </a:txBody>
                  <a:tcPr/>
                </a:tc>
                <a:tc vMerge="1">
                  <a:txBody>
                    <a:bodyPr/>
                    <a:lstStyle/>
                    <a:p>
                      <a:endParaRPr lang="en-GB" sz="1200" dirty="0"/>
                    </a:p>
                  </a:txBody>
                  <a:tcPr/>
                </a:tc>
                <a:extLst>
                  <a:ext uri="{0D108BD9-81ED-4DB2-BD59-A6C34878D82A}">
                    <a16:rowId xmlns:a16="http://schemas.microsoft.com/office/drawing/2014/main" val="221027845"/>
                  </a:ext>
                </a:extLst>
              </a:tr>
            </a:tbl>
          </a:graphicData>
        </a:graphic>
      </p:graphicFrame>
      <p:sp>
        <p:nvSpPr>
          <p:cNvPr id="3" name="Title 2">
            <a:extLst>
              <a:ext uri="{FF2B5EF4-FFF2-40B4-BE49-F238E27FC236}">
                <a16:creationId xmlns:a16="http://schemas.microsoft.com/office/drawing/2014/main" id="{2669493E-6A2E-4E27-A275-6769C5FBECF8}"/>
              </a:ext>
            </a:extLst>
          </p:cNvPr>
          <p:cNvSpPr>
            <a:spLocks noGrp="1"/>
          </p:cNvSpPr>
          <p:nvPr>
            <p:ph type="title"/>
          </p:nvPr>
        </p:nvSpPr>
        <p:spPr/>
        <p:txBody>
          <a:bodyPr vert="horz">
            <a:normAutofit fontScale="90000"/>
          </a:bodyPr>
          <a:lstStyle/>
          <a:p>
            <a:r>
              <a:rPr lang="en-GB" dirty="0"/>
              <a:t>From Basel III in 2010 to Basel III in 2017 – </a:t>
            </a:r>
          </a:p>
        </p:txBody>
      </p:sp>
    </p:spTree>
    <p:extLst>
      <p:ext uri="{BB962C8B-B14F-4D97-AF65-F5344CB8AC3E}">
        <p14:creationId xmlns:p14="http://schemas.microsoft.com/office/powerpoint/2010/main" val="36803186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205AB86-9CD0-4FFD-88CC-3BCD00161290}"/>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5205AB86-9CD0-4FFD-88CC-3BCD00161290}"/>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6BB0530-7844-46E1-90C9-887699E9BE6C}"/>
              </a:ext>
            </a:extLst>
          </p:cNvPr>
          <p:cNvSpPr>
            <a:spLocks noGrp="1"/>
          </p:cNvSpPr>
          <p:nvPr>
            <p:ph type="title"/>
          </p:nvPr>
        </p:nvSpPr>
        <p:spPr/>
        <p:txBody>
          <a:bodyPr vert="horz"/>
          <a:lstStyle/>
          <a:p>
            <a:r>
              <a:rPr lang="en-GB" dirty="0"/>
              <a:t>Are we (already) heading for a Basel 5?</a:t>
            </a:r>
          </a:p>
        </p:txBody>
      </p:sp>
      <p:grpSp>
        <p:nvGrpSpPr>
          <p:cNvPr id="15" name="Group 14">
            <a:extLst>
              <a:ext uri="{FF2B5EF4-FFF2-40B4-BE49-F238E27FC236}">
                <a16:creationId xmlns:a16="http://schemas.microsoft.com/office/drawing/2014/main" id="{F855576D-01C7-4C2F-A59D-EB1CA649B9DA}"/>
              </a:ext>
            </a:extLst>
          </p:cNvPr>
          <p:cNvGrpSpPr/>
          <p:nvPr/>
        </p:nvGrpSpPr>
        <p:grpSpPr>
          <a:xfrm>
            <a:off x="1714500" y="1306513"/>
            <a:ext cx="5715000" cy="1928696"/>
            <a:chOff x="571500" y="2076454"/>
            <a:chExt cx="5715000" cy="1928696"/>
          </a:xfrm>
        </p:grpSpPr>
        <p:pic>
          <p:nvPicPr>
            <p:cNvPr id="10" name="Picture 9">
              <a:extLst>
                <a:ext uri="{FF2B5EF4-FFF2-40B4-BE49-F238E27FC236}">
                  <a16:creationId xmlns:a16="http://schemas.microsoft.com/office/drawing/2014/main" id="{92E26B75-AD85-4317-97B8-583BB5966760}"/>
                </a:ext>
              </a:extLst>
            </p:cNvPr>
            <p:cNvPicPr>
              <a:picLocks noChangeAspect="1"/>
            </p:cNvPicPr>
            <p:nvPr/>
          </p:nvPicPr>
          <p:blipFill>
            <a:blip r:embed="rId5"/>
            <a:stretch>
              <a:fillRect/>
            </a:stretch>
          </p:blipFill>
          <p:spPr>
            <a:xfrm>
              <a:off x="571500" y="2185875"/>
              <a:ext cx="5715000" cy="1819275"/>
            </a:xfrm>
            <a:prstGeom prst="rect">
              <a:avLst/>
            </a:prstGeom>
          </p:spPr>
        </p:pic>
        <p:pic>
          <p:nvPicPr>
            <p:cNvPr id="1026" name="Picture 2" descr="reuters logo Png Transparent Free Download">
              <a:extLst>
                <a:ext uri="{FF2B5EF4-FFF2-40B4-BE49-F238E27FC236}">
                  <a16:creationId xmlns:a16="http://schemas.microsoft.com/office/drawing/2014/main" id="{B8777363-7502-40B1-BE88-7EF99412D83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1880" t="23482" r="8702" b="21574"/>
            <a:stretch/>
          </p:blipFill>
          <p:spPr bwMode="auto">
            <a:xfrm>
              <a:off x="571500" y="2076454"/>
              <a:ext cx="1377016" cy="415921"/>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Content Placeholder 13">
            <a:extLst>
              <a:ext uri="{FF2B5EF4-FFF2-40B4-BE49-F238E27FC236}">
                <a16:creationId xmlns:a16="http://schemas.microsoft.com/office/drawing/2014/main" id="{A27F97E6-93A6-4EB5-AC63-453DBC0FD0B7}"/>
              </a:ext>
            </a:extLst>
          </p:cNvPr>
          <p:cNvSpPr>
            <a:spLocks noGrp="1"/>
          </p:cNvSpPr>
          <p:nvPr>
            <p:ph idx="1"/>
          </p:nvPr>
        </p:nvSpPr>
        <p:spPr>
          <a:xfrm>
            <a:off x="1714501" y="3235210"/>
            <a:ext cx="8864563" cy="2316278"/>
          </a:xfrm>
        </p:spPr>
        <p:txBody>
          <a:bodyPr/>
          <a:lstStyle/>
          <a:p>
            <a:r>
              <a:rPr lang="en-GB" sz="1400" dirty="0"/>
              <a:t>Up until recently, the dominant view was that by shifting risky activity outside of the banking sector, financial system resilience was improves</a:t>
            </a:r>
          </a:p>
          <a:p>
            <a:pPr lvl="1"/>
            <a:r>
              <a:rPr lang="en-GB" sz="1400" dirty="0"/>
              <a:t>A large number of hedge funds have folded over the last few years with minor side effects to the wider system</a:t>
            </a:r>
          </a:p>
          <a:p>
            <a:r>
              <a:rPr lang="en-GB" sz="1400" dirty="0"/>
              <a:t>However, the interlinkages in the financial system became more apparent after the collapse of </a:t>
            </a:r>
            <a:r>
              <a:rPr lang="en-GB" sz="1400" dirty="0" err="1"/>
              <a:t>Archegos</a:t>
            </a:r>
            <a:r>
              <a:rPr lang="en-GB" sz="1400" dirty="0"/>
              <a:t> Capital Management in March 2021</a:t>
            </a:r>
          </a:p>
          <a:p>
            <a:pPr lvl="1"/>
            <a:r>
              <a:rPr lang="en-GB" sz="1400" dirty="0"/>
              <a:t>Several large banks (Credit Suisse, Nomura), acting as Prime Brokers for </a:t>
            </a:r>
            <a:r>
              <a:rPr lang="en-GB" sz="1400" dirty="0" err="1"/>
              <a:t>Archegos</a:t>
            </a:r>
            <a:r>
              <a:rPr lang="en-GB" sz="1400" dirty="0"/>
              <a:t>, had to force liquidate positions to cover potential losses from unmet margin calls</a:t>
            </a:r>
          </a:p>
          <a:p>
            <a:pPr lvl="1"/>
            <a:r>
              <a:rPr lang="en-GB" sz="1400" dirty="0"/>
              <a:t>According to JP Morgan, banks could book losses as high as $10 billion directly related to the </a:t>
            </a:r>
            <a:r>
              <a:rPr lang="en-GB" sz="1400" dirty="0" err="1"/>
              <a:t>Archegos</a:t>
            </a:r>
            <a:r>
              <a:rPr lang="en-GB" sz="1400" dirty="0"/>
              <a:t> collapse</a:t>
            </a:r>
          </a:p>
        </p:txBody>
      </p:sp>
      <p:sp>
        <p:nvSpPr>
          <p:cNvPr id="16" name="Rectangle 15">
            <a:extLst>
              <a:ext uri="{FF2B5EF4-FFF2-40B4-BE49-F238E27FC236}">
                <a16:creationId xmlns:a16="http://schemas.microsoft.com/office/drawing/2014/main" id="{D09EC5B0-2F6A-4F8B-8708-E56829ABAD28}"/>
              </a:ext>
            </a:extLst>
          </p:cNvPr>
          <p:cNvSpPr/>
          <p:nvPr/>
        </p:nvSpPr>
        <p:spPr>
          <a:xfrm>
            <a:off x="1714500" y="5647766"/>
            <a:ext cx="8763000" cy="410135"/>
          </a:xfrm>
          <a:prstGeom prst="rect">
            <a:avLst/>
          </a:prstGeom>
          <a:solidFill>
            <a:schemeClr val="bg1">
              <a:lumMod val="95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400" b="1" dirty="0">
                <a:solidFill>
                  <a:srgbClr val="000000"/>
                </a:solidFill>
              </a:rPr>
              <a:t>Question: should the ‘shadow banking’ industry be regulated?</a:t>
            </a:r>
          </a:p>
        </p:txBody>
      </p:sp>
    </p:spTree>
    <p:extLst>
      <p:ext uri="{BB962C8B-B14F-4D97-AF65-F5344CB8AC3E}">
        <p14:creationId xmlns:p14="http://schemas.microsoft.com/office/powerpoint/2010/main" val="32477129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D30CCEF-CBA1-44A0-90D9-0985D31F6A0C}"/>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7D30CCEF-CBA1-44A0-90D9-0985D31F6A0C}"/>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pic>
        <p:nvPicPr>
          <p:cNvPr id="4" name="Picture 2">
            <a:extLst>
              <a:ext uri="{FF2B5EF4-FFF2-40B4-BE49-F238E27FC236}">
                <a16:creationId xmlns:a16="http://schemas.microsoft.com/office/drawing/2014/main" id="{F2333637-597D-45F9-B0C4-D14FB478AF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0804" y="1833145"/>
            <a:ext cx="4554192" cy="3725110"/>
          </a:xfrm>
          <a:prstGeom prst="roundRect">
            <a:avLst>
              <a:gd name="adj" fmla="val 8594"/>
            </a:avLst>
          </a:prstGeom>
          <a:solidFill>
            <a:srgbClr val="FFFFFF">
              <a:shade val="85000"/>
            </a:srgbClr>
          </a:solidFill>
          <a:ln>
            <a:noFill/>
          </a:ln>
          <a:effectLst/>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93401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B1C8C5E-34A0-79BA-00A4-2D1061510204}"/>
              </a:ext>
            </a:extLst>
          </p:cNvPr>
          <p:cNvSpPr>
            <a:spLocks noGrp="1"/>
          </p:cNvSpPr>
          <p:nvPr>
            <p:ph type="title"/>
          </p:nvPr>
        </p:nvSpPr>
        <p:spPr/>
        <p:txBody>
          <a:bodyPr>
            <a:normAutofit/>
          </a:bodyPr>
          <a:lstStyle/>
          <a:p>
            <a:r>
              <a:rPr lang="hu-HU" dirty="0" err="1"/>
              <a:t>Result</a:t>
            </a:r>
            <a:r>
              <a:rPr lang="hu-HU" dirty="0"/>
              <a:t> of SREP</a:t>
            </a:r>
            <a:endParaRPr lang="en-GB" dirty="0"/>
          </a:p>
        </p:txBody>
      </p:sp>
      <p:pic>
        <p:nvPicPr>
          <p:cNvPr id="4" name="Kép 3">
            <a:extLst>
              <a:ext uri="{FF2B5EF4-FFF2-40B4-BE49-F238E27FC236}">
                <a16:creationId xmlns:a16="http://schemas.microsoft.com/office/drawing/2014/main" id="{17449EB5-7E20-BA1E-A988-38665B225296}"/>
              </a:ext>
            </a:extLst>
          </p:cNvPr>
          <p:cNvPicPr>
            <a:picLocks noChangeAspect="1"/>
          </p:cNvPicPr>
          <p:nvPr/>
        </p:nvPicPr>
        <p:blipFill>
          <a:blip r:embed="rId2"/>
          <a:stretch>
            <a:fillRect/>
          </a:stretch>
        </p:blipFill>
        <p:spPr>
          <a:xfrm>
            <a:off x="6516837" y="1906438"/>
            <a:ext cx="5284040" cy="3045124"/>
          </a:xfrm>
          <a:prstGeom prst="rect">
            <a:avLst/>
          </a:prstGeom>
        </p:spPr>
      </p:pic>
      <p:pic>
        <p:nvPicPr>
          <p:cNvPr id="5" name="Kép 4">
            <a:extLst>
              <a:ext uri="{FF2B5EF4-FFF2-40B4-BE49-F238E27FC236}">
                <a16:creationId xmlns:a16="http://schemas.microsoft.com/office/drawing/2014/main" id="{CD33CC66-A9C7-8234-FD0E-8FD25568E826}"/>
              </a:ext>
            </a:extLst>
          </p:cNvPr>
          <p:cNvPicPr>
            <a:picLocks noChangeAspect="1"/>
          </p:cNvPicPr>
          <p:nvPr/>
        </p:nvPicPr>
        <p:blipFill>
          <a:blip r:embed="rId3"/>
          <a:stretch>
            <a:fillRect/>
          </a:stretch>
        </p:blipFill>
        <p:spPr>
          <a:xfrm>
            <a:off x="456183" y="987341"/>
            <a:ext cx="5987659" cy="4697468"/>
          </a:xfrm>
          <a:prstGeom prst="rect">
            <a:avLst/>
          </a:prstGeom>
        </p:spPr>
      </p:pic>
    </p:spTree>
    <p:extLst>
      <p:ext uri="{BB962C8B-B14F-4D97-AF65-F5344CB8AC3E}">
        <p14:creationId xmlns:p14="http://schemas.microsoft.com/office/powerpoint/2010/main" val="39067017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8883B0E-7598-4DA2-B6B0-A903FFAA0502}"/>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4" name="Object 3" hidden="1">
                        <a:extLst>
                          <a:ext uri="{FF2B5EF4-FFF2-40B4-BE49-F238E27FC236}">
                            <a16:creationId xmlns:a16="http://schemas.microsoft.com/office/drawing/2014/main" id="{E8883B0E-7598-4DA2-B6B0-A903FFAA0502}"/>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3E23CD81-888D-4B8D-A448-E930113742CE}"/>
              </a:ext>
            </a:extLst>
          </p:cNvPr>
          <p:cNvSpPr/>
          <p:nvPr/>
        </p:nvSpPr>
        <p:spPr>
          <a:xfrm>
            <a:off x="2966323" y="1295401"/>
            <a:ext cx="3689857" cy="4825701"/>
          </a:xfrm>
          <a:prstGeom prst="rect">
            <a:avLst/>
          </a:prstGeom>
          <a:solidFill>
            <a:schemeClr val="bg1">
              <a:alpha val="6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t" anchorCtr="0" forceAA="0" compatLnSpc="1">
            <a:prstTxWarp prst="textNoShape">
              <a:avLst/>
            </a:prstTxWarp>
            <a:noAutofit/>
          </a:bodyPr>
          <a:lstStyle/>
          <a:p>
            <a:pPr algn="ctr"/>
            <a:r>
              <a:rPr lang="en-GB" sz="1400" b="1" dirty="0">
                <a:solidFill>
                  <a:srgbClr val="000000"/>
                </a:solidFill>
              </a:rPr>
              <a:t>Standardised Approaches</a:t>
            </a:r>
          </a:p>
        </p:txBody>
      </p:sp>
      <p:sp>
        <p:nvSpPr>
          <p:cNvPr id="13" name="Rectangle 12">
            <a:extLst>
              <a:ext uri="{FF2B5EF4-FFF2-40B4-BE49-F238E27FC236}">
                <a16:creationId xmlns:a16="http://schemas.microsoft.com/office/drawing/2014/main" id="{851A6C97-3FB0-4698-A5CF-EA76A2EF78A5}"/>
              </a:ext>
            </a:extLst>
          </p:cNvPr>
          <p:cNvSpPr/>
          <p:nvPr/>
        </p:nvSpPr>
        <p:spPr>
          <a:xfrm>
            <a:off x="6805638" y="1295401"/>
            <a:ext cx="3689857" cy="4825701"/>
          </a:xfrm>
          <a:prstGeom prst="rect">
            <a:avLst/>
          </a:prstGeom>
          <a:solidFill>
            <a:schemeClr val="bg1">
              <a:alpha val="6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t" anchorCtr="0" forceAA="0" compatLnSpc="1">
            <a:prstTxWarp prst="textNoShape">
              <a:avLst/>
            </a:prstTxWarp>
            <a:noAutofit/>
          </a:bodyPr>
          <a:lstStyle/>
          <a:p>
            <a:pPr algn="ctr"/>
            <a:r>
              <a:rPr lang="en-GB" sz="1400" b="1" dirty="0">
                <a:solidFill>
                  <a:srgbClr val="000000"/>
                </a:solidFill>
              </a:rPr>
              <a:t>Internal Model Approaches</a:t>
            </a:r>
          </a:p>
        </p:txBody>
      </p:sp>
      <p:sp>
        <p:nvSpPr>
          <p:cNvPr id="9" name="Rectangle 8">
            <a:extLst>
              <a:ext uri="{FF2B5EF4-FFF2-40B4-BE49-F238E27FC236}">
                <a16:creationId xmlns:a16="http://schemas.microsoft.com/office/drawing/2014/main" id="{6B04619A-EED6-4E7B-9980-6EB40DFA92B6}"/>
              </a:ext>
            </a:extLst>
          </p:cNvPr>
          <p:cNvSpPr/>
          <p:nvPr/>
        </p:nvSpPr>
        <p:spPr>
          <a:xfrm>
            <a:off x="1609066" y="1592132"/>
            <a:ext cx="8982735" cy="811357"/>
          </a:xfrm>
          <a:prstGeom prst="rect">
            <a:avLst/>
          </a:prstGeom>
          <a:solidFill>
            <a:schemeClr val="bg1">
              <a:alpha val="6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r>
              <a:rPr lang="en-GB" sz="1400" b="1" dirty="0">
                <a:solidFill>
                  <a:srgbClr val="000000"/>
                </a:solidFill>
              </a:rPr>
              <a:t>Credit</a:t>
            </a:r>
          </a:p>
          <a:p>
            <a:r>
              <a:rPr lang="en-GB" sz="1400" b="1" dirty="0">
                <a:solidFill>
                  <a:srgbClr val="000000"/>
                </a:solidFill>
              </a:rPr>
              <a:t>Risk</a:t>
            </a:r>
          </a:p>
        </p:txBody>
      </p:sp>
      <p:sp>
        <p:nvSpPr>
          <p:cNvPr id="10" name="Rectangle 9">
            <a:extLst>
              <a:ext uri="{FF2B5EF4-FFF2-40B4-BE49-F238E27FC236}">
                <a16:creationId xmlns:a16="http://schemas.microsoft.com/office/drawing/2014/main" id="{ADD2DFA8-83C4-49D6-A42B-FAC0FFA3B6D1}"/>
              </a:ext>
            </a:extLst>
          </p:cNvPr>
          <p:cNvSpPr/>
          <p:nvPr/>
        </p:nvSpPr>
        <p:spPr>
          <a:xfrm>
            <a:off x="1609066" y="4332941"/>
            <a:ext cx="8982735" cy="811357"/>
          </a:xfrm>
          <a:prstGeom prst="rect">
            <a:avLst/>
          </a:prstGeom>
          <a:solidFill>
            <a:schemeClr val="bg1">
              <a:alpha val="6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r>
              <a:rPr lang="en-GB" sz="1400" b="1" dirty="0">
                <a:solidFill>
                  <a:srgbClr val="000000"/>
                </a:solidFill>
              </a:rPr>
              <a:t>Market </a:t>
            </a:r>
          </a:p>
          <a:p>
            <a:r>
              <a:rPr lang="en-GB" sz="1400" b="1" dirty="0">
                <a:solidFill>
                  <a:srgbClr val="000000"/>
                </a:solidFill>
              </a:rPr>
              <a:t>Risk</a:t>
            </a:r>
          </a:p>
        </p:txBody>
      </p:sp>
      <p:sp>
        <p:nvSpPr>
          <p:cNvPr id="32" name="Rectangle 31">
            <a:extLst>
              <a:ext uri="{FF2B5EF4-FFF2-40B4-BE49-F238E27FC236}">
                <a16:creationId xmlns:a16="http://schemas.microsoft.com/office/drawing/2014/main" id="{C28CFA8A-3C0F-4534-912E-0B686E71DD7D}"/>
              </a:ext>
            </a:extLst>
          </p:cNvPr>
          <p:cNvSpPr/>
          <p:nvPr/>
        </p:nvSpPr>
        <p:spPr>
          <a:xfrm>
            <a:off x="1609066" y="3419338"/>
            <a:ext cx="8982735" cy="811357"/>
          </a:xfrm>
          <a:prstGeom prst="rect">
            <a:avLst/>
          </a:prstGeom>
          <a:solidFill>
            <a:schemeClr val="bg1">
              <a:alpha val="6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r>
              <a:rPr lang="en-GB" sz="1400" b="1" dirty="0">
                <a:solidFill>
                  <a:srgbClr val="000000"/>
                </a:solidFill>
              </a:rPr>
              <a:t>Counterparty</a:t>
            </a:r>
          </a:p>
          <a:p>
            <a:r>
              <a:rPr lang="en-GB" sz="1400" b="1" dirty="0">
                <a:solidFill>
                  <a:srgbClr val="000000"/>
                </a:solidFill>
              </a:rPr>
              <a:t>Credit</a:t>
            </a:r>
          </a:p>
          <a:p>
            <a:r>
              <a:rPr lang="en-GB" sz="1400" b="1" dirty="0">
                <a:solidFill>
                  <a:srgbClr val="000000"/>
                </a:solidFill>
              </a:rPr>
              <a:t>Risk</a:t>
            </a:r>
          </a:p>
        </p:txBody>
      </p:sp>
      <p:sp>
        <p:nvSpPr>
          <p:cNvPr id="33" name="Rectangle 32">
            <a:extLst>
              <a:ext uri="{FF2B5EF4-FFF2-40B4-BE49-F238E27FC236}">
                <a16:creationId xmlns:a16="http://schemas.microsoft.com/office/drawing/2014/main" id="{26BCBAE1-CA85-402B-A616-F73CD775056E}"/>
              </a:ext>
            </a:extLst>
          </p:cNvPr>
          <p:cNvSpPr/>
          <p:nvPr/>
        </p:nvSpPr>
        <p:spPr>
          <a:xfrm>
            <a:off x="1609066" y="5246544"/>
            <a:ext cx="8982735" cy="811357"/>
          </a:xfrm>
          <a:prstGeom prst="rect">
            <a:avLst/>
          </a:prstGeom>
          <a:solidFill>
            <a:schemeClr val="bg1">
              <a:alpha val="6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r>
              <a:rPr lang="en-GB" sz="1400" b="1" dirty="0">
                <a:solidFill>
                  <a:srgbClr val="000000"/>
                </a:solidFill>
              </a:rPr>
              <a:t>Operational</a:t>
            </a:r>
          </a:p>
          <a:p>
            <a:r>
              <a:rPr lang="en-GB" sz="1400" b="1" dirty="0">
                <a:solidFill>
                  <a:srgbClr val="000000"/>
                </a:solidFill>
              </a:rPr>
              <a:t>Risk</a:t>
            </a:r>
          </a:p>
        </p:txBody>
      </p:sp>
      <p:sp>
        <p:nvSpPr>
          <p:cNvPr id="34" name="Rectangle 33">
            <a:extLst>
              <a:ext uri="{FF2B5EF4-FFF2-40B4-BE49-F238E27FC236}">
                <a16:creationId xmlns:a16="http://schemas.microsoft.com/office/drawing/2014/main" id="{627F8D8D-5D12-463D-8AD6-0833C386C257}"/>
              </a:ext>
            </a:extLst>
          </p:cNvPr>
          <p:cNvSpPr/>
          <p:nvPr/>
        </p:nvSpPr>
        <p:spPr>
          <a:xfrm>
            <a:off x="1600201" y="2505735"/>
            <a:ext cx="8982735" cy="811357"/>
          </a:xfrm>
          <a:prstGeom prst="rect">
            <a:avLst/>
          </a:prstGeom>
          <a:solidFill>
            <a:schemeClr val="bg1">
              <a:alpha val="6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r>
              <a:rPr lang="en-GB" sz="1400" b="1" dirty="0">
                <a:solidFill>
                  <a:srgbClr val="000000"/>
                </a:solidFill>
              </a:rPr>
              <a:t>Securitisations</a:t>
            </a:r>
          </a:p>
        </p:txBody>
      </p:sp>
      <p:sp>
        <p:nvSpPr>
          <p:cNvPr id="2" name="Title 1">
            <a:extLst>
              <a:ext uri="{FF2B5EF4-FFF2-40B4-BE49-F238E27FC236}">
                <a16:creationId xmlns:a16="http://schemas.microsoft.com/office/drawing/2014/main" id="{A48DA319-67FB-42A5-B74C-52A410C256AB}"/>
              </a:ext>
            </a:extLst>
          </p:cNvPr>
          <p:cNvSpPr>
            <a:spLocks noGrp="1"/>
          </p:cNvSpPr>
          <p:nvPr>
            <p:ph type="title"/>
          </p:nvPr>
        </p:nvSpPr>
        <p:spPr/>
        <p:txBody>
          <a:bodyPr vert="horz">
            <a:normAutofit fontScale="90000"/>
          </a:bodyPr>
          <a:lstStyle/>
          <a:p>
            <a:r>
              <a:rPr lang="en-GB" dirty="0"/>
              <a:t>Pillar 1 – Minimum Capital Requirements</a:t>
            </a:r>
            <a:br>
              <a:rPr lang="en-GB" dirty="0"/>
            </a:br>
            <a:r>
              <a:rPr lang="en-GB" i="1" dirty="0">
                <a:solidFill>
                  <a:schemeClr val="accent2">
                    <a:lumMod val="75000"/>
                  </a:schemeClr>
                </a:solidFill>
              </a:rPr>
              <a:t>Approaches per risk type</a:t>
            </a:r>
            <a:endParaRPr lang="en-GB" dirty="0">
              <a:solidFill>
                <a:schemeClr val="accent2">
                  <a:lumMod val="75000"/>
                </a:schemeClr>
              </a:solidFill>
            </a:endParaRPr>
          </a:p>
        </p:txBody>
      </p:sp>
      <p:sp>
        <p:nvSpPr>
          <p:cNvPr id="16" name="Rectangle 15">
            <a:extLst>
              <a:ext uri="{FF2B5EF4-FFF2-40B4-BE49-F238E27FC236}">
                <a16:creationId xmlns:a16="http://schemas.microsoft.com/office/drawing/2014/main" id="{34D39DE5-9D47-420D-A08E-D2E6B6A9ACE6}"/>
              </a:ext>
            </a:extLst>
          </p:cNvPr>
          <p:cNvSpPr/>
          <p:nvPr/>
        </p:nvSpPr>
        <p:spPr>
          <a:xfrm>
            <a:off x="3073997" y="1768884"/>
            <a:ext cx="3442232" cy="494852"/>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a:solidFill>
                  <a:srgbClr val="000000"/>
                </a:solidFill>
              </a:rPr>
              <a:t>Standardised Approach</a:t>
            </a:r>
          </a:p>
        </p:txBody>
      </p:sp>
      <p:sp>
        <p:nvSpPr>
          <p:cNvPr id="20" name="Rectangle 19">
            <a:extLst>
              <a:ext uri="{FF2B5EF4-FFF2-40B4-BE49-F238E27FC236}">
                <a16:creationId xmlns:a16="http://schemas.microsoft.com/office/drawing/2014/main" id="{FA6D4A34-5323-490F-B56F-7F71C38A1D44}"/>
              </a:ext>
            </a:extLst>
          </p:cNvPr>
          <p:cNvSpPr/>
          <p:nvPr/>
        </p:nvSpPr>
        <p:spPr>
          <a:xfrm>
            <a:off x="3073997" y="4491192"/>
            <a:ext cx="3442232" cy="494852"/>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a:solidFill>
                  <a:srgbClr val="000000"/>
                </a:solidFill>
              </a:rPr>
              <a:t>Standardised Approach</a:t>
            </a:r>
          </a:p>
        </p:txBody>
      </p:sp>
      <p:grpSp>
        <p:nvGrpSpPr>
          <p:cNvPr id="35" name="Group 34">
            <a:extLst>
              <a:ext uri="{FF2B5EF4-FFF2-40B4-BE49-F238E27FC236}">
                <a16:creationId xmlns:a16="http://schemas.microsoft.com/office/drawing/2014/main" id="{DDAABCC8-58E2-427E-A307-AC39DF3753FE}"/>
              </a:ext>
            </a:extLst>
          </p:cNvPr>
          <p:cNvGrpSpPr/>
          <p:nvPr/>
        </p:nvGrpSpPr>
        <p:grpSpPr>
          <a:xfrm>
            <a:off x="6929765" y="5404795"/>
            <a:ext cx="3441600" cy="494852"/>
            <a:chOff x="6965575" y="4080984"/>
            <a:chExt cx="2304365" cy="494852"/>
          </a:xfrm>
        </p:grpSpPr>
        <p:sp>
          <p:nvSpPr>
            <p:cNvPr id="23" name="Rectangle 22">
              <a:extLst>
                <a:ext uri="{FF2B5EF4-FFF2-40B4-BE49-F238E27FC236}">
                  <a16:creationId xmlns:a16="http://schemas.microsoft.com/office/drawing/2014/main" id="{D8C39C30-62DE-412E-89E6-BA88A75E57C9}"/>
                </a:ext>
              </a:extLst>
            </p:cNvPr>
            <p:cNvSpPr/>
            <p:nvPr/>
          </p:nvSpPr>
          <p:spPr>
            <a:xfrm>
              <a:off x="6965575" y="4080984"/>
              <a:ext cx="2304365" cy="494852"/>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a:solidFill>
                    <a:srgbClr val="000000"/>
                  </a:solidFill>
                </a:rPr>
                <a:t>Advanced Measurement Approach (AMA)</a:t>
              </a:r>
            </a:p>
          </p:txBody>
        </p:sp>
        <p:cxnSp>
          <p:nvCxnSpPr>
            <p:cNvPr id="27" name="Straight Connector 26">
              <a:extLst>
                <a:ext uri="{FF2B5EF4-FFF2-40B4-BE49-F238E27FC236}">
                  <a16:creationId xmlns:a16="http://schemas.microsoft.com/office/drawing/2014/main" id="{6B3BF1AF-6283-42DD-80E4-8D915434973A}"/>
                </a:ext>
              </a:extLst>
            </p:cNvPr>
            <p:cNvCxnSpPr/>
            <p:nvPr/>
          </p:nvCxnSpPr>
          <p:spPr>
            <a:xfrm>
              <a:off x="6965575" y="4080984"/>
              <a:ext cx="2304365" cy="494852"/>
            </a:xfrm>
            <a:prstGeom prst="line">
              <a:avLst/>
            </a:prstGeom>
            <a:ln w="15875">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7CDF2F97-81B8-4C65-86BF-8FF5CDF8ECA3}"/>
                </a:ext>
              </a:extLst>
            </p:cNvPr>
            <p:cNvCxnSpPr>
              <a:cxnSpLocks/>
            </p:cNvCxnSpPr>
            <p:nvPr/>
          </p:nvCxnSpPr>
          <p:spPr>
            <a:xfrm flipV="1">
              <a:off x="6965575" y="4080984"/>
              <a:ext cx="2304365" cy="494852"/>
            </a:xfrm>
            <a:prstGeom prst="line">
              <a:avLst/>
            </a:prstGeom>
            <a:ln w="15875">
              <a:solidFill>
                <a:srgbClr val="FF0000"/>
              </a:solidFill>
            </a:ln>
            <a:effectLst/>
          </p:spPr>
          <p:style>
            <a:lnRef idx="2">
              <a:schemeClr val="accent1"/>
            </a:lnRef>
            <a:fillRef idx="0">
              <a:schemeClr val="accent1"/>
            </a:fillRef>
            <a:effectRef idx="1">
              <a:schemeClr val="accent1"/>
            </a:effectRef>
            <a:fontRef idx="minor">
              <a:schemeClr val="tx1"/>
            </a:fontRef>
          </p:style>
        </p:cxnSp>
      </p:grpSp>
      <p:grpSp>
        <p:nvGrpSpPr>
          <p:cNvPr id="39" name="Group 38">
            <a:extLst>
              <a:ext uri="{FF2B5EF4-FFF2-40B4-BE49-F238E27FC236}">
                <a16:creationId xmlns:a16="http://schemas.microsoft.com/office/drawing/2014/main" id="{861A26BD-2A28-402C-AF89-2F9B5F69A07A}"/>
              </a:ext>
            </a:extLst>
          </p:cNvPr>
          <p:cNvGrpSpPr/>
          <p:nvPr/>
        </p:nvGrpSpPr>
        <p:grpSpPr>
          <a:xfrm>
            <a:off x="6929765" y="1743461"/>
            <a:ext cx="3441600" cy="552452"/>
            <a:chOff x="6057984" y="1768884"/>
            <a:chExt cx="2988000" cy="552452"/>
          </a:xfrm>
        </p:grpSpPr>
        <p:sp>
          <p:nvSpPr>
            <p:cNvPr id="17" name="Rectangle 16">
              <a:extLst>
                <a:ext uri="{FF2B5EF4-FFF2-40B4-BE49-F238E27FC236}">
                  <a16:creationId xmlns:a16="http://schemas.microsoft.com/office/drawing/2014/main" id="{0CEDB42C-9141-40B6-AD61-83B10981C44C}"/>
                </a:ext>
              </a:extLst>
            </p:cNvPr>
            <p:cNvSpPr/>
            <p:nvPr/>
          </p:nvSpPr>
          <p:spPr>
            <a:xfrm>
              <a:off x="6057984" y="1768884"/>
              <a:ext cx="2988000" cy="275069"/>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a:solidFill>
                    <a:srgbClr val="000000"/>
                  </a:solidFill>
                </a:rPr>
                <a:t>Internal Ratings Based Approach (IRB)</a:t>
              </a:r>
            </a:p>
          </p:txBody>
        </p:sp>
        <p:sp>
          <p:nvSpPr>
            <p:cNvPr id="36" name="Rectangle 35">
              <a:extLst>
                <a:ext uri="{FF2B5EF4-FFF2-40B4-BE49-F238E27FC236}">
                  <a16:creationId xmlns:a16="http://schemas.microsoft.com/office/drawing/2014/main" id="{315F0ACF-B1F8-4288-9808-CFB7AF9F7356}"/>
                </a:ext>
              </a:extLst>
            </p:cNvPr>
            <p:cNvSpPr/>
            <p:nvPr/>
          </p:nvSpPr>
          <p:spPr>
            <a:xfrm>
              <a:off x="6057984" y="2043953"/>
              <a:ext cx="999032" cy="275069"/>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i="1" dirty="0">
                  <a:solidFill>
                    <a:srgbClr val="000000"/>
                  </a:solidFill>
                </a:rPr>
                <a:t>Retail</a:t>
              </a:r>
            </a:p>
          </p:txBody>
        </p:sp>
        <p:sp>
          <p:nvSpPr>
            <p:cNvPr id="37" name="Rectangle 36">
              <a:extLst>
                <a:ext uri="{FF2B5EF4-FFF2-40B4-BE49-F238E27FC236}">
                  <a16:creationId xmlns:a16="http://schemas.microsoft.com/office/drawing/2014/main" id="{6B658CFF-4FF3-48B9-A6D2-2F87329B62D1}"/>
                </a:ext>
              </a:extLst>
            </p:cNvPr>
            <p:cNvSpPr/>
            <p:nvPr/>
          </p:nvSpPr>
          <p:spPr>
            <a:xfrm>
              <a:off x="7052468" y="2046267"/>
              <a:ext cx="999032" cy="275069"/>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i="1" dirty="0">
                  <a:solidFill>
                    <a:srgbClr val="000000"/>
                  </a:solidFill>
                </a:rPr>
                <a:t>Foundation</a:t>
              </a:r>
            </a:p>
          </p:txBody>
        </p:sp>
        <p:sp>
          <p:nvSpPr>
            <p:cNvPr id="38" name="Rectangle 37">
              <a:extLst>
                <a:ext uri="{FF2B5EF4-FFF2-40B4-BE49-F238E27FC236}">
                  <a16:creationId xmlns:a16="http://schemas.microsoft.com/office/drawing/2014/main" id="{673C45A3-AADD-4C60-92A5-32AE3DD0F378}"/>
                </a:ext>
              </a:extLst>
            </p:cNvPr>
            <p:cNvSpPr/>
            <p:nvPr/>
          </p:nvSpPr>
          <p:spPr>
            <a:xfrm>
              <a:off x="8046952" y="2046267"/>
              <a:ext cx="999032" cy="275069"/>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i="1" dirty="0">
                  <a:solidFill>
                    <a:srgbClr val="000000"/>
                  </a:solidFill>
                </a:rPr>
                <a:t>Advanced</a:t>
              </a:r>
            </a:p>
          </p:txBody>
        </p:sp>
      </p:grpSp>
      <p:sp>
        <p:nvSpPr>
          <p:cNvPr id="40" name="Rectangle 39">
            <a:extLst>
              <a:ext uri="{FF2B5EF4-FFF2-40B4-BE49-F238E27FC236}">
                <a16:creationId xmlns:a16="http://schemas.microsoft.com/office/drawing/2014/main" id="{FC87CE02-2D1E-4DD1-B4F5-85A6F519793F}"/>
              </a:ext>
            </a:extLst>
          </p:cNvPr>
          <p:cNvSpPr/>
          <p:nvPr/>
        </p:nvSpPr>
        <p:spPr>
          <a:xfrm>
            <a:off x="3073997" y="2612749"/>
            <a:ext cx="3442232" cy="288000"/>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a:solidFill>
                  <a:srgbClr val="000000"/>
                </a:solidFill>
              </a:rPr>
              <a:t>Standardised Approach (SEC-SA)</a:t>
            </a:r>
          </a:p>
        </p:txBody>
      </p:sp>
      <p:sp>
        <p:nvSpPr>
          <p:cNvPr id="41" name="Rectangle 40">
            <a:extLst>
              <a:ext uri="{FF2B5EF4-FFF2-40B4-BE49-F238E27FC236}">
                <a16:creationId xmlns:a16="http://schemas.microsoft.com/office/drawing/2014/main" id="{43A77187-84CB-40B6-BA0F-1B3760AB24AC}"/>
              </a:ext>
            </a:extLst>
          </p:cNvPr>
          <p:cNvSpPr/>
          <p:nvPr/>
        </p:nvSpPr>
        <p:spPr>
          <a:xfrm>
            <a:off x="3073997" y="2972860"/>
            <a:ext cx="3442232" cy="288000"/>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a:solidFill>
                  <a:srgbClr val="000000"/>
                </a:solidFill>
              </a:rPr>
              <a:t>External Ratings Based Approach (SEC-</a:t>
            </a:r>
            <a:r>
              <a:rPr lang="en-GB" sz="1200" dirty="0" err="1">
                <a:solidFill>
                  <a:srgbClr val="000000"/>
                </a:solidFill>
              </a:rPr>
              <a:t>ERBA</a:t>
            </a:r>
            <a:r>
              <a:rPr lang="en-GB" sz="1200" dirty="0">
                <a:solidFill>
                  <a:srgbClr val="000000"/>
                </a:solidFill>
              </a:rPr>
              <a:t>)</a:t>
            </a:r>
          </a:p>
        </p:txBody>
      </p:sp>
      <p:sp>
        <p:nvSpPr>
          <p:cNvPr id="42" name="Rectangle 41">
            <a:extLst>
              <a:ext uri="{FF2B5EF4-FFF2-40B4-BE49-F238E27FC236}">
                <a16:creationId xmlns:a16="http://schemas.microsoft.com/office/drawing/2014/main" id="{4ED16366-1BD3-4CF6-87C7-D3223BDE7F49}"/>
              </a:ext>
            </a:extLst>
          </p:cNvPr>
          <p:cNvSpPr/>
          <p:nvPr/>
        </p:nvSpPr>
        <p:spPr>
          <a:xfrm>
            <a:off x="6929765" y="2612749"/>
            <a:ext cx="3441600" cy="288000"/>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a:solidFill>
                  <a:srgbClr val="000000"/>
                </a:solidFill>
              </a:rPr>
              <a:t>Internal Assessment Approach (SEC-IAA)</a:t>
            </a:r>
          </a:p>
        </p:txBody>
      </p:sp>
      <p:sp>
        <p:nvSpPr>
          <p:cNvPr id="44" name="Rectangle 43">
            <a:extLst>
              <a:ext uri="{FF2B5EF4-FFF2-40B4-BE49-F238E27FC236}">
                <a16:creationId xmlns:a16="http://schemas.microsoft.com/office/drawing/2014/main" id="{0DE85DD7-61FE-4107-B3C4-F9B05F5CD709}"/>
              </a:ext>
            </a:extLst>
          </p:cNvPr>
          <p:cNvSpPr/>
          <p:nvPr/>
        </p:nvSpPr>
        <p:spPr>
          <a:xfrm>
            <a:off x="6929133" y="4492623"/>
            <a:ext cx="3442232" cy="494852"/>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a:solidFill>
                  <a:srgbClr val="000000"/>
                </a:solidFill>
              </a:rPr>
              <a:t>Internal Models Approach (IMA)</a:t>
            </a:r>
          </a:p>
        </p:txBody>
      </p:sp>
      <p:sp>
        <p:nvSpPr>
          <p:cNvPr id="46" name="Rectangle 45">
            <a:extLst>
              <a:ext uri="{FF2B5EF4-FFF2-40B4-BE49-F238E27FC236}">
                <a16:creationId xmlns:a16="http://schemas.microsoft.com/office/drawing/2014/main" id="{7BA96241-541F-4A01-B01B-DBD223D1CB61}"/>
              </a:ext>
            </a:extLst>
          </p:cNvPr>
          <p:cNvSpPr/>
          <p:nvPr/>
        </p:nvSpPr>
        <p:spPr>
          <a:xfrm>
            <a:off x="6929765" y="3870434"/>
            <a:ext cx="3441600" cy="288000"/>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a:solidFill>
                  <a:srgbClr val="000000"/>
                </a:solidFill>
              </a:rPr>
              <a:t>Internal Models Method (IMA-CVA)</a:t>
            </a:r>
          </a:p>
        </p:txBody>
      </p:sp>
      <p:cxnSp>
        <p:nvCxnSpPr>
          <p:cNvPr id="47" name="Straight Connector 46">
            <a:extLst>
              <a:ext uri="{FF2B5EF4-FFF2-40B4-BE49-F238E27FC236}">
                <a16:creationId xmlns:a16="http://schemas.microsoft.com/office/drawing/2014/main" id="{5F8D06C9-85B5-46F8-ACB5-5DD190F84791}"/>
              </a:ext>
            </a:extLst>
          </p:cNvPr>
          <p:cNvCxnSpPr/>
          <p:nvPr/>
        </p:nvCxnSpPr>
        <p:spPr>
          <a:xfrm>
            <a:off x="6929765" y="3870434"/>
            <a:ext cx="3441600" cy="288000"/>
          </a:xfrm>
          <a:prstGeom prst="line">
            <a:avLst/>
          </a:prstGeom>
          <a:ln w="15875">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A2D1323-836B-4F76-BF19-CE7831E56313}"/>
              </a:ext>
            </a:extLst>
          </p:cNvPr>
          <p:cNvCxnSpPr>
            <a:cxnSpLocks/>
          </p:cNvCxnSpPr>
          <p:nvPr/>
        </p:nvCxnSpPr>
        <p:spPr>
          <a:xfrm flipV="1">
            <a:off x="6929765" y="3870434"/>
            <a:ext cx="3441600" cy="288000"/>
          </a:xfrm>
          <a:prstGeom prst="line">
            <a:avLst/>
          </a:prstGeom>
          <a:ln w="15875">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D820106F-A756-4135-8606-7694DFF9013C}"/>
              </a:ext>
            </a:extLst>
          </p:cNvPr>
          <p:cNvSpPr/>
          <p:nvPr/>
        </p:nvSpPr>
        <p:spPr>
          <a:xfrm>
            <a:off x="3073997" y="3510323"/>
            <a:ext cx="3442232" cy="288000"/>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a:solidFill>
                  <a:srgbClr val="000000"/>
                </a:solidFill>
              </a:rPr>
              <a:t>Standardised Approach (SA-CCR)</a:t>
            </a:r>
          </a:p>
        </p:txBody>
      </p:sp>
      <p:sp>
        <p:nvSpPr>
          <p:cNvPr id="52" name="Rectangle 51">
            <a:extLst>
              <a:ext uri="{FF2B5EF4-FFF2-40B4-BE49-F238E27FC236}">
                <a16:creationId xmlns:a16="http://schemas.microsoft.com/office/drawing/2014/main" id="{5A8C0E36-2DCF-471C-BAF0-8EF4754D14B1}"/>
              </a:ext>
            </a:extLst>
          </p:cNvPr>
          <p:cNvSpPr/>
          <p:nvPr/>
        </p:nvSpPr>
        <p:spPr>
          <a:xfrm>
            <a:off x="3073998" y="3870434"/>
            <a:ext cx="1715974" cy="288000"/>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a:solidFill>
                  <a:srgbClr val="000000"/>
                </a:solidFill>
              </a:rPr>
              <a:t>Basic CVA (BA-CVA)</a:t>
            </a:r>
          </a:p>
        </p:txBody>
      </p:sp>
      <p:sp>
        <p:nvSpPr>
          <p:cNvPr id="53" name="Rectangle 52">
            <a:extLst>
              <a:ext uri="{FF2B5EF4-FFF2-40B4-BE49-F238E27FC236}">
                <a16:creationId xmlns:a16="http://schemas.microsoft.com/office/drawing/2014/main" id="{67A05EF0-7624-4B9E-A102-F5FFE1074DE9}"/>
              </a:ext>
            </a:extLst>
          </p:cNvPr>
          <p:cNvSpPr/>
          <p:nvPr/>
        </p:nvSpPr>
        <p:spPr>
          <a:xfrm>
            <a:off x="4800256" y="3870434"/>
            <a:ext cx="1715974" cy="288000"/>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err="1">
                <a:solidFill>
                  <a:srgbClr val="000000"/>
                </a:solidFill>
              </a:rPr>
              <a:t>Standar’d</a:t>
            </a:r>
            <a:r>
              <a:rPr lang="en-GB" sz="1200" dirty="0">
                <a:solidFill>
                  <a:srgbClr val="000000"/>
                </a:solidFill>
              </a:rPr>
              <a:t> CVA (SA-CVA)</a:t>
            </a:r>
          </a:p>
        </p:txBody>
      </p:sp>
      <p:sp>
        <p:nvSpPr>
          <p:cNvPr id="55" name="Rectangle 54">
            <a:extLst>
              <a:ext uri="{FF2B5EF4-FFF2-40B4-BE49-F238E27FC236}">
                <a16:creationId xmlns:a16="http://schemas.microsoft.com/office/drawing/2014/main" id="{C5325B40-552B-4C7A-BC6E-C7A6DDBCF176}"/>
              </a:ext>
            </a:extLst>
          </p:cNvPr>
          <p:cNvSpPr/>
          <p:nvPr/>
        </p:nvSpPr>
        <p:spPr>
          <a:xfrm>
            <a:off x="6929765" y="3510174"/>
            <a:ext cx="3441600" cy="288000"/>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a:solidFill>
                  <a:srgbClr val="000000"/>
                </a:solidFill>
              </a:rPr>
              <a:t>Internal Models Method (</a:t>
            </a:r>
            <a:r>
              <a:rPr lang="en-GB" sz="1200" dirty="0" err="1">
                <a:solidFill>
                  <a:srgbClr val="000000"/>
                </a:solidFill>
              </a:rPr>
              <a:t>IMM</a:t>
            </a:r>
            <a:r>
              <a:rPr lang="en-GB" sz="1200" dirty="0">
                <a:solidFill>
                  <a:srgbClr val="000000"/>
                </a:solidFill>
              </a:rPr>
              <a:t>-CCR)</a:t>
            </a:r>
          </a:p>
        </p:txBody>
      </p:sp>
      <p:grpSp>
        <p:nvGrpSpPr>
          <p:cNvPr id="59" name="Group 58">
            <a:extLst>
              <a:ext uri="{FF2B5EF4-FFF2-40B4-BE49-F238E27FC236}">
                <a16:creationId xmlns:a16="http://schemas.microsoft.com/office/drawing/2014/main" id="{B072D78E-4318-47D2-A461-5B791083F48C}"/>
              </a:ext>
            </a:extLst>
          </p:cNvPr>
          <p:cNvGrpSpPr/>
          <p:nvPr/>
        </p:nvGrpSpPr>
        <p:grpSpPr>
          <a:xfrm>
            <a:off x="6929765" y="6223347"/>
            <a:ext cx="613334" cy="288000"/>
            <a:chOff x="4808196" y="6252170"/>
            <a:chExt cx="3441600" cy="288000"/>
          </a:xfrm>
        </p:grpSpPr>
        <p:sp>
          <p:nvSpPr>
            <p:cNvPr id="56" name="Rectangle 55">
              <a:extLst>
                <a:ext uri="{FF2B5EF4-FFF2-40B4-BE49-F238E27FC236}">
                  <a16:creationId xmlns:a16="http://schemas.microsoft.com/office/drawing/2014/main" id="{3E5C46F7-F937-4AC8-BF2D-00BBFF020322}"/>
                </a:ext>
              </a:extLst>
            </p:cNvPr>
            <p:cNvSpPr/>
            <p:nvPr/>
          </p:nvSpPr>
          <p:spPr>
            <a:xfrm>
              <a:off x="4808196" y="6252170"/>
              <a:ext cx="3441600" cy="288000"/>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endParaRPr lang="en-GB" sz="1200" dirty="0">
                <a:solidFill>
                  <a:srgbClr val="000000"/>
                </a:solidFill>
              </a:endParaRPr>
            </a:p>
          </p:txBody>
        </p:sp>
        <p:cxnSp>
          <p:nvCxnSpPr>
            <p:cNvPr id="57" name="Straight Connector 56">
              <a:extLst>
                <a:ext uri="{FF2B5EF4-FFF2-40B4-BE49-F238E27FC236}">
                  <a16:creationId xmlns:a16="http://schemas.microsoft.com/office/drawing/2014/main" id="{182AAD70-E76F-4618-A94D-E48EF162E2D7}"/>
                </a:ext>
              </a:extLst>
            </p:cNvPr>
            <p:cNvCxnSpPr/>
            <p:nvPr/>
          </p:nvCxnSpPr>
          <p:spPr>
            <a:xfrm>
              <a:off x="4808196" y="6252170"/>
              <a:ext cx="3441600" cy="288000"/>
            </a:xfrm>
            <a:prstGeom prst="line">
              <a:avLst/>
            </a:prstGeom>
            <a:ln w="15875">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001B353A-5F9B-46CC-BA20-E43F861926B0}"/>
                </a:ext>
              </a:extLst>
            </p:cNvPr>
            <p:cNvCxnSpPr>
              <a:cxnSpLocks/>
            </p:cNvCxnSpPr>
            <p:nvPr/>
          </p:nvCxnSpPr>
          <p:spPr>
            <a:xfrm flipV="1">
              <a:off x="4808196" y="6252170"/>
              <a:ext cx="3441600" cy="288000"/>
            </a:xfrm>
            <a:prstGeom prst="line">
              <a:avLst/>
            </a:prstGeom>
            <a:ln w="15875">
              <a:solidFill>
                <a:srgbClr val="FF0000"/>
              </a:solidFill>
            </a:ln>
            <a:effectLst/>
          </p:spPr>
          <p:style>
            <a:lnRef idx="2">
              <a:schemeClr val="accent1"/>
            </a:lnRef>
            <a:fillRef idx="0">
              <a:schemeClr val="accent1"/>
            </a:fillRef>
            <a:effectRef idx="1">
              <a:schemeClr val="accent1"/>
            </a:effectRef>
            <a:fontRef idx="minor">
              <a:schemeClr val="tx1"/>
            </a:fontRef>
          </p:style>
        </p:cxnSp>
      </p:grpSp>
      <p:sp>
        <p:nvSpPr>
          <p:cNvPr id="60" name="TextBox 59">
            <a:extLst>
              <a:ext uri="{FF2B5EF4-FFF2-40B4-BE49-F238E27FC236}">
                <a16:creationId xmlns:a16="http://schemas.microsoft.com/office/drawing/2014/main" id="{7F436C07-E79D-4718-969D-40CF1E8A2DC2}"/>
              </a:ext>
            </a:extLst>
          </p:cNvPr>
          <p:cNvSpPr txBox="1"/>
          <p:nvPr/>
        </p:nvSpPr>
        <p:spPr>
          <a:xfrm>
            <a:off x="7651377" y="6223347"/>
            <a:ext cx="2719989" cy="288000"/>
          </a:xfrm>
          <a:prstGeom prst="rect">
            <a:avLst/>
          </a:prstGeom>
          <a:noFill/>
        </p:spPr>
        <p:txBody>
          <a:bodyPr wrap="square" rtlCol="0">
            <a:noAutofit/>
          </a:bodyPr>
          <a:lstStyle/>
          <a:p>
            <a:r>
              <a:rPr lang="en-GB" sz="1000" dirty="0">
                <a:cs typeface="Trebuchet MS"/>
              </a:rPr>
              <a:t>Removed by 2017 Basel III updates</a:t>
            </a:r>
          </a:p>
        </p:txBody>
      </p:sp>
      <p:sp>
        <p:nvSpPr>
          <p:cNvPr id="61" name="Rectangle 60">
            <a:extLst>
              <a:ext uri="{FF2B5EF4-FFF2-40B4-BE49-F238E27FC236}">
                <a16:creationId xmlns:a16="http://schemas.microsoft.com/office/drawing/2014/main" id="{9ED45EC9-9548-43F9-8812-CA1EDB36E7CE}"/>
              </a:ext>
            </a:extLst>
          </p:cNvPr>
          <p:cNvSpPr/>
          <p:nvPr/>
        </p:nvSpPr>
        <p:spPr>
          <a:xfrm>
            <a:off x="6929765" y="2970325"/>
            <a:ext cx="3441600" cy="288000"/>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a:solidFill>
                  <a:srgbClr val="000000"/>
                </a:solidFill>
              </a:rPr>
              <a:t>Internal Ratings Based Approach (SEC-</a:t>
            </a:r>
            <a:r>
              <a:rPr lang="en-GB" sz="1200" dirty="0" err="1">
                <a:solidFill>
                  <a:srgbClr val="000000"/>
                </a:solidFill>
              </a:rPr>
              <a:t>IRBA</a:t>
            </a:r>
            <a:r>
              <a:rPr lang="en-GB" sz="1200" dirty="0">
                <a:solidFill>
                  <a:srgbClr val="000000"/>
                </a:solidFill>
              </a:rPr>
              <a:t>)</a:t>
            </a:r>
          </a:p>
        </p:txBody>
      </p:sp>
      <p:sp>
        <p:nvSpPr>
          <p:cNvPr id="22" name="Rectangle 21">
            <a:extLst>
              <a:ext uri="{FF2B5EF4-FFF2-40B4-BE49-F238E27FC236}">
                <a16:creationId xmlns:a16="http://schemas.microsoft.com/office/drawing/2014/main" id="{0FDF7C3E-AD89-48B9-BF0F-AC6FFA3B6427}"/>
              </a:ext>
            </a:extLst>
          </p:cNvPr>
          <p:cNvSpPr/>
          <p:nvPr/>
        </p:nvSpPr>
        <p:spPr>
          <a:xfrm>
            <a:off x="3073998" y="5645117"/>
            <a:ext cx="1715975" cy="353734"/>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a:solidFill>
                  <a:srgbClr val="000000"/>
                </a:solidFill>
              </a:rPr>
              <a:t>Standardised Approach</a:t>
            </a:r>
          </a:p>
        </p:txBody>
      </p:sp>
      <p:sp>
        <p:nvSpPr>
          <p:cNvPr id="43" name="Rectangle 42">
            <a:extLst>
              <a:ext uri="{FF2B5EF4-FFF2-40B4-BE49-F238E27FC236}">
                <a16:creationId xmlns:a16="http://schemas.microsoft.com/office/drawing/2014/main" id="{9D7B4C6F-38AF-4927-9E3A-F1DDF98D00B6}"/>
              </a:ext>
            </a:extLst>
          </p:cNvPr>
          <p:cNvSpPr/>
          <p:nvPr/>
        </p:nvSpPr>
        <p:spPr>
          <a:xfrm>
            <a:off x="4789973" y="5305591"/>
            <a:ext cx="1726257" cy="346166"/>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a:solidFill>
                  <a:srgbClr val="000000"/>
                </a:solidFill>
              </a:rPr>
              <a:t>Basic Indicator Approach</a:t>
            </a:r>
          </a:p>
        </p:txBody>
      </p:sp>
      <p:sp>
        <p:nvSpPr>
          <p:cNvPr id="45" name="Rectangle 44">
            <a:extLst>
              <a:ext uri="{FF2B5EF4-FFF2-40B4-BE49-F238E27FC236}">
                <a16:creationId xmlns:a16="http://schemas.microsoft.com/office/drawing/2014/main" id="{BB120B63-CEB3-417B-8C18-995DB47F18CE}"/>
              </a:ext>
            </a:extLst>
          </p:cNvPr>
          <p:cNvSpPr/>
          <p:nvPr/>
        </p:nvSpPr>
        <p:spPr>
          <a:xfrm>
            <a:off x="4789974" y="5658861"/>
            <a:ext cx="1726257" cy="346166"/>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a:solidFill>
                  <a:srgbClr val="000000"/>
                </a:solidFill>
              </a:rPr>
              <a:t>Alternative Standardised Approach</a:t>
            </a:r>
          </a:p>
        </p:txBody>
      </p:sp>
      <p:cxnSp>
        <p:nvCxnSpPr>
          <p:cNvPr id="49" name="Straight Connector 48">
            <a:extLst>
              <a:ext uri="{FF2B5EF4-FFF2-40B4-BE49-F238E27FC236}">
                <a16:creationId xmlns:a16="http://schemas.microsoft.com/office/drawing/2014/main" id="{8A4F6665-A014-4944-90F7-19A8F67BAD39}"/>
              </a:ext>
            </a:extLst>
          </p:cNvPr>
          <p:cNvCxnSpPr>
            <a:cxnSpLocks/>
          </p:cNvCxnSpPr>
          <p:nvPr/>
        </p:nvCxnSpPr>
        <p:spPr>
          <a:xfrm flipV="1">
            <a:off x="4800257" y="5302550"/>
            <a:ext cx="1715973" cy="366532"/>
          </a:xfrm>
          <a:prstGeom prst="line">
            <a:avLst/>
          </a:prstGeom>
          <a:ln w="15875">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093838EE-EFC8-4E76-85D3-59F6A48DBDB6}"/>
              </a:ext>
            </a:extLst>
          </p:cNvPr>
          <p:cNvCxnSpPr>
            <a:cxnSpLocks/>
          </p:cNvCxnSpPr>
          <p:nvPr/>
        </p:nvCxnSpPr>
        <p:spPr>
          <a:xfrm flipV="1">
            <a:off x="4811250" y="5651757"/>
            <a:ext cx="1704980" cy="353270"/>
          </a:xfrm>
          <a:prstGeom prst="line">
            <a:avLst/>
          </a:prstGeom>
          <a:ln w="15875">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01A9B574-AD17-4EA2-BBB0-E2A9142BAC67}"/>
              </a:ext>
            </a:extLst>
          </p:cNvPr>
          <p:cNvCxnSpPr>
            <a:cxnSpLocks/>
          </p:cNvCxnSpPr>
          <p:nvPr/>
        </p:nvCxnSpPr>
        <p:spPr>
          <a:xfrm>
            <a:off x="4800257" y="5332211"/>
            <a:ext cx="1705691" cy="312907"/>
          </a:xfrm>
          <a:prstGeom prst="line">
            <a:avLst/>
          </a:prstGeom>
          <a:ln w="15875">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8324F250-D323-4B61-A4EF-29E471277EB2}"/>
              </a:ext>
            </a:extLst>
          </p:cNvPr>
          <p:cNvCxnSpPr>
            <a:cxnSpLocks/>
          </p:cNvCxnSpPr>
          <p:nvPr/>
        </p:nvCxnSpPr>
        <p:spPr>
          <a:xfrm>
            <a:off x="4800257" y="5669083"/>
            <a:ext cx="1705691" cy="322201"/>
          </a:xfrm>
          <a:prstGeom prst="line">
            <a:avLst/>
          </a:prstGeom>
          <a:ln w="15875">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63" name="Rectangle 62">
            <a:extLst>
              <a:ext uri="{FF2B5EF4-FFF2-40B4-BE49-F238E27FC236}">
                <a16:creationId xmlns:a16="http://schemas.microsoft.com/office/drawing/2014/main" id="{B8393937-9A72-4660-ACB6-AA016441ED98}"/>
              </a:ext>
            </a:extLst>
          </p:cNvPr>
          <p:cNvSpPr/>
          <p:nvPr/>
        </p:nvSpPr>
        <p:spPr>
          <a:xfrm>
            <a:off x="3063715" y="5302550"/>
            <a:ext cx="1715975" cy="353734"/>
          </a:xfrm>
          <a:prstGeom prst="rect">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dirty="0">
                <a:solidFill>
                  <a:srgbClr val="000000"/>
                </a:solidFill>
              </a:rPr>
              <a:t>Standardised Measurement Approach</a:t>
            </a:r>
          </a:p>
        </p:txBody>
      </p:sp>
      <p:cxnSp>
        <p:nvCxnSpPr>
          <p:cNvPr id="64" name="Straight Connector 63">
            <a:extLst>
              <a:ext uri="{FF2B5EF4-FFF2-40B4-BE49-F238E27FC236}">
                <a16:creationId xmlns:a16="http://schemas.microsoft.com/office/drawing/2014/main" id="{D4627C98-AB59-4115-BE9A-3628FD14A98D}"/>
              </a:ext>
            </a:extLst>
          </p:cNvPr>
          <p:cNvCxnSpPr>
            <a:cxnSpLocks/>
          </p:cNvCxnSpPr>
          <p:nvPr/>
        </p:nvCxnSpPr>
        <p:spPr>
          <a:xfrm flipV="1">
            <a:off x="3053430" y="5678376"/>
            <a:ext cx="1736542" cy="326652"/>
          </a:xfrm>
          <a:prstGeom prst="line">
            <a:avLst/>
          </a:prstGeom>
          <a:ln w="15875">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80542204-5B8B-4CC3-BEB9-FA4C48D401F2}"/>
              </a:ext>
            </a:extLst>
          </p:cNvPr>
          <p:cNvCxnSpPr>
            <a:cxnSpLocks/>
          </p:cNvCxnSpPr>
          <p:nvPr/>
        </p:nvCxnSpPr>
        <p:spPr>
          <a:xfrm>
            <a:off x="3053430" y="5669082"/>
            <a:ext cx="1736542" cy="335946"/>
          </a:xfrm>
          <a:prstGeom prst="line">
            <a:avLst/>
          </a:prstGeom>
          <a:ln w="15875">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A19635D7-799D-4E41-BBC6-A36C2C5DDD29}"/>
              </a:ext>
            </a:extLst>
          </p:cNvPr>
          <p:cNvCxnSpPr>
            <a:cxnSpLocks/>
          </p:cNvCxnSpPr>
          <p:nvPr/>
        </p:nvCxnSpPr>
        <p:spPr>
          <a:xfrm flipV="1">
            <a:off x="9220673" y="2020845"/>
            <a:ext cx="1150692" cy="275069"/>
          </a:xfrm>
          <a:prstGeom prst="line">
            <a:avLst/>
          </a:prstGeom>
          <a:ln w="15875">
            <a:solidFill>
              <a:srgbClr val="FF0000"/>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061E7A72-7347-4D77-ACB4-AFFE4FEDCD36}"/>
              </a:ext>
            </a:extLst>
          </p:cNvPr>
          <p:cNvCxnSpPr>
            <a:cxnSpLocks/>
          </p:cNvCxnSpPr>
          <p:nvPr/>
        </p:nvCxnSpPr>
        <p:spPr>
          <a:xfrm>
            <a:off x="9225911" y="2020845"/>
            <a:ext cx="1145454" cy="275069"/>
          </a:xfrm>
          <a:prstGeom prst="line">
            <a:avLst/>
          </a:prstGeom>
          <a:ln w="15875">
            <a:solidFill>
              <a:srgbClr val="FF0000"/>
            </a:solidFill>
            <a:prstDash val="dash"/>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788561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46E8C4E-D30D-4C71-90F6-80511346CE46}"/>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4" name="Object 3" hidden="1">
                        <a:extLst>
                          <a:ext uri="{FF2B5EF4-FFF2-40B4-BE49-F238E27FC236}">
                            <a16:creationId xmlns:a16="http://schemas.microsoft.com/office/drawing/2014/main" id="{A46E8C4E-D30D-4C71-90F6-80511346CE46}"/>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21" name="Content Placeholder 20">
            <a:extLst>
              <a:ext uri="{FF2B5EF4-FFF2-40B4-BE49-F238E27FC236}">
                <a16:creationId xmlns:a16="http://schemas.microsoft.com/office/drawing/2014/main" id="{127AEA6D-54FD-413E-A280-7B78B03D44B9}"/>
              </a:ext>
            </a:extLst>
          </p:cNvPr>
          <p:cNvSpPr>
            <a:spLocks noGrp="1"/>
          </p:cNvSpPr>
          <p:nvPr>
            <p:ph idx="1"/>
          </p:nvPr>
        </p:nvSpPr>
        <p:spPr>
          <a:xfrm>
            <a:off x="1609725" y="1306800"/>
            <a:ext cx="8971492" cy="1580792"/>
          </a:xfrm>
        </p:spPr>
        <p:txBody>
          <a:bodyPr/>
          <a:lstStyle/>
          <a:p>
            <a:pPr>
              <a:lnSpc>
                <a:spcPct val="130000"/>
              </a:lnSpc>
              <a:spcBef>
                <a:spcPts val="0"/>
              </a:spcBef>
              <a:spcAft>
                <a:spcPts val="300"/>
              </a:spcAft>
            </a:pPr>
            <a:r>
              <a:rPr lang="en-GB" sz="1400" dirty="0"/>
              <a:t>The main objective of Pillar 2 is to identify risk factors not captured in Pillar 1, giving regulators discretion to adjust the regulatory capital requirement against that calculated under Pillar 1</a:t>
            </a:r>
          </a:p>
          <a:p>
            <a:pPr>
              <a:lnSpc>
                <a:spcPct val="130000"/>
              </a:lnSpc>
              <a:spcBef>
                <a:spcPts val="0"/>
              </a:spcBef>
              <a:spcAft>
                <a:spcPts val="300"/>
              </a:spcAft>
            </a:pPr>
            <a:r>
              <a:rPr lang="en-GB" sz="1400" dirty="0"/>
              <a:t>Pillar 2 requires banks to think about the whole spectrum of risks they might face (e.g. interest rate risk, systemic risk, pension risk, concentration risk, strategic risk, reputation risk, liquidity risk, legal risk)</a:t>
            </a:r>
          </a:p>
          <a:p>
            <a:pPr>
              <a:lnSpc>
                <a:spcPct val="130000"/>
              </a:lnSpc>
              <a:spcBef>
                <a:spcPts val="0"/>
              </a:spcBef>
              <a:spcAft>
                <a:spcPts val="300"/>
              </a:spcAft>
            </a:pPr>
            <a:r>
              <a:rPr lang="en-GB" sz="1400" dirty="0"/>
              <a:t>The supervisory review process is based on four key principles</a:t>
            </a:r>
          </a:p>
        </p:txBody>
      </p:sp>
      <p:sp>
        <p:nvSpPr>
          <p:cNvPr id="2" name="Title 1">
            <a:extLst>
              <a:ext uri="{FF2B5EF4-FFF2-40B4-BE49-F238E27FC236}">
                <a16:creationId xmlns:a16="http://schemas.microsoft.com/office/drawing/2014/main" id="{C995C11B-5D46-45BE-A9F4-D701E2418126}"/>
              </a:ext>
            </a:extLst>
          </p:cNvPr>
          <p:cNvSpPr>
            <a:spLocks noGrp="1"/>
          </p:cNvSpPr>
          <p:nvPr>
            <p:ph type="title"/>
          </p:nvPr>
        </p:nvSpPr>
        <p:spPr>
          <a:xfrm>
            <a:off x="573619" y="152401"/>
            <a:ext cx="11089294" cy="864332"/>
          </a:xfrm>
        </p:spPr>
        <p:txBody>
          <a:bodyPr vert="horz">
            <a:normAutofit fontScale="90000"/>
          </a:bodyPr>
          <a:lstStyle/>
          <a:p>
            <a:r>
              <a:rPr lang="en-GB" dirty="0"/>
              <a:t>Pillar 2 – Self assessment &amp; supervisory review</a:t>
            </a:r>
            <a:br>
              <a:rPr lang="en-GB" dirty="0"/>
            </a:br>
            <a:r>
              <a:rPr lang="en-GB" i="1" dirty="0">
                <a:solidFill>
                  <a:schemeClr val="accent2">
                    <a:lumMod val="75000"/>
                  </a:schemeClr>
                </a:solidFill>
              </a:rPr>
              <a:t>Core principles</a:t>
            </a:r>
            <a:endParaRPr lang="en-GB" dirty="0">
              <a:solidFill>
                <a:schemeClr val="accent2">
                  <a:lumMod val="75000"/>
                </a:schemeClr>
              </a:solidFill>
            </a:endParaRPr>
          </a:p>
        </p:txBody>
      </p:sp>
      <p:sp>
        <p:nvSpPr>
          <p:cNvPr id="15" name="Rectangle 18">
            <a:extLst>
              <a:ext uri="{FF2B5EF4-FFF2-40B4-BE49-F238E27FC236}">
                <a16:creationId xmlns:a16="http://schemas.microsoft.com/office/drawing/2014/main" id="{197978E1-CFE1-46D4-9B1A-C9941E7B9B9E}"/>
              </a:ext>
            </a:extLst>
          </p:cNvPr>
          <p:cNvSpPr>
            <a:spLocks noChangeArrowheads="1"/>
          </p:cNvSpPr>
          <p:nvPr/>
        </p:nvSpPr>
        <p:spPr bwMode="auto">
          <a:xfrm>
            <a:off x="1713971" y="3147467"/>
            <a:ext cx="8763000" cy="3027433"/>
          </a:xfrm>
          <a:prstGeom prst="rect">
            <a:avLst/>
          </a:prstGeom>
          <a:solidFill>
            <a:schemeClr val="bg1">
              <a:lumMod val="95000"/>
            </a:schemeClr>
          </a:solidFill>
          <a:ln w="6350">
            <a:solidFill>
              <a:srgbClr val="000000"/>
            </a:solidFill>
            <a:miter lim="800000"/>
            <a:headEnd/>
            <a:tailEnd/>
          </a:ln>
          <a:effectLst/>
        </p:spPr>
        <p:txBody>
          <a:bodyPr wrap="none" lIns="36000" tIns="36000" rIns="36000" bIns="36000" anchor="ctr"/>
          <a:lstStyle/>
          <a:p>
            <a:pPr algn="ctr"/>
            <a:endParaRPr lang="en-GB" dirty="0">
              <a:solidFill>
                <a:schemeClr val="bg1"/>
              </a:solidFill>
              <a:cs typeface="Calibri" pitchFamily="34" charset="0"/>
            </a:endParaRPr>
          </a:p>
        </p:txBody>
      </p:sp>
      <p:sp>
        <p:nvSpPr>
          <p:cNvPr id="16" name="Rounded Rectangle 10">
            <a:extLst>
              <a:ext uri="{FF2B5EF4-FFF2-40B4-BE49-F238E27FC236}">
                <a16:creationId xmlns:a16="http://schemas.microsoft.com/office/drawing/2014/main" id="{D0EEA0A3-4884-4B27-A351-90F33F36D4B5}"/>
              </a:ext>
            </a:extLst>
          </p:cNvPr>
          <p:cNvSpPr/>
          <p:nvPr/>
        </p:nvSpPr>
        <p:spPr>
          <a:xfrm>
            <a:off x="1901329" y="3200382"/>
            <a:ext cx="4058180" cy="1341087"/>
          </a:xfrm>
          <a:prstGeom prst="roundRect">
            <a:avLst/>
          </a:prstGeom>
          <a:solidFill>
            <a:schemeClr val="bg1">
              <a:lumMod val="85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marL="101600" indent="-9525" algn="ctr" defTabSz="476250"/>
            <a:r>
              <a:rPr lang="en-GB" sz="1400" b="1" dirty="0">
                <a:solidFill>
                  <a:srgbClr val="000000"/>
                </a:solidFill>
                <a:ea typeface="ＭＳ Ｐゴシック" pitchFamily="-65" charset="-128"/>
                <a:cs typeface="Calibri" pitchFamily="34" charset="0"/>
              </a:rPr>
              <a:t>Principle 1</a:t>
            </a:r>
          </a:p>
          <a:p>
            <a:pPr marL="85725" indent="-9525" defTabSz="476250"/>
            <a:r>
              <a:rPr lang="en-US" sz="1200" dirty="0">
                <a:solidFill>
                  <a:srgbClr val="000000"/>
                </a:solidFill>
                <a:ea typeface="ＭＳ Ｐゴシック" pitchFamily="-65" charset="-128"/>
                <a:cs typeface="Calibri" pitchFamily="34" charset="0"/>
              </a:rPr>
              <a:t>Banks should have a process that assesses their overall capital adequacy in relation to their risk characteristics, as well as a strategy for maintaining their capital levels.</a:t>
            </a:r>
            <a:endParaRPr lang="en-GB" sz="1200" dirty="0">
              <a:solidFill>
                <a:srgbClr val="000000"/>
              </a:solidFill>
              <a:ea typeface="ＭＳ Ｐゴシック" pitchFamily="-65" charset="-128"/>
              <a:cs typeface="Calibri" pitchFamily="34" charset="0"/>
            </a:endParaRPr>
          </a:p>
        </p:txBody>
      </p:sp>
      <p:sp>
        <p:nvSpPr>
          <p:cNvPr id="17" name="Rounded Rectangle 11">
            <a:extLst>
              <a:ext uri="{FF2B5EF4-FFF2-40B4-BE49-F238E27FC236}">
                <a16:creationId xmlns:a16="http://schemas.microsoft.com/office/drawing/2014/main" id="{71E531EB-F87D-47E3-A0C2-E27EAC18AA7A}"/>
              </a:ext>
            </a:extLst>
          </p:cNvPr>
          <p:cNvSpPr/>
          <p:nvPr/>
        </p:nvSpPr>
        <p:spPr>
          <a:xfrm>
            <a:off x="6190792" y="3200382"/>
            <a:ext cx="4058180" cy="1341087"/>
          </a:xfrm>
          <a:prstGeom prst="roundRect">
            <a:avLst/>
          </a:prstGeom>
          <a:solidFill>
            <a:schemeClr val="bg1">
              <a:lumMod val="85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marL="101600" indent="-9525" algn="ctr" defTabSz="476250"/>
            <a:r>
              <a:rPr lang="en-GB" sz="1400" b="1" dirty="0">
                <a:solidFill>
                  <a:srgbClr val="000000"/>
                </a:solidFill>
                <a:ea typeface="ＭＳ Ｐゴシック" pitchFamily="-65" charset="-128"/>
                <a:cs typeface="Calibri" pitchFamily="34" charset="0"/>
              </a:rPr>
              <a:t>Principle 2</a:t>
            </a:r>
            <a:endParaRPr lang="en-GB" sz="1400" dirty="0">
              <a:solidFill>
                <a:srgbClr val="000000"/>
              </a:solidFill>
              <a:ea typeface="ＭＳ Ｐゴシック" pitchFamily="-65" charset="-128"/>
              <a:cs typeface="Calibri" pitchFamily="34" charset="0"/>
            </a:endParaRPr>
          </a:p>
          <a:p>
            <a:pPr marL="84138"/>
            <a:r>
              <a:rPr lang="en-US" sz="1200" dirty="0">
                <a:solidFill>
                  <a:srgbClr val="000000"/>
                </a:solidFill>
                <a:ea typeface="ＭＳ Ｐゴシック" pitchFamily="-65" charset="-128"/>
                <a:cs typeface="Calibri" pitchFamily="34" charset="0"/>
              </a:rPr>
              <a:t>Supervisors should review a bank’s internal capital adequacy assessments and follow up as needed.</a:t>
            </a:r>
            <a:endParaRPr lang="en-GB" sz="1200" dirty="0"/>
          </a:p>
        </p:txBody>
      </p:sp>
      <p:sp>
        <p:nvSpPr>
          <p:cNvPr id="18" name="Rounded Rectangle 12">
            <a:extLst>
              <a:ext uri="{FF2B5EF4-FFF2-40B4-BE49-F238E27FC236}">
                <a16:creationId xmlns:a16="http://schemas.microsoft.com/office/drawing/2014/main" id="{A23F1465-BC19-4E46-AC89-66FA94A3B5EF}"/>
              </a:ext>
            </a:extLst>
          </p:cNvPr>
          <p:cNvSpPr/>
          <p:nvPr/>
        </p:nvSpPr>
        <p:spPr>
          <a:xfrm>
            <a:off x="1904084" y="4683479"/>
            <a:ext cx="4058180" cy="1231547"/>
          </a:xfrm>
          <a:prstGeom prst="roundRect">
            <a:avLst/>
          </a:prstGeom>
          <a:solidFill>
            <a:schemeClr val="bg1">
              <a:lumMod val="85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marL="101600" indent="-9525" algn="ctr" defTabSz="476250"/>
            <a:r>
              <a:rPr lang="en-GB" sz="1400" b="1" dirty="0">
                <a:solidFill>
                  <a:srgbClr val="000000"/>
                </a:solidFill>
                <a:ea typeface="ＭＳ Ｐゴシック" pitchFamily="-65" charset="-128"/>
                <a:cs typeface="Calibri" pitchFamily="34" charset="0"/>
              </a:rPr>
              <a:t>Principle 3</a:t>
            </a:r>
            <a:endParaRPr lang="en-GB" sz="1400" dirty="0">
              <a:solidFill>
                <a:srgbClr val="000000"/>
              </a:solidFill>
              <a:ea typeface="ＭＳ Ｐゴシック" pitchFamily="-65" charset="-128"/>
              <a:cs typeface="Calibri" pitchFamily="34" charset="0"/>
            </a:endParaRPr>
          </a:p>
          <a:p>
            <a:pPr marL="85725"/>
            <a:r>
              <a:rPr lang="en-US" sz="1200" dirty="0">
                <a:solidFill>
                  <a:srgbClr val="000000"/>
                </a:solidFill>
                <a:ea typeface="ＭＳ Ｐゴシック" pitchFamily="-65" charset="-128"/>
                <a:cs typeface="Calibri" pitchFamily="34" charset="0"/>
              </a:rPr>
              <a:t>Supervisors should specify their expectation for banks to operate above the minimum regulatory capital ratios.</a:t>
            </a:r>
            <a:endParaRPr lang="en-GB" sz="1200" dirty="0">
              <a:solidFill>
                <a:srgbClr val="000000"/>
              </a:solidFill>
              <a:ea typeface="ＭＳ Ｐゴシック" pitchFamily="-65" charset="-128"/>
              <a:cs typeface="Calibri" pitchFamily="34" charset="0"/>
            </a:endParaRPr>
          </a:p>
        </p:txBody>
      </p:sp>
      <p:sp>
        <p:nvSpPr>
          <p:cNvPr id="19" name="Rounded Rectangle 13">
            <a:extLst>
              <a:ext uri="{FF2B5EF4-FFF2-40B4-BE49-F238E27FC236}">
                <a16:creationId xmlns:a16="http://schemas.microsoft.com/office/drawing/2014/main" id="{3471494F-C0A1-4621-991C-F8A0DA7DB435}"/>
              </a:ext>
            </a:extLst>
          </p:cNvPr>
          <p:cNvSpPr/>
          <p:nvPr/>
        </p:nvSpPr>
        <p:spPr>
          <a:xfrm>
            <a:off x="6219938" y="4683479"/>
            <a:ext cx="4058180" cy="1231547"/>
          </a:xfrm>
          <a:prstGeom prst="roundRect">
            <a:avLst/>
          </a:prstGeom>
          <a:solidFill>
            <a:schemeClr val="bg1">
              <a:lumMod val="85000"/>
            </a:schemeClr>
          </a:solidFill>
        </p:spPr>
        <p:style>
          <a:lnRef idx="1">
            <a:schemeClr val="accent1"/>
          </a:lnRef>
          <a:fillRef idx="3">
            <a:schemeClr val="accent1"/>
          </a:fillRef>
          <a:effectRef idx="2">
            <a:schemeClr val="accent1"/>
          </a:effectRef>
          <a:fontRef idx="minor">
            <a:schemeClr val="lt1"/>
          </a:fontRef>
        </p:style>
        <p:txBody>
          <a:bodyPr rtlCol="0" anchor="t" anchorCtr="0"/>
          <a:lstStyle/>
          <a:p>
            <a:pPr marL="101600" indent="-9525" algn="ctr" defTabSz="476250"/>
            <a:r>
              <a:rPr lang="en-GB" sz="1400" b="1" dirty="0">
                <a:solidFill>
                  <a:srgbClr val="000000"/>
                </a:solidFill>
                <a:ea typeface="ＭＳ Ｐゴシック" pitchFamily="-65" charset="-128"/>
                <a:cs typeface="Calibri" pitchFamily="34" charset="0"/>
              </a:rPr>
              <a:t>Principle 4</a:t>
            </a:r>
            <a:endParaRPr lang="en-GB" sz="1400" dirty="0">
              <a:solidFill>
                <a:srgbClr val="000000"/>
              </a:solidFill>
              <a:ea typeface="ＭＳ Ｐゴシック" pitchFamily="-65" charset="-128"/>
              <a:cs typeface="Calibri" pitchFamily="34" charset="0"/>
            </a:endParaRPr>
          </a:p>
          <a:p>
            <a:pPr marL="90488"/>
            <a:r>
              <a:rPr lang="en-US" sz="1200" dirty="0">
                <a:solidFill>
                  <a:srgbClr val="000000"/>
                </a:solidFill>
                <a:ea typeface="ＭＳ Ｐゴシック" pitchFamily="-65" charset="-128"/>
                <a:cs typeface="Calibri" pitchFamily="34" charset="0"/>
              </a:rPr>
              <a:t>Supervisors should intervene at an early stage to prevent capital from falling below the level required to support a bank’s risk profile.</a:t>
            </a:r>
            <a:endParaRPr lang="en-GB" sz="1200" dirty="0"/>
          </a:p>
        </p:txBody>
      </p:sp>
      <p:sp>
        <p:nvSpPr>
          <p:cNvPr id="20" name="Oval 19">
            <a:extLst>
              <a:ext uri="{FF2B5EF4-FFF2-40B4-BE49-F238E27FC236}">
                <a16:creationId xmlns:a16="http://schemas.microsoft.com/office/drawing/2014/main" id="{B796EA96-29F5-49A8-901C-229BEF632246}"/>
              </a:ext>
            </a:extLst>
          </p:cNvPr>
          <p:cNvSpPr/>
          <p:nvPr/>
        </p:nvSpPr>
        <p:spPr>
          <a:xfrm>
            <a:off x="5209218" y="4247543"/>
            <a:ext cx="1744590" cy="732045"/>
          </a:xfrm>
          <a:prstGeom prst="ellipse">
            <a:avLst/>
          </a:pr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dirty="0">
                <a:cs typeface="Calibri" pitchFamily="34" charset="0"/>
              </a:rPr>
              <a:t>Supervisory Review Process</a:t>
            </a:r>
          </a:p>
        </p:txBody>
      </p:sp>
    </p:spTree>
    <p:extLst>
      <p:ext uri="{BB962C8B-B14F-4D97-AF65-F5344CB8AC3E}">
        <p14:creationId xmlns:p14="http://schemas.microsoft.com/office/powerpoint/2010/main" val="33576183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6B616C5-DA62-4289-9AD6-E4740DAD1706}"/>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4" name="Object 3" hidden="1">
                        <a:extLst>
                          <a:ext uri="{FF2B5EF4-FFF2-40B4-BE49-F238E27FC236}">
                            <a16:creationId xmlns:a16="http://schemas.microsoft.com/office/drawing/2014/main" id="{D6B616C5-DA62-4289-9AD6-E4740DAD1706}"/>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2" name="Content Placeholder 1">
            <a:extLst>
              <a:ext uri="{FF2B5EF4-FFF2-40B4-BE49-F238E27FC236}">
                <a16:creationId xmlns:a16="http://schemas.microsoft.com/office/drawing/2014/main" id="{85E6B9FD-AE72-4688-8968-7FCB6876B621}"/>
              </a:ext>
            </a:extLst>
          </p:cNvPr>
          <p:cNvSpPr>
            <a:spLocks noGrp="1"/>
          </p:cNvSpPr>
          <p:nvPr>
            <p:ph idx="1"/>
          </p:nvPr>
        </p:nvSpPr>
        <p:spPr>
          <a:xfrm>
            <a:off x="1609725" y="1306801"/>
            <a:ext cx="8971492" cy="424265"/>
          </a:xfrm>
        </p:spPr>
        <p:txBody>
          <a:bodyPr>
            <a:normAutofit fontScale="47500" lnSpcReduction="20000"/>
          </a:bodyPr>
          <a:lstStyle/>
          <a:p>
            <a:r>
              <a:rPr lang="en-GB" dirty="0"/>
              <a:t>The main objective of Pillar 3 </a:t>
            </a:r>
            <a:r>
              <a:rPr lang="en-GB"/>
              <a:t>is to </a:t>
            </a:r>
            <a:r>
              <a:rPr lang="en-GB" dirty="0"/>
              <a:t>encourage market discipline by developing a set of disclosure requirements which will allow market participants to assess key pieces of information</a:t>
            </a:r>
          </a:p>
        </p:txBody>
      </p:sp>
      <p:sp>
        <p:nvSpPr>
          <p:cNvPr id="3" name="Title 2">
            <a:extLst>
              <a:ext uri="{FF2B5EF4-FFF2-40B4-BE49-F238E27FC236}">
                <a16:creationId xmlns:a16="http://schemas.microsoft.com/office/drawing/2014/main" id="{AFC5F6CC-310E-4630-A43C-D9CDA161B170}"/>
              </a:ext>
            </a:extLst>
          </p:cNvPr>
          <p:cNvSpPr>
            <a:spLocks noGrp="1"/>
          </p:cNvSpPr>
          <p:nvPr>
            <p:ph type="title"/>
          </p:nvPr>
        </p:nvSpPr>
        <p:spPr/>
        <p:txBody>
          <a:bodyPr vert="horz">
            <a:normAutofit fontScale="90000"/>
          </a:bodyPr>
          <a:lstStyle/>
          <a:p>
            <a:r>
              <a:rPr lang="en-GB" dirty="0"/>
              <a:t>Pillar 3 – Market discipline</a:t>
            </a:r>
            <a:br>
              <a:rPr lang="en-GB" dirty="0"/>
            </a:br>
            <a:r>
              <a:rPr lang="en-GB" i="1" dirty="0">
                <a:solidFill>
                  <a:schemeClr val="accent2">
                    <a:lumMod val="75000"/>
                  </a:schemeClr>
                </a:solidFill>
              </a:rPr>
              <a:t>Quantitative and qualitative disclosures</a:t>
            </a:r>
            <a:endParaRPr lang="en-GB" dirty="0">
              <a:solidFill>
                <a:schemeClr val="accent2">
                  <a:lumMod val="75000"/>
                </a:schemeClr>
              </a:solidFill>
            </a:endParaRPr>
          </a:p>
        </p:txBody>
      </p:sp>
      <p:sp>
        <p:nvSpPr>
          <p:cNvPr id="10" name="Rectangle 18">
            <a:extLst>
              <a:ext uri="{FF2B5EF4-FFF2-40B4-BE49-F238E27FC236}">
                <a16:creationId xmlns:a16="http://schemas.microsoft.com/office/drawing/2014/main" id="{3F0FFBD7-B42F-49A7-8221-2FDAD8CE4398}"/>
              </a:ext>
            </a:extLst>
          </p:cNvPr>
          <p:cNvSpPr>
            <a:spLocks noChangeArrowheads="1"/>
          </p:cNvSpPr>
          <p:nvPr/>
        </p:nvSpPr>
        <p:spPr bwMode="auto">
          <a:xfrm>
            <a:off x="1714500" y="1731065"/>
            <a:ext cx="8763000" cy="4326836"/>
          </a:xfrm>
          <a:prstGeom prst="rect">
            <a:avLst/>
          </a:prstGeom>
          <a:solidFill>
            <a:schemeClr val="tx2">
              <a:lumMod val="20000"/>
              <a:lumOff val="80000"/>
            </a:schemeClr>
          </a:solidFill>
          <a:ln w="6350">
            <a:solidFill>
              <a:srgbClr val="000000"/>
            </a:solidFill>
            <a:miter lim="800000"/>
            <a:headEnd/>
            <a:tailEnd/>
          </a:ln>
          <a:effectLst/>
        </p:spPr>
        <p:txBody>
          <a:bodyPr wrap="none" lIns="36000" tIns="36000" rIns="36000" bIns="36000" anchor="ctr"/>
          <a:lstStyle/>
          <a:p>
            <a:pPr algn="ctr"/>
            <a:endParaRPr lang="en-GB" sz="1400" dirty="0">
              <a:solidFill>
                <a:schemeClr val="bg1"/>
              </a:solidFill>
              <a:latin typeface="+mj-lt"/>
              <a:cs typeface="Calibri" pitchFamily="34" charset="0"/>
            </a:endParaRPr>
          </a:p>
        </p:txBody>
      </p:sp>
      <p:sp>
        <p:nvSpPr>
          <p:cNvPr id="11" name="Rectangle 8">
            <a:extLst>
              <a:ext uri="{FF2B5EF4-FFF2-40B4-BE49-F238E27FC236}">
                <a16:creationId xmlns:a16="http://schemas.microsoft.com/office/drawing/2014/main" id="{52A29E33-C843-4B75-A66F-962689D159F8}"/>
              </a:ext>
            </a:extLst>
          </p:cNvPr>
          <p:cNvSpPr>
            <a:spLocks noChangeArrowheads="1"/>
          </p:cNvSpPr>
          <p:nvPr/>
        </p:nvSpPr>
        <p:spPr bwMode="auto">
          <a:xfrm>
            <a:off x="1843332" y="2025374"/>
            <a:ext cx="4112977" cy="339826"/>
          </a:xfrm>
          <a:prstGeom prst="rect">
            <a:avLst/>
          </a:prstGeom>
          <a:solidFill>
            <a:schemeClr val="accent2">
              <a:lumMod val="75000"/>
            </a:schemeClr>
          </a:solidFill>
          <a:ln w="6350">
            <a:solidFill>
              <a:srgbClr val="000000"/>
            </a:solidFill>
            <a:miter lim="800000"/>
            <a:headEnd/>
            <a:tailEnd/>
          </a:ln>
          <a:effectLst/>
        </p:spPr>
        <p:txBody>
          <a:bodyPr wrap="none" lIns="36000" tIns="36000" rIns="36000" bIns="36000" anchor="ctr"/>
          <a:lstStyle/>
          <a:p>
            <a:pPr algn="ctr"/>
            <a:r>
              <a:rPr lang="en-GB" sz="1400" dirty="0">
                <a:solidFill>
                  <a:schemeClr val="bg1"/>
                </a:solidFill>
                <a:latin typeface="+mj-lt"/>
                <a:cs typeface="Calibri" pitchFamily="34" charset="0"/>
              </a:rPr>
              <a:t>Qualitative disclosures</a:t>
            </a:r>
          </a:p>
        </p:txBody>
      </p:sp>
      <p:sp>
        <p:nvSpPr>
          <p:cNvPr id="12" name="Rectangle 9">
            <a:extLst>
              <a:ext uri="{FF2B5EF4-FFF2-40B4-BE49-F238E27FC236}">
                <a16:creationId xmlns:a16="http://schemas.microsoft.com/office/drawing/2014/main" id="{4C0C2F95-B453-410B-BFC4-1C35A376EFE9}"/>
              </a:ext>
            </a:extLst>
          </p:cNvPr>
          <p:cNvSpPr>
            <a:spLocks noChangeArrowheads="1"/>
          </p:cNvSpPr>
          <p:nvPr/>
        </p:nvSpPr>
        <p:spPr bwMode="auto">
          <a:xfrm>
            <a:off x="1843261" y="2365201"/>
            <a:ext cx="4113125" cy="3616053"/>
          </a:xfrm>
          <a:prstGeom prst="rect">
            <a:avLst/>
          </a:prstGeom>
          <a:solidFill>
            <a:schemeClr val="bg1">
              <a:lumMod val="85000"/>
            </a:schemeClr>
          </a:solidFill>
          <a:ln w="6350">
            <a:solidFill>
              <a:srgbClr val="000000"/>
            </a:solidFill>
            <a:miter lim="800000"/>
            <a:headEnd/>
            <a:tailEnd/>
          </a:ln>
          <a:effectLst/>
        </p:spPr>
        <p:txBody>
          <a:bodyPr lIns="36000" tIns="36000" rIns="36000" bIns="36000"/>
          <a:lstStyle/>
          <a:p>
            <a:pPr marL="101600" defTabSz="476250"/>
            <a:endParaRPr lang="en-GB" sz="1000" dirty="0">
              <a:solidFill>
                <a:srgbClr val="000000"/>
              </a:solidFill>
              <a:latin typeface="+mj-lt"/>
              <a:cs typeface="Calibri" pitchFamily="34" charset="0"/>
            </a:endParaRPr>
          </a:p>
        </p:txBody>
      </p:sp>
      <p:sp>
        <p:nvSpPr>
          <p:cNvPr id="13" name="TextBox 12">
            <a:extLst>
              <a:ext uri="{FF2B5EF4-FFF2-40B4-BE49-F238E27FC236}">
                <a16:creationId xmlns:a16="http://schemas.microsoft.com/office/drawing/2014/main" id="{D2E7BA7D-7124-408B-B417-B9205FA1F0BF}"/>
              </a:ext>
            </a:extLst>
          </p:cNvPr>
          <p:cNvSpPr txBox="1"/>
          <p:nvPr/>
        </p:nvSpPr>
        <p:spPr>
          <a:xfrm>
            <a:off x="4893769" y="1733589"/>
            <a:ext cx="2347711" cy="307777"/>
          </a:xfrm>
          <a:prstGeom prst="rect">
            <a:avLst/>
          </a:prstGeom>
          <a:noFill/>
        </p:spPr>
        <p:txBody>
          <a:bodyPr wrap="square" rtlCol="0">
            <a:spAutoFit/>
          </a:bodyPr>
          <a:lstStyle/>
          <a:p>
            <a:pPr algn="ctr"/>
            <a:r>
              <a:rPr lang="en-GB" sz="1400" b="1" dirty="0">
                <a:latin typeface="+mj-lt"/>
                <a:cs typeface="Calibri" pitchFamily="34" charset="0"/>
              </a:rPr>
              <a:t>Market Discipline</a:t>
            </a:r>
          </a:p>
        </p:txBody>
      </p:sp>
      <p:sp>
        <p:nvSpPr>
          <p:cNvPr id="14" name="Rectangle 8">
            <a:extLst>
              <a:ext uri="{FF2B5EF4-FFF2-40B4-BE49-F238E27FC236}">
                <a16:creationId xmlns:a16="http://schemas.microsoft.com/office/drawing/2014/main" id="{680A2645-A269-444C-9B87-1F52563DBD26}"/>
              </a:ext>
            </a:extLst>
          </p:cNvPr>
          <p:cNvSpPr>
            <a:spLocks noChangeArrowheads="1"/>
          </p:cNvSpPr>
          <p:nvPr/>
        </p:nvSpPr>
        <p:spPr bwMode="auto">
          <a:xfrm>
            <a:off x="6164363" y="2031724"/>
            <a:ext cx="4194728" cy="333476"/>
          </a:xfrm>
          <a:prstGeom prst="rect">
            <a:avLst/>
          </a:prstGeom>
          <a:solidFill>
            <a:schemeClr val="accent2">
              <a:lumMod val="75000"/>
            </a:schemeClr>
          </a:solidFill>
          <a:ln w="6350">
            <a:solidFill>
              <a:srgbClr val="000000"/>
            </a:solidFill>
            <a:miter lim="800000"/>
            <a:headEnd/>
            <a:tailEnd/>
          </a:ln>
          <a:effectLst/>
        </p:spPr>
        <p:txBody>
          <a:bodyPr wrap="none" lIns="36000" tIns="36000" rIns="36000" bIns="36000" anchor="ctr"/>
          <a:lstStyle/>
          <a:p>
            <a:pPr algn="ctr"/>
            <a:r>
              <a:rPr lang="en-GB" sz="1400" dirty="0">
                <a:solidFill>
                  <a:schemeClr val="bg1"/>
                </a:solidFill>
                <a:latin typeface="+mj-lt"/>
                <a:cs typeface="Calibri" pitchFamily="34" charset="0"/>
              </a:rPr>
              <a:t>Quantitative disclosures</a:t>
            </a:r>
          </a:p>
        </p:txBody>
      </p:sp>
      <p:sp>
        <p:nvSpPr>
          <p:cNvPr id="15" name="Rectangle 9">
            <a:extLst>
              <a:ext uri="{FF2B5EF4-FFF2-40B4-BE49-F238E27FC236}">
                <a16:creationId xmlns:a16="http://schemas.microsoft.com/office/drawing/2014/main" id="{D356CE39-DC2B-424A-9A6F-B5C607D38148}"/>
              </a:ext>
            </a:extLst>
          </p:cNvPr>
          <p:cNvSpPr>
            <a:spLocks noChangeArrowheads="1"/>
          </p:cNvSpPr>
          <p:nvPr/>
        </p:nvSpPr>
        <p:spPr bwMode="auto">
          <a:xfrm>
            <a:off x="6164363" y="2365201"/>
            <a:ext cx="4194850" cy="3616053"/>
          </a:xfrm>
          <a:prstGeom prst="rect">
            <a:avLst/>
          </a:prstGeom>
          <a:solidFill>
            <a:schemeClr val="bg1">
              <a:lumMod val="85000"/>
            </a:schemeClr>
          </a:solidFill>
          <a:ln w="6350">
            <a:solidFill>
              <a:srgbClr val="000000"/>
            </a:solidFill>
            <a:miter lim="800000"/>
            <a:headEnd/>
            <a:tailEnd/>
          </a:ln>
          <a:effectLst/>
        </p:spPr>
        <p:txBody>
          <a:bodyPr lIns="36000" tIns="36000" rIns="36000" bIns="36000"/>
          <a:lstStyle/>
          <a:p>
            <a:pPr marL="101600" defTabSz="476250"/>
            <a:endParaRPr lang="en-GB" sz="1000" dirty="0">
              <a:solidFill>
                <a:srgbClr val="000000"/>
              </a:solidFill>
              <a:latin typeface="+mj-lt"/>
              <a:cs typeface="Calibri" pitchFamily="34" charset="0"/>
            </a:endParaRPr>
          </a:p>
        </p:txBody>
      </p:sp>
      <p:sp>
        <p:nvSpPr>
          <p:cNvPr id="17" name="TextBox 16">
            <a:extLst>
              <a:ext uri="{FF2B5EF4-FFF2-40B4-BE49-F238E27FC236}">
                <a16:creationId xmlns:a16="http://schemas.microsoft.com/office/drawing/2014/main" id="{A75B7CF3-926A-4617-81D1-E826E01A87B5}"/>
              </a:ext>
            </a:extLst>
          </p:cNvPr>
          <p:cNvSpPr txBox="1"/>
          <p:nvPr/>
        </p:nvSpPr>
        <p:spPr>
          <a:xfrm>
            <a:off x="2346010" y="2424766"/>
            <a:ext cx="7532754" cy="299166"/>
          </a:xfrm>
          <a:prstGeom prst="rect">
            <a:avLst/>
          </a:prstGeom>
          <a:solidFill>
            <a:schemeClr val="bg1"/>
          </a:solidFill>
          <a:ln>
            <a:solidFill>
              <a:schemeClr val="accent2">
                <a:lumMod val="75000"/>
              </a:schemeClr>
            </a:solidFill>
          </a:ln>
        </p:spPr>
        <p:txBody>
          <a:bodyPr wrap="square" numCol="1" rtlCol="0" anchor="ctr" anchorCtr="0">
            <a:noAutofit/>
          </a:bodyPr>
          <a:lstStyle/>
          <a:p>
            <a:endParaRPr lang="en-GB" sz="1050" b="1" dirty="0">
              <a:latin typeface="+mj-lt"/>
              <a:cs typeface="Calibri" pitchFamily="34" charset="0"/>
            </a:endParaRPr>
          </a:p>
        </p:txBody>
      </p:sp>
      <p:sp>
        <p:nvSpPr>
          <p:cNvPr id="18" name="Text Box 4">
            <a:extLst>
              <a:ext uri="{FF2B5EF4-FFF2-40B4-BE49-F238E27FC236}">
                <a16:creationId xmlns:a16="http://schemas.microsoft.com/office/drawing/2014/main" id="{3B7E995A-3323-4E4D-B68E-51B0B903E929}"/>
              </a:ext>
            </a:extLst>
          </p:cNvPr>
          <p:cNvSpPr txBox="1">
            <a:spLocks noChangeArrowheads="1"/>
          </p:cNvSpPr>
          <p:nvPr/>
        </p:nvSpPr>
        <p:spPr bwMode="auto">
          <a:xfrm>
            <a:off x="2346010" y="2443028"/>
            <a:ext cx="1254512" cy="253916"/>
          </a:xfrm>
          <a:prstGeom prst="rect">
            <a:avLst/>
          </a:prstGeom>
          <a:noFill/>
          <a:ln w="12700">
            <a:noFill/>
            <a:miter lim="800000"/>
            <a:headEnd type="none" w="sm" len="sm"/>
            <a:tailEnd type="none" w="sm" len="sm"/>
          </a:ln>
          <a:effectLst/>
        </p:spPr>
        <p:txBody>
          <a:bodyPr wrap="square">
            <a:spAutoFit/>
          </a:bodyPr>
          <a:lstStyle/>
          <a:p>
            <a:pPr algn="ctr" eaLnBrk="1" hangingPunct="1">
              <a:spcBef>
                <a:spcPct val="50000"/>
              </a:spcBef>
            </a:pPr>
            <a:r>
              <a:rPr lang="en-GB" sz="1050" b="1" dirty="0">
                <a:solidFill>
                  <a:srgbClr val="000000"/>
                </a:solidFill>
                <a:latin typeface="+mj-lt"/>
                <a:ea typeface="PMingLiU" pitchFamily="18" charset="-120"/>
                <a:cs typeface="Calibri" pitchFamily="34" charset="0"/>
              </a:rPr>
              <a:t>Capital structure</a:t>
            </a:r>
          </a:p>
        </p:txBody>
      </p:sp>
      <p:sp>
        <p:nvSpPr>
          <p:cNvPr id="19" name="Text Box 4">
            <a:extLst>
              <a:ext uri="{FF2B5EF4-FFF2-40B4-BE49-F238E27FC236}">
                <a16:creationId xmlns:a16="http://schemas.microsoft.com/office/drawing/2014/main" id="{375B2148-DAB5-413F-91E7-CBBF6A573B2F}"/>
              </a:ext>
            </a:extLst>
          </p:cNvPr>
          <p:cNvSpPr txBox="1">
            <a:spLocks noChangeArrowheads="1"/>
          </p:cNvSpPr>
          <p:nvPr/>
        </p:nvSpPr>
        <p:spPr bwMode="auto">
          <a:xfrm>
            <a:off x="5707443" y="2374622"/>
            <a:ext cx="3530490" cy="400110"/>
          </a:xfrm>
          <a:prstGeom prst="rect">
            <a:avLst/>
          </a:prstGeom>
          <a:noFill/>
          <a:ln w="12700">
            <a:noFill/>
            <a:miter lim="800000"/>
            <a:headEnd type="none" w="sm" len="sm"/>
            <a:tailEnd type="none" w="sm" len="sm"/>
          </a:ln>
          <a:effectLst/>
        </p:spPr>
        <p:txBody>
          <a:bodyPr wrap="square">
            <a:spAutoFit/>
          </a:bodyPr>
          <a:lstStyle/>
          <a:p>
            <a:pPr marL="174625" indent="-174625">
              <a:buSzPct val="90000"/>
              <a:buFont typeface="Wingdings" pitchFamily="2" charset="2"/>
              <a:buChar char="§"/>
            </a:pPr>
            <a:r>
              <a:rPr lang="en-GB" sz="1000" dirty="0">
                <a:latin typeface="+mj-lt"/>
                <a:cs typeface="Calibri" pitchFamily="34" charset="0"/>
              </a:rPr>
              <a:t>Tier 1 with breakdowns</a:t>
            </a:r>
          </a:p>
          <a:p>
            <a:pPr marL="174625" indent="-174625">
              <a:buSzPct val="90000"/>
              <a:buFont typeface="Wingdings" pitchFamily="2" charset="2"/>
              <a:buChar char="§"/>
            </a:pPr>
            <a:r>
              <a:rPr lang="en-GB" sz="1000" dirty="0">
                <a:latin typeface="+mj-lt"/>
                <a:cs typeface="Calibri" pitchFamily="34" charset="0"/>
              </a:rPr>
              <a:t>Tier 2, deductions, total eligible capital</a:t>
            </a:r>
          </a:p>
        </p:txBody>
      </p:sp>
      <p:sp>
        <p:nvSpPr>
          <p:cNvPr id="21" name="TextBox 20">
            <a:extLst>
              <a:ext uri="{FF2B5EF4-FFF2-40B4-BE49-F238E27FC236}">
                <a16:creationId xmlns:a16="http://schemas.microsoft.com/office/drawing/2014/main" id="{DCA163D1-F42E-42FD-A140-80BC0CAC3092}"/>
              </a:ext>
            </a:extLst>
          </p:cNvPr>
          <p:cNvSpPr txBox="1"/>
          <p:nvPr/>
        </p:nvSpPr>
        <p:spPr>
          <a:xfrm>
            <a:off x="2346010" y="2773399"/>
            <a:ext cx="7532754" cy="299166"/>
          </a:xfrm>
          <a:prstGeom prst="rect">
            <a:avLst/>
          </a:prstGeom>
          <a:solidFill>
            <a:schemeClr val="bg1"/>
          </a:solidFill>
          <a:ln>
            <a:solidFill>
              <a:schemeClr val="accent2">
                <a:lumMod val="75000"/>
              </a:schemeClr>
            </a:solidFill>
          </a:ln>
        </p:spPr>
        <p:txBody>
          <a:bodyPr wrap="square" numCol="1" rtlCol="0" anchor="ctr" anchorCtr="0">
            <a:noAutofit/>
          </a:bodyPr>
          <a:lstStyle/>
          <a:p>
            <a:endParaRPr lang="en-GB" sz="1050" b="1" dirty="0">
              <a:latin typeface="+mj-lt"/>
              <a:cs typeface="Calibri" pitchFamily="34" charset="0"/>
            </a:endParaRPr>
          </a:p>
        </p:txBody>
      </p:sp>
      <p:sp>
        <p:nvSpPr>
          <p:cNvPr id="22" name="Text Box 4">
            <a:extLst>
              <a:ext uri="{FF2B5EF4-FFF2-40B4-BE49-F238E27FC236}">
                <a16:creationId xmlns:a16="http://schemas.microsoft.com/office/drawing/2014/main" id="{9E5FA607-D209-4FCA-B023-AF16D7DD465B}"/>
              </a:ext>
            </a:extLst>
          </p:cNvPr>
          <p:cNvSpPr txBox="1">
            <a:spLocks noChangeArrowheads="1"/>
          </p:cNvSpPr>
          <p:nvPr/>
        </p:nvSpPr>
        <p:spPr bwMode="auto">
          <a:xfrm>
            <a:off x="2346010" y="2791661"/>
            <a:ext cx="1451646" cy="253916"/>
          </a:xfrm>
          <a:prstGeom prst="rect">
            <a:avLst/>
          </a:prstGeom>
          <a:noFill/>
          <a:ln w="12700">
            <a:noFill/>
            <a:miter lim="800000"/>
            <a:headEnd type="none" w="sm" len="sm"/>
            <a:tailEnd type="none" w="sm" len="sm"/>
          </a:ln>
          <a:effectLst/>
        </p:spPr>
        <p:txBody>
          <a:bodyPr wrap="square">
            <a:spAutoFit/>
          </a:bodyPr>
          <a:lstStyle/>
          <a:p>
            <a:pPr eaLnBrk="1" hangingPunct="1">
              <a:spcBef>
                <a:spcPct val="50000"/>
              </a:spcBef>
            </a:pPr>
            <a:r>
              <a:rPr lang="en-GB" sz="1050" b="1" dirty="0">
                <a:solidFill>
                  <a:srgbClr val="000000"/>
                </a:solidFill>
                <a:latin typeface="+mj-lt"/>
                <a:ea typeface="PMingLiU" pitchFamily="18" charset="-120"/>
                <a:cs typeface="Calibri" pitchFamily="34" charset="0"/>
              </a:rPr>
              <a:t>Capital adequacy</a:t>
            </a:r>
          </a:p>
        </p:txBody>
      </p:sp>
      <p:sp>
        <p:nvSpPr>
          <p:cNvPr id="23" name="Text Box 4">
            <a:extLst>
              <a:ext uri="{FF2B5EF4-FFF2-40B4-BE49-F238E27FC236}">
                <a16:creationId xmlns:a16="http://schemas.microsoft.com/office/drawing/2014/main" id="{8F20C869-C089-43D3-8CCD-FEF376B6E3F0}"/>
              </a:ext>
            </a:extLst>
          </p:cNvPr>
          <p:cNvSpPr txBox="1">
            <a:spLocks noChangeArrowheads="1"/>
          </p:cNvSpPr>
          <p:nvPr/>
        </p:nvSpPr>
        <p:spPr bwMode="auto">
          <a:xfrm>
            <a:off x="5707443" y="2723255"/>
            <a:ext cx="3530490" cy="400110"/>
          </a:xfrm>
          <a:prstGeom prst="rect">
            <a:avLst/>
          </a:prstGeom>
          <a:noFill/>
          <a:ln w="12700">
            <a:noFill/>
            <a:miter lim="800000"/>
            <a:headEnd type="none" w="sm" len="sm"/>
            <a:tailEnd type="none" w="sm" len="sm"/>
          </a:ln>
          <a:effectLst/>
        </p:spPr>
        <p:txBody>
          <a:bodyPr wrap="square">
            <a:spAutoFit/>
          </a:bodyPr>
          <a:lstStyle/>
          <a:p>
            <a:pPr marL="174625" indent="-174625">
              <a:buSzPct val="90000"/>
              <a:buFont typeface="Wingdings" pitchFamily="2" charset="2"/>
              <a:buChar char="§"/>
            </a:pPr>
            <a:r>
              <a:rPr lang="en-GB" sz="1000" dirty="0">
                <a:latin typeface="+mj-lt"/>
                <a:cs typeface="Calibri" pitchFamily="34" charset="0"/>
              </a:rPr>
              <a:t>Credit risk, equity in IRB, market risk, operational risk</a:t>
            </a:r>
          </a:p>
          <a:p>
            <a:pPr marL="174625" indent="-174625">
              <a:buSzPct val="90000"/>
              <a:buFont typeface="Wingdings" pitchFamily="2" charset="2"/>
              <a:buChar char="§"/>
            </a:pPr>
            <a:r>
              <a:rPr lang="en-GB" sz="1000" dirty="0">
                <a:latin typeface="+mj-lt"/>
                <a:cs typeface="Calibri" pitchFamily="34" charset="0"/>
              </a:rPr>
              <a:t>Total and Tier 1 capital</a:t>
            </a:r>
          </a:p>
        </p:txBody>
      </p:sp>
      <p:sp>
        <p:nvSpPr>
          <p:cNvPr id="25" name="TextBox 24">
            <a:extLst>
              <a:ext uri="{FF2B5EF4-FFF2-40B4-BE49-F238E27FC236}">
                <a16:creationId xmlns:a16="http://schemas.microsoft.com/office/drawing/2014/main" id="{DEFF6256-6389-46EC-BE2E-BCF3A251DA29}"/>
              </a:ext>
            </a:extLst>
          </p:cNvPr>
          <p:cNvSpPr txBox="1"/>
          <p:nvPr/>
        </p:nvSpPr>
        <p:spPr>
          <a:xfrm>
            <a:off x="2346010" y="3125709"/>
            <a:ext cx="7532754" cy="790072"/>
          </a:xfrm>
          <a:prstGeom prst="rect">
            <a:avLst/>
          </a:prstGeom>
          <a:solidFill>
            <a:schemeClr val="bg1"/>
          </a:solidFill>
          <a:ln>
            <a:solidFill>
              <a:schemeClr val="accent2">
                <a:lumMod val="75000"/>
              </a:schemeClr>
            </a:solidFill>
          </a:ln>
        </p:spPr>
        <p:txBody>
          <a:bodyPr wrap="square" numCol="1" rtlCol="0" anchor="ctr" anchorCtr="0">
            <a:noAutofit/>
          </a:bodyPr>
          <a:lstStyle/>
          <a:p>
            <a:endParaRPr lang="en-GB" sz="1050" b="1" dirty="0">
              <a:latin typeface="+mj-lt"/>
              <a:cs typeface="Calibri" pitchFamily="34" charset="0"/>
            </a:endParaRPr>
          </a:p>
        </p:txBody>
      </p:sp>
      <p:sp>
        <p:nvSpPr>
          <p:cNvPr id="26" name="Text Box 4">
            <a:extLst>
              <a:ext uri="{FF2B5EF4-FFF2-40B4-BE49-F238E27FC236}">
                <a16:creationId xmlns:a16="http://schemas.microsoft.com/office/drawing/2014/main" id="{14D4294F-B857-4647-B4CB-7AB8BE7D11DA}"/>
              </a:ext>
            </a:extLst>
          </p:cNvPr>
          <p:cNvSpPr txBox="1">
            <a:spLocks noChangeArrowheads="1"/>
          </p:cNvSpPr>
          <p:nvPr/>
        </p:nvSpPr>
        <p:spPr bwMode="auto">
          <a:xfrm>
            <a:off x="2346011" y="3163846"/>
            <a:ext cx="2189199" cy="253915"/>
          </a:xfrm>
          <a:prstGeom prst="rect">
            <a:avLst/>
          </a:prstGeom>
          <a:noFill/>
          <a:ln w="12700">
            <a:noFill/>
            <a:miter lim="800000"/>
            <a:headEnd type="none" w="sm" len="sm"/>
            <a:tailEnd type="none" w="sm" len="sm"/>
          </a:ln>
          <a:effectLst/>
        </p:spPr>
        <p:txBody>
          <a:bodyPr wrap="square">
            <a:spAutoFit/>
          </a:bodyPr>
          <a:lstStyle/>
          <a:p>
            <a:pPr defTabSz="220663"/>
            <a:r>
              <a:rPr lang="en-GB" sz="1050" b="1" dirty="0">
                <a:latin typeface="+mj-lt"/>
                <a:cs typeface="Calibri" pitchFamily="34" charset="0"/>
              </a:rPr>
              <a:t>Risk exposure and assessment</a:t>
            </a:r>
          </a:p>
        </p:txBody>
      </p:sp>
      <p:sp>
        <p:nvSpPr>
          <p:cNvPr id="27" name="Text Box 4">
            <a:extLst>
              <a:ext uri="{FF2B5EF4-FFF2-40B4-BE49-F238E27FC236}">
                <a16:creationId xmlns:a16="http://schemas.microsoft.com/office/drawing/2014/main" id="{2D1E0E66-3AAC-4363-9282-A76586A4E651}"/>
              </a:ext>
            </a:extLst>
          </p:cNvPr>
          <p:cNvSpPr txBox="1">
            <a:spLocks noChangeArrowheads="1"/>
          </p:cNvSpPr>
          <p:nvPr/>
        </p:nvSpPr>
        <p:spPr bwMode="auto">
          <a:xfrm>
            <a:off x="5707444" y="3086577"/>
            <a:ext cx="4171321" cy="861774"/>
          </a:xfrm>
          <a:prstGeom prst="rect">
            <a:avLst/>
          </a:prstGeom>
          <a:noFill/>
          <a:ln w="12700">
            <a:noFill/>
            <a:miter lim="800000"/>
            <a:headEnd type="none" w="sm" len="sm"/>
            <a:tailEnd type="none" w="sm" len="sm"/>
          </a:ln>
          <a:effectLst/>
        </p:spPr>
        <p:txBody>
          <a:bodyPr wrap="square">
            <a:spAutoFit/>
          </a:bodyPr>
          <a:lstStyle/>
          <a:p>
            <a:pPr marL="174625" indent="-174625">
              <a:buSzPct val="90000"/>
              <a:buFont typeface="Wingdings" pitchFamily="2" charset="2"/>
              <a:buChar char="§"/>
            </a:pPr>
            <a:r>
              <a:rPr lang="en-GB" sz="1000" dirty="0">
                <a:latin typeface="+mj-lt"/>
                <a:cs typeface="Calibri" pitchFamily="34" charset="0"/>
              </a:rPr>
              <a:t>General qualitative disclosure of – </a:t>
            </a:r>
          </a:p>
          <a:p>
            <a:pPr marL="361950" lvl="1" indent="-180975">
              <a:buSzPct val="90000"/>
              <a:buFont typeface="Calibri" pitchFamily="34" charset="0"/>
              <a:buChar char="-"/>
            </a:pPr>
            <a:r>
              <a:rPr lang="en-GB" sz="1000" dirty="0">
                <a:latin typeface="+mj-lt"/>
                <a:cs typeface="Calibri" pitchFamily="34" charset="0"/>
              </a:rPr>
              <a:t>Strategies and processes</a:t>
            </a:r>
          </a:p>
          <a:p>
            <a:pPr marL="361950" lvl="1" indent="-180975">
              <a:buSzPct val="90000"/>
              <a:buFont typeface="Calibri" pitchFamily="34" charset="0"/>
              <a:buChar char="-"/>
            </a:pPr>
            <a:r>
              <a:rPr lang="en-GB" sz="1000" dirty="0">
                <a:latin typeface="+mj-lt"/>
                <a:cs typeface="Calibri" pitchFamily="34" charset="0"/>
              </a:rPr>
              <a:t>Organisation of risk management function</a:t>
            </a:r>
          </a:p>
          <a:p>
            <a:pPr marL="361950" lvl="1" indent="-180975">
              <a:buSzPct val="90000"/>
              <a:buFont typeface="Calibri" pitchFamily="34" charset="0"/>
              <a:buChar char="-"/>
            </a:pPr>
            <a:r>
              <a:rPr lang="en-GB" sz="1000" dirty="0">
                <a:latin typeface="+mj-lt"/>
                <a:cs typeface="Calibri" pitchFamily="34" charset="0"/>
              </a:rPr>
              <a:t>Scope and nature of risk reporting and measurement</a:t>
            </a:r>
          </a:p>
          <a:p>
            <a:pPr marL="361950" lvl="1" indent="-180975">
              <a:buSzPct val="90000"/>
              <a:buFont typeface="Calibri" pitchFamily="34" charset="0"/>
              <a:buChar char="-"/>
            </a:pPr>
            <a:r>
              <a:rPr lang="en-GB" sz="1000" dirty="0">
                <a:latin typeface="+mj-lt"/>
                <a:cs typeface="Calibri" pitchFamily="34" charset="0"/>
              </a:rPr>
              <a:t>Policies for and monitoring of hedging and mitigation</a:t>
            </a:r>
          </a:p>
        </p:txBody>
      </p:sp>
      <p:sp>
        <p:nvSpPr>
          <p:cNvPr id="29" name="TextBox 28">
            <a:extLst>
              <a:ext uri="{FF2B5EF4-FFF2-40B4-BE49-F238E27FC236}">
                <a16:creationId xmlns:a16="http://schemas.microsoft.com/office/drawing/2014/main" id="{205D3AF9-C636-40AB-BF0B-F913E05DE2FE}"/>
              </a:ext>
            </a:extLst>
          </p:cNvPr>
          <p:cNvSpPr txBox="1"/>
          <p:nvPr/>
        </p:nvSpPr>
        <p:spPr>
          <a:xfrm>
            <a:off x="2346010" y="3958739"/>
            <a:ext cx="7532754" cy="299166"/>
          </a:xfrm>
          <a:prstGeom prst="rect">
            <a:avLst/>
          </a:prstGeom>
          <a:solidFill>
            <a:schemeClr val="bg1"/>
          </a:solidFill>
          <a:ln>
            <a:solidFill>
              <a:schemeClr val="accent2">
                <a:lumMod val="75000"/>
              </a:schemeClr>
            </a:solidFill>
          </a:ln>
        </p:spPr>
        <p:txBody>
          <a:bodyPr wrap="square" numCol="1" rtlCol="0" anchor="ctr" anchorCtr="0">
            <a:noAutofit/>
          </a:bodyPr>
          <a:lstStyle/>
          <a:p>
            <a:endParaRPr lang="en-GB" sz="1050" b="1" dirty="0">
              <a:latin typeface="+mj-lt"/>
              <a:cs typeface="Calibri" pitchFamily="34" charset="0"/>
            </a:endParaRPr>
          </a:p>
        </p:txBody>
      </p:sp>
      <p:sp>
        <p:nvSpPr>
          <p:cNvPr id="30" name="Text Box 4">
            <a:extLst>
              <a:ext uri="{FF2B5EF4-FFF2-40B4-BE49-F238E27FC236}">
                <a16:creationId xmlns:a16="http://schemas.microsoft.com/office/drawing/2014/main" id="{5DE57516-99DF-4672-AF51-82665BCA0DE8}"/>
              </a:ext>
            </a:extLst>
          </p:cNvPr>
          <p:cNvSpPr txBox="1">
            <a:spLocks noChangeArrowheads="1"/>
          </p:cNvSpPr>
          <p:nvPr/>
        </p:nvSpPr>
        <p:spPr bwMode="auto">
          <a:xfrm>
            <a:off x="2346010" y="3977001"/>
            <a:ext cx="1254512" cy="253916"/>
          </a:xfrm>
          <a:prstGeom prst="rect">
            <a:avLst/>
          </a:prstGeom>
          <a:noFill/>
          <a:ln w="12700">
            <a:noFill/>
            <a:miter lim="800000"/>
            <a:headEnd type="none" w="sm" len="sm"/>
            <a:tailEnd type="none" w="sm" len="sm"/>
          </a:ln>
          <a:effectLst/>
        </p:spPr>
        <p:txBody>
          <a:bodyPr wrap="square">
            <a:spAutoFit/>
          </a:bodyPr>
          <a:lstStyle/>
          <a:p>
            <a:pPr eaLnBrk="1" hangingPunct="1">
              <a:spcBef>
                <a:spcPct val="50000"/>
              </a:spcBef>
            </a:pPr>
            <a:r>
              <a:rPr lang="en-GB" sz="1050" b="1" dirty="0">
                <a:solidFill>
                  <a:srgbClr val="000000"/>
                </a:solidFill>
                <a:latin typeface="+mj-lt"/>
                <a:ea typeface="PMingLiU" pitchFamily="18" charset="-120"/>
                <a:cs typeface="Calibri" pitchFamily="34" charset="0"/>
              </a:rPr>
              <a:t>Credit risk</a:t>
            </a:r>
          </a:p>
        </p:txBody>
      </p:sp>
      <p:sp>
        <p:nvSpPr>
          <p:cNvPr id="31" name="Text Box 4">
            <a:extLst>
              <a:ext uri="{FF2B5EF4-FFF2-40B4-BE49-F238E27FC236}">
                <a16:creationId xmlns:a16="http://schemas.microsoft.com/office/drawing/2014/main" id="{DF08A79E-167A-45DE-8211-D608A05826A5}"/>
              </a:ext>
            </a:extLst>
          </p:cNvPr>
          <p:cNvSpPr txBox="1">
            <a:spLocks noChangeArrowheads="1"/>
          </p:cNvSpPr>
          <p:nvPr/>
        </p:nvSpPr>
        <p:spPr bwMode="auto">
          <a:xfrm>
            <a:off x="5707443" y="3908595"/>
            <a:ext cx="4257781" cy="400110"/>
          </a:xfrm>
          <a:prstGeom prst="rect">
            <a:avLst/>
          </a:prstGeom>
          <a:noFill/>
          <a:ln w="12700">
            <a:noFill/>
            <a:miter lim="800000"/>
            <a:headEnd type="none" w="sm" len="sm"/>
            <a:tailEnd type="none" w="sm" len="sm"/>
          </a:ln>
          <a:effectLst/>
        </p:spPr>
        <p:txBody>
          <a:bodyPr wrap="square">
            <a:spAutoFit/>
          </a:bodyPr>
          <a:lstStyle/>
          <a:p>
            <a:pPr marL="174625" indent="-174625">
              <a:buSzPct val="90000"/>
              <a:buFont typeface="Wingdings" pitchFamily="2" charset="2"/>
              <a:buChar char="§"/>
            </a:pPr>
            <a:r>
              <a:rPr lang="en-GB" sz="1000" dirty="0">
                <a:latin typeface="+mj-lt"/>
                <a:cs typeface="Calibri" pitchFamily="34" charset="0"/>
              </a:rPr>
              <a:t>Definitions of past due, impaired; allowance approaches, policies</a:t>
            </a:r>
          </a:p>
          <a:p>
            <a:pPr marL="174625" indent="-174625">
              <a:buSzPct val="90000"/>
              <a:buFont typeface="Wingdings" pitchFamily="2" charset="2"/>
              <a:buChar char="§"/>
            </a:pPr>
            <a:r>
              <a:rPr lang="en-GB" sz="1000" dirty="0">
                <a:latin typeface="+mj-lt"/>
                <a:cs typeface="Calibri" pitchFamily="34" charset="0"/>
              </a:rPr>
              <a:t>Additional requirements under IRB approaches</a:t>
            </a:r>
          </a:p>
        </p:txBody>
      </p:sp>
      <p:sp>
        <p:nvSpPr>
          <p:cNvPr id="33" name="TextBox 32">
            <a:extLst>
              <a:ext uri="{FF2B5EF4-FFF2-40B4-BE49-F238E27FC236}">
                <a16:creationId xmlns:a16="http://schemas.microsoft.com/office/drawing/2014/main" id="{E1046AD9-803A-4799-840D-FBA0FCCC996E}"/>
              </a:ext>
            </a:extLst>
          </p:cNvPr>
          <p:cNvSpPr txBox="1"/>
          <p:nvPr/>
        </p:nvSpPr>
        <p:spPr>
          <a:xfrm>
            <a:off x="2346010" y="4296614"/>
            <a:ext cx="7532754" cy="299166"/>
          </a:xfrm>
          <a:prstGeom prst="rect">
            <a:avLst/>
          </a:prstGeom>
          <a:solidFill>
            <a:schemeClr val="bg1"/>
          </a:solidFill>
          <a:ln>
            <a:solidFill>
              <a:schemeClr val="accent2">
                <a:lumMod val="75000"/>
              </a:schemeClr>
            </a:solidFill>
          </a:ln>
        </p:spPr>
        <p:txBody>
          <a:bodyPr wrap="square" numCol="1" rtlCol="0" anchor="ctr" anchorCtr="0">
            <a:noAutofit/>
          </a:bodyPr>
          <a:lstStyle/>
          <a:p>
            <a:endParaRPr lang="en-GB" sz="1050" b="1" dirty="0">
              <a:latin typeface="+mj-lt"/>
              <a:cs typeface="Calibri" pitchFamily="34" charset="0"/>
            </a:endParaRPr>
          </a:p>
        </p:txBody>
      </p:sp>
      <p:sp>
        <p:nvSpPr>
          <p:cNvPr id="34" name="Text Box 4">
            <a:extLst>
              <a:ext uri="{FF2B5EF4-FFF2-40B4-BE49-F238E27FC236}">
                <a16:creationId xmlns:a16="http://schemas.microsoft.com/office/drawing/2014/main" id="{306DF0EB-9CBF-4B89-AAB8-2CB071664B1A}"/>
              </a:ext>
            </a:extLst>
          </p:cNvPr>
          <p:cNvSpPr txBox="1">
            <a:spLocks noChangeArrowheads="1"/>
          </p:cNvSpPr>
          <p:nvPr/>
        </p:nvSpPr>
        <p:spPr bwMode="auto">
          <a:xfrm>
            <a:off x="2346010" y="4314876"/>
            <a:ext cx="1451646" cy="253916"/>
          </a:xfrm>
          <a:prstGeom prst="rect">
            <a:avLst/>
          </a:prstGeom>
          <a:noFill/>
          <a:ln w="12700">
            <a:noFill/>
            <a:miter lim="800000"/>
            <a:headEnd type="none" w="sm" len="sm"/>
            <a:tailEnd type="none" w="sm" len="sm"/>
          </a:ln>
          <a:effectLst/>
        </p:spPr>
        <p:txBody>
          <a:bodyPr wrap="square">
            <a:spAutoFit/>
          </a:bodyPr>
          <a:lstStyle/>
          <a:p>
            <a:pPr eaLnBrk="1" hangingPunct="1">
              <a:spcBef>
                <a:spcPct val="50000"/>
              </a:spcBef>
            </a:pPr>
            <a:r>
              <a:rPr lang="en-GB" sz="1050" b="1" dirty="0">
                <a:solidFill>
                  <a:srgbClr val="000000"/>
                </a:solidFill>
                <a:latin typeface="+mj-lt"/>
                <a:ea typeface="PMingLiU" pitchFamily="18" charset="-120"/>
                <a:cs typeface="Calibri" pitchFamily="34" charset="0"/>
              </a:rPr>
              <a:t>Market risk</a:t>
            </a:r>
          </a:p>
        </p:txBody>
      </p:sp>
      <p:sp>
        <p:nvSpPr>
          <p:cNvPr id="35" name="Text Box 4">
            <a:extLst>
              <a:ext uri="{FF2B5EF4-FFF2-40B4-BE49-F238E27FC236}">
                <a16:creationId xmlns:a16="http://schemas.microsoft.com/office/drawing/2014/main" id="{79AB4E03-23AB-48E1-A920-9DEAF2EF2B0A}"/>
              </a:ext>
            </a:extLst>
          </p:cNvPr>
          <p:cNvSpPr txBox="1">
            <a:spLocks noChangeArrowheads="1"/>
          </p:cNvSpPr>
          <p:nvPr/>
        </p:nvSpPr>
        <p:spPr bwMode="auto">
          <a:xfrm>
            <a:off x="5707444" y="4246470"/>
            <a:ext cx="4171321" cy="400110"/>
          </a:xfrm>
          <a:prstGeom prst="rect">
            <a:avLst/>
          </a:prstGeom>
          <a:noFill/>
          <a:ln w="12700">
            <a:noFill/>
            <a:miter lim="800000"/>
            <a:headEnd type="none" w="sm" len="sm"/>
            <a:tailEnd type="none" w="sm" len="sm"/>
          </a:ln>
          <a:effectLst/>
        </p:spPr>
        <p:txBody>
          <a:bodyPr wrap="square">
            <a:spAutoFit/>
          </a:bodyPr>
          <a:lstStyle/>
          <a:p>
            <a:pPr marL="174625" indent="-174625">
              <a:buSzPct val="90000"/>
              <a:buFont typeface="Wingdings" pitchFamily="2" charset="2"/>
              <a:buChar char="§"/>
            </a:pPr>
            <a:r>
              <a:rPr lang="en-GB" sz="1000" dirty="0">
                <a:latin typeface="+mj-lt"/>
                <a:cs typeface="Calibri" pitchFamily="34" charset="0"/>
              </a:rPr>
              <a:t>Capital requirements for interest rate risk, equity position, FX and commodity</a:t>
            </a:r>
          </a:p>
        </p:txBody>
      </p:sp>
      <p:sp>
        <p:nvSpPr>
          <p:cNvPr id="37" name="TextBox 36">
            <a:extLst>
              <a:ext uri="{FF2B5EF4-FFF2-40B4-BE49-F238E27FC236}">
                <a16:creationId xmlns:a16="http://schemas.microsoft.com/office/drawing/2014/main" id="{754B7E3B-0C20-4913-8712-F9D7B297EEE3}"/>
              </a:ext>
            </a:extLst>
          </p:cNvPr>
          <p:cNvSpPr txBox="1"/>
          <p:nvPr/>
        </p:nvSpPr>
        <p:spPr>
          <a:xfrm>
            <a:off x="2346010" y="4642782"/>
            <a:ext cx="7532754" cy="299166"/>
          </a:xfrm>
          <a:prstGeom prst="rect">
            <a:avLst/>
          </a:prstGeom>
          <a:solidFill>
            <a:schemeClr val="bg1"/>
          </a:solidFill>
          <a:ln>
            <a:solidFill>
              <a:schemeClr val="accent2">
                <a:lumMod val="75000"/>
              </a:schemeClr>
            </a:solidFill>
          </a:ln>
        </p:spPr>
        <p:txBody>
          <a:bodyPr wrap="square" numCol="1" rtlCol="0" anchor="ctr" anchorCtr="0">
            <a:noAutofit/>
          </a:bodyPr>
          <a:lstStyle/>
          <a:p>
            <a:endParaRPr lang="en-GB" sz="1050" b="1" dirty="0">
              <a:latin typeface="+mj-lt"/>
              <a:cs typeface="Calibri" pitchFamily="34" charset="0"/>
            </a:endParaRPr>
          </a:p>
        </p:txBody>
      </p:sp>
      <p:sp>
        <p:nvSpPr>
          <p:cNvPr id="38" name="Text Box 4">
            <a:extLst>
              <a:ext uri="{FF2B5EF4-FFF2-40B4-BE49-F238E27FC236}">
                <a16:creationId xmlns:a16="http://schemas.microsoft.com/office/drawing/2014/main" id="{C5CA44EE-9E71-44F0-B191-9B846F78575D}"/>
              </a:ext>
            </a:extLst>
          </p:cNvPr>
          <p:cNvSpPr txBox="1">
            <a:spLocks noChangeArrowheads="1"/>
          </p:cNvSpPr>
          <p:nvPr/>
        </p:nvSpPr>
        <p:spPr bwMode="auto">
          <a:xfrm>
            <a:off x="2346011" y="4661044"/>
            <a:ext cx="2189199" cy="253916"/>
          </a:xfrm>
          <a:prstGeom prst="rect">
            <a:avLst/>
          </a:prstGeom>
          <a:noFill/>
          <a:ln w="12700">
            <a:noFill/>
            <a:miter lim="800000"/>
            <a:headEnd type="none" w="sm" len="sm"/>
            <a:tailEnd type="none" w="sm" len="sm"/>
          </a:ln>
          <a:effectLst/>
        </p:spPr>
        <p:txBody>
          <a:bodyPr wrap="square">
            <a:spAutoFit/>
          </a:bodyPr>
          <a:lstStyle/>
          <a:p>
            <a:pPr defTabSz="220663"/>
            <a:r>
              <a:rPr lang="en-GB" sz="1050" b="1" dirty="0">
                <a:latin typeface="+mj-lt"/>
                <a:cs typeface="Calibri" pitchFamily="34" charset="0"/>
              </a:rPr>
              <a:t>Operational risk</a:t>
            </a:r>
          </a:p>
        </p:txBody>
      </p:sp>
      <p:sp>
        <p:nvSpPr>
          <p:cNvPr id="39" name="Text Box 4">
            <a:extLst>
              <a:ext uri="{FF2B5EF4-FFF2-40B4-BE49-F238E27FC236}">
                <a16:creationId xmlns:a16="http://schemas.microsoft.com/office/drawing/2014/main" id="{ABB73443-EC80-484B-91B8-DCFECF2C622F}"/>
              </a:ext>
            </a:extLst>
          </p:cNvPr>
          <p:cNvSpPr txBox="1">
            <a:spLocks noChangeArrowheads="1"/>
          </p:cNvSpPr>
          <p:nvPr/>
        </p:nvSpPr>
        <p:spPr bwMode="auto">
          <a:xfrm>
            <a:off x="5707444" y="4592638"/>
            <a:ext cx="4171321" cy="400110"/>
          </a:xfrm>
          <a:prstGeom prst="rect">
            <a:avLst/>
          </a:prstGeom>
          <a:noFill/>
          <a:ln w="12700">
            <a:noFill/>
            <a:miter lim="800000"/>
            <a:headEnd type="none" w="sm" len="sm"/>
            <a:tailEnd type="none" w="sm" len="sm"/>
          </a:ln>
          <a:effectLst/>
        </p:spPr>
        <p:txBody>
          <a:bodyPr wrap="square">
            <a:spAutoFit/>
          </a:bodyPr>
          <a:lstStyle/>
          <a:p>
            <a:pPr marL="174625" indent="-174625">
              <a:buSzPct val="90000"/>
              <a:buFont typeface="Wingdings" pitchFamily="2" charset="2"/>
              <a:buChar char="§"/>
            </a:pPr>
            <a:r>
              <a:rPr lang="en-GB" sz="1000" dirty="0">
                <a:latin typeface="+mj-lt"/>
                <a:cs typeface="Calibri" pitchFamily="34" charset="0"/>
              </a:rPr>
              <a:t>Description of approaches</a:t>
            </a:r>
          </a:p>
          <a:p>
            <a:pPr marL="174625" indent="-174625">
              <a:buSzPct val="90000"/>
              <a:buFont typeface="Wingdings" pitchFamily="2" charset="2"/>
              <a:buChar char="§"/>
            </a:pPr>
            <a:r>
              <a:rPr lang="en-GB" sz="1000" dirty="0">
                <a:latin typeface="+mj-lt"/>
                <a:cs typeface="Calibri" pitchFamily="34" charset="0"/>
              </a:rPr>
              <a:t>Advance Measurement Approach (AMA) factor and insurance</a:t>
            </a:r>
          </a:p>
        </p:txBody>
      </p:sp>
      <p:sp>
        <p:nvSpPr>
          <p:cNvPr id="41" name="TextBox 40">
            <a:extLst>
              <a:ext uri="{FF2B5EF4-FFF2-40B4-BE49-F238E27FC236}">
                <a16:creationId xmlns:a16="http://schemas.microsoft.com/office/drawing/2014/main" id="{491C5E69-8B94-4D92-865F-B549526D9D90}"/>
              </a:ext>
            </a:extLst>
          </p:cNvPr>
          <p:cNvSpPr txBox="1"/>
          <p:nvPr/>
        </p:nvSpPr>
        <p:spPr>
          <a:xfrm>
            <a:off x="2346010" y="5304068"/>
            <a:ext cx="7532754" cy="299166"/>
          </a:xfrm>
          <a:prstGeom prst="rect">
            <a:avLst/>
          </a:prstGeom>
          <a:solidFill>
            <a:schemeClr val="bg1"/>
          </a:solidFill>
          <a:ln>
            <a:solidFill>
              <a:schemeClr val="accent2">
                <a:lumMod val="75000"/>
              </a:schemeClr>
            </a:solidFill>
          </a:ln>
        </p:spPr>
        <p:txBody>
          <a:bodyPr wrap="square" numCol="1" rtlCol="0" anchor="ctr" anchorCtr="0">
            <a:noAutofit/>
          </a:bodyPr>
          <a:lstStyle/>
          <a:p>
            <a:endParaRPr lang="en-GB" sz="1050" b="1" dirty="0">
              <a:latin typeface="+mj-lt"/>
              <a:cs typeface="Calibri" pitchFamily="34" charset="0"/>
            </a:endParaRPr>
          </a:p>
        </p:txBody>
      </p:sp>
      <p:sp>
        <p:nvSpPr>
          <p:cNvPr id="42" name="Text Box 4">
            <a:extLst>
              <a:ext uri="{FF2B5EF4-FFF2-40B4-BE49-F238E27FC236}">
                <a16:creationId xmlns:a16="http://schemas.microsoft.com/office/drawing/2014/main" id="{AB4323D5-2718-4660-BB89-7C5BD9D51EC4}"/>
              </a:ext>
            </a:extLst>
          </p:cNvPr>
          <p:cNvSpPr txBox="1">
            <a:spLocks noChangeArrowheads="1"/>
          </p:cNvSpPr>
          <p:nvPr/>
        </p:nvSpPr>
        <p:spPr bwMode="auto">
          <a:xfrm>
            <a:off x="2346011" y="5322330"/>
            <a:ext cx="1857053" cy="253916"/>
          </a:xfrm>
          <a:prstGeom prst="rect">
            <a:avLst/>
          </a:prstGeom>
          <a:noFill/>
          <a:ln w="12700">
            <a:noFill/>
            <a:miter lim="800000"/>
            <a:headEnd type="none" w="sm" len="sm"/>
            <a:tailEnd type="none" w="sm" len="sm"/>
          </a:ln>
          <a:effectLst/>
        </p:spPr>
        <p:txBody>
          <a:bodyPr wrap="square">
            <a:spAutoFit/>
          </a:bodyPr>
          <a:lstStyle/>
          <a:p>
            <a:pPr eaLnBrk="1" hangingPunct="1">
              <a:spcBef>
                <a:spcPct val="50000"/>
              </a:spcBef>
            </a:pPr>
            <a:r>
              <a:rPr lang="en-GB" sz="1050" b="1" dirty="0">
                <a:solidFill>
                  <a:srgbClr val="000000"/>
                </a:solidFill>
                <a:latin typeface="+mj-lt"/>
                <a:ea typeface="PMingLiU" pitchFamily="18" charset="-120"/>
                <a:cs typeface="Calibri" pitchFamily="34" charset="0"/>
              </a:rPr>
              <a:t>Banking book equities</a:t>
            </a:r>
          </a:p>
        </p:txBody>
      </p:sp>
      <p:sp>
        <p:nvSpPr>
          <p:cNvPr id="43" name="Text Box 4">
            <a:extLst>
              <a:ext uri="{FF2B5EF4-FFF2-40B4-BE49-F238E27FC236}">
                <a16:creationId xmlns:a16="http://schemas.microsoft.com/office/drawing/2014/main" id="{66AB787C-C786-4F3F-9BED-ADCB13ADFF98}"/>
              </a:ext>
            </a:extLst>
          </p:cNvPr>
          <p:cNvSpPr txBox="1">
            <a:spLocks noChangeArrowheads="1"/>
          </p:cNvSpPr>
          <p:nvPr/>
        </p:nvSpPr>
        <p:spPr bwMode="auto">
          <a:xfrm>
            <a:off x="5707443" y="5253924"/>
            <a:ext cx="3530490" cy="400110"/>
          </a:xfrm>
          <a:prstGeom prst="rect">
            <a:avLst/>
          </a:prstGeom>
          <a:noFill/>
          <a:ln w="12700">
            <a:noFill/>
            <a:miter lim="800000"/>
            <a:headEnd type="none" w="sm" len="sm"/>
            <a:tailEnd type="none" w="sm" len="sm"/>
          </a:ln>
          <a:effectLst/>
        </p:spPr>
        <p:txBody>
          <a:bodyPr wrap="square">
            <a:spAutoFit/>
          </a:bodyPr>
          <a:lstStyle/>
          <a:p>
            <a:pPr marL="174625" indent="-174625">
              <a:buSzPct val="90000"/>
              <a:buFont typeface="Wingdings" pitchFamily="2" charset="2"/>
              <a:buChar char="§"/>
            </a:pPr>
            <a:r>
              <a:rPr lang="en-GB" sz="1000" dirty="0">
                <a:latin typeface="+mj-lt"/>
                <a:cs typeface="Calibri" pitchFamily="34" charset="0"/>
              </a:rPr>
              <a:t>Investment values, public/private, gain/loss from sale, group requirements</a:t>
            </a:r>
          </a:p>
        </p:txBody>
      </p:sp>
      <p:sp>
        <p:nvSpPr>
          <p:cNvPr id="45" name="TextBox 44">
            <a:extLst>
              <a:ext uri="{FF2B5EF4-FFF2-40B4-BE49-F238E27FC236}">
                <a16:creationId xmlns:a16="http://schemas.microsoft.com/office/drawing/2014/main" id="{900A672B-790F-4E60-9D24-900E0246A562}"/>
              </a:ext>
            </a:extLst>
          </p:cNvPr>
          <p:cNvSpPr txBox="1"/>
          <p:nvPr/>
        </p:nvSpPr>
        <p:spPr>
          <a:xfrm>
            <a:off x="2346010" y="5652701"/>
            <a:ext cx="7532754" cy="299166"/>
          </a:xfrm>
          <a:prstGeom prst="rect">
            <a:avLst/>
          </a:prstGeom>
          <a:solidFill>
            <a:schemeClr val="bg1"/>
          </a:solidFill>
          <a:ln>
            <a:solidFill>
              <a:schemeClr val="accent2">
                <a:lumMod val="75000"/>
              </a:schemeClr>
            </a:solidFill>
          </a:ln>
        </p:spPr>
        <p:txBody>
          <a:bodyPr wrap="square" numCol="1" rtlCol="0" anchor="ctr" anchorCtr="0">
            <a:noAutofit/>
          </a:bodyPr>
          <a:lstStyle/>
          <a:p>
            <a:endParaRPr lang="en-GB" sz="1050" b="1" dirty="0">
              <a:latin typeface="+mj-lt"/>
              <a:cs typeface="Calibri" pitchFamily="34" charset="0"/>
            </a:endParaRPr>
          </a:p>
        </p:txBody>
      </p:sp>
      <p:sp>
        <p:nvSpPr>
          <p:cNvPr id="46" name="Text Box 4">
            <a:extLst>
              <a:ext uri="{FF2B5EF4-FFF2-40B4-BE49-F238E27FC236}">
                <a16:creationId xmlns:a16="http://schemas.microsoft.com/office/drawing/2014/main" id="{73E6BC8A-669C-4BE0-808E-65A98DC4035A}"/>
              </a:ext>
            </a:extLst>
          </p:cNvPr>
          <p:cNvSpPr txBox="1">
            <a:spLocks noChangeArrowheads="1"/>
          </p:cNvSpPr>
          <p:nvPr/>
        </p:nvSpPr>
        <p:spPr bwMode="auto">
          <a:xfrm>
            <a:off x="2346011" y="5670963"/>
            <a:ext cx="2189199" cy="253916"/>
          </a:xfrm>
          <a:prstGeom prst="rect">
            <a:avLst/>
          </a:prstGeom>
          <a:noFill/>
          <a:ln w="12700">
            <a:noFill/>
            <a:miter lim="800000"/>
            <a:headEnd type="none" w="sm" len="sm"/>
            <a:tailEnd type="none" w="sm" len="sm"/>
          </a:ln>
          <a:effectLst/>
        </p:spPr>
        <p:txBody>
          <a:bodyPr wrap="square">
            <a:spAutoFit/>
          </a:bodyPr>
          <a:lstStyle/>
          <a:p>
            <a:pPr eaLnBrk="1" hangingPunct="1">
              <a:spcBef>
                <a:spcPct val="50000"/>
              </a:spcBef>
            </a:pPr>
            <a:r>
              <a:rPr lang="en-GB" sz="1050" b="1" dirty="0">
                <a:solidFill>
                  <a:srgbClr val="000000"/>
                </a:solidFill>
                <a:latin typeface="+mj-lt"/>
                <a:ea typeface="PMingLiU" pitchFamily="18" charset="-120"/>
                <a:cs typeface="Calibri" pitchFamily="34" charset="0"/>
              </a:rPr>
              <a:t>Banking interest rate</a:t>
            </a:r>
          </a:p>
        </p:txBody>
      </p:sp>
      <p:sp>
        <p:nvSpPr>
          <p:cNvPr id="47" name="Text Box 4">
            <a:extLst>
              <a:ext uri="{FF2B5EF4-FFF2-40B4-BE49-F238E27FC236}">
                <a16:creationId xmlns:a16="http://schemas.microsoft.com/office/drawing/2014/main" id="{6C183B1D-0FB8-4B9E-ACA0-448E7D4C2979}"/>
              </a:ext>
            </a:extLst>
          </p:cNvPr>
          <p:cNvSpPr txBox="1">
            <a:spLocks noChangeArrowheads="1"/>
          </p:cNvSpPr>
          <p:nvPr/>
        </p:nvSpPr>
        <p:spPr bwMode="auto">
          <a:xfrm>
            <a:off x="5707443" y="5677864"/>
            <a:ext cx="3530490" cy="246221"/>
          </a:xfrm>
          <a:prstGeom prst="rect">
            <a:avLst/>
          </a:prstGeom>
          <a:noFill/>
          <a:ln w="12700">
            <a:noFill/>
            <a:miter lim="800000"/>
            <a:headEnd type="none" w="sm" len="sm"/>
            <a:tailEnd type="none" w="sm" len="sm"/>
          </a:ln>
          <a:effectLst/>
        </p:spPr>
        <p:txBody>
          <a:bodyPr wrap="square">
            <a:spAutoFit/>
          </a:bodyPr>
          <a:lstStyle/>
          <a:p>
            <a:pPr marL="174625" indent="-174625">
              <a:buSzPct val="90000"/>
              <a:buFont typeface="Wingdings" pitchFamily="2" charset="2"/>
              <a:buChar char="§"/>
            </a:pPr>
            <a:r>
              <a:rPr lang="en-GB" sz="1000" dirty="0">
                <a:latin typeface="+mj-lt"/>
                <a:cs typeface="Calibri" pitchFamily="34" charset="0"/>
              </a:rPr>
              <a:t>Value change for rate shock broken down by currency</a:t>
            </a:r>
          </a:p>
        </p:txBody>
      </p:sp>
      <p:sp>
        <p:nvSpPr>
          <p:cNvPr id="36" name="TextBox 35">
            <a:extLst>
              <a:ext uri="{FF2B5EF4-FFF2-40B4-BE49-F238E27FC236}">
                <a16:creationId xmlns:a16="http://schemas.microsoft.com/office/drawing/2014/main" id="{C334CE4C-CD7D-435C-A65F-16EC7910B8AF}"/>
              </a:ext>
            </a:extLst>
          </p:cNvPr>
          <p:cNvSpPr txBox="1"/>
          <p:nvPr/>
        </p:nvSpPr>
        <p:spPr>
          <a:xfrm>
            <a:off x="2345599" y="4966838"/>
            <a:ext cx="7532754" cy="299166"/>
          </a:xfrm>
          <a:prstGeom prst="rect">
            <a:avLst/>
          </a:prstGeom>
          <a:solidFill>
            <a:schemeClr val="bg1"/>
          </a:solidFill>
          <a:ln>
            <a:solidFill>
              <a:schemeClr val="accent2">
                <a:lumMod val="75000"/>
              </a:schemeClr>
            </a:solidFill>
          </a:ln>
        </p:spPr>
        <p:txBody>
          <a:bodyPr wrap="square" numCol="1" rtlCol="0" anchor="ctr" anchorCtr="0">
            <a:noAutofit/>
          </a:bodyPr>
          <a:lstStyle/>
          <a:p>
            <a:endParaRPr lang="en-GB" sz="1050" b="1" dirty="0">
              <a:latin typeface="+mj-lt"/>
              <a:cs typeface="Calibri" pitchFamily="34" charset="0"/>
            </a:endParaRPr>
          </a:p>
        </p:txBody>
      </p:sp>
      <p:sp>
        <p:nvSpPr>
          <p:cNvPr id="40" name="Text Box 4">
            <a:extLst>
              <a:ext uri="{FF2B5EF4-FFF2-40B4-BE49-F238E27FC236}">
                <a16:creationId xmlns:a16="http://schemas.microsoft.com/office/drawing/2014/main" id="{37E33915-ECE2-4742-9E1F-ECC31F5CB63E}"/>
              </a:ext>
            </a:extLst>
          </p:cNvPr>
          <p:cNvSpPr txBox="1">
            <a:spLocks noChangeArrowheads="1"/>
          </p:cNvSpPr>
          <p:nvPr/>
        </p:nvSpPr>
        <p:spPr bwMode="auto">
          <a:xfrm>
            <a:off x="2345600" y="4985100"/>
            <a:ext cx="2189199" cy="253916"/>
          </a:xfrm>
          <a:prstGeom prst="rect">
            <a:avLst/>
          </a:prstGeom>
          <a:noFill/>
          <a:ln w="12700">
            <a:noFill/>
            <a:miter lim="800000"/>
            <a:headEnd type="none" w="sm" len="sm"/>
            <a:tailEnd type="none" w="sm" len="sm"/>
          </a:ln>
          <a:effectLst/>
        </p:spPr>
        <p:txBody>
          <a:bodyPr wrap="square">
            <a:spAutoFit/>
          </a:bodyPr>
          <a:lstStyle/>
          <a:p>
            <a:pPr defTabSz="220663"/>
            <a:r>
              <a:rPr lang="en-GB" sz="1050" b="1" dirty="0">
                <a:latin typeface="+mj-lt"/>
                <a:cs typeface="Calibri" pitchFamily="34" charset="0"/>
              </a:rPr>
              <a:t>Liquidity risk</a:t>
            </a:r>
          </a:p>
        </p:txBody>
      </p:sp>
      <p:sp>
        <p:nvSpPr>
          <p:cNvPr id="44" name="Text Box 4">
            <a:extLst>
              <a:ext uri="{FF2B5EF4-FFF2-40B4-BE49-F238E27FC236}">
                <a16:creationId xmlns:a16="http://schemas.microsoft.com/office/drawing/2014/main" id="{0080B7F7-BBB8-462E-B5A9-E0832C24A91D}"/>
              </a:ext>
            </a:extLst>
          </p:cNvPr>
          <p:cNvSpPr txBox="1">
            <a:spLocks noChangeArrowheads="1"/>
          </p:cNvSpPr>
          <p:nvPr/>
        </p:nvSpPr>
        <p:spPr bwMode="auto">
          <a:xfrm>
            <a:off x="5707033" y="4916694"/>
            <a:ext cx="4171321" cy="400110"/>
          </a:xfrm>
          <a:prstGeom prst="rect">
            <a:avLst/>
          </a:prstGeom>
          <a:noFill/>
          <a:ln w="12700">
            <a:noFill/>
            <a:miter lim="800000"/>
            <a:headEnd type="none" w="sm" len="sm"/>
            <a:tailEnd type="none" w="sm" len="sm"/>
          </a:ln>
          <a:effectLst/>
        </p:spPr>
        <p:txBody>
          <a:bodyPr wrap="square">
            <a:spAutoFit/>
          </a:bodyPr>
          <a:lstStyle/>
          <a:p>
            <a:pPr marL="174625" indent="-174625">
              <a:buSzPct val="90000"/>
              <a:buFont typeface="Wingdings" pitchFamily="2" charset="2"/>
              <a:buChar char="§"/>
            </a:pPr>
            <a:r>
              <a:rPr lang="en-GB" sz="1000" dirty="0" err="1">
                <a:latin typeface="+mj-lt"/>
                <a:cs typeface="Calibri" pitchFamily="34" charset="0"/>
              </a:rPr>
              <a:t>LCR</a:t>
            </a:r>
            <a:endParaRPr lang="en-GB" sz="1000" dirty="0">
              <a:latin typeface="+mj-lt"/>
              <a:cs typeface="Calibri" pitchFamily="34" charset="0"/>
            </a:endParaRPr>
          </a:p>
          <a:p>
            <a:pPr marL="174625" indent="-174625">
              <a:buSzPct val="90000"/>
              <a:buFont typeface="Wingdings" pitchFamily="2" charset="2"/>
              <a:buChar char="§"/>
            </a:pPr>
            <a:r>
              <a:rPr lang="en-GB" sz="1000" dirty="0" err="1">
                <a:latin typeface="+mj-lt"/>
                <a:cs typeface="Calibri" pitchFamily="34" charset="0"/>
              </a:rPr>
              <a:t>NSFR</a:t>
            </a:r>
            <a:endParaRPr lang="en-GB" sz="1000" dirty="0">
              <a:latin typeface="+mj-lt"/>
              <a:cs typeface="Calibri" pitchFamily="34" charset="0"/>
            </a:endParaRPr>
          </a:p>
        </p:txBody>
      </p:sp>
    </p:spTree>
    <p:extLst>
      <p:ext uri="{BB962C8B-B14F-4D97-AF65-F5344CB8AC3E}">
        <p14:creationId xmlns:p14="http://schemas.microsoft.com/office/powerpoint/2010/main" val="10744896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C322C47-3EBE-4258-A9D1-E4A9DEBC84D3}"/>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4" name="Object 3" hidden="1">
                        <a:extLst>
                          <a:ext uri="{FF2B5EF4-FFF2-40B4-BE49-F238E27FC236}">
                            <a16:creationId xmlns:a16="http://schemas.microsoft.com/office/drawing/2014/main" id="{8C322C47-3EBE-4258-A9D1-E4A9DEBC84D3}"/>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63EF58C-313E-4FFB-8A10-609C53579318}"/>
              </a:ext>
            </a:extLst>
          </p:cNvPr>
          <p:cNvSpPr>
            <a:spLocks noGrp="1"/>
          </p:cNvSpPr>
          <p:nvPr>
            <p:ph type="title"/>
          </p:nvPr>
        </p:nvSpPr>
        <p:spPr/>
        <p:txBody>
          <a:bodyPr vert="horz">
            <a:normAutofit fontScale="90000"/>
          </a:bodyPr>
          <a:lstStyle/>
          <a:p>
            <a:r>
              <a:rPr lang="en-GB" dirty="0"/>
              <a:t>Basel capital standards are the sum of various risk types and additional buffers</a:t>
            </a:r>
          </a:p>
        </p:txBody>
      </p:sp>
      <p:sp>
        <p:nvSpPr>
          <p:cNvPr id="13" name="Rectangle 12">
            <a:extLst>
              <a:ext uri="{FF2B5EF4-FFF2-40B4-BE49-F238E27FC236}">
                <a16:creationId xmlns:a16="http://schemas.microsoft.com/office/drawing/2014/main" id="{4E248C42-0AB5-4C45-8F3F-27B8D86AC39B}"/>
              </a:ext>
            </a:extLst>
          </p:cNvPr>
          <p:cNvSpPr/>
          <p:nvPr/>
        </p:nvSpPr>
        <p:spPr>
          <a:xfrm>
            <a:off x="3186954" y="5314278"/>
            <a:ext cx="1312433" cy="743622"/>
          </a:xfrm>
          <a:prstGeom prst="rect">
            <a:avLst/>
          </a:prstGeom>
          <a:solidFill>
            <a:schemeClr val="accent2"/>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a:solidFill>
                  <a:srgbClr val="000000"/>
                </a:solidFill>
              </a:rPr>
              <a:t>Credit Risk</a:t>
            </a:r>
          </a:p>
        </p:txBody>
      </p:sp>
      <p:sp>
        <p:nvSpPr>
          <p:cNvPr id="14" name="Rectangle 13">
            <a:extLst>
              <a:ext uri="{FF2B5EF4-FFF2-40B4-BE49-F238E27FC236}">
                <a16:creationId xmlns:a16="http://schemas.microsoft.com/office/drawing/2014/main" id="{3FBAF012-6831-432C-A580-6064EAC0C2C8}"/>
              </a:ext>
            </a:extLst>
          </p:cNvPr>
          <p:cNvSpPr/>
          <p:nvPr/>
        </p:nvSpPr>
        <p:spPr>
          <a:xfrm>
            <a:off x="3186954" y="4808668"/>
            <a:ext cx="1312433" cy="505610"/>
          </a:xfrm>
          <a:prstGeom prst="rect">
            <a:avLst/>
          </a:prstGeom>
          <a:solidFill>
            <a:schemeClr val="accent2">
              <a:lumMod val="40000"/>
              <a:lumOff val="6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a:solidFill>
                  <a:srgbClr val="000000"/>
                </a:solidFill>
              </a:rPr>
              <a:t>Market Risk</a:t>
            </a:r>
          </a:p>
        </p:txBody>
      </p:sp>
      <p:sp>
        <p:nvSpPr>
          <p:cNvPr id="15" name="Rectangle 14">
            <a:extLst>
              <a:ext uri="{FF2B5EF4-FFF2-40B4-BE49-F238E27FC236}">
                <a16:creationId xmlns:a16="http://schemas.microsoft.com/office/drawing/2014/main" id="{1B065F19-F15E-4E83-81B1-CCBFCE937B5D}"/>
              </a:ext>
            </a:extLst>
          </p:cNvPr>
          <p:cNvSpPr/>
          <p:nvPr/>
        </p:nvSpPr>
        <p:spPr>
          <a:xfrm>
            <a:off x="3186953" y="4303058"/>
            <a:ext cx="1312433" cy="505610"/>
          </a:xfrm>
          <a:prstGeom prst="rect">
            <a:avLst/>
          </a:prstGeom>
          <a:solidFill>
            <a:schemeClr val="accent2">
              <a:lumMod val="20000"/>
              <a:lumOff val="8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a:solidFill>
                  <a:srgbClr val="000000"/>
                </a:solidFill>
              </a:rPr>
              <a:t>Ops Risk</a:t>
            </a:r>
          </a:p>
        </p:txBody>
      </p:sp>
      <p:sp>
        <p:nvSpPr>
          <p:cNvPr id="16" name="Left Brace 15">
            <a:extLst>
              <a:ext uri="{FF2B5EF4-FFF2-40B4-BE49-F238E27FC236}">
                <a16:creationId xmlns:a16="http://schemas.microsoft.com/office/drawing/2014/main" id="{90427C58-4313-4388-9AB6-EAE7E96E5FD9}"/>
              </a:ext>
            </a:extLst>
          </p:cNvPr>
          <p:cNvSpPr/>
          <p:nvPr/>
        </p:nvSpPr>
        <p:spPr>
          <a:xfrm>
            <a:off x="2821193" y="4303058"/>
            <a:ext cx="107576" cy="1754842"/>
          </a:xfrm>
          <a:prstGeom prst="leftBrace">
            <a:avLst/>
          </a:prstGeom>
          <a:ln w="19050">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7" name="TextBox 16">
            <a:extLst>
              <a:ext uri="{FF2B5EF4-FFF2-40B4-BE49-F238E27FC236}">
                <a16:creationId xmlns:a16="http://schemas.microsoft.com/office/drawing/2014/main" id="{109A72F3-4895-44A4-BB6E-8E7385ABD51C}"/>
              </a:ext>
            </a:extLst>
          </p:cNvPr>
          <p:cNvSpPr txBox="1"/>
          <p:nvPr/>
        </p:nvSpPr>
        <p:spPr>
          <a:xfrm>
            <a:off x="1673611" y="4303058"/>
            <a:ext cx="1083036" cy="1754842"/>
          </a:xfrm>
          <a:prstGeom prst="rect">
            <a:avLst/>
          </a:prstGeom>
          <a:noFill/>
        </p:spPr>
        <p:txBody>
          <a:bodyPr wrap="square" rtlCol="0" anchor="ctr">
            <a:noAutofit/>
          </a:bodyPr>
          <a:lstStyle/>
          <a:p>
            <a:r>
              <a:rPr lang="en-GB" sz="1200" dirty="0">
                <a:cs typeface="Trebuchet MS"/>
              </a:rPr>
              <a:t>Pillar 1</a:t>
            </a:r>
          </a:p>
        </p:txBody>
      </p:sp>
      <p:grpSp>
        <p:nvGrpSpPr>
          <p:cNvPr id="3" name="Group 2">
            <a:extLst>
              <a:ext uri="{FF2B5EF4-FFF2-40B4-BE49-F238E27FC236}">
                <a16:creationId xmlns:a16="http://schemas.microsoft.com/office/drawing/2014/main" id="{4EA94386-F8F3-46F2-818A-F4E4514B1E73}"/>
              </a:ext>
            </a:extLst>
          </p:cNvPr>
          <p:cNvGrpSpPr/>
          <p:nvPr/>
        </p:nvGrpSpPr>
        <p:grpSpPr>
          <a:xfrm>
            <a:off x="1673610" y="1404195"/>
            <a:ext cx="2825775" cy="505610"/>
            <a:chOff x="530611" y="3645946"/>
            <a:chExt cx="2825775" cy="505610"/>
          </a:xfrm>
        </p:grpSpPr>
        <p:sp>
          <p:nvSpPr>
            <p:cNvPr id="18" name="Rectangle 17">
              <a:extLst>
                <a:ext uri="{FF2B5EF4-FFF2-40B4-BE49-F238E27FC236}">
                  <a16:creationId xmlns:a16="http://schemas.microsoft.com/office/drawing/2014/main" id="{A00C33F7-8482-4EDC-837A-1F0BA932B3EC}"/>
                </a:ext>
              </a:extLst>
            </p:cNvPr>
            <p:cNvSpPr/>
            <p:nvPr/>
          </p:nvSpPr>
          <p:spPr>
            <a:xfrm>
              <a:off x="2043953" y="3645946"/>
              <a:ext cx="1312433" cy="505610"/>
            </a:xfrm>
            <a:prstGeom prst="rect">
              <a:avLst/>
            </a:prstGeom>
            <a:solidFill>
              <a:schemeClr val="tx2">
                <a:lumMod val="20000"/>
                <a:lumOff val="8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a:solidFill>
                    <a:srgbClr val="000000"/>
                  </a:solidFill>
                </a:rPr>
                <a:t>Other risks (IRRBB, Pension)</a:t>
              </a:r>
            </a:p>
          </p:txBody>
        </p:sp>
        <p:sp>
          <p:nvSpPr>
            <p:cNvPr id="19" name="Left Brace 18">
              <a:extLst>
                <a:ext uri="{FF2B5EF4-FFF2-40B4-BE49-F238E27FC236}">
                  <a16:creationId xmlns:a16="http://schemas.microsoft.com/office/drawing/2014/main" id="{753D8E64-280D-4A94-BC0F-F9059051EEDD}"/>
                </a:ext>
              </a:extLst>
            </p:cNvPr>
            <p:cNvSpPr/>
            <p:nvPr/>
          </p:nvSpPr>
          <p:spPr>
            <a:xfrm>
              <a:off x="1678193" y="3645946"/>
              <a:ext cx="107576" cy="505610"/>
            </a:xfrm>
            <a:prstGeom prst="leftBrace">
              <a:avLst/>
            </a:prstGeom>
            <a:ln w="19050">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0" name="TextBox 19">
              <a:extLst>
                <a:ext uri="{FF2B5EF4-FFF2-40B4-BE49-F238E27FC236}">
                  <a16:creationId xmlns:a16="http://schemas.microsoft.com/office/drawing/2014/main" id="{1294BA60-F431-459A-B8D7-091F516D31D4}"/>
                </a:ext>
              </a:extLst>
            </p:cNvPr>
            <p:cNvSpPr txBox="1"/>
            <p:nvPr/>
          </p:nvSpPr>
          <p:spPr>
            <a:xfrm>
              <a:off x="530611" y="3645946"/>
              <a:ext cx="1083036" cy="505610"/>
            </a:xfrm>
            <a:prstGeom prst="rect">
              <a:avLst/>
            </a:prstGeom>
            <a:noFill/>
          </p:spPr>
          <p:txBody>
            <a:bodyPr wrap="square" rtlCol="0" anchor="ctr">
              <a:noAutofit/>
            </a:bodyPr>
            <a:lstStyle/>
            <a:p>
              <a:r>
                <a:rPr lang="en-GB" sz="1200" dirty="0">
                  <a:cs typeface="Trebuchet MS"/>
                </a:rPr>
                <a:t>Pillar </a:t>
              </a:r>
              <a:r>
                <a:rPr lang="en-GB" sz="1200" dirty="0" err="1">
                  <a:cs typeface="Trebuchet MS"/>
                </a:rPr>
                <a:t>2A</a:t>
              </a:r>
              <a:endParaRPr lang="en-GB" sz="1200" dirty="0">
                <a:cs typeface="Trebuchet MS"/>
              </a:endParaRPr>
            </a:p>
          </p:txBody>
        </p:sp>
      </p:grpSp>
      <p:sp>
        <p:nvSpPr>
          <p:cNvPr id="25" name="Left Brace 24">
            <a:extLst>
              <a:ext uri="{FF2B5EF4-FFF2-40B4-BE49-F238E27FC236}">
                <a16:creationId xmlns:a16="http://schemas.microsoft.com/office/drawing/2014/main" id="{7A627252-213A-483E-B5CF-065672292116}"/>
              </a:ext>
            </a:extLst>
          </p:cNvPr>
          <p:cNvSpPr/>
          <p:nvPr/>
        </p:nvSpPr>
        <p:spPr>
          <a:xfrm flipH="1">
            <a:off x="4757568" y="1335296"/>
            <a:ext cx="107576" cy="4722605"/>
          </a:xfrm>
          <a:prstGeom prst="leftBrace">
            <a:avLst/>
          </a:prstGeom>
          <a:ln w="19050">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6" name="TextBox 25">
            <a:extLst>
              <a:ext uri="{FF2B5EF4-FFF2-40B4-BE49-F238E27FC236}">
                <a16:creationId xmlns:a16="http://schemas.microsoft.com/office/drawing/2014/main" id="{85D4FCD3-C64C-464C-B40E-3626DC185E18}"/>
              </a:ext>
            </a:extLst>
          </p:cNvPr>
          <p:cNvSpPr txBox="1"/>
          <p:nvPr/>
        </p:nvSpPr>
        <p:spPr>
          <a:xfrm>
            <a:off x="4929686" y="3442895"/>
            <a:ext cx="1083036" cy="505610"/>
          </a:xfrm>
          <a:prstGeom prst="rect">
            <a:avLst/>
          </a:prstGeom>
          <a:noFill/>
        </p:spPr>
        <p:txBody>
          <a:bodyPr wrap="square" rtlCol="0" anchor="ctr">
            <a:noAutofit/>
          </a:bodyPr>
          <a:lstStyle/>
          <a:p>
            <a:pPr algn="ctr"/>
            <a:r>
              <a:rPr lang="en-GB" sz="1200" dirty="0">
                <a:cs typeface="Trebuchet MS"/>
              </a:rPr>
              <a:t>Total Capital </a:t>
            </a:r>
            <a:r>
              <a:rPr lang="en-GB" sz="1200" b="1" dirty="0">
                <a:cs typeface="Trebuchet MS"/>
              </a:rPr>
              <a:t>demand</a:t>
            </a:r>
          </a:p>
        </p:txBody>
      </p:sp>
      <p:grpSp>
        <p:nvGrpSpPr>
          <p:cNvPr id="5" name="Group 4">
            <a:extLst>
              <a:ext uri="{FF2B5EF4-FFF2-40B4-BE49-F238E27FC236}">
                <a16:creationId xmlns:a16="http://schemas.microsoft.com/office/drawing/2014/main" id="{CD28DBF8-B3F2-45FF-B3AF-55C697D86429}"/>
              </a:ext>
            </a:extLst>
          </p:cNvPr>
          <p:cNvGrpSpPr/>
          <p:nvPr/>
        </p:nvGrpSpPr>
        <p:grpSpPr>
          <a:xfrm>
            <a:off x="1673612" y="2010210"/>
            <a:ext cx="2825775" cy="2159149"/>
            <a:chOff x="530611" y="1335295"/>
            <a:chExt cx="2825775" cy="2159149"/>
          </a:xfrm>
        </p:grpSpPr>
        <p:sp>
          <p:nvSpPr>
            <p:cNvPr id="21" name="Rectangle 20">
              <a:extLst>
                <a:ext uri="{FF2B5EF4-FFF2-40B4-BE49-F238E27FC236}">
                  <a16:creationId xmlns:a16="http://schemas.microsoft.com/office/drawing/2014/main" id="{5D66ED1B-3181-401F-920D-309E8AC3FE38}"/>
                </a:ext>
              </a:extLst>
            </p:cNvPr>
            <p:cNvSpPr/>
            <p:nvPr/>
          </p:nvSpPr>
          <p:spPr>
            <a:xfrm>
              <a:off x="2043953" y="2988834"/>
              <a:ext cx="1312433" cy="505610"/>
            </a:xfrm>
            <a:prstGeom prst="rect">
              <a:avLst/>
            </a:prstGeom>
            <a:solidFill>
              <a:schemeClr val="bg1">
                <a:lumMod val="75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a:solidFill>
                    <a:srgbClr val="000000"/>
                  </a:solidFill>
                </a:rPr>
                <a:t>Countercyclical buffer</a:t>
              </a:r>
            </a:p>
          </p:txBody>
        </p:sp>
        <p:sp>
          <p:nvSpPr>
            <p:cNvPr id="22" name="Rectangle 21">
              <a:extLst>
                <a:ext uri="{FF2B5EF4-FFF2-40B4-BE49-F238E27FC236}">
                  <a16:creationId xmlns:a16="http://schemas.microsoft.com/office/drawing/2014/main" id="{70994F8C-83CB-4EC8-9D8D-FFD7A2076161}"/>
                </a:ext>
              </a:extLst>
            </p:cNvPr>
            <p:cNvSpPr/>
            <p:nvPr/>
          </p:nvSpPr>
          <p:spPr>
            <a:xfrm>
              <a:off x="2043951" y="2481880"/>
              <a:ext cx="1312433" cy="505610"/>
            </a:xfrm>
            <a:prstGeom prst="rect">
              <a:avLst/>
            </a:prstGeom>
            <a:solidFill>
              <a:schemeClr val="bg1">
                <a:lumMod val="85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a:solidFill>
                    <a:srgbClr val="000000"/>
                  </a:solidFill>
                </a:rPr>
                <a:t>Systemic buffer</a:t>
              </a:r>
            </a:p>
          </p:txBody>
        </p:sp>
        <p:sp>
          <p:nvSpPr>
            <p:cNvPr id="23" name="Rectangle 22">
              <a:extLst>
                <a:ext uri="{FF2B5EF4-FFF2-40B4-BE49-F238E27FC236}">
                  <a16:creationId xmlns:a16="http://schemas.microsoft.com/office/drawing/2014/main" id="{59850E89-F5DE-43E1-9276-3676DF50F87D}"/>
                </a:ext>
              </a:extLst>
            </p:cNvPr>
            <p:cNvSpPr/>
            <p:nvPr/>
          </p:nvSpPr>
          <p:spPr>
            <a:xfrm>
              <a:off x="2043953" y="1992407"/>
              <a:ext cx="1312433" cy="505610"/>
            </a:xfrm>
            <a:prstGeom prst="rect">
              <a:avLst/>
            </a:prstGeom>
            <a:solidFill>
              <a:schemeClr val="tx2">
                <a:lumMod val="20000"/>
                <a:lumOff val="8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a:solidFill>
                    <a:srgbClr val="000000"/>
                  </a:solidFill>
                </a:rPr>
                <a:t>Capital conservation buffer</a:t>
              </a:r>
            </a:p>
          </p:txBody>
        </p:sp>
        <p:sp>
          <p:nvSpPr>
            <p:cNvPr id="24" name="Rectangle 23">
              <a:extLst>
                <a:ext uri="{FF2B5EF4-FFF2-40B4-BE49-F238E27FC236}">
                  <a16:creationId xmlns:a16="http://schemas.microsoft.com/office/drawing/2014/main" id="{7C5C01FD-149E-41F8-A718-88EBFB737E48}"/>
                </a:ext>
              </a:extLst>
            </p:cNvPr>
            <p:cNvSpPr/>
            <p:nvPr/>
          </p:nvSpPr>
          <p:spPr>
            <a:xfrm>
              <a:off x="2043953" y="1335295"/>
              <a:ext cx="1312433" cy="505610"/>
            </a:xfrm>
            <a:prstGeom prst="rect">
              <a:avLst/>
            </a:prstGeom>
            <a:solidFill>
              <a:schemeClr val="bg1">
                <a:lumMod val="95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a:solidFill>
                    <a:srgbClr val="000000"/>
                  </a:solidFill>
                </a:rPr>
                <a:t>Other prudential buffers *</a:t>
              </a:r>
            </a:p>
          </p:txBody>
        </p:sp>
        <p:sp>
          <p:nvSpPr>
            <p:cNvPr id="27" name="Left Brace 26">
              <a:extLst>
                <a:ext uri="{FF2B5EF4-FFF2-40B4-BE49-F238E27FC236}">
                  <a16:creationId xmlns:a16="http://schemas.microsoft.com/office/drawing/2014/main" id="{3C59AB07-5ED5-415D-8DFD-B660920F36E6}"/>
                </a:ext>
              </a:extLst>
            </p:cNvPr>
            <p:cNvSpPr/>
            <p:nvPr/>
          </p:nvSpPr>
          <p:spPr>
            <a:xfrm>
              <a:off x="1678191" y="1335296"/>
              <a:ext cx="107576" cy="2159148"/>
            </a:xfrm>
            <a:prstGeom prst="leftBrace">
              <a:avLst/>
            </a:prstGeom>
            <a:ln w="19050">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8" name="TextBox 27">
              <a:extLst>
                <a:ext uri="{FF2B5EF4-FFF2-40B4-BE49-F238E27FC236}">
                  <a16:creationId xmlns:a16="http://schemas.microsoft.com/office/drawing/2014/main" id="{7AE2EBD5-7E81-43B5-890F-051F00FCE6E6}"/>
                </a:ext>
              </a:extLst>
            </p:cNvPr>
            <p:cNvSpPr txBox="1"/>
            <p:nvPr/>
          </p:nvSpPr>
          <p:spPr>
            <a:xfrm>
              <a:off x="530611" y="1335296"/>
              <a:ext cx="1083036" cy="2159148"/>
            </a:xfrm>
            <a:prstGeom prst="rect">
              <a:avLst/>
            </a:prstGeom>
            <a:noFill/>
          </p:spPr>
          <p:txBody>
            <a:bodyPr wrap="square" rtlCol="0" anchor="ctr">
              <a:noAutofit/>
            </a:bodyPr>
            <a:lstStyle/>
            <a:p>
              <a:r>
                <a:rPr lang="en-GB" sz="1200" dirty="0">
                  <a:cs typeface="Trebuchet MS"/>
                </a:rPr>
                <a:t>Buffers</a:t>
              </a:r>
            </a:p>
          </p:txBody>
        </p:sp>
      </p:grpSp>
      <p:sp>
        <p:nvSpPr>
          <p:cNvPr id="29" name="TextBox 28">
            <a:extLst>
              <a:ext uri="{FF2B5EF4-FFF2-40B4-BE49-F238E27FC236}">
                <a16:creationId xmlns:a16="http://schemas.microsoft.com/office/drawing/2014/main" id="{A1500DF1-36F4-49C0-B9BC-906024DD4FF2}"/>
              </a:ext>
            </a:extLst>
          </p:cNvPr>
          <p:cNvSpPr txBox="1"/>
          <p:nvPr/>
        </p:nvSpPr>
        <p:spPr>
          <a:xfrm>
            <a:off x="7212103" y="3442895"/>
            <a:ext cx="1083036" cy="505610"/>
          </a:xfrm>
          <a:prstGeom prst="rect">
            <a:avLst/>
          </a:prstGeom>
          <a:noFill/>
        </p:spPr>
        <p:txBody>
          <a:bodyPr wrap="square" rtlCol="0" anchor="ctr">
            <a:noAutofit/>
          </a:bodyPr>
          <a:lstStyle/>
          <a:p>
            <a:pPr algn="ctr"/>
            <a:r>
              <a:rPr lang="en-GB" sz="1200" dirty="0">
                <a:cs typeface="Trebuchet MS"/>
              </a:rPr>
              <a:t>Total Capital </a:t>
            </a:r>
            <a:r>
              <a:rPr lang="en-GB" sz="1200" b="1" dirty="0">
                <a:cs typeface="Trebuchet MS"/>
              </a:rPr>
              <a:t>supply</a:t>
            </a:r>
          </a:p>
        </p:txBody>
      </p:sp>
      <p:sp>
        <p:nvSpPr>
          <p:cNvPr id="30" name="TextBox 29">
            <a:extLst>
              <a:ext uri="{FF2B5EF4-FFF2-40B4-BE49-F238E27FC236}">
                <a16:creationId xmlns:a16="http://schemas.microsoft.com/office/drawing/2014/main" id="{F6F47C29-7C96-40E9-B1F1-25BA10F512A5}"/>
              </a:ext>
            </a:extLst>
          </p:cNvPr>
          <p:cNvSpPr txBox="1"/>
          <p:nvPr/>
        </p:nvSpPr>
        <p:spPr>
          <a:xfrm>
            <a:off x="6167714" y="3346073"/>
            <a:ext cx="1083036" cy="505610"/>
          </a:xfrm>
          <a:prstGeom prst="rect">
            <a:avLst/>
          </a:prstGeom>
          <a:noFill/>
        </p:spPr>
        <p:txBody>
          <a:bodyPr wrap="square" rtlCol="0" anchor="t">
            <a:noAutofit/>
          </a:bodyPr>
          <a:lstStyle/>
          <a:p>
            <a:pPr algn="ctr"/>
            <a:r>
              <a:rPr lang="en-GB" sz="3200" b="1" dirty="0">
                <a:cs typeface="Trebuchet MS"/>
              </a:rPr>
              <a:t>≤</a:t>
            </a:r>
          </a:p>
        </p:txBody>
      </p:sp>
      <p:sp>
        <p:nvSpPr>
          <p:cNvPr id="31" name="Rectangle 30">
            <a:extLst>
              <a:ext uri="{FF2B5EF4-FFF2-40B4-BE49-F238E27FC236}">
                <a16:creationId xmlns:a16="http://schemas.microsoft.com/office/drawing/2014/main" id="{219301F8-1FA9-4DB6-AA1B-0224B091BE53}"/>
              </a:ext>
            </a:extLst>
          </p:cNvPr>
          <p:cNvSpPr/>
          <p:nvPr/>
        </p:nvSpPr>
        <p:spPr>
          <a:xfrm>
            <a:off x="8858027" y="2265232"/>
            <a:ext cx="1312433" cy="3792668"/>
          </a:xfrm>
          <a:prstGeom prst="rect">
            <a:avLst/>
          </a:prstGeom>
          <a:solidFill>
            <a:schemeClr val="accent2"/>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a:solidFill>
                  <a:srgbClr val="000000"/>
                </a:solidFill>
              </a:rPr>
              <a:t>Core Equity </a:t>
            </a:r>
          </a:p>
          <a:p>
            <a:pPr algn="ctr"/>
            <a:r>
              <a:rPr lang="en-GB" sz="1200" b="1" dirty="0">
                <a:solidFill>
                  <a:srgbClr val="000000"/>
                </a:solidFill>
              </a:rPr>
              <a:t>Tier 1</a:t>
            </a:r>
          </a:p>
        </p:txBody>
      </p:sp>
      <p:sp>
        <p:nvSpPr>
          <p:cNvPr id="32" name="Rectangle 31">
            <a:extLst>
              <a:ext uri="{FF2B5EF4-FFF2-40B4-BE49-F238E27FC236}">
                <a16:creationId xmlns:a16="http://schemas.microsoft.com/office/drawing/2014/main" id="{C1501472-80EB-47C6-A57F-617DB1912AE2}"/>
              </a:ext>
            </a:extLst>
          </p:cNvPr>
          <p:cNvSpPr/>
          <p:nvPr/>
        </p:nvSpPr>
        <p:spPr>
          <a:xfrm>
            <a:off x="8858027" y="1759622"/>
            <a:ext cx="1312433" cy="505610"/>
          </a:xfrm>
          <a:prstGeom prst="rect">
            <a:avLst/>
          </a:prstGeom>
          <a:solidFill>
            <a:schemeClr val="accent2">
              <a:lumMod val="40000"/>
              <a:lumOff val="6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a:solidFill>
                  <a:srgbClr val="000000"/>
                </a:solidFill>
              </a:rPr>
              <a:t>Additional </a:t>
            </a:r>
          </a:p>
          <a:p>
            <a:pPr algn="ctr"/>
            <a:r>
              <a:rPr lang="en-GB" sz="1200" b="1" dirty="0">
                <a:solidFill>
                  <a:srgbClr val="000000"/>
                </a:solidFill>
              </a:rPr>
              <a:t>Tier 1</a:t>
            </a:r>
          </a:p>
        </p:txBody>
      </p:sp>
      <p:sp>
        <p:nvSpPr>
          <p:cNvPr id="33" name="Rectangle 32">
            <a:extLst>
              <a:ext uri="{FF2B5EF4-FFF2-40B4-BE49-F238E27FC236}">
                <a16:creationId xmlns:a16="http://schemas.microsoft.com/office/drawing/2014/main" id="{D702BBE4-707B-45FA-9A0C-D9AE39B5BD44}"/>
              </a:ext>
            </a:extLst>
          </p:cNvPr>
          <p:cNvSpPr/>
          <p:nvPr/>
        </p:nvSpPr>
        <p:spPr>
          <a:xfrm>
            <a:off x="8858026" y="1335296"/>
            <a:ext cx="1312433" cy="424326"/>
          </a:xfrm>
          <a:prstGeom prst="rect">
            <a:avLst/>
          </a:prstGeom>
          <a:solidFill>
            <a:schemeClr val="accent2">
              <a:lumMod val="20000"/>
              <a:lumOff val="8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a:solidFill>
                  <a:srgbClr val="000000"/>
                </a:solidFill>
              </a:rPr>
              <a:t>Tier 2</a:t>
            </a:r>
          </a:p>
        </p:txBody>
      </p:sp>
      <p:sp>
        <p:nvSpPr>
          <p:cNvPr id="35" name="TextBox 34">
            <a:extLst>
              <a:ext uri="{FF2B5EF4-FFF2-40B4-BE49-F238E27FC236}">
                <a16:creationId xmlns:a16="http://schemas.microsoft.com/office/drawing/2014/main" id="{75512128-3FE6-4AF5-8305-09FAC4B8898E}"/>
              </a:ext>
            </a:extLst>
          </p:cNvPr>
          <p:cNvSpPr txBox="1"/>
          <p:nvPr/>
        </p:nvSpPr>
        <p:spPr>
          <a:xfrm>
            <a:off x="1609066" y="6057900"/>
            <a:ext cx="8982735" cy="220678"/>
          </a:xfrm>
          <a:prstGeom prst="rect">
            <a:avLst/>
          </a:prstGeom>
          <a:noFill/>
        </p:spPr>
        <p:txBody>
          <a:bodyPr wrap="square" rtlCol="0">
            <a:noAutofit/>
          </a:bodyPr>
          <a:lstStyle/>
          <a:p>
            <a:r>
              <a:rPr lang="en-GB" sz="1000" dirty="0">
                <a:cs typeface="Trebuchet MS"/>
              </a:rPr>
              <a:t>* E.g. the PRA Buffer in the UK</a:t>
            </a:r>
          </a:p>
        </p:txBody>
      </p:sp>
      <p:sp>
        <p:nvSpPr>
          <p:cNvPr id="36" name="Rectangle 35">
            <a:extLst>
              <a:ext uri="{FF2B5EF4-FFF2-40B4-BE49-F238E27FC236}">
                <a16:creationId xmlns:a16="http://schemas.microsoft.com/office/drawing/2014/main" id="{3745AADF-A0EC-4719-B837-37E4E0D114A1}"/>
              </a:ext>
            </a:extLst>
          </p:cNvPr>
          <p:cNvSpPr/>
          <p:nvPr/>
        </p:nvSpPr>
        <p:spPr>
          <a:xfrm>
            <a:off x="5478332" y="5100915"/>
            <a:ext cx="2667896" cy="956985"/>
          </a:xfrm>
          <a:prstGeom prst="rect">
            <a:avLst/>
          </a:prstGeom>
          <a:solidFill>
            <a:schemeClr val="bg1">
              <a:lumMod val="95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a:solidFill>
                  <a:srgbClr val="000000"/>
                </a:solidFill>
              </a:rPr>
              <a:t>Bar sizes are illustrative</a:t>
            </a:r>
          </a:p>
          <a:p>
            <a:pPr algn="ctr"/>
            <a:endParaRPr lang="en-GB" sz="1200" b="1" dirty="0">
              <a:solidFill>
                <a:srgbClr val="000000"/>
              </a:solidFill>
            </a:endParaRPr>
          </a:p>
          <a:p>
            <a:pPr algn="ctr"/>
            <a:r>
              <a:rPr lang="en-GB" sz="1200" b="1" dirty="0">
                <a:solidFill>
                  <a:srgbClr val="000000"/>
                </a:solidFill>
              </a:rPr>
              <a:t>Buffers should be covered by CET 1 capital</a:t>
            </a:r>
          </a:p>
        </p:txBody>
      </p:sp>
    </p:spTree>
    <p:extLst>
      <p:ext uri="{BB962C8B-B14F-4D97-AF65-F5344CB8AC3E}">
        <p14:creationId xmlns:p14="http://schemas.microsoft.com/office/powerpoint/2010/main" val="32777009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Object 23" hidden="1">
            <a:extLst>
              <a:ext uri="{FF2B5EF4-FFF2-40B4-BE49-F238E27FC236}">
                <a16:creationId xmlns:a16="http://schemas.microsoft.com/office/drawing/2014/main" id="{3DFFA6A8-2CAF-49D2-B238-E59F4DFC08D6}"/>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24" name="Object 23" hidden="1">
                        <a:extLst>
                          <a:ext uri="{FF2B5EF4-FFF2-40B4-BE49-F238E27FC236}">
                            <a16:creationId xmlns:a16="http://schemas.microsoft.com/office/drawing/2014/main" id="{3DFFA6A8-2CAF-49D2-B238-E59F4DFC08D6}"/>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2" name="Content Placeholder 1"/>
          <p:cNvSpPr>
            <a:spLocks noGrp="1"/>
          </p:cNvSpPr>
          <p:nvPr>
            <p:ph type="body" sz="quarter" idx="13"/>
          </p:nvPr>
        </p:nvSpPr>
        <p:spPr/>
        <p:txBody>
          <a:bodyPr>
            <a:normAutofit fontScale="62500" lnSpcReduction="20000"/>
          </a:bodyPr>
          <a:lstStyle/>
          <a:p>
            <a:r>
              <a:rPr lang="en-GB" dirty="0"/>
              <a:t>Basel 1 used a rudimentary approach to calculating Risk Weighted Assets (RWA) based on reference risk weights per asset class </a:t>
            </a:r>
            <a:r>
              <a:rPr lang="en-GB" i="1" dirty="0" err="1"/>
              <a:t>i</a:t>
            </a:r>
            <a:endParaRPr lang="en-GB" dirty="0"/>
          </a:p>
          <a:p>
            <a:pPr marL="0" indent="0">
              <a:buNone/>
            </a:pPr>
            <a:endParaRPr lang="en-GB" dirty="0"/>
          </a:p>
          <a:p>
            <a:r>
              <a:rPr lang="en-GB" dirty="0"/>
              <a:t>Basel 2 (and 3) improved the risk sensitivity of the Credit Risk framework by introducing a </a:t>
            </a:r>
            <a:r>
              <a:rPr lang="en-GB" i="1" dirty="0"/>
              <a:t>portfolio invariant</a:t>
            </a:r>
            <a:r>
              <a:rPr lang="en-GB" dirty="0"/>
              <a:t> model</a:t>
            </a:r>
          </a:p>
          <a:p>
            <a:pPr lvl="1"/>
            <a:r>
              <a:rPr lang="en-GB" dirty="0"/>
              <a:t>In such a model the capital required for any given loan only depends on the risk of that loan and not on the portfolio it is added to</a:t>
            </a:r>
          </a:p>
          <a:p>
            <a:pPr lvl="1"/>
            <a:r>
              <a:rPr lang="en-GB" dirty="0"/>
              <a:t>Portfolio </a:t>
            </a:r>
            <a:r>
              <a:rPr lang="en-GB" dirty="0" err="1"/>
              <a:t>invariancy</a:t>
            </a:r>
            <a:r>
              <a:rPr lang="en-GB" dirty="0"/>
              <a:t> was achieved by using an Asymptotic Single Risk Factor (ASRF) model whereby </a:t>
            </a:r>
          </a:p>
          <a:p>
            <a:pPr lvl="2"/>
            <a:r>
              <a:rPr lang="en-GB" dirty="0"/>
              <a:t>idiosyncratic risks associated with individual exposures tend to cancel out one-another and </a:t>
            </a:r>
          </a:p>
          <a:p>
            <a:pPr lvl="2"/>
            <a:r>
              <a:rPr lang="en-GB" dirty="0"/>
              <a:t>only systematic (or system-wide) risks, that affect all borrowers (like industry or regional risks) are modelled with only one (the “single”) systematic risk factor</a:t>
            </a:r>
          </a:p>
          <a:p>
            <a:r>
              <a:rPr lang="en-GB" dirty="0"/>
              <a:t>The Basel 2/3 formula is based on risk parameters (PD, LGD, EAD) and allows for different levels of sophistication in their estimation (Foundation and Advanced Internal Ratings Based (IRB) approaches)</a:t>
            </a:r>
          </a:p>
          <a:p>
            <a:endParaRPr lang="en-GB" dirty="0"/>
          </a:p>
          <a:p>
            <a:endParaRPr lang="en-GB" dirty="0"/>
          </a:p>
          <a:p>
            <a:endParaRPr lang="en-GB" dirty="0"/>
          </a:p>
          <a:p>
            <a:endParaRPr lang="en-GB" dirty="0"/>
          </a:p>
          <a:p>
            <a:endParaRPr lang="en-GB" dirty="0"/>
          </a:p>
          <a:p>
            <a:endParaRPr lang="en-GB" dirty="0"/>
          </a:p>
          <a:p>
            <a:endParaRPr lang="en-GB" dirty="0"/>
          </a:p>
        </p:txBody>
      </p:sp>
      <p:sp>
        <p:nvSpPr>
          <p:cNvPr id="23" name="Text Placeholder 22">
            <a:extLst>
              <a:ext uri="{FF2B5EF4-FFF2-40B4-BE49-F238E27FC236}">
                <a16:creationId xmlns:a16="http://schemas.microsoft.com/office/drawing/2014/main" id="{3974D98D-FFF8-4942-B335-A8B57639AEE7}"/>
              </a:ext>
            </a:extLst>
          </p:cNvPr>
          <p:cNvSpPr>
            <a:spLocks noGrp="1"/>
          </p:cNvSpPr>
          <p:nvPr>
            <p:ph type="body" sz="quarter" idx="14"/>
          </p:nvPr>
        </p:nvSpPr>
        <p:spPr>
          <a:xfrm>
            <a:off x="6291001" y="3306099"/>
            <a:ext cx="4290217" cy="2752701"/>
          </a:xfrm>
        </p:spPr>
        <p:txBody>
          <a:bodyPr>
            <a:normAutofit fontScale="55000" lnSpcReduction="20000"/>
          </a:bodyPr>
          <a:lstStyle/>
          <a:p>
            <a:r>
              <a:rPr lang="en-GB" dirty="0">
                <a:latin typeface="+mj-lt"/>
                <a:cs typeface="Arial" pitchFamily="34" charset="0"/>
              </a:rPr>
              <a:t>While a significant improvement from Basel 1, the Basel 2/3 has the following shortcomings:</a:t>
            </a:r>
          </a:p>
          <a:p>
            <a:pPr lvl="1"/>
            <a:r>
              <a:rPr lang="en-GB" b="1" dirty="0">
                <a:latin typeface="+mj-lt"/>
                <a:cs typeface="Arial" pitchFamily="34" charset="0"/>
              </a:rPr>
              <a:t>Name level concentrations are not captured</a:t>
            </a:r>
            <a:r>
              <a:rPr lang="en-GB" dirty="0">
                <a:latin typeface="+mj-lt"/>
                <a:cs typeface="Arial" pitchFamily="34" charset="0"/>
              </a:rPr>
              <a:t>: Same capital charge for highly concentrated or diversified portfolios</a:t>
            </a:r>
          </a:p>
          <a:p>
            <a:pPr lvl="1"/>
            <a:r>
              <a:rPr lang="en-GB" b="1" dirty="0">
                <a:latin typeface="+mj-lt"/>
                <a:cs typeface="Arial" pitchFamily="34" charset="0"/>
              </a:rPr>
              <a:t>Sector concentrations are not adequately quantified</a:t>
            </a:r>
            <a:r>
              <a:rPr lang="en-GB" dirty="0">
                <a:latin typeface="+mj-lt"/>
                <a:cs typeface="Arial" pitchFamily="34" charset="0"/>
              </a:rPr>
              <a:t>: Highly diversified portfolios will receive a high RegCap compared to </a:t>
            </a:r>
            <a:r>
              <a:rPr lang="en-GB" dirty="0" err="1">
                <a:latin typeface="+mj-lt"/>
                <a:cs typeface="Arial" pitchFamily="34" charset="0"/>
              </a:rPr>
              <a:t>ECap</a:t>
            </a:r>
            <a:r>
              <a:rPr lang="en-GB" dirty="0">
                <a:latin typeface="+mj-lt"/>
                <a:cs typeface="Arial" pitchFamily="34" charset="0"/>
              </a:rPr>
              <a:t> as formula assumes 100% correlation between different sectors </a:t>
            </a:r>
          </a:p>
          <a:p>
            <a:pPr lvl="1"/>
            <a:r>
              <a:rPr lang="en-GB" b="1" dirty="0">
                <a:latin typeface="+mj-lt"/>
                <a:cs typeface="Arial" pitchFamily="34" charset="0"/>
              </a:rPr>
              <a:t>Universal formula cannot fit to all kinds of portfolios</a:t>
            </a:r>
            <a:r>
              <a:rPr lang="en-GB" dirty="0">
                <a:latin typeface="+mj-lt"/>
                <a:cs typeface="Arial" pitchFamily="34" charset="0"/>
              </a:rPr>
              <a:t>: The IRB formula was originally calibrated in such a way that even highly concentrated (European) banks receive a sufficient RegCap charge at a particular confidence level</a:t>
            </a:r>
            <a:endParaRPr lang="en-GB" dirty="0"/>
          </a:p>
        </p:txBody>
      </p:sp>
      <p:sp>
        <p:nvSpPr>
          <p:cNvPr id="4" name="Title 3"/>
          <p:cNvSpPr>
            <a:spLocks noGrp="1"/>
          </p:cNvSpPr>
          <p:nvPr>
            <p:ph type="title"/>
          </p:nvPr>
        </p:nvSpPr>
        <p:spPr/>
        <p:txBody>
          <a:bodyPr vert="horz"/>
          <a:lstStyle/>
          <a:p>
            <a:r>
              <a:rPr lang="en-GB" dirty="0"/>
              <a:t>Pillar 1: Credit Risk</a:t>
            </a:r>
          </a:p>
        </p:txBody>
      </p:sp>
      <p:graphicFrame>
        <p:nvGraphicFramePr>
          <p:cNvPr id="5" name="Object 4"/>
          <p:cNvGraphicFramePr>
            <a:graphicFrameLocks noChangeAspect="1"/>
          </p:cNvGraphicFramePr>
          <p:nvPr/>
        </p:nvGraphicFramePr>
        <p:xfrm>
          <a:off x="3248000" y="2061180"/>
          <a:ext cx="1016000" cy="228600"/>
        </p:xfrm>
        <a:graphic>
          <a:graphicData uri="http://schemas.openxmlformats.org/presentationml/2006/ole">
            <mc:AlternateContent xmlns:mc="http://schemas.openxmlformats.org/markup-compatibility/2006">
              <mc:Choice xmlns:v="urn:schemas-microsoft-com:vml" Requires="v">
                <p:oleObj name="Equation" r:id="rId5" imgW="1016000" imgH="228600" progId="Equation.3">
                  <p:embed/>
                </p:oleObj>
              </mc:Choice>
              <mc:Fallback>
                <p:oleObj name="Equation" r:id="rId5" imgW="1016000" imgH="228600" progId="Equation.3">
                  <p:embed/>
                  <p:pic>
                    <p:nvPicPr>
                      <p:cNvPr id="5"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8000" y="2061180"/>
                        <a:ext cx="10160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Table 5"/>
          <p:cNvGraphicFramePr>
            <a:graphicFrameLocks noGrp="1"/>
          </p:cNvGraphicFramePr>
          <p:nvPr/>
        </p:nvGraphicFramePr>
        <p:xfrm>
          <a:off x="6134100" y="1295400"/>
          <a:ext cx="4443356" cy="1016000"/>
        </p:xfrm>
        <a:graphic>
          <a:graphicData uri="http://schemas.openxmlformats.org/drawingml/2006/table">
            <a:tbl>
              <a:tblPr firstRow="1" bandRow="1">
                <a:tableStyleId>{21E4AEA4-8DFA-4A89-87EB-49C32662AFE0}</a:tableStyleId>
              </a:tblPr>
              <a:tblGrid>
                <a:gridCol w="896040">
                  <a:extLst>
                    <a:ext uri="{9D8B030D-6E8A-4147-A177-3AD203B41FA5}">
                      <a16:colId xmlns:a16="http://schemas.microsoft.com/office/drawing/2014/main" val="20000"/>
                    </a:ext>
                  </a:extLst>
                </a:gridCol>
                <a:gridCol w="1710466">
                  <a:extLst>
                    <a:ext uri="{9D8B030D-6E8A-4147-A177-3AD203B41FA5}">
                      <a16:colId xmlns:a16="http://schemas.microsoft.com/office/drawing/2014/main" val="20001"/>
                    </a:ext>
                  </a:extLst>
                </a:gridCol>
                <a:gridCol w="1836850">
                  <a:extLst>
                    <a:ext uri="{9D8B030D-6E8A-4147-A177-3AD203B41FA5}">
                      <a16:colId xmlns:a16="http://schemas.microsoft.com/office/drawing/2014/main" val="20002"/>
                    </a:ext>
                  </a:extLst>
                </a:gridCol>
              </a:tblGrid>
              <a:tr h="254000">
                <a:tc>
                  <a:txBody>
                    <a:bodyPr/>
                    <a:lstStyle/>
                    <a:p>
                      <a:r>
                        <a:rPr lang="en-GB" sz="1000" dirty="0"/>
                        <a:t>Parameter</a:t>
                      </a:r>
                    </a:p>
                  </a:txBody>
                  <a:tcPr marL="74295" marR="74295" marT="37148" marB="37148" anchor="ctr"/>
                </a:tc>
                <a:tc>
                  <a:txBody>
                    <a:bodyPr/>
                    <a:lstStyle/>
                    <a:p>
                      <a:r>
                        <a:rPr lang="en-GB" sz="1000" dirty="0"/>
                        <a:t>Foundation IRB approach</a:t>
                      </a:r>
                    </a:p>
                  </a:txBody>
                  <a:tcPr marL="74295" marR="74295" marT="37148" marB="37148" anchor="ctr"/>
                </a:tc>
                <a:tc>
                  <a:txBody>
                    <a:bodyPr/>
                    <a:lstStyle/>
                    <a:p>
                      <a:r>
                        <a:rPr lang="en-GB" sz="1000" dirty="0"/>
                        <a:t>Advanced IRB approach</a:t>
                      </a:r>
                    </a:p>
                  </a:txBody>
                  <a:tcPr marL="74295" marR="74295" marT="37148" marB="37148" anchor="ctr"/>
                </a:tc>
                <a:extLst>
                  <a:ext uri="{0D108BD9-81ED-4DB2-BD59-A6C34878D82A}">
                    <a16:rowId xmlns:a16="http://schemas.microsoft.com/office/drawing/2014/main" val="10000"/>
                  </a:ext>
                </a:extLst>
              </a:tr>
              <a:tr h="254000">
                <a:tc>
                  <a:txBody>
                    <a:bodyPr/>
                    <a:lstStyle/>
                    <a:p>
                      <a:r>
                        <a:rPr lang="en-GB" sz="1000" dirty="0"/>
                        <a:t>PD</a:t>
                      </a:r>
                    </a:p>
                  </a:txBody>
                  <a:tcPr marL="74295" marR="74295" marT="37148" marB="37148" anchor="ctr"/>
                </a:tc>
                <a:tc>
                  <a:txBody>
                    <a:bodyPr/>
                    <a:lstStyle/>
                    <a:p>
                      <a:r>
                        <a:rPr lang="en-GB" sz="1000" dirty="0"/>
                        <a:t>Internal estimate</a:t>
                      </a:r>
                    </a:p>
                  </a:txBody>
                  <a:tcPr marL="74295" marR="74295" marT="37148" marB="37148" anchor="ctr"/>
                </a:tc>
                <a:tc>
                  <a:txBody>
                    <a:bodyPr/>
                    <a:lstStyle/>
                    <a:p>
                      <a:r>
                        <a:rPr lang="en-GB" sz="1000" dirty="0"/>
                        <a:t>Internal estimate</a:t>
                      </a:r>
                    </a:p>
                  </a:txBody>
                  <a:tcPr marL="74295" marR="74295" marT="37148" marB="37148" anchor="ctr"/>
                </a:tc>
                <a:extLst>
                  <a:ext uri="{0D108BD9-81ED-4DB2-BD59-A6C34878D82A}">
                    <a16:rowId xmlns:a16="http://schemas.microsoft.com/office/drawing/2014/main" val="10001"/>
                  </a:ext>
                </a:extLst>
              </a:tr>
              <a:tr h="254000">
                <a:tc>
                  <a:txBody>
                    <a:bodyPr/>
                    <a:lstStyle/>
                    <a:p>
                      <a:r>
                        <a:rPr lang="en-GB" sz="1000" dirty="0"/>
                        <a:t>LGD</a:t>
                      </a:r>
                    </a:p>
                  </a:txBody>
                  <a:tcPr marL="74295" marR="74295" marT="37148" marB="37148" anchor="ctr"/>
                </a:tc>
                <a:tc>
                  <a:txBody>
                    <a:bodyPr/>
                    <a:lstStyle/>
                    <a:p>
                      <a:r>
                        <a:rPr lang="en-GB" sz="1000" dirty="0"/>
                        <a:t>Supervisory estimate</a:t>
                      </a:r>
                    </a:p>
                  </a:txBody>
                  <a:tcPr marL="74295" marR="74295" marT="37148" marB="37148" anchor="ctr"/>
                </a:tc>
                <a:tc>
                  <a:txBody>
                    <a:bodyPr/>
                    <a:lstStyle/>
                    <a:p>
                      <a:r>
                        <a:rPr lang="en-GB" sz="1000" dirty="0"/>
                        <a:t>Internal estimate</a:t>
                      </a:r>
                    </a:p>
                  </a:txBody>
                  <a:tcPr marL="74295" marR="74295" marT="37148" marB="37148" anchor="ctr"/>
                </a:tc>
                <a:extLst>
                  <a:ext uri="{0D108BD9-81ED-4DB2-BD59-A6C34878D82A}">
                    <a16:rowId xmlns:a16="http://schemas.microsoft.com/office/drawing/2014/main" val="10002"/>
                  </a:ext>
                </a:extLst>
              </a:tr>
              <a:tr h="254000">
                <a:tc>
                  <a:txBody>
                    <a:bodyPr/>
                    <a:lstStyle/>
                    <a:p>
                      <a:r>
                        <a:rPr lang="en-GB" sz="1000" dirty="0"/>
                        <a:t>EAD</a:t>
                      </a:r>
                    </a:p>
                  </a:txBody>
                  <a:tcPr marL="74295" marR="74295" marT="37148" marB="37148" anchor="ctr"/>
                </a:tc>
                <a:tc>
                  <a:txBody>
                    <a:bodyPr/>
                    <a:lstStyle/>
                    <a:p>
                      <a:r>
                        <a:rPr lang="en-GB" sz="1000" dirty="0"/>
                        <a:t>Supervisory estimate</a:t>
                      </a:r>
                    </a:p>
                  </a:txBody>
                  <a:tcPr marL="74295" marR="74295" marT="37148" marB="37148" anchor="ctr"/>
                </a:tc>
                <a:tc>
                  <a:txBody>
                    <a:bodyPr/>
                    <a:lstStyle/>
                    <a:p>
                      <a:r>
                        <a:rPr lang="en-GB" sz="1000" dirty="0"/>
                        <a:t>Internal estimate</a:t>
                      </a:r>
                    </a:p>
                  </a:txBody>
                  <a:tcPr marL="74295" marR="74295" marT="37148" marB="37148" anchor="ct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6567D05-71B8-4E55-BFF2-2627621143AF}"/>
                  </a:ext>
                </a:extLst>
              </p:cNvPr>
              <p:cNvSpPr txBox="1"/>
              <p:nvPr/>
            </p:nvSpPr>
            <p:spPr>
              <a:xfrm>
                <a:off x="6134101" y="2472984"/>
                <a:ext cx="4056081" cy="6671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000" i="1">
                          <a:latin typeface="Cambria Math" panose="02040503050406030204" pitchFamily="18" charset="0"/>
                        </a:rPr>
                        <m:t>𝐾</m:t>
                      </m:r>
                      <m:r>
                        <a:rPr lang="en-GB" sz="1000">
                          <a:latin typeface="Cambria Math" panose="02040503050406030204" pitchFamily="18" charset="0"/>
                        </a:rPr>
                        <m:t>=</m:t>
                      </m:r>
                      <m:d>
                        <m:dPr>
                          <m:ctrlPr>
                            <a:rPr lang="en-GB" sz="1000" i="1">
                              <a:solidFill>
                                <a:srgbClr val="836967"/>
                              </a:solidFill>
                              <a:latin typeface="Cambria Math" panose="02040503050406030204" pitchFamily="18" charset="0"/>
                            </a:rPr>
                          </m:ctrlPr>
                        </m:dPr>
                        <m:e>
                          <m:r>
                            <a:rPr lang="en-GB" sz="1000" i="1">
                              <a:latin typeface="Cambria Math" panose="02040503050406030204" pitchFamily="18" charset="0"/>
                            </a:rPr>
                            <m:t>𝐿𝐺𝐷</m:t>
                          </m:r>
                          <m:r>
                            <a:rPr lang="en-GB" sz="1000">
                              <a:latin typeface="Cambria Math" panose="02040503050406030204" pitchFamily="18" charset="0"/>
                            </a:rPr>
                            <m:t>∙</m:t>
                          </m:r>
                          <m:r>
                            <a:rPr lang="en-GB" sz="1000" i="1">
                              <a:latin typeface="Cambria Math" panose="02040503050406030204" pitchFamily="18" charset="0"/>
                            </a:rPr>
                            <m:t>𝑁</m:t>
                          </m:r>
                          <m:d>
                            <m:dPr>
                              <m:ctrlPr>
                                <a:rPr lang="en-GB" sz="1000" i="1">
                                  <a:solidFill>
                                    <a:srgbClr val="836967"/>
                                  </a:solidFill>
                                  <a:latin typeface="Cambria Math" panose="02040503050406030204" pitchFamily="18" charset="0"/>
                                </a:rPr>
                              </m:ctrlPr>
                            </m:dPr>
                            <m:e>
                              <m:d>
                                <m:dPr>
                                  <m:ctrlPr>
                                    <a:rPr lang="en-GB" sz="1000" i="1">
                                      <a:solidFill>
                                        <a:srgbClr val="836967"/>
                                      </a:solidFill>
                                      <a:latin typeface="Cambria Math" panose="02040503050406030204" pitchFamily="18" charset="0"/>
                                    </a:rPr>
                                  </m:ctrlPr>
                                </m:dPr>
                                <m:e>
                                  <m:rad>
                                    <m:radPr>
                                      <m:degHide m:val="on"/>
                                      <m:ctrlPr>
                                        <a:rPr lang="en-GB" sz="1000" i="1">
                                          <a:solidFill>
                                            <a:srgbClr val="836967"/>
                                          </a:solidFill>
                                          <a:latin typeface="Cambria Math" panose="02040503050406030204" pitchFamily="18" charset="0"/>
                                        </a:rPr>
                                      </m:ctrlPr>
                                    </m:radPr>
                                    <m:deg/>
                                    <m:e>
                                      <m:f>
                                        <m:fPr>
                                          <m:ctrlPr>
                                            <a:rPr lang="en-GB" sz="1000" i="1">
                                              <a:solidFill>
                                                <a:srgbClr val="836967"/>
                                              </a:solidFill>
                                              <a:latin typeface="Cambria Math" panose="02040503050406030204" pitchFamily="18" charset="0"/>
                                            </a:rPr>
                                          </m:ctrlPr>
                                        </m:fPr>
                                        <m:num>
                                          <m:r>
                                            <a:rPr lang="en-GB" sz="1000">
                                              <a:latin typeface="Cambria Math" panose="02040503050406030204" pitchFamily="18" charset="0"/>
                                            </a:rPr>
                                            <m:t>1</m:t>
                                          </m:r>
                                        </m:num>
                                        <m:den>
                                          <m:r>
                                            <a:rPr lang="en-GB" sz="1000">
                                              <a:latin typeface="Cambria Math" panose="02040503050406030204" pitchFamily="18" charset="0"/>
                                            </a:rPr>
                                            <m:t>1−</m:t>
                                          </m:r>
                                          <m:r>
                                            <a:rPr lang="en-GB" sz="1000" i="1">
                                              <a:latin typeface="Cambria Math" panose="02040503050406030204" pitchFamily="18" charset="0"/>
                                            </a:rPr>
                                            <m:t>𝑅</m:t>
                                          </m:r>
                                        </m:den>
                                      </m:f>
                                    </m:e>
                                  </m:rad>
                                  <m:r>
                                    <a:rPr lang="en-GB" sz="1000">
                                      <a:latin typeface="Cambria Math" panose="02040503050406030204" pitchFamily="18" charset="0"/>
                                    </a:rPr>
                                    <m:t> </m:t>
                                  </m:r>
                                </m:e>
                              </m:d>
                              <m:r>
                                <a:rPr lang="en-GB" sz="1000" i="1">
                                  <a:latin typeface="Cambria Math" panose="02040503050406030204" pitchFamily="18" charset="0"/>
                                </a:rPr>
                                <m:t>𝐺</m:t>
                              </m:r>
                              <m:d>
                                <m:dPr>
                                  <m:ctrlPr>
                                    <a:rPr lang="en-GB" sz="1000" i="1">
                                      <a:solidFill>
                                        <a:srgbClr val="836967"/>
                                      </a:solidFill>
                                      <a:latin typeface="Cambria Math" panose="02040503050406030204" pitchFamily="18" charset="0"/>
                                    </a:rPr>
                                  </m:ctrlPr>
                                </m:dPr>
                                <m:e>
                                  <m:r>
                                    <a:rPr lang="en-GB" sz="1000" i="1">
                                      <a:latin typeface="Cambria Math" panose="02040503050406030204" pitchFamily="18" charset="0"/>
                                    </a:rPr>
                                    <m:t>𝑃𝐷</m:t>
                                  </m:r>
                                </m:e>
                              </m:d>
                              <m:r>
                                <a:rPr lang="en-GB" sz="1000">
                                  <a:latin typeface="Cambria Math" panose="02040503050406030204" pitchFamily="18" charset="0"/>
                                </a:rPr>
                                <m:t>+</m:t>
                              </m:r>
                              <m:rad>
                                <m:radPr>
                                  <m:degHide m:val="on"/>
                                  <m:ctrlPr>
                                    <a:rPr lang="en-GB" sz="1000" i="1">
                                      <a:solidFill>
                                        <a:srgbClr val="836967"/>
                                      </a:solidFill>
                                      <a:latin typeface="Cambria Math" panose="02040503050406030204" pitchFamily="18" charset="0"/>
                                    </a:rPr>
                                  </m:ctrlPr>
                                </m:radPr>
                                <m:deg/>
                                <m:e>
                                  <m:f>
                                    <m:fPr>
                                      <m:ctrlPr>
                                        <a:rPr lang="en-GB" sz="1000" i="1">
                                          <a:solidFill>
                                            <a:srgbClr val="836967"/>
                                          </a:solidFill>
                                          <a:latin typeface="Cambria Math" panose="02040503050406030204" pitchFamily="18" charset="0"/>
                                        </a:rPr>
                                      </m:ctrlPr>
                                    </m:fPr>
                                    <m:num>
                                      <m:r>
                                        <a:rPr lang="en-GB" sz="1000" i="1">
                                          <a:latin typeface="Cambria Math" panose="02040503050406030204" pitchFamily="18" charset="0"/>
                                        </a:rPr>
                                        <m:t>𝑅</m:t>
                                      </m:r>
                                    </m:num>
                                    <m:den>
                                      <m:r>
                                        <a:rPr lang="en-GB" sz="1000">
                                          <a:latin typeface="Cambria Math" panose="02040503050406030204" pitchFamily="18" charset="0"/>
                                        </a:rPr>
                                        <m:t>1−</m:t>
                                      </m:r>
                                      <m:r>
                                        <a:rPr lang="en-GB" sz="1000" i="1">
                                          <a:latin typeface="Cambria Math" panose="02040503050406030204" pitchFamily="18" charset="0"/>
                                        </a:rPr>
                                        <m:t>𝑅</m:t>
                                      </m:r>
                                    </m:den>
                                  </m:f>
                                </m:e>
                              </m:rad>
                              <m:r>
                                <a:rPr lang="en-GB" sz="1000">
                                  <a:latin typeface="Cambria Math" panose="02040503050406030204" pitchFamily="18" charset="0"/>
                                </a:rPr>
                                <m:t>∙</m:t>
                              </m:r>
                              <m:r>
                                <a:rPr lang="en-GB" sz="1000" i="1">
                                  <a:latin typeface="Cambria Math" panose="02040503050406030204" pitchFamily="18" charset="0"/>
                                </a:rPr>
                                <m:t>𝐺</m:t>
                              </m:r>
                              <m:d>
                                <m:dPr>
                                  <m:ctrlPr>
                                    <a:rPr lang="en-GB" sz="1000" i="1">
                                      <a:solidFill>
                                        <a:srgbClr val="836967"/>
                                      </a:solidFill>
                                      <a:latin typeface="Cambria Math" panose="02040503050406030204" pitchFamily="18" charset="0"/>
                                    </a:rPr>
                                  </m:ctrlPr>
                                </m:dPr>
                                <m:e>
                                  <m:r>
                                    <a:rPr lang="en-GB" sz="1000">
                                      <a:latin typeface="Cambria Math" panose="02040503050406030204" pitchFamily="18" charset="0"/>
                                    </a:rPr>
                                    <m:t>0.999</m:t>
                                  </m:r>
                                </m:e>
                              </m:d>
                            </m:e>
                          </m:d>
                          <m:r>
                            <a:rPr lang="en-GB" sz="1000">
                              <a:latin typeface="Cambria Math" panose="02040503050406030204" pitchFamily="18" charset="0"/>
                            </a:rPr>
                            <m:t>−</m:t>
                          </m:r>
                          <m:r>
                            <a:rPr lang="en-GB" sz="1000" i="1">
                              <a:latin typeface="Cambria Math" panose="02040503050406030204" pitchFamily="18" charset="0"/>
                            </a:rPr>
                            <m:t>𝑃𝐷</m:t>
                          </m:r>
                          <m:r>
                            <a:rPr lang="en-GB" sz="1000">
                              <a:latin typeface="Cambria Math" panose="02040503050406030204" pitchFamily="18" charset="0"/>
                            </a:rPr>
                            <m:t>∙</m:t>
                          </m:r>
                          <m:r>
                            <a:rPr lang="en-GB" sz="1000" i="1">
                              <a:latin typeface="Cambria Math" panose="02040503050406030204" pitchFamily="18" charset="0"/>
                            </a:rPr>
                            <m:t>𝐿𝐺𝐷</m:t>
                          </m:r>
                        </m:e>
                      </m:d>
                    </m:oMath>
                  </m:oMathPara>
                </a14:m>
                <a:endParaRPr lang="en-GB" sz="1000" dirty="0"/>
              </a:p>
            </p:txBody>
          </p:sp>
        </mc:Choice>
        <mc:Fallback xmlns="">
          <p:sp>
            <p:nvSpPr>
              <p:cNvPr id="27" name="TextBox 26">
                <a:extLst>
                  <a:ext uri="{FF2B5EF4-FFF2-40B4-BE49-F238E27FC236}">
                    <a16:creationId xmlns:a16="http://schemas.microsoft.com/office/drawing/2014/main" id="{46567D05-71B8-4E55-BFF2-2627621143AF}"/>
                  </a:ext>
                </a:extLst>
              </p:cNvPr>
              <p:cNvSpPr txBox="1">
                <a:spLocks noRot="1" noChangeAspect="1" noMove="1" noResize="1" noEditPoints="1" noAdjustHandles="1" noChangeArrowheads="1" noChangeShapeType="1" noTextEdit="1"/>
              </p:cNvSpPr>
              <p:nvPr/>
            </p:nvSpPr>
            <p:spPr>
              <a:xfrm>
                <a:off x="6134101" y="2472984"/>
                <a:ext cx="4056081" cy="66717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45A8CD5-79AA-41E0-9E67-86F3638FF8B4}"/>
                  </a:ext>
                </a:extLst>
              </p:cNvPr>
              <p:cNvSpPr txBox="1"/>
              <p:nvPr/>
            </p:nvSpPr>
            <p:spPr>
              <a:xfrm>
                <a:off x="10037748" y="2617992"/>
                <a:ext cx="1761564"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000">
                          <a:latin typeface="Cambria Math" panose="02040503050406030204" pitchFamily="18" charset="0"/>
                        </a:rPr>
                        <m:t>∙</m:t>
                      </m:r>
                      <m:f>
                        <m:fPr>
                          <m:ctrlPr>
                            <a:rPr lang="en-GB" sz="1000" i="1">
                              <a:solidFill>
                                <a:srgbClr val="836967"/>
                              </a:solidFill>
                              <a:latin typeface="Cambria Math" panose="02040503050406030204" pitchFamily="18" charset="0"/>
                            </a:rPr>
                          </m:ctrlPr>
                        </m:fPr>
                        <m:num>
                          <m:r>
                            <a:rPr lang="en-GB" sz="1000">
                              <a:latin typeface="Cambria Math" panose="02040503050406030204" pitchFamily="18" charset="0"/>
                            </a:rPr>
                            <m:t>1</m:t>
                          </m:r>
                        </m:num>
                        <m:den>
                          <m:r>
                            <a:rPr lang="en-GB" sz="1000">
                              <a:latin typeface="Cambria Math" panose="02040503050406030204" pitchFamily="18" charset="0"/>
                            </a:rPr>
                            <m:t>1−1.5</m:t>
                          </m:r>
                          <m:r>
                            <a:rPr lang="en-GB" sz="1000" i="1">
                              <a:latin typeface="Cambria Math" panose="02040503050406030204" pitchFamily="18" charset="0"/>
                            </a:rPr>
                            <m:t>𝑏</m:t>
                          </m:r>
                        </m:den>
                      </m:f>
                      <m:r>
                        <a:rPr lang="en-GB" sz="1000">
                          <a:latin typeface="Cambria Math" panose="02040503050406030204" pitchFamily="18" charset="0"/>
                        </a:rPr>
                        <m:t>∙</m:t>
                      </m:r>
                      <m:d>
                        <m:dPr>
                          <m:ctrlPr>
                            <a:rPr lang="en-GB" sz="1000" i="1">
                              <a:solidFill>
                                <a:srgbClr val="836967"/>
                              </a:solidFill>
                              <a:latin typeface="Cambria Math" panose="02040503050406030204" pitchFamily="18" charset="0"/>
                            </a:rPr>
                          </m:ctrlPr>
                        </m:dPr>
                        <m:e>
                          <m:r>
                            <a:rPr lang="en-GB" sz="1000">
                              <a:latin typeface="Cambria Math" panose="02040503050406030204" pitchFamily="18" charset="0"/>
                            </a:rPr>
                            <m:t>1+</m:t>
                          </m:r>
                          <m:d>
                            <m:dPr>
                              <m:ctrlPr>
                                <a:rPr lang="en-GB" sz="1000" i="1">
                                  <a:solidFill>
                                    <a:srgbClr val="836967"/>
                                  </a:solidFill>
                                  <a:latin typeface="Cambria Math" panose="02040503050406030204" pitchFamily="18" charset="0"/>
                                </a:rPr>
                              </m:ctrlPr>
                            </m:dPr>
                            <m:e>
                              <m:r>
                                <a:rPr lang="en-GB" sz="1000" i="1">
                                  <a:latin typeface="Cambria Math" panose="02040503050406030204" pitchFamily="18" charset="0"/>
                                </a:rPr>
                                <m:t>𝑀</m:t>
                              </m:r>
                              <m:r>
                                <a:rPr lang="en-GB" sz="1000">
                                  <a:latin typeface="Cambria Math" panose="02040503050406030204" pitchFamily="18" charset="0"/>
                                </a:rPr>
                                <m:t>−2.5</m:t>
                              </m:r>
                            </m:e>
                          </m:d>
                          <m:r>
                            <a:rPr lang="en-GB" sz="1000" i="1">
                              <a:latin typeface="Cambria Math" panose="02040503050406030204" pitchFamily="18" charset="0"/>
                            </a:rPr>
                            <m:t>𝑏</m:t>
                          </m:r>
                        </m:e>
                      </m:d>
                    </m:oMath>
                  </m:oMathPara>
                </a14:m>
                <a:endParaRPr lang="en-GB" sz="1000" dirty="0"/>
              </a:p>
            </p:txBody>
          </p:sp>
        </mc:Choice>
        <mc:Fallback xmlns="">
          <p:sp>
            <p:nvSpPr>
              <p:cNvPr id="29" name="TextBox 28">
                <a:extLst>
                  <a:ext uri="{FF2B5EF4-FFF2-40B4-BE49-F238E27FC236}">
                    <a16:creationId xmlns:a16="http://schemas.microsoft.com/office/drawing/2014/main" id="{645A8CD5-79AA-41E0-9E67-86F3638FF8B4}"/>
                  </a:ext>
                </a:extLst>
              </p:cNvPr>
              <p:cNvSpPr txBox="1">
                <a:spLocks noRot="1" noChangeAspect="1" noMove="1" noResize="1" noEditPoints="1" noAdjustHandles="1" noChangeArrowheads="1" noChangeShapeType="1" noTextEdit="1"/>
              </p:cNvSpPr>
              <p:nvPr/>
            </p:nvSpPr>
            <p:spPr>
              <a:xfrm>
                <a:off x="10037748" y="2617992"/>
                <a:ext cx="1761564" cy="381515"/>
              </a:xfrm>
              <a:prstGeom prst="rect">
                <a:avLst/>
              </a:prstGeom>
              <a:blipFill>
                <a:blip r:embed="rId8"/>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9334002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8AFE82A-9E1A-4589-8CB6-0061A579608C}"/>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38AFE82A-9E1A-4589-8CB6-0061A579608C}"/>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14" name="Content Placeholder 13"/>
          <p:cNvSpPr>
            <a:spLocks noGrp="1"/>
          </p:cNvSpPr>
          <p:nvPr>
            <p:ph idx="1"/>
          </p:nvPr>
        </p:nvSpPr>
        <p:spPr>
          <a:xfrm>
            <a:off x="6215642" y="1306800"/>
            <a:ext cx="4020559" cy="4752000"/>
          </a:xfrm>
        </p:spPr>
        <p:txBody>
          <a:bodyPr>
            <a:normAutofit fontScale="47500" lnSpcReduction="20000"/>
          </a:bodyPr>
          <a:lstStyle/>
          <a:p>
            <a:r>
              <a:rPr lang="en-GB" dirty="0"/>
              <a:t>Assuming a constant LGD of 45% and EAD of 100, the ASRF function of the Basel Committee has the following behaviour against increasing PDs</a:t>
            </a:r>
          </a:p>
          <a:p>
            <a:r>
              <a:rPr lang="en-GB" dirty="0"/>
              <a:t>EL is naturally upward sloping (EL = PD * LGD * EAD)</a:t>
            </a:r>
          </a:p>
          <a:p>
            <a:r>
              <a:rPr lang="en-GB" dirty="0"/>
              <a:t>UL is sloping upwards up until about a PD of 30%; afterwards it starts declining and it reaches 0% when PD tends to 100%</a:t>
            </a:r>
          </a:p>
          <a:p>
            <a:pPr lvl="1"/>
            <a:r>
              <a:rPr lang="en-GB" dirty="0"/>
              <a:t>The ASRF model assumes that only systematic risk affect borrowers</a:t>
            </a:r>
          </a:p>
          <a:p>
            <a:pPr lvl="1"/>
            <a:r>
              <a:rPr lang="en-GB" dirty="0"/>
              <a:t>The larger the default probability of the counterparty, the more its Unexpected Losses are driven by idiosyncratic factors; therefore the systematic-factor driven UL drops</a:t>
            </a:r>
          </a:p>
          <a:p>
            <a:pPr lvl="1"/>
            <a:r>
              <a:rPr lang="en-GB" dirty="0"/>
              <a:t>When the counterparty has defaulted, the impact of systematic factors on UL is zero; the economy has reasonably not defaulted</a:t>
            </a:r>
          </a:p>
          <a:p>
            <a:r>
              <a:rPr lang="en-GB" dirty="0"/>
              <a:t>The rationale between the SME adjustment (refer to boxed formula in previous slide) is largely similar</a:t>
            </a:r>
          </a:p>
          <a:p>
            <a:pPr lvl="1"/>
            <a:r>
              <a:rPr lang="en-GB" dirty="0"/>
              <a:t>The larger a firm, the greater its dependency upon the overall state of the economy; therefore, asset correlations increase with firm size</a:t>
            </a:r>
          </a:p>
          <a:p>
            <a:pPr lvl="1"/>
            <a:r>
              <a:rPr lang="en-GB" dirty="0"/>
              <a:t>Smaller firms are more likely to default for idiosyncratic reasons</a:t>
            </a:r>
          </a:p>
        </p:txBody>
      </p:sp>
      <p:sp>
        <p:nvSpPr>
          <p:cNvPr id="3" name="Slide Number Placeholder 2"/>
          <p:cNvSpPr>
            <a:spLocks noGrp="1"/>
          </p:cNvSpPr>
          <p:nvPr>
            <p:ph type="sldNum" sz="quarter" idx="12"/>
          </p:nvPr>
        </p:nvSpPr>
        <p:spPr>
          <a:xfrm>
            <a:off x="9438802" y="6356351"/>
            <a:ext cx="416399" cy="365125"/>
          </a:xfrm>
          <a:prstGeom prst="rect">
            <a:avLst/>
          </a:prstGeom>
        </p:spPr>
        <p:txBody>
          <a:bodyPr vert="horz" lIns="91440" tIns="45720" rIns="91440" bIns="45720" rtlCol="0" anchor="ctr"/>
          <a:lstStyle>
            <a:defPPr>
              <a:defRPr lang="en-US"/>
            </a:defPPr>
            <a:lvl1pPr marL="0" algn="r" defTabSz="457200" rtl="0" eaLnBrk="1" latinLnBrk="0" hangingPunct="1">
              <a:defRPr sz="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4222BFC-8070-2749-ADD2-48D4133FB3EC}" type="slidenum">
              <a:rPr lang="en-GB" smtClean="0"/>
              <a:pPr/>
              <a:t>71</a:t>
            </a:fld>
            <a:endParaRPr lang="en-GB" noProof="0" dirty="0"/>
          </a:p>
        </p:txBody>
      </p:sp>
      <p:sp>
        <p:nvSpPr>
          <p:cNvPr id="4" name="Title 3"/>
          <p:cNvSpPr>
            <a:spLocks noGrp="1"/>
          </p:cNvSpPr>
          <p:nvPr>
            <p:ph type="title"/>
          </p:nvPr>
        </p:nvSpPr>
        <p:spPr/>
        <p:txBody>
          <a:bodyPr vert="horz">
            <a:normAutofit fontScale="90000"/>
          </a:bodyPr>
          <a:lstStyle/>
          <a:p>
            <a:r>
              <a:rPr lang="en-GB" dirty="0"/>
              <a:t>Pillar 1: Credit Risk</a:t>
            </a:r>
            <a:br>
              <a:rPr lang="en-GB" dirty="0"/>
            </a:br>
            <a:r>
              <a:rPr lang="en-GB" i="1" dirty="0">
                <a:solidFill>
                  <a:schemeClr val="accent2">
                    <a:lumMod val="75000"/>
                  </a:schemeClr>
                </a:solidFill>
              </a:rPr>
              <a:t>A look under the bonnet</a:t>
            </a:r>
            <a:endParaRPr lang="en-GB" dirty="0">
              <a:solidFill>
                <a:schemeClr val="accent2">
                  <a:lumMod val="75000"/>
                </a:schemeClr>
              </a:solidFill>
            </a:endParaRPr>
          </a:p>
        </p:txBody>
      </p:sp>
      <p:graphicFrame>
        <p:nvGraphicFramePr>
          <p:cNvPr id="13" name="Chart 12"/>
          <p:cNvGraphicFramePr>
            <a:graphicFrameLocks/>
          </p:cNvGraphicFramePr>
          <p:nvPr/>
        </p:nvGraphicFramePr>
        <p:xfrm>
          <a:off x="1714501" y="1306514"/>
          <a:ext cx="4310063" cy="4751387"/>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209006" y="333853"/>
            <a:ext cx="7773987" cy="410498"/>
          </a:xfrm>
        </p:spPr>
        <p:txBody>
          <a:bodyPr>
            <a:normAutofit fontScale="90000"/>
          </a:bodyPr>
          <a:lstStyle/>
          <a:p>
            <a:pPr eaLnBrk="1" hangingPunct="1"/>
            <a:r>
              <a:rPr lang="hu-HU" altLang="hu-HU" sz="2800" dirty="0"/>
              <a:t>Credit </a:t>
            </a:r>
            <a:r>
              <a:rPr lang="hu-HU" altLang="hu-HU" sz="2800" dirty="0" err="1"/>
              <a:t>Risk</a:t>
            </a:r>
            <a:r>
              <a:rPr lang="hu-HU" altLang="hu-HU" sz="2800" dirty="0"/>
              <a:t> </a:t>
            </a:r>
            <a:r>
              <a:rPr lang="hu-HU" altLang="hu-HU" sz="2800" dirty="0" err="1"/>
              <a:t>measurement</a:t>
            </a:r>
            <a:r>
              <a:rPr lang="hu-HU" altLang="hu-HU" sz="2800" dirty="0"/>
              <a:t> </a:t>
            </a:r>
            <a:r>
              <a:rPr lang="hu-HU" altLang="hu-HU" sz="2800" dirty="0" err="1"/>
              <a:t>based</a:t>
            </a:r>
            <a:r>
              <a:rPr lang="hu-HU" altLang="hu-HU" sz="2800" dirty="0"/>
              <a:t> </a:t>
            </a:r>
            <a:r>
              <a:rPr lang="hu-HU" altLang="hu-HU" sz="2800" dirty="0" err="1"/>
              <a:t>on</a:t>
            </a:r>
            <a:r>
              <a:rPr lang="hu-HU" altLang="hu-HU" sz="2800" dirty="0"/>
              <a:t> </a:t>
            </a:r>
            <a:r>
              <a:rPr lang="hu-HU" altLang="hu-HU" sz="2800" dirty="0" err="1"/>
              <a:t>tail-risk</a:t>
            </a:r>
            <a:endParaRPr lang="en-US" altLang="hu-HU" sz="2800" dirty="0"/>
          </a:p>
        </p:txBody>
      </p:sp>
      <p:graphicFrame>
        <p:nvGraphicFramePr>
          <p:cNvPr id="18435" name="Object 3"/>
          <p:cNvGraphicFramePr>
            <a:graphicFrameLocks noGrp="1" noChangeAspect="1"/>
          </p:cNvGraphicFramePr>
          <p:nvPr>
            <p:ph sz="quarter" idx="1"/>
            <p:extLst>
              <p:ext uri="{D42A27DB-BD31-4B8C-83A1-F6EECF244321}">
                <p14:modId xmlns:p14="http://schemas.microsoft.com/office/powerpoint/2010/main" val="1328922833"/>
              </p:ext>
            </p:extLst>
          </p:nvPr>
        </p:nvGraphicFramePr>
        <p:xfrm>
          <a:off x="1612901" y="1318405"/>
          <a:ext cx="7773987" cy="4806171"/>
        </p:xfrm>
        <a:graphic>
          <a:graphicData uri="http://schemas.openxmlformats.org/presentationml/2006/ole">
            <mc:AlternateContent xmlns:mc="http://schemas.openxmlformats.org/markup-compatibility/2006">
              <mc:Choice xmlns:v="urn:schemas-microsoft-com:vml" Requires="v">
                <p:oleObj name="Chart" r:id="rId2" imgW="11239590" imgH="10830025" progId="Excel.Chart.8">
                  <p:embed followColorScheme="full"/>
                </p:oleObj>
              </mc:Choice>
              <mc:Fallback>
                <p:oleObj name="Chart" r:id="rId2" imgW="11239590" imgH="10830025" progId="Excel.Chart.8">
                  <p:embed followColorScheme="full"/>
                  <p:pic>
                    <p:nvPicPr>
                      <p:cNvPr id="18435" name="Object 3"/>
                      <p:cNvPicPr>
                        <a:picLocks noGrp="1" noChangeAspect="1" noChangeArrowheads="1"/>
                      </p:cNvPicPr>
                      <p:nvPr/>
                    </p:nvPicPr>
                    <p:blipFill>
                      <a:blip r:embed="rId3"/>
                      <a:srcRect/>
                      <a:stretch>
                        <a:fillRect/>
                      </a:stretch>
                    </p:blipFill>
                    <p:spPr bwMode="auto">
                      <a:xfrm>
                        <a:off x="1612901" y="1318405"/>
                        <a:ext cx="7773987" cy="4806171"/>
                      </a:xfrm>
                      <a:prstGeom prst="rect">
                        <a:avLst/>
                      </a:prstGeom>
                      <a:noFill/>
                      <a:ln w="9525">
                        <a:solidFill>
                          <a:schemeClr val="hlink"/>
                        </a:solidFill>
                        <a:miter lim="800000"/>
                        <a:headEnd/>
                        <a:tailEnd/>
                      </a:ln>
                    </p:spPr>
                  </p:pic>
                </p:oleObj>
              </mc:Fallback>
            </mc:AlternateContent>
          </a:graphicData>
        </a:graphic>
      </p:graphicFrame>
      <p:sp>
        <p:nvSpPr>
          <p:cNvPr id="18436" name="Line 4"/>
          <p:cNvSpPr>
            <a:spLocks noChangeShapeType="1"/>
          </p:cNvSpPr>
          <p:nvPr/>
        </p:nvSpPr>
        <p:spPr bwMode="auto">
          <a:xfrm flipV="1">
            <a:off x="4191000" y="2971800"/>
            <a:ext cx="0" cy="2743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hu-HU"/>
          </a:p>
        </p:txBody>
      </p:sp>
      <p:sp>
        <p:nvSpPr>
          <p:cNvPr id="18437" name="Line 5"/>
          <p:cNvSpPr>
            <a:spLocks noChangeShapeType="1"/>
          </p:cNvSpPr>
          <p:nvPr/>
        </p:nvSpPr>
        <p:spPr bwMode="auto">
          <a:xfrm flipV="1">
            <a:off x="4800600" y="2971800"/>
            <a:ext cx="3276600" cy="6858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hu-HU"/>
          </a:p>
        </p:txBody>
      </p:sp>
      <p:sp>
        <p:nvSpPr>
          <p:cNvPr id="18438" name="Line 6"/>
          <p:cNvSpPr>
            <a:spLocks noChangeShapeType="1"/>
          </p:cNvSpPr>
          <p:nvPr/>
        </p:nvSpPr>
        <p:spPr bwMode="auto">
          <a:xfrm flipV="1">
            <a:off x="5334000" y="6324600"/>
            <a:ext cx="3124200" cy="3048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p>
            <a:endParaRPr lang="hu-HU"/>
          </a:p>
        </p:txBody>
      </p:sp>
      <p:sp>
        <p:nvSpPr>
          <p:cNvPr id="18439" name="Line 7"/>
          <p:cNvSpPr>
            <a:spLocks noChangeShapeType="1"/>
          </p:cNvSpPr>
          <p:nvPr/>
        </p:nvSpPr>
        <p:spPr bwMode="auto">
          <a:xfrm flipV="1">
            <a:off x="4343400" y="3200400"/>
            <a:ext cx="0" cy="25146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u-HU"/>
          </a:p>
        </p:txBody>
      </p:sp>
      <p:sp>
        <p:nvSpPr>
          <p:cNvPr id="18440" name="Text Box 8"/>
          <p:cNvSpPr txBox="1">
            <a:spLocks noChangeArrowheads="1"/>
          </p:cNvSpPr>
          <p:nvPr/>
        </p:nvSpPr>
        <p:spPr bwMode="auto">
          <a:xfrm>
            <a:off x="2814637" y="6064250"/>
            <a:ext cx="32093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hu-HU" altLang="hu-HU" sz="2000" i="1" dirty="0" err="1">
                <a:solidFill>
                  <a:schemeClr val="tx2"/>
                </a:solidFill>
                <a:latin typeface="Univers 45 Light" pitchFamily="34" charset="0"/>
              </a:rPr>
              <a:t>Expected</a:t>
            </a:r>
            <a:r>
              <a:rPr lang="hu-HU" altLang="hu-HU" sz="2000" i="1" dirty="0">
                <a:solidFill>
                  <a:schemeClr val="tx2"/>
                </a:solidFill>
                <a:latin typeface="Univers 45 Light" pitchFamily="34" charset="0"/>
              </a:rPr>
              <a:t> Loss-IFRS9</a:t>
            </a:r>
            <a:endParaRPr lang="en-US" altLang="hu-HU" sz="2000" i="1" dirty="0">
              <a:latin typeface="Univers 45 Light" pitchFamily="34" charset="0"/>
            </a:endParaRPr>
          </a:p>
        </p:txBody>
      </p:sp>
      <p:sp>
        <p:nvSpPr>
          <p:cNvPr id="18441" name="Line 9"/>
          <p:cNvSpPr>
            <a:spLocks noChangeShapeType="1"/>
          </p:cNvSpPr>
          <p:nvPr/>
        </p:nvSpPr>
        <p:spPr bwMode="auto">
          <a:xfrm flipV="1">
            <a:off x="7162800" y="3200400"/>
            <a:ext cx="0" cy="25146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hu-HU"/>
          </a:p>
        </p:txBody>
      </p:sp>
      <p:sp>
        <p:nvSpPr>
          <p:cNvPr id="18442" name="Text Box 10"/>
          <p:cNvSpPr txBox="1">
            <a:spLocks noChangeArrowheads="1"/>
          </p:cNvSpPr>
          <p:nvPr/>
        </p:nvSpPr>
        <p:spPr bwMode="auto">
          <a:xfrm>
            <a:off x="6858001" y="6150505"/>
            <a:ext cx="26259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hu-HU" sz="2000" i="1" dirty="0">
                <a:solidFill>
                  <a:schemeClr val="tx2"/>
                </a:solidFill>
                <a:latin typeface="Univers 45 Light" pitchFamily="34" charset="0"/>
              </a:rPr>
              <a:t>x% </a:t>
            </a:r>
            <a:r>
              <a:rPr lang="hu-HU" altLang="hu-HU" sz="2000" i="1" dirty="0" err="1">
                <a:solidFill>
                  <a:schemeClr val="tx2"/>
                </a:solidFill>
                <a:latin typeface="Univers 45 Light" pitchFamily="34" charset="0"/>
              </a:rPr>
              <a:t>quantile</a:t>
            </a:r>
            <a:r>
              <a:rPr lang="hu-HU" altLang="hu-HU" sz="2000" i="1" dirty="0">
                <a:solidFill>
                  <a:schemeClr val="tx2"/>
                </a:solidFill>
                <a:latin typeface="Univers 45 Light" pitchFamily="34" charset="0"/>
              </a:rPr>
              <a:t> - CRR</a:t>
            </a:r>
            <a:endParaRPr lang="en-US" altLang="hu-HU" sz="2000" i="1" dirty="0">
              <a:latin typeface="Univers 45 Light" pitchFamily="34" charset="0"/>
            </a:endParaRPr>
          </a:p>
        </p:txBody>
      </p:sp>
      <p:sp>
        <p:nvSpPr>
          <p:cNvPr id="18443" name="Line 11"/>
          <p:cNvSpPr>
            <a:spLocks noChangeShapeType="1"/>
          </p:cNvSpPr>
          <p:nvPr/>
        </p:nvSpPr>
        <p:spPr bwMode="auto">
          <a:xfrm>
            <a:off x="4343400" y="3657600"/>
            <a:ext cx="2819400"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hu-HU"/>
          </a:p>
        </p:txBody>
      </p:sp>
      <p:sp>
        <p:nvSpPr>
          <p:cNvPr id="18444" name="Text Box 12"/>
          <p:cNvSpPr txBox="1">
            <a:spLocks noChangeArrowheads="1"/>
          </p:cNvSpPr>
          <p:nvPr/>
        </p:nvSpPr>
        <p:spPr bwMode="auto">
          <a:xfrm>
            <a:off x="4272943" y="2566527"/>
            <a:ext cx="2585057" cy="40011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hu-HU" altLang="hu-HU" sz="2000" i="1" dirty="0">
                <a:solidFill>
                  <a:schemeClr val="bg2"/>
                </a:solidFill>
                <a:latin typeface="Univers 45 Light" pitchFamily="34" charset="0"/>
              </a:rPr>
              <a:t>Capital </a:t>
            </a:r>
            <a:r>
              <a:rPr lang="hu-HU" altLang="hu-HU" sz="2000" i="1" dirty="0" err="1">
                <a:solidFill>
                  <a:schemeClr val="bg2"/>
                </a:solidFill>
                <a:latin typeface="Univers 45 Light" pitchFamily="34" charset="0"/>
              </a:rPr>
              <a:t>Requirement</a:t>
            </a:r>
            <a:endParaRPr lang="en-US" altLang="hu-HU" sz="2000" i="1" dirty="0">
              <a:latin typeface="Univers 45 Light" pitchFamily="34" charset="0"/>
            </a:endParaRPr>
          </a:p>
        </p:txBody>
      </p:sp>
      <p:sp>
        <p:nvSpPr>
          <p:cNvPr id="18445" name="Line 13"/>
          <p:cNvSpPr>
            <a:spLocks noChangeShapeType="1"/>
          </p:cNvSpPr>
          <p:nvPr/>
        </p:nvSpPr>
        <p:spPr bwMode="auto">
          <a:xfrm>
            <a:off x="3048000" y="3810000"/>
            <a:ext cx="1295400"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hu-HU"/>
          </a:p>
        </p:txBody>
      </p:sp>
      <p:sp>
        <p:nvSpPr>
          <p:cNvPr id="18446" name="Text Box 14"/>
          <p:cNvSpPr txBox="1">
            <a:spLocks noChangeArrowheads="1"/>
          </p:cNvSpPr>
          <p:nvPr/>
        </p:nvSpPr>
        <p:spPr bwMode="auto">
          <a:xfrm>
            <a:off x="3429000" y="4038601"/>
            <a:ext cx="762000" cy="39687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hu-HU" sz="2000" i="1">
                <a:solidFill>
                  <a:schemeClr val="bg2"/>
                </a:solidFill>
                <a:latin typeface="Univers 45 Light" pitchFamily="34" charset="0"/>
              </a:rPr>
              <a:t>P&amp;L</a:t>
            </a:r>
            <a:endParaRPr lang="en-US" altLang="hu-HU" sz="2000" i="1">
              <a:latin typeface="Univers 45 Light" pitchFamily="34" charset="0"/>
            </a:endParaRPr>
          </a:p>
        </p:txBody>
      </p:sp>
      <mc:AlternateContent xmlns:mc="http://schemas.openxmlformats.org/markup-compatibility/2006" xmlns:a14="http://schemas.microsoft.com/office/drawing/2010/main">
        <mc:Choice Requires="a14">
          <p:sp>
            <p:nvSpPr>
              <p:cNvPr id="3" name="Szövegdoboz 2"/>
              <p:cNvSpPr txBox="1"/>
              <p:nvPr/>
            </p:nvSpPr>
            <p:spPr>
              <a:xfrm>
                <a:off x="7612522" y="2566527"/>
                <a:ext cx="2302023" cy="410497"/>
              </a:xfrm>
              <a:prstGeom prst="rect">
                <a:avLst/>
              </a:prstGeom>
              <a:noFill/>
              <a:ln>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hu-HU" i="1">
                          <a:latin typeface="Cambria Math" panose="02040503050406030204" pitchFamily="18" charset="0"/>
                        </a:rPr>
                        <m:t>𝑃𝐷</m:t>
                      </m:r>
                      <m:d>
                        <m:dPr>
                          <m:ctrlPr>
                            <a:rPr lang="hu-HU" i="1">
                              <a:latin typeface="Cambria Math" panose="02040503050406030204" pitchFamily="18" charset="0"/>
                            </a:rPr>
                          </m:ctrlPr>
                        </m:dPr>
                        <m:e>
                          <m:sSub>
                            <m:sSubPr>
                              <m:ctrlPr>
                                <a:rPr lang="hu-HU" i="1">
                                  <a:latin typeface="Cambria Math" panose="02040503050406030204" pitchFamily="18" charset="0"/>
                                </a:rPr>
                              </m:ctrlPr>
                            </m:sSubPr>
                            <m:e>
                              <m:r>
                                <a:rPr lang="hu-HU" i="1">
                                  <a:latin typeface="Cambria Math" panose="02040503050406030204" pitchFamily="18" charset="0"/>
                                </a:rPr>
                                <m:t>𝑋</m:t>
                              </m:r>
                            </m:e>
                            <m:sub>
                              <m:r>
                                <a:rPr lang="hu-HU" i="1">
                                  <a:latin typeface="Cambria Math" panose="02040503050406030204" pitchFamily="18" charset="0"/>
                                </a:rPr>
                                <m:t>𝑞</m:t>
                              </m:r>
                            </m:sub>
                          </m:sSub>
                        </m:e>
                      </m:d>
                      <m:r>
                        <a:rPr lang="hu-HU" i="1">
                          <a:latin typeface="Cambria Math" panose="02040503050406030204" pitchFamily="18" charset="0"/>
                        </a:rPr>
                        <m:t>∙</m:t>
                      </m:r>
                      <m:acc>
                        <m:accPr>
                          <m:chr m:val="̅"/>
                          <m:ctrlPr>
                            <a:rPr lang="hu-HU" i="1">
                              <a:latin typeface="Cambria Math" panose="02040503050406030204" pitchFamily="18" charset="0"/>
                            </a:rPr>
                          </m:ctrlPr>
                        </m:accPr>
                        <m:e>
                          <m:r>
                            <a:rPr lang="hu-HU" i="1">
                              <a:latin typeface="Cambria Math" panose="02040503050406030204" pitchFamily="18" charset="0"/>
                            </a:rPr>
                            <m:t>𝐿𝐺𝐷</m:t>
                          </m:r>
                        </m:e>
                      </m:acc>
                      <m:r>
                        <a:rPr lang="hu-HU" i="1">
                          <a:latin typeface="Cambria Math" panose="02040503050406030204" pitchFamily="18" charset="0"/>
                        </a:rPr>
                        <m:t>∙</m:t>
                      </m:r>
                      <m:acc>
                        <m:accPr>
                          <m:chr m:val="̅"/>
                          <m:ctrlPr>
                            <a:rPr lang="hu-HU" i="1">
                              <a:latin typeface="Cambria Math" panose="02040503050406030204" pitchFamily="18" charset="0"/>
                            </a:rPr>
                          </m:ctrlPr>
                        </m:accPr>
                        <m:e>
                          <m:r>
                            <a:rPr lang="hu-HU" i="1">
                              <a:latin typeface="Cambria Math" panose="02040503050406030204" pitchFamily="18" charset="0"/>
                            </a:rPr>
                            <m:t>𝐸𝐴𝐷</m:t>
                          </m:r>
                        </m:e>
                      </m:acc>
                    </m:oMath>
                  </m:oMathPara>
                </a14:m>
                <a:endParaRPr lang="hu-HU" dirty="0"/>
              </a:p>
            </p:txBody>
          </p:sp>
        </mc:Choice>
        <mc:Fallback xmlns="">
          <p:sp>
            <p:nvSpPr>
              <p:cNvPr id="3" name="Szövegdoboz 2"/>
              <p:cNvSpPr txBox="1">
                <a:spLocks noRot="1" noChangeAspect="1" noMove="1" noResize="1" noEditPoints="1" noAdjustHandles="1" noChangeArrowheads="1" noChangeShapeType="1" noTextEdit="1"/>
              </p:cNvSpPr>
              <p:nvPr/>
            </p:nvSpPr>
            <p:spPr>
              <a:xfrm>
                <a:off x="7612522" y="2566527"/>
                <a:ext cx="2302023" cy="410497"/>
              </a:xfrm>
              <a:prstGeom prst="rect">
                <a:avLst/>
              </a:prstGeom>
              <a:blipFill>
                <a:blip r:embed="rId4"/>
                <a:stretch>
                  <a:fillRect b="-2899"/>
                </a:stretch>
              </a:blipFill>
              <a:ln>
                <a:solidFill>
                  <a:srgbClr val="FF0000"/>
                </a:solidFill>
              </a:ln>
            </p:spPr>
            <p:txBody>
              <a:bodyPr/>
              <a:lstStyle/>
              <a:p>
                <a:r>
                  <a:rPr lang="en-GB">
                    <a:noFill/>
                  </a:rPr>
                  <a:t> </a:t>
                </a:r>
              </a:p>
            </p:txBody>
          </p:sp>
        </mc:Fallback>
      </mc:AlternateContent>
      <p:sp>
        <p:nvSpPr>
          <p:cNvPr id="4" name="Jobbra nyíl 3"/>
          <p:cNvSpPr/>
          <p:nvPr/>
        </p:nvSpPr>
        <p:spPr>
          <a:xfrm>
            <a:off x="6858000" y="2623804"/>
            <a:ext cx="750168" cy="20255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u-HU"/>
          </a:p>
        </p:txBody>
      </p:sp>
    </p:spTree>
    <p:extLst>
      <p:ext uri="{BB962C8B-B14F-4D97-AF65-F5344CB8AC3E}">
        <p14:creationId xmlns:p14="http://schemas.microsoft.com/office/powerpoint/2010/main" val="13810659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1751162" y="260650"/>
            <a:ext cx="8305291" cy="484177"/>
          </a:xfrm>
        </p:spPr>
        <p:txBody>
          <a:bodyPr>
            <a:noAutofit/>
          </a:bodyPr>
          <a:lstStyle/>
          <a:p>
            <a:pPr eaLnBrk="1" hangingPunct="1"/>
            <a:r>
              <a:rPr lang="hu-HU" altLang="hu-HU" sz="2800" dirty="0"/>
              <a:t>General </a:t>
            </a:r>
            <a:r>
              <a:rPr lang="hu-HU" altLang="hu-HU" sz="2800" dirty="0" err="1"/>
              <a:t>framework</a:t>
            </a:r>
            <a:r>
              <a:rPr lang="hu-HU" altLang="hu-HU" sz="2800" dirty="0"/>
              <a:t> of </a:t>
            </a:r>
            <a:r>
              <a:rPr lang="hu-HU" altLang="hu-HU" sz="2800" dirty="0" err="1"/>
              <a:t>latent</a:t>
            </a:r>
            <a:r>
              <a:rPr lang="hu-HU" altLang="hu-HU" sz="2800" dirty="0"/>
              <a:t> </a:t>
            </a:r>
            <a:r>
              <a:rPr lang="hu-HU" altLang="hu-HU" sz="2800" dirty="0" err="1"/>
              <a:t>variable</a:t>
            </a:r>
            <a:r>
              <a:rPr lang="hu-HU" altLang="hu-HU" sz="2800" dirty="0"/>
              <a:t> credit </a:t>
            </a:r>
            <a:r>
              <a:rPr lang="hu-HU" altLang="hu-HU" sz="2800" dirty="0" err="1"/>
              <a:t>risk</a:t>
            </a:r>
            <a:r>
              <a:rPr lang="hu-HU" altLang="hu-HU" sz="2800" dirty="0"/>
              <a:t> </a:t>
            </a:r>
            <a:r>
              <a:rPr lang="hu-HU" altLang="hu-HU" sz="2800" dirty="0" err="1"/>
              <a:t>models</a:t>
            </a:r>
            <a:endParaRPr lang="en-GB" altLang="hu-HU" sz="2800" dirty="0"/>
          </a:p>
        </p:txBody>
      </p:sp>
      <p:sp>
        <p:nvSpPr>
          <p:cNvPr id="70659" name="Rectangle 5"/>
          <p:cNvSpPr>
            <a:spLocks noGrp="1" noChangeArrowheads="1"/>
          </p:cNvSpPr>
          <p:nvPr>
            <p:ph type="body" sz="half" idx="1"/>
          </p:nvPr>
        </p:nvSpPr>
        <p:spPr>
          <a:xfrm>
            <a:off x="2286000" y="836712"/>
            <a:ext cx="7772400" cy="5760640"/>
          </a:xfrm>
        </p:spPr>
        <p:txBody>
          <a:bodyPr/>
          <a:lstStyle/>
          <a:p>
            <a:pPr eaLnBrk="1" hangingPunct="1"/>
            <a:r>
              <a:rPr lang="hu-HU" altLang="hu-HU" sz="1600" dirty="0" err="1"/>
              <a:t>Reduced</a:t>
            </a:r>
            <a:r>
              <a:rPr lang="hu-HU" altLang="hu-HU" sz="1600" dirty="0"/>
              <a:t> </a:t>
            </a:r>
            <a:r>
              <a:rPr lang="hu-HU" altLang="hu-HU" sz="1600" dirty="0" err="1"/>
              <a:t>form</a:t>
            </a:r>
            <a:r>
              <a:rPr lang="hu-HU" altLang="hu-HU" sz="1600" dirty="0"/>
              <a:t> (</a:t>
            </a:r>
            <a:r>
              <a:rPr lang="hu-HU" altLang="hu-HU" sz="1600" dirty="0" err="1"/>
              <a:t>CreditRisk</a:t>
            </a:r>
            <a:r>
              <a:rPr lang="hu-HU" altLang="hu-HU" sz="1600" dirty="0"/>
              <a:t>+)</a:t>
            </a:r>
            <a:endParaRPr lang="hu-HU" altLang="hu-HU" dirty="0"/>
          </a:p>
          <a:p>
            <a:pPr eaLnBrk="1" hangingPunct="1"/>
            <a:endParaRPr lang="hu-HU" altLang="hu-HU" dirty="0"/>
          </a:p>
          <a:p>
            <a:pPr eaLnBrk="1" hangingPunct="1"/>
            <a:endParaRPr lang="hu-HU" altLang="hu-HU" sz="1600" dirty="0"/>
          </a:p>
          <a:p>
            <a:pPr eaLnBrk="1" hangingPunct="1"/>
            <a:endParaRPr lang="hu-HU" altLang="hu-HU" sz="1600" dirty="0"/>
          </a:p>
          <a:p>
            <a:pPr eaLnBrk="1" hangingPunct="1"/>
            <a:r>
              <a:rPr lang="hu-HU" altLang="hu-HU" sz="1600" dirty="0"/>
              <a:t>Equity </a:t>
            </a:r>
            <a:r>
              <a:rPr lang="hu-HU" altLang="hu-HU" sz="1600" dirty="0" err="1"/>
              <a:t>based</a:t>
            </a:r>
            <a:r>
              <a:rPr lang="hu-HU" altLang="hu-HU" sz="1600" dirty="0"/>
              <a:t> (</a:t>
            </a:r>
            <a:r>
              <a:rPr lang="hu-HU" altLang="hu-HU" sz="1600" dirty="0" err="1"/>
              <a:t>Creditmetrics</a:t>
            </a:r>
            <a:r>
              <a:rPr lang="hu-HU" altLang="hu-HU" sz="2000" dirty="0"/>
              <a:t>)</a:t>
            </a:r>
            <a:endParaRPr lang="en-GB" altLang="hu-HU" sz="2000" dirty="0"/>
          </a:p>
        </p:txBody>
      </p:sp>
      <p:graphicFrame>
        <p:nvGraphicFramePr>
          <p:cNvPr id="70660" name="Object 3"/>
          <p:cNvGraphicFramePr>
            <a:graphicFrameLocks noGrp="1" noChangeAspect="1"/>
          </p:cNvGraphicFramePr>
          <p:nvPr>
            <p:ph sz="half" idx="2"/>
            <p:extLst>
              <p:ext uri="{D42A27DB-BD31-4B8C-83A1-F6EECF244321}">
                <p14:modId xmlns:p14="http://schemas.microsoft.com/office/powerpoint/2010/main" val="3281876604"/>
              </p:ext>
            </p:extLst>
          </p:nvPr>
        </p:nvGraphicFramePr>
        <p:xfrm>
          <a:off x="3708971" y="2891223"/>
          <a:ext cx="4364037" cy="3173413"/>
        </p:xfrm>
        <a:graphic>
          <a:graphicData uri="http://schemas.openxmlformats.org/presentationml/2006/ole">
            <mc:AlternateContent xmlns:mc="http://schemas.openxmlformats.org/markup-compatibility/2006">
              <mc:Choice xmlns:v="urn:schemas-microsoft-com:vml" Requires="v">
                <p:oleObj name="Egyenlet" r:id="rId2" imgW="2654300" imgH="1930400" progId="Equation.3">
                  <p:embed/>
                </p:oleObj>
              </mc:Choice>
              <mc:Fallback>
                <p:oleObj name="Egyenlet" r:id="rId2" imgW="2654300" imgH="1930400" progId="Equation.3">
                  <p:embed/>
                  <p:pic>
                    <p:nvPicPr>
                      <p:cNvPr id="70660" name="Object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8971" y="2891223"/>
                        <a:ext cx="4364037" cy="3173413"/>
                      </a:xfrm>
                      <a:prstGeom prst="rect">
                        <a:avLst/>
                      </a:prstGeom>
                      <a:noFill/>
                      <a:ln>
                        <a:noFill/>
                      </a:ln>
                    </p:spPr>
                  </p:pic>
                </p:oleObj>
              </mc:Fallback>
            </mc:AlternateContent>
          </a:graphicData>
        </a:graphic>
      </p:graphicFrame>
      <p:graphicFrame>
        <p:nvGraphicFramePr>
          <p:cNvPr id="70661" name="Object 4"/>
          <p:cNvGraphicFramePr>
            <a:graphicFrameLocks noChangeAspect="1"/>
          </p:cNvGraphicFramePr>
          <p:nvPr>
            <p:extLst>
              <p:ext uri="{D42A27DB-BD31-4B8C-83A1-F6EECF244321}">
                <p14:modId xmlns:p14="http://schemas.microsoft.com/office/powerpoint/2010/main" val="1587995023"/>
              </p:ext>
            </p:extLst>
          </p:nvPr>
        </p:nvGraphicFramePr>
        <p:xfrm>
          <a:off x="3154288" y="1246149"/>
          <a:ext cx="3733800" cy="877888"/>
        </p:xfrm>
        <a:graphic>
          <a:graphicData uri="http://schemas.openxmlformats.org/presentationml/2006/ole">
            <mc:AlternateContent xmlns:mc="http://schemas.openxmlformats.org/markup-compatibility/2006">
              <mc:Choice xmlns:v="urn:schemas-microsoft-com:vml" Requires="v">
                <p:oleObj name="Equation" r:id="rId4" imgW="1943100" imgH="457200" progId="Equation.3">
                  <p:embed/>
                </p:oleObj>
              </mc:Choice>
              <mc:Fallback>
                <p:oleObj name="Equation" r:id="rId4" imgW="1943100" imgH="457200" progId="Equation.3">
                  <p:embed/>
                  <p:pic>
                    <p:nvPicPr>
                      <p:cNvPr id="70661"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4288" y="1246149"/>
                        <a:ext cx="3733800" cy="877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Szövegdoboz 1"/>
          <p:cNvSpPr txBox="1"/>
          <p:nvPr/>
        </p:nvSpPr>
        <p:spPr>
          <a:xfrm>
            <a:off x="8472263" y="1387759"/>
            <a:ext cx="1344597" cy="646331"/>
          </a:xfrm>
          <a:prstGeom prst="rect">
            <a:avLst/>
          </a:prstGeom>
          <a:noFill/>
          <a:ln>
            <a:solidFill>
              <a:srgbClr val="FF0000"/>
            </a:solidFill>
          </a:ln>
        </p:spPr>
        <p:txBody>
          <a:bodyPr wrap="square" rtlCol="0">
            <a:spAutoFit/>
          </a:bodyPr>
          <a:lstStyle/>
          <a:p>
            <a:r>
              <a:rPr lang="hu-HU" dirty="0"/>
              <a:t>Gamma </a:t>
            </a:r>
            <a:r>
              <a:rPr lang="hu-HU" dirty="0" err="1"/>
              <a:t>distribution</a:t>
            </a:r>
            <a:endParaRPr lang="hu-HU" dirty="0"/>
          </a:p>
        </p:txBody>
      </p:sp>
      <p:cxnSp>
        <p:nvCxnSpPr>
          <p:cNvPr id="4" name="Egyenes összekötő nyíllal 3"/>
          <p:cNvCxnSpPr>
            <a:cxnSpLocks/>
          </p:cNvCxnSpPr>
          <p:nvPr/>
        </p:nvCxnSpPr>
        <p:spPr>
          <a:xfrm>
            <a:off x="6170253" y="1717806"/>
            <a:ext cx="2157995" cy="115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Szövegdoboz 4"/>
          <p:cNvSpPr txBox="1"/>
          <p:nvPr/>
        </p:nvSpPr>
        <p:spPr>
          <a:xfrm>
            <a:off x="1903413" y="4149080"/>
            <a:ext cx="1224136" cy="369332"/>
          </a:xfrm>
          <a:prstGeom prst="rect">
            <a:avLst/>
          </a:prstGeom>
          <a:noFill/>
          <a:ln>
            <a:solidFill>
              <a:srgbClr val="FF0000"/>
            </a:solidFill>
          </a:ln>
        </p:spPr>
        <p:txBody>
          <a:bodyPr wrap="square" rtlCol="0">
            <a:spAutoFit/>
          </a:bodyPr>
          <a:lstStyle/>
          <a:p>
            <a:r>
              <a:rPr lang="hu-HU" dirty="0" err="1"/>
              <a:t>Threshold</a:t>
            </a:r>
            <a:endParaRPr lang="hu-HU" dirty="0"/>
          </a:p>
        </p:txBody>
      </p:sp>
      <p:cxnSp>
        <p:nvCxnSpPr>
          <p:cNvPr id="7" name="Egyenes összekötő nyíllal 6"/>
          <p:cNvCxnSpPr>
            <a:cxnSpLocks/>
            <a:endCxn id="5" idx="3"/>
          </p:cNvCxnSpPr>
          <p:nvPr/>
        </p:nvCxnSpPr>
        <p:spPr>
          <a:xfrm flipH="1">
            <a:off x="3127549" y="3700732"/>
            <a:ext cx="1970662" cy="633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Szövegdoboz 8"/>
          <p:cNvSpPr txBox="1"/>
          <p:nvPr/>
        </p:nvSpPr>
        <p:spPr>
          <a:xfrm>
            <a:off x="8592723" y="2744945"/>
            <a:ext cx="1541081" cy="646331"/>
          </a:xfrm>
          <a:prstGeom prst="rect">
            <a:avLst/>
          </a:prstGeom>
          <a:noFill/>
          <a:ln>
            <a:solidFill>
              <a:srgbClr val="FF0000"/>
            </a:solidFill>
          </a:ln>
        </p:spPr>
        <p:txBody>
          <a:bodyPr wrap="square" rtlCol="0">
            <a:spAutoFit/>
          </a:bodyPr>
          <a:lstStyle/>
          <a:p>
            <a:r>
              <a:rPr lang="hu-HU" dirty="0" err="1"/>
              <a:t>Std</a:t>
            </a:r>
            <a:r>
              <a:rPr lang="hu-HU" dirty="0"/>
              <a:t>. </a:t>
            </a:r>
            <a:r>
              <a:rPr lang="hu-HU" dirty="0" err="1"/>
              <a:t>normal</a:t>
            </a:r>
            <a:r>
              <a:rPr lang="hu-HU" dirty="0"/>
              <a:t> </a:t>
            </a:r>
            <a:r>
              <a:rPr lang="hu-HU" dirty="0" err="1"/>
              <a:t>dist</a:t>
            </a:r>
            <a:r>
              <a:rPr lang="hu-HU" dirty="0"/>
              <a:t>.</a:t>
            </a:r>
          </a:p>
        </p:txBody>
      </p:sp>
      <p:cxnSp>
        <p:nvCxnSpPr>
          <p:cNvPr id="12" name="Egyenes összekötő nyíllal 11"/>
          <p:cNvCxnSpPr>
            <a:cxnSpLocks/>
          </p:cNvCxnSpPr>
          <p:nvPr/>
        </p:nvCxnSpPr>
        <p:spPr>
          <a:xfrm flipH="1">
            <a:off x="5021188" y="2792255"/>
            <a:ext cx="3511302" cy="1945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Egyenes összekötő nyíllal 17"/>
          <p:cNvCxnSpPr>
            <a:cxnSpLocks/>
          </p:cNvCxnSpPr>
          <p:nvPr/>
        </p:nvCxnSpPr>
        <p:spPr>
          <a:xfrm flipH="1" flipV="1">
            <a:off x="4550520" y="3159996"/>
            <a:ext cx="4032967" cy="1178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Szövegdoboz 7"/>
          <p:cNvSpPr txBox="1"/>
          <p:nvPr/>
        </p:nvSpPr>
        <p:spPr>
          <a:xfrm>
            <a:off x="1556468" y="5472239"/>
            <a:ext cx="1858044" cy="369332"/>
          </a:xfrm>
          <a:prstGeom prst="rect">
            <a:avLst/>
          </a:prstGeom>
          <a:noFill/>
          <a:ln>
            <a:solidFill>
              <a:srgbClr val="FF0000"/>
            </a:solidFill>
          </a:ln>
        </p:spPr>
        <p:txBody>
          <a:bodyPr wrap="square" rtlCol="0">
            <a:spAutoFit/>
          </a:bodyPr>
          <a:lstStyle/>
          <a:p>
            <a:r>
              <a:rPr lang="hu-HU" dirty="0" err="1"/>
              <a:t>Conditional</a:t>
            </a:r>
            <a:r>
              <a:rPr lang="hu-HU" dirty="0"/>
              <a:t> </a:t>
            </a:r>
            <a:r>
              <a:rPr lang="hu-HU" dirty="0" err="1"/>
              <a:t>PD</a:t>
            </a:r>
            <a:endParaRPr lang="hu-HU" dirty="0"/>
          </a:p>
        </p:txBody>
      </p:sp>
      <p:cxnSp>
        <p:nvCxnSpPr>
          <p:cNvPr id="11" name="Egyenes összekötő nyíllal 10"/>
          <p:cNvCxnSpPr>
            <a:stCxn id="8" idx="3"/>
          </p:cNvCxnSpPr>
          <p:nvPr/>
        </p:nvCxnSpPr>
        <p:spPr>
          <a:xfrm>
            <a:off x="3414513" y="5656905"/>
            <a:ext cx="302195" cy="313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Szövegdoboz 18"/>
          <p:cNvSpPr txBox="1"/>
          <p:nvPr/>
        </p:nvSpPr>
        <p:spPr>
          <a:xfrm>
            <a:off x="8062951" y="5114843"/>
            <a:ext cx="2160240" cy="369332"/>
          </a:xfrm>
          <a:prstGeom prst="rect">
            <a:avLst/>
          </a:prstGeom>
          <a:noFill/>
          <a:ln>
            <a:solidFill>
              <a:srgbClr val="FF0000"/>
            </a:solidFill>
          </a:ln>
        </p:spPr>
        <p:txBody>
          <a:bodyPr wrap="square" rtlCol="0">
            <a:spAutoFit/>
          </a:bodyPr>
          <a:lstStyle/>
          <a:p>
            <a:r>
              <a:rPr lang="hu-HU" dirty="0" err="1"/>
              <a:t>Unconditional</a:t>
            </a:r>
            <a:r>
              <a:rPr lang="hu-HU" dirty="0"/>
              <a:t> </a:t>
            </a:r>
            <a:r>
              <a:rPr lang="hu-HU" dirty="0" err="1"/>
              <a:t>PD</a:t>
            </a:r>
            <a:endParaRPr lang="hu-HU" dirty="0"/>
          </a:p>
        </p:txBody>
      </p:sp>
      <p:cxnSp>
        <p:nvCxnSpPr>
          <p:cNvPr id="16" name="Egyenes összekötő nyíllal 15"/>
          <p:cNvCxnSpPr>
            <a:cxnSpLocks/>
          </p:cNvCxnSpPr>
          <p:nvPr/>
        </p:nvCxnSpPr>
        <p:spPr>
          <a:xfrm flipH="1" flipV="1">
            <a:off x="4779034" y="5124091"/>
            <a:ext cx="3208511" cy="1754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93156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1981200" y="322767"/>
            <a:ext cx="8229600" cy="853354"/>
          </a:xfrm>
        </p:spPr>
        <p:txBody>
          <a:bodyPr>
            <a:normAutofit/>
          </a:bodyPr>
          <a:lstStyle/>
          <a:p>
            <a:r>
              <a:rPr lang="hu-HU" altLang="hu-HU" sz="2800" dirty="0" err="1"/>
              <a:t>Latent</a:t>
            </a:r>
            <a:r>
              <a:rPr lang="hu-HU" altLang="hu-HU" sz="2800" dirty="0"/>
              <a:t> </a:t>
            </a:r>
            <a:r>
              <a:rPr lang="hu-HU" altLang="hu-HU" sz="2800" dirty="0" err="1"/>
              <a:t>variable</a:t>
            </a:r>
            <a:r>
              <a:rPr lang="hu-HU" altLang="hu-HU" sz="2800" dirty="0"/>
              <a:t> credit </a:t>
            </a:r>
            <a:r>
              <a:rPr lang="hu-HU" altLang="hu-HU" sz="2800" dirty="0" err="1"/>
              <a:t>risk</a:t>
            </a:r>
            <a:r>
              <a:rPr lang="hu-HU" altLang="hu-HU" sz="2800" dirty="0"/>
              <a:t> </a:t>
            </a:r>
            <a:r>
              <a:rPr lang="hu-HU" altLang="hu-HU" sz="2800" dirty="0" err="1"/>
              <a:t>models</a:t>
            </a:r>
            <a:r>
              <a:rPr lang="hu-HU" altLang="hu-HU" sz="2800" dirty="0"/>
              <a:t> – a </a:t>
            </a:r>
            <a:r>
              <a:rPr lang="hu-HU" altLang="hu-HU" sz="2800" dirty="0" err="1"/>
              <a:t>special</a:t>
            </a:r>
            <a:r>
              <a:rPr lang="hu-HU" altLang="hu-HU" sz="2800" dirty="0"/>
              <a:t> </a:t>
            </a:r>
            <a:r>
              <a:rPr lang="hu-HU" altLang="hu-HU" sz="2800" dirty="0" err="1"/>
              <a:t>case</a:t>
            </a:r>
            <a:endParaRPr lang="hu-HU" sz="2800" dirty="0"/>
          </a:p>
        </p:txBody>
      </p:sp>
      <p:sp>
        <p:nvSpPr>
          <p:cNvPr id="3" name="Tartalom helye 2"/>
          <p:cNvSpPr>
            <a:spLocks noGrp="1"/>
          </p:cNvSpPr>
          <p:nvPr>
            <p:ph sz="half" idx="1"/>
          </p:nvPr>
        </p:nvSpPr>
        <p:spPr>
          <a:xfrm>
            <a:off x="1981200" y="1207606"/>
            <a:ext cx="7671758" cy="940372"/>
          </a:xfrm>
        </p:spPr>
        <p:txBody>
          <a:bodyPr>
            <a:normAutofit lnSpcReduction="10000"/>
          </a:bodyPr>
          <a:lstStyle/>
          <a:p>
            <a:pPr marL="0" indent="0">
              <a:buNone/>
            </a:pPr>
            <a:r>
              <a:rPr lang="en-GB" sz="1800" dirty="0"/>
              <a:t>Asymptotic Single Risk Factor (ASRF) model</a:t>
            </a:r>
            <a:r>
              <a:rPr lang="hu-HU" sz="1800" dirty="0"/>
              <a:t>:</a:t>
            </a:r>
          </a:p>
          <a:p>
            <a:pPr marL="342900" indent="-342900">
              <a:buFont typeface="+mj-lt"/>
              <a:buAutoNum type="arabicPeriod"/>
            </a:pPr>
            <a:r>
              <a:rPr lang="hu-HU" sz="1800" dirty="0" err="1"/>
              <a:t>If</a:t>
            </a:r>
            <a:r>
              <a:rPr lang="hu-HU" sz="1800" dirty="0"/>
              <a:t> a </a:t>
            </a:r>
            <a:r>
              <a:rPr lang="hu-HU" sz="1800" dirty="0" err="1"/>
              <a:t>portfolio</a:t>
            </a:r>
            <a:r>
              <a:rPr lang="hu-HU" sz="1800" dirty="0"/>
              <a:t> is </a:t>
            </a:r>
            <a:r>
              <a:rPr lang="hu-HU" sz="1800" dirty="0" err="1"/>
              <a:t>well-diversified</a:t>
            </a:r>
            <a:r>
              <a:rPr lang="hu-HU" sz="1800" dirty="0"/>
              <a:t>, </a:t>
            </a:r>
            <a:r>
              <a:rPr lang="hu-HU" sz="1800" dirty="0" err="1"/>
              <a:t>the</a:t>
            </a:r>
            <a:r>
              <a:rPr lang="hu-HU" sz="1800" dirty="0"/>
              <a:t> </a:t>
            </a:r>
            <a:r>
              <a:rPr lang="hu-HU" sz="1800" dirty="0" err="1"/>
              <a:t>the</a:t>
            </a:r>
            <a:r>
              <a:rPr lang="hu-HU" sz="1800" dirty="0"/>
              <a:t> </a:t>
            </a:r>
            <a:r>
              <a:rPr lang="hu-HU" sz="1800" dirty="0" err="1"/>
              <a:t>loss</a:t>
            </a:r>
            <a:r>
              <a:rPr lang="hu-HU" sz="1800" dirty="0"/>
              <a:t> </a:t>
            </a:r>
            <a:r>
              <a:rPr lang="hu-HU" sz="1800" dirty="0" err="1"/>
              <a:t>distribution</a:t>
            </a:r>
            <a:r>
              <a:rPr lang="hu-HU" sz="1800" dirty="0"/>
              <a:t> - </a:t>
            </a:r>
            <a:r>
              <a:rPr lang="hu-HU" sz="1800" i="1" dirty="0"/>
              <a:t>L(x)</a:t>
            </a:r>
            <a:r>
              <a:rPr lang="hu-HU" sz="1800" dirty="0"/>
              <a:t> -  limit in </a:t>
            </a:r>
            <a:r>
              <a:rPr lang="hu-HU" sz="1800" dirty="0" err="1"/>
              <a:t>portfolio</a:t>
            </a:r>
            <a:r>
              <a:rPr lang="hu-HU" sz="1800" dirty="0"/>
              <a:t> </a:t>
            </a:r>
            <a:r>
              <a:rPr lang="hu-HU" sz="1800" dirty="0" err="1"/>
              <a:t>size</a:t>
            </a:r>
            <a:r>
              <a:rPr lang="hu-HU" sz="1800" dirty="0"/>
              <a:t> is </a:t>
            </a:r>
            <a:r>
              <a:rPr lang="hu-HU" sz="1800" dirty="0" err="1"/>
              <a:t>the</a:t>
            </a:r>
            <a:r>
              <a:rPr lang="hu-HU" sz="1800" dirty="0"/>
              <a:t> </a:t>
            </a:r>
            <a:r>
              <a:rPr lang="hu-HU" sz="1800" dirty="0" err="1"/>
              <a:t>conditional</a:t>
            </a:r>
            <a:r>
              <a:rPr lang="hu-HU" sz="1800" dirty="0"/>
              <a:t> </a:t>
            </a:r>
            <a:r>
              <a:rPr lang="hu-HU" sz="1800" dirty="0" err="1"/>
              <a:t>expected</a:t>
            </a:r>
            <a:r>
              <a:rPr lang="hu-HU" sz="1800" dirty="0"/>
              <a:t> </a:t>
            </a:r>
            <a:r>
              <a:rPr lang="hu-HU" sz="1800" dirty="0" err="1"/>
              <a:t>loss</a:t>
            </a:r>
            <a:r>
              <a:rPr lang="hu-HU" sz="1800" dirty="0"/>
              <a:t> a </a:t>
            </a:r>
            <a:r>
              <a:rPr lang="hu-HU" sz="1800" dirty="0" err="1"/>
              <a:t>risk</a:t>
            </a:r>
            <a:endParaRPr lang="hu-HU" sz="1800" dirty="0"/>
          </a:p>
          <a:p>
            <a:endParaRPr lang="hu-HU" sz="1800" dirty="0"/>
          </a:p>
        </p:txBody>
      </p:sp>
      <mc:AlternateContent xmlns:mc="http://schemas.openxmlformats.org/markup-compatibility/2006" xmlns:a14="http://schemas.microsoft.com/office/drawing/2010/main">
        <mc:Choice Requires="a14">
          <p:sp>
            <p:nvSpPr>
              <p:cNvPr id="4" name="Szöveg helye 3"/>
              <p:cNvSpPr>
                <a:spLocks noGrp="1"/>
              </p:cNvSpPr>
              <p:nvPr>
                <p:ph type="body" sz="half" idx="2"/>
              </p:nvPr>
            </p:nvSpPr>
            <p:spPr>
              <a:xfrm>
                <a:off x="1981200" y="2977403"/>
                <a:ext cx="8147248" cy="2258831"/>
              </a:xfrm>
            </p:spPr>
            <p:txBody>
              <a:bodyPr>
                <a:normAutofit/>
              </a:bodyPr>
              <a:lstStyle/>
              <a:p>
                <a:pPr marL="342900" indent="-342900">
                  <a:buFont typeface="+mj-lt"/>
                  <a:buAutoNum type="arabicPeriod" startAt="2"/>
                </a:pPr>
                <a:r>
                  <a:rPr lang="hu-HU" sz="1800" dirty="0"/>
                  <a:t>If </a:t>
                </a:r>
                <a:r>
                  <a:rPr lang="hu-HU" sz="1800" dirty="0" err="1"/>
                  <a:t>the</a:t>
                </a:r>
                <a:r>
                  <a:rPr lang="hu-HU" sz="1800" dirty="0"/>
                  <a:t> </a:t>
                </a:r>
                <a:r>
                  <a:rPr lang="hu-HU" sz="1800" dirty="0" err="1"/>
                  <a:t>loss</a:t>
                </a:r>
                <a:r>
                  <a:rPr lang="hu-HU" sz="1800" dirty="0"/>
                  <a:t> </a:t>
                </a:r>
                <a:r>
                  <a:rPr lang="hu-HU" sz="1800" dirty="0" err="1"/>
                  <a:t>distribution</a:t>
                </a:r>
                <a:r>
                  <a:rPr lang="hu-HU" sz="1800" dirty="0"/>
                  <a:t> is non-</a:t>
                </a:r>
                <a:r>
                  <a:rPr lang="hu-HU" sz="1800" dirty="0" err="1"/>
                  <a:t>decreasing</a:t>
                </a:r>
                <a:r>
                  <a:rPr lang="hu-HU" sz="1800" dirty="0"/>
                  <a:t> in x, </a:t>
                </a:r>
                <a:r>
                  <a:rPr lang="hu-HU" sz="1800" dirty="0" err="1"/>
                  <a:t>then</a:t>
                </a:r>
                <a:r>
                  <a:rPr lang="hu-HU" sz="1800" dirty="0"/>
                  <a:t> </a:t>
                </a:r>
                <a:r>
                  <a:rPr lang="hu-HU" sz="1800" dirty="0" err="1"/>
                  <a:t>the</a:t>
                </a:r>
                <a:r>
                  <a:rPr lang="hu-HU" sz="1800" dirty="0"/>
                  <a:t> </a:t>
                </a:r>
                <a:r>
                  <a:rPr lang="hu-HU" sz="1800" dirty="0" err="1"/>
                  <a:t>quantile</a:t>
                </a:r>
                <a:r>
                  <a:rPr lang="hu-HU" sz="1800" dirty="0"/>
                  <a:t> of </a:t>
                </a:r>
                <a:r>
                  <a:rPr lang="hu-HU" sz="1800" dirty="0" err="1"/>
                  <a:t>the</a:t>
                </a:r>
                <a:r>
                  <a:rPr lang="hu-HU" sz="1800" dirty="0"/>
                  <a:t> </a:t>
                </a:r>
                <a:r>
                  <a:rPr lang="hu-HU" sz="1800" dirty="0" err="1"/>
                  <a:t>conditional</a:t>
                </a:r>
                <a:r>
                  <a:rPr lang="hu-HU" sz="1800" dirty="0"/>
                  <a:t> </a:t>
                </a:r>
                <a:r>
                  <a:rPr lang="hu-HU" sz="1800" dirty="0" err="1"/>
                  <a:t>expected</a:t>
                </a:r>
                <a:r>
                  <a:rPr lang="hu-HU" sz="1800" dirty="0"/>
                  <a:t> </a:t>
                </a:r>
                <a:r>
                  <a:rPr lang="hu-HU" sz="1800" dirty="0" err="1"/>
                  <a:t>loss</a:t>
                </a:r>
                <a:r>
                  <a:rPr lang="hu-HU" sz="1800" dirty="0"/>
                  <a:t> </a:t>
                </a:r>
                <a:r>
                  <a:rPr lang="hu-HU" sz="1800" dirty="0" err="1"/>
                  <a:t>distribution</a:t>
                </a:r>
                <a:r>
                  <a:rPr lang="hu-HU" sz="1800" dirty="0"/>
                  <a:t> is </a:t>
                </a:r>
                <a:r>
                  <a:rPr lang="hu-HU" sz="1800" dirty="0" err="1"/>
                  <a:t>equal</a:t>
                </a:r>
                <a:r>
                  <a:rPr lang="hu-HU" sz="1800" dirty="0"/>
                  <a:t> </a:t>
                </a:r>
                <a:r>
                  <a:rPr lang="hu-HU" sz="1800" dirty="0" err="1"/>
                  <a:t>to</a:t>
                </a:r>
                <a:r>
                  <a:rPr lang="hu-HU" sz="1800" dirty="0"/>
                  <a:t> </a:t>
                </a:r>
                <a:r>
                  <a:rPr lang="hu-HU" sz="1800" dirty="0" err="1"/>
                  <a:t>conditional</a:t>
                </a:r>
                <a:r>
                  <a:rPr lang="hu-HU" sz="1800" dirty="0"/>
                  <a:t> </a:t>
                </a:r>
                <a:r>
                  <a:rPr lang="hu-HU" sz="1800" dirty="0" err="1"/>
                  <a:t>expected</a:t>
                </a:r>
                <a:r>
                  <a:rPr lang="hu-HU" sz="1800" dirty="0"/>
                  <a:t> </a:t>
                </a:r>
                <a:r>
                  <a:rPr lang="hu-HU" sz="1800" dirty="0" err="1"/>
                  <a:t>loss</a:t>
                </a:r>
                <a:r>
                  <a:rPr lang="hu-HU" sz="1800" dirty="0"/>
                  <a:t> </a:t>
                </a:r>
                <a:r>
                  <a:rPr lang="hu-HU" sz="1800" dirty="0" err="1"/>
                  <a:t>distribution</a:t>
                </a:r>
                <a:r>
                  <a:rPr lang="hu-HU" sz="1800" dirty="0"/>
                  <a:t> </a:t>
                </a:r>
                <a:r>
                  <a:rPr lang="hu-HU" sz="1800" dirty="0" err="1"/>
                  <a:t>at</a:t>
                </a:r>
                <a:r>
                  <a:rPr lang="hu-HU" sz="1800" dirty="0"/>
                  <a:t> </a:t>
                </a:r>
                <a:r>
                  <a:rPr lang="hu-HU" sz="1800" dirty="0" err="1"/>
                  <a:t>the</a:t>
                </a:r>
                <a:r>
                  <a:rPr lang="hu-HU" sz="1800" dirty="0"/>
                  <a:t> </a:t>
                </a:r>
                <a:r>
                  <a:rPr lang="hu-HU" sz="1800" dirty="0" err="1"/>
                  <a:t>quantile</a:t>
                </a:r>
                <a:r>
                  <a:rPr lang="hu-HU" sz="1800" dirty="0"/>
                  <a:t> of </a:t>
                </a:r>
                <a:r>
                  <a:rPr lang="hu-HU" sz="1800" dirty="0" err="1"/>
                  <a:t>the</a:t>
                </a:r>
                <a:r>
                  <a:rPr lang="hu-HU" sz="1800" dirty="0"/>
                  <a:t> </a:t>
                </a:r>
                <a:r>
                  <a:rPr lang="hu-HU" sz="1800" dirty="0" err="1"/>
                  <a:t>risk</a:t>
                </a:r>
                <a:endParaRPr lang="hu-HU" sz="1800" dirty="0"/>
              </a:p>
              <a:p>
                <a:pPr marL="0" indent="0">
                  <a:buNone/>
                </a:pPr>
                <a:endParaRPr lang="hu-HU" sz="1800" dirty="0"/>
              </a:p>
              <a:p>
                <a:pPr marL="0" indent="0">
                  <a:buNone/>
                </a:pPr>
                <a:endParaRPr lang="hu-HU" sz="1800" dirty="0"/>
              </a:p>
              <a:p>
                <a:pPr marL="342900" indent="-342900">
                  <a:buFont typeface="+mj-lt"/>
                  <a:buAutoNum type="arabicPeriod" startAt="3"/>
                </a:pPr>
                <a:r>
                  <a:rPr lang="hu-HU" sz="1800" dirty="0"/>
                  <a:t>A</a:t>
                </a:r>
                <a14:m>
                  <m:oMath xmlns:m="http://schemas.openxmlformats.org/officeDocument/2006/math">
                    <m:r>
                      <m:rPr>
                        <m:sty m:val="p"/>
                      </m:rPr>
                      <a:rPr lang="hu-HU" sz="1800" b="0" i="0" smtClean="0">
                        <a:latin typeface="Cambria Math" panose="02040503050406030204" pitchFamily="18" charset="0"/>
                      </a:rPr>
                      <m:t>s</m:t>
                    </m:r>
                    <m:r>
                      <a:rPr lang="hu-HU" sz="1800" b="0" i="0" smtClean="0">
                        <a:latin typeface="Cambria Math" panose="02040503050406030204" pitchFamily="18" charset="0"/>
                      </a:rPr>
                      <m:t> </m:t>
                    </m:r>
                    <m:r>
                      <a:rPr lang="hu-HU" sz="1800" i="1">
                        <a:latin typeface="Cambria Math" panose="02040503050406030204" pitchFamily="18" charset="0"/>
                      </a:rPr>
                      <m:t>𝐿𝑜𝑠𝑠</m:t>
                    </m:r>
                    <m:d>
                      <m:dPr>
                        <m:ctrlPr>
                          <a:rPr lang="hu-HU" sz="1800" i="1">
                            <a:latin typeface="Cambria Math" panose="02040503050406030204" pitchFamily="18" charset="0"/>
                          </a:rPr>
                        </m:ctrlPr>
                      </m:dPr>
                      <m:e>
                        <m:r>
                          <a:rPr lang="hu-HU" sz="1800" i="1">
                            <a:latin typeface="Cambria Math" panose="02040503050406030204" pitchFamily="18" charset="0"/>
                          </a:rPr>
                          <m:t>𝑋</m:t>
                        </m:r>
                      </m:e>
                    </m:d>
                    <m:r>
                      <a:rPr lang="hu-HU" sz="1800" i="1">
                        <a:latin typeface="Cambria Math" panose="02040503050406030204" pitchFamily="18" charset="0"/>
                      </a:rPr>
                      <m:t>=</m:t>
                    </m:r>
                    <m:r>
                      <a:rPr lang="hu-HU" sz="1800" i="1">
                        <a:latin typeface="Cambria Math" panose="02040503050406030204" pitchFamily="18" charset="0"/>
                      </a:rPr>
                      <m:t>𝑃𝐷</m:t>
                    </m:r>
                    <m:d>
                      <m:dPr>
                        <m:ctrlPr>
                          <a:rPr lang="hu-HU" sz="1800" i="1">
                            <a:latin typeface="Cambria Math" panose="02040503050406030204" pitchFamily="18" charset="0"/>
                          </a:rPr>
                        </m:ctrlPr>
                      </m:dPr>
                      <m:e>
                        <m:r>
                          <a:rPr lang="hu-HU" sz="1800" i="1">
                            <a:latin typeface="Cambria Math" panose="02040503050406030204" pitchFamily="18" charset="0"/>
                          </a:rPr>
                          <m:t>𝑋</m:t>
                        </m:r>
                      </m:e>
                    </m:d>
                    <m:r>
                      <a:rPr lang="hu-HU" sz="1800" i="1">
                        <a:latin typeface="Cambria Math" panose="02040503050406030204" pitchFamily="18" charset="0"/>
                      </a:rPr>
                      <m:t>∙</m:t>
                    </m:r>
                    <m:r>
                      <a:rPr lang="hu-HU" sz="1800" i="1">
                        <a:latin typeface="Cambria Math" panose="02040503050406030204" pitchFamily="18" charset="0"/>
                      </a:rPr>
                      <m:t>𝐿𝐺𝐷</m:t>
                    </m:r>
                    <m:r>
                      <a:rPr lang="hu-HU" sz="1800" i="1">
                        <a:latin typeface="Cambria Math" panose="02040503050406030204" pitchFamily="18" charset="0"/>
                      </a:rPr>
                      <m:t>∙</m:t>
                    </m:r>
                    <m:r>
                      <a:rPr lang="hu-HU" sz="1800" i="1">
                        <a:latin typeface="Cambria Math" panose="02040503050406030204" pitchFamily="18" charset="0"/>
                      </a:rPr>
                      <m:t>𝐸𝐴𝐷</m:t>
                    </m:r>
                  </m:oMath>
                </a14:m>
                <a:r>
                  <a:rPr lang="hu-HU" sz="1800" dirty="0"/>
                  <a:t>, </a:t>
                </a:r>
                <a:r>
                  <a:rPr lang="hu-HU" sz="1800" dirty="0" err="1"/>
                  <a:t>then</a:t>
                </a:r>
                <a:r>
                  <a:rPr lang="hu-HU" sz="1800" dirty="0"/>
                  <a:t> </a:t>
                </a:r>
                <a14:m>
                  <m:oMath xmlns:m="http://schemas.openxmlformats.org/officeDocument/2006/math">
                    <m:sSub>
                      <m:sSubPr>
                        <m:ctrlPr>
                          <a:rPr lang="hu-HU" sz="1800" i="1">
                            <a:latin typeface="Cambria Math" panose="02040503050406030204" pitchFamily="18" charset="0"/>
                          </a:rPr>
                        </m:ctrlPr>
                      </m:sSubPr>
                      <m:e>
                        <m:r>
                          <a:rPr lang="hu-HU" sz="1800" i="1">
                            <a:latin typeface="Cambria Math" panose="02040503050406030204" pitchFamily="18" charset="0"/>
                          </a:rPr>
                          <m:t>𝐿</m:t>
                        </m:r>
                      </m:e>
                      <m:sub>
                        <m:r>
                          <a:rPr lang="hu-HU" sz="1800" i="1">
                            <a:latin typeface="Cambria Math" panose="02040503050406030204" pitchFamily="18" charset="0"/>
                          </a:rPr>
                          <m:t>𝑞</m:t>
                        </m:r>
                      </m:sub>
                    </m:sSub>
                    <m:r>
                      <a:rPr lang="hu-HU" sz="1800" i="1">
                        <a:latin typeface="Cambria Math" panose="02040503050406030204" pitchFamily="18" charset="0"/>
                      </a:rPr>
                      <m:t>|</m:t>
                    </m:r>
                    <m:r>
                      <a:rPr lang="hu-HU" sz="1800" i="1">
                        <a:latin typeface="Cambria Math" panose="02040503050406030204" pitchFamily="18" charset="0"/>
                      </a:rPr>
                      <m:t>𝑋</m:t>
                    </m:r>
                    <m:r>
                      <a:rPr lang="hu-HU" sz="1800" i="1">
                        <a:latin typeface="Cambria Math" panose="02040503050406030204" pitchFamily="18" charset="0"/>
                        <a:ea typeface="Cambria Math" panose="02040503050406030204" pitchFamily="18" charset="0"/>
                      </a:rPr>
                      <m:t>→</m:t>
                    </m:r>
                    <m:r>
                      <a:rPr lang="hu-HU" sz="1800" i="1">
                        <a:latin typeface="Cambria Math" panose="02040503050406030204" pitchFamily="18" charset="0"/>
                      </a:rPr>
                      <m:t>𝑃𝐷</m:t>
                    </m:r>
                    <m:d>
                      <m:dPr>
                        <m:ctrlPr>
                          <a:rPr lang="hu-HU" sz="1800" i="1">
                            <a:latin typeface="Cambria Math" panose="02040503050406030204" pitchFamily="18" charset="0"/>
                          </a:rPr>
                        </m:ctrlPr>
                      </m:dPr>
                      <m:e>
                        <m:sSub>
                          <m:sSubPr>
                            <m:ctrlPr>
                              <a:rPr lang="hu-HU" sz="1800" i="1">
                                <a:latin typeface="Cambria Math" panose="02040503050406030204" pitchFamily="18" charset="0"/>
                              </a:rPr>
                            </m:ctrlPr>
                          </m:sSubPr>
                          <m:e>
                            <m:r>
                              <a:rPr lang="hu-HU" sz="1800" i="1">
                                <a:latin typeface="Cambria Math" panose="02040503050406030204" pitchFamily="18" charset="0"/>
                              </a:rPr>
                              <m:t>𝑋</m:t>
                            </m:r>
                          </m:e>
                          <m:sub>
                            <m:r>
                              <a:rPr lang="hu-HU" sz="1800" i="1">
                                <a:latin typeface="Cambria Math" panose="02040503050406030204" pitchFamily="18" charset="0"/>
                              </a:rPr>
                              <m:t>𝑞</m:t>
                            </m:r>
                          </m:sub>
                        </m:sSub>
                      </m:e>
                    </m:d>
                    <m:r>
                      <a:rPr lang="hu-HU" sz="1800" i="1">
                        <a:latin typeface="Cambria Math" panose="02040503050406030204" pitchFamily="18" charset="0"/>
                      </a:rPr>
                      <m:t>∙</m:t>
                    </m:r>
                    <m:acc>
                      <m:accPr>
                        <m:chr m:val="̅"/>
                        <m:ctrlPr>
                          <a:rPr lang="hu-HU" sz="1800" i="1">
                            <a:latin typeface="Cambria Math" panose="02040503050406030204" pitchFamily="18" charset="0"/>
                          </a:rPr>
                        </m:ctrlPr>
                      </m:accPr>
                      <m:e>
                        <m:r>
                          <a:rPr lang="hu-HU" sz="1800" i="1">
                            <a:latin typeface="Cambria Math" panose="02040503050406030204" pitchFamily="18" charset="0"/>
                          </a:rPr>
                          <m:t>𝐿𝐺𝐷</m:t>
                        </m:r>
                      </m:e>
                    </m:acc>
                    <m:r>
                      <a:rPr lang="hu-HU" sz="1800" i="1">
                        <a:latin typeface="Cambria Math" panose="02040503050406030204" pitchFamily="18" charset="0"/>
                      </a:rPr>
                      <m:t>∙</m:t>
                    </m:r>
                    <m:acc>
                      <m:accPr>
                        <m:chr m:val="̅"/>
                        <m:ctrlPr>
                          <a:rPr lang="hu-HU" sz="1800" i="1">
                            <a:latin typeface="Cambria Math" panose="02040503050406030204" pitchFamily="18" charset="0"/>
                          </a:rPr>
                        </m:ctrlPr>
                      </m:accPr>
                      <m:e>
                        <m:r>
                          <a:rPr lang="hu-HU" sz="1800" i="1">
                            <a:latin typeface="Cambria Math" panose="02040503050406030204" pitchFamily="18" charset="0"/>
                          </a:rPr>
                          <m:t>𝐸𝐴𝐷</m:t>
                        </m:r>
                      </m:e>
                    </m:acc>
                  </m:oMath>
                </a14:m>
                <a:endParaRPr lang="hu-HU" sz="1800" dirty="0"/>
              </a:p>
              <a:p>
                <a:endParaRPr lang="hu-HU" sz="1800" dirty="0"/>
              </a:p>
              <a:p>
                <a:endParaRPr lang="hu-HU" sz="1800" dirty="0"/>
              </a:p>
            </p:txBody>
          </p:sp>
        </mc:Choice>
        <mc:Fallback xmlns="">
          <p:sp>
            <p:nvSpPr>
              <p:cNvPr id="4" name="Szöveg helye 3"/>
              <p:cNvSpPr>
                <a:spLocks noGrp="1" noRot="1" noChangeAspect="1" noMove="1" noResize="1" noEditPoints="1" noAdjustHandles="1" noChangeArrowheads="1" noChangeShapeType="1" noTextEdit="1"/>
              </p:cNvSpPr>
              <p:nvPr>
                <p:ph type="body" sz="half" idx="2"/>
              </p:nvPr>
            </p:nvSpPr>
            <p:spPr>
              <a:xfrm>
                <a:off x="1981200" y="2977403"/>
                <a:ext cx="8147248" cy="2258831"/>
              </a:xfrm>
              <a:blipFill>
                <a:blip r:embed="rId2"/>
                <a:stretch>
                  <a:fillRect l="-599" t="-2426"/>
                </a:stretch>
              </a:blipFill>
            </p:spPr>
            <p:txBody>
              <a:bodyPr/>
              <a:lstStyle/>
              <a:p>
                <a:r>
                  <a:rPr lang="en-GB">
                    <a:noFill/>
                  </a:rPr>
                  <a:t> </a:t>
                </a:r>
              </a:p>
            </p:txBody>
          </p:sp>
        </mc:Fallback>
      </mc:AlternateContent>
      <p:graphicFrame>
        <p:nvGraphicFramePr>
          <p:cNvPr id="5" name="Object 5"/>
          <p:cNvGraphicFramePr>
            <a:graphicFrameLocks noChangeAspect="1"/>
          </p:cNvGraphicFramePr>
          <p:nvPr>
            <p:extLst>
              <p:ext uri="{D42A27DB-BD31-4B8C-83A1-F6EECF244321}">
                <p14:modId xmlns:p14="http://schemas.microsoft.com/office/powerpoint/2010/main" val="1831050374"/>
              </p:ext>
            </p:extLst>
          </p:nvPr>
        </p:nvGraphicFramePr>
        <p:xfrm>
          <a:off x="4295801" y="2268612"/>
          <a:ext cx="1798637" cy="500063"/>
        </p:xfrm>
        <a:graphic>
          <a:graphicData uri="http://schemas.openxmlformats.org/presentationml/2006/ole">
            <mc:AlternateContent xmlns:mc="http://schemas.openxmlformats.org/markup-compatibility/2006">
              <mc:Choice xmlns:v="urn:schemas-microsoft-com:vml" Requires="v">
                <p:oleObj name="Equation" r:id="rId3" imgW="914400" imgH="254000" progId="Equation.3">
                  <p:embed/>
                </p:oleObj>
              </mc:Choice>
              <mc:Fallback>
                <p:oleObj name="Equation" r:id="rId3" imgW="914400" imgH="254000" progId="Equation.3">
                  <p:embed/>
                  <p:pic>
                    <p:nvPicPr>
                      <p:cNvPr id="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5801" y="2268612"/>
                        <a:ext cx="1798637"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8" name="Téglalap 7"/>
              <p:cNvSpPr/>
              <p:nvPr/>
            </p:nvSpPr>
            <p:spPr>
              <a:xfrm>
                <a:off x="3646677" y="3893727"/>
                <a:ext cx="3096883" cy="51661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hu-HU" sz="2400" i="1">
                          <a:latin typeface="Cambria Math" panose="02040503050406030204" pitchFamily="18" charset="0"/>
                        </a:rPr>
                        <m:t>𝐸</m:t>
                      </m:r>
                      <m:d>
                        <m:dPr>
                          <m:begChr m:val="["/>
                          <m:endChr m:val="]"/>
                          <m:ctrlPr>
                            <a:rPr lang="hu-HU" sz="2400" i="1">
                              <a:latin typeface="Cambria Math" panose="02040503050406030204" pitchFamily="18" charset="0"/>
                            </a:rPr>
                          </m:ctrlPr>
                        </m:dPr>
                        <m:e>
                          <m:sSub>
                            <m:sSubPr>
                              <m:ctrlPr>
                                <a:rPr lang="hu-HU" sz="2400" i="1">
                                  <a:latin typeface="Cambria Math" panose="02040503050406030204" pitchFamily="18" charset="0"/>
                                </a:rPr>
                              </m:ctrlPr>
                            </m:sSubPr>
                            <m:e>
                              <m:r>
                                <a:rPr lang="hu-HU" sz="2400" i="1">
                                  <a:latin typeface="Cambria Math" panose="02040503050406030204" pitchFamily="18" charset="0"/>
                                </a:rPr>
                                <m:t>𝐿</m:t>
                              </m:r>
                            </m:e>
                            <m:sub>
                              <m:r>
                                <a:rPr lang="hu-HU" sz="2400" i="1">
                                  <a:latin typeface="Cambria Math" panose="02040503050406030204" pitchFamily="18" charset="0"/>
                                </a:rPr>
                                <m:t>𝑞</m:t>
                              </m:r>
                            </m:sub>
                          </m:sSub>
                          <m:r>
                            <a:rPr lang="hu-HU" sz="2400">
                              <a:latin typeface="Cambria Math" panose="02040503050406030204" pitchFamily="18" charset="0"/>
                            </a:rPr>
                            <m:t>|</m:t>
                          </m:r>
                          <m:r>
                            <a:rPr lang="hu-HU" sz="2400" i="1">
                              <a:latin typeface="Cambria Math" panose="02040503050406030204" pitchFamily="18" charset="0"/>
                            </a:rPr>
                            <m:t>𝑋</m:t>
                          </m:r>
                        </m:e>
                      </m:d>
                      <m:r>
                        <a:rPr lang="hu-HU" sz="2400">
                          <a:latin typeface="Cambria Math" panose="02040503050406030204" pitchFamily="18" charset="0"/>
                        </a:rPr>
                        <m:t>=</m:t>
                      </m:r>
                      <m:r>
                        <a:rPr lang="hu-HU" sz="2400" i="1">
                          <a:latin typeface="Cambria Math" panose="02040503050406030204" pitchFamily="18" charset="0"/>
                        </a:rPr>
                        <m:t>𝐸</m:t>
                      </m:r>
                      <m:d>
                        <m:dPr>
                          <m:begChr m:val="["/>
                          <m:endChr m:val="]"/>
                          <m:ctrlPr>
                            <a:rPr lang="hu-HU" sz="2400" i="1">
                              <a:latin typeface="Cambria Math" panose="02040503050406030204" pitchFamily="18" charset="0"/>
                            </a:rPr>
                          </m:ctrlPr>
                        </m:dPr>
                        <m:e>
                          <m:r>
                            <a:rPr lang="hu-HU" sz="2400" i="1">
                              <a:latin typeface="Cambria Math" panose="02040503050406030204" pitchFamily="18" charset="0"/>
                            </a:rPr>
                            <m:t>𝐿</m:t>
                          </m:r>
                          <m:r>
                            <a:rPr lang="hu-HU" sz="2400">
                              <a:latin typeface="Cambria Math" panose="02040503050406030204" pitchFamily="18" charset="0"/>
                            </a:rPr>
                            <m:t>|</m:t>
                          </m:r>
                          <m:sSub>
                            <m:sSubPr>
                              <m:ctrlPr>
                                <a:rPr lang="hu-HU" sz="2400" i="1">
                                  <a:latin typeface="Cambria Math" panose="02040503050406030204" pitchFamily="18" charset="0"/>
                                </a:rPr>
                              </m:ctrlPr>
                            </m:sSubPr>
                            <m:e>
                              <m:r>
                                <a:rPr lang="hu-HU" sz="2400" i="1">
                                  <a:latin typeface="Cambria Math" panose="02040503050406030204" pitchFamily="18" charset="0"/>
                                </a:rPr>
                                <m:t>𝑋</m:t>
                              </m:r>
                            </m:e>
                            <m:sub>
                              <m:r>
                                <a:rPr lang="hu-HU" sz="2400" i="1">
                                  <a:latin typeface="Cambria Math" panose="02040503050406030204" pitchFamily="18" charset="0"/>
                                </a:rPr>
                                <m:t>𝑞</m:t>
                              </m:r>
                            </m:sub>
                          </m:sSub>
                        </m:e>
                      </m:d>
                    </m:oMath>
                  </m:oMathPara>
                </a14:m>
                <a:endParaRPr lang="hu-HU" sz="2400" dirty="0"/>
              </a:p>
            </p:txBody>
          </p:sp>
        </mc:Choice>
        <mc:Fallback xmlns="">
          <p:sp>
            <p:nvSpPr>
              <p:cNvPr id="8" name="Téglalap 7"/>
              <p:cNvSpPr>
                <a:spLocks noRot="1" noChangeAspect="1" noMove="1" noResize="1" noEditPoints="1" noAdjustHandles="1" noChangeArrowheads="1" noChangeShapeType="1" noTextEdit="1"/>
              </p:cNvSpPr>
              <p:nvPr/>
            </p:nvSpPr>
            <p:spPr>
              <a:xfrm>
                <a:off x="3646677" y="3893727"/>
                <a:ext cx="3096883" cy="516616"/>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0120326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altLang="hu-HU" sz="3200" dirty="0"/>
              <a:t>CRR </a:t>
            </a:r>
            <a:r>
              <a:rPr lang="hu-HU" altLang="hu-HU" sz="3200" dirty="0" err="1"/>
              <a:t>specification</a:t>
            </a:r>
            <a:endParaRPr lang="hu-HU" sz="3200" dirty="0"/>
          </a:p>
        </p:txBody>
      </p:sp>
      <mc:AlternateContent xmlns:mc="http://schemas.openxmlformats.org/markup-compatibility/2006" xmlns:a14="http://schemas.microsoft.com/office/drawing/2010/main">
        <mc:Choice Requires="a14">
          <p:sp>
            <p:nvSpPr>
              <p:cNvPr id="3" name="Tartalom helye 2"/>
              <p:cNvSpPr>
                <a:spLocks noGrp="1"/>
              </p:cNvSpPr>
              <p:nvPr>
                <p:ph sz="half" idx="1"/>
              </p:nvPr>
            </p:nvSpPr>
            <p:spPr>
              <a:xfrm>
                <a:off x="1981200" y="1600200"/>
                <a:ext cx="7499176" cy="5257800"/>
              </a:xfrm>
            </p:spPr>
            <p:txBody>
              <a:bodyPr/>
              <a:lstStyle/>
              <a:p>
                <a:pPr marL="0" indent="0">
                  <a:buNone/>
                </a:pPr>
                <a14:m>
                  <m:oMathPara xmlns:m="http://schemas.openxmlformats.org/officeDocument/2006/math">
                    <m:oMathParaPr>
                      <m:jc m:val="left"/>
                    </m:oMathParaPr>
                    <m:oMath xmlns:m="http://schemas.openxmlformats.org/officeDocument/2006/math">
                      <m:sSub>
                        <m:sSubPr>
                          <m:ctrlPr>
                            <a:rPr lang="hu-HU" sz="2000" i="1">
                              <a:latin typeface="Cambria Math" panose="02040503050406030204" pitchFamily="18" charset="0"/>
                            </a:rPr>
                          </m:ctrlPr>
                        </m:sSubPr>
                        <m:e>
                          <m:r>
                            <a:rPr lang="hu-HU" sz="2000" i="1">
                              <a:latin typeface="Cambria Math" panose="02040503050406030204" pitchFamily="18" charset="0"/>
                            </a:rPr>
                            <m:t>𝐴</m:t>
                          </m:r>
                        </m:e>
                        <m:sub>
                          <m:r>
                            <a:rPr lang="hu-HU" sz="2000" i="1">
                              <a:latin typeface="Cambria Math" panose="02040503050406030204" pitchFamily="18" charset="0"/>
                            </a:rPr>
                            <m:t>𝑡</m:t>
                          </m:r>
                        </m:sub>
                      </m:sSub>
                      <m:r>
                        <a:rPr lang="hu-HU" sz="2000" i="1">
                          <a:latin typeface="Cambria Math" panose="02040503050406030204" pitchFamily="18" charset="0"/>
                        </a:rPr>
                        <m:t>=</m:t>
                      </m:r>
                      <m:rad>
                        <m:radPr>
                          <m:degHide m:val="on"/>
                          <m:ctrlPr>
                            <a:rPr lang="hu-HU" sz="2000" i="1">
                              <a:latin typeface="Cambria Math" panose="02040503050406030204" pitchFamily="18" charset="0"/>
                            </a:rPr>
                          </m:ctrlPr>
                        </m:radPr>
                        <m:deg/>
                        <m:e>
                          <m:r>
                            <a:rPr lang="hu-HU" sz="2000" i="1">
                              <a:latin typeface="Cambria Math" panose="02040503050406030204" pitchFamily="18" charset="0"/>
                              <a:ea typeface="Cambria Math" panose="02040503050406030204" pitchFamily="18" charset="0"/>
                            </a:rPr>
                            <m:t>𝜌</m:t>
                          </m:r>
                        </m:e>
                      </m:rad>
                      <m:r>
                        <a:rPr lang="hu-HU" sz="2000" i="1">
                          <a:latin typeface="Cambria Math" panose="02040503050406030204" pitchFamily="18" charset="0"/>
                          <a:ea typeface="Cambria Math" panose="02040503050406030204" pitchFamily="18" charset="0"/>
                        </a:rPr>
                        <m:t>∙</m:t>
                      </m:r>
                      <m:r>
                        <a:rPr lang="hu-HU" sz="2000" i="1">
                          <a:latin typeface="Cambria Math" panose="02040503050406030204" pitchFamily="18" charset="0"/>
                          <a:ea typeface="Cambria Math" panose="02040503050406030204" pitchFamily="18" charset="0"/>
                        </a:rPr>
                        <m:t>𝑥</m:t>
                      </m:r>
                      <m:r>
                        <a:rPr lang="hu-HU" sz="2000" i="1">
                          <a:latin typeface="Cambria Math" panose="02040503050406030204" pitchFamily="18" charset="0"/>
                          <a:ea typeface="Cambria Math" panose="02040503050406030204" pitchFamily="18" charset="0"/>
                        </a:rPr>
                        <m:t>+</m:t>
                      </m:r>
                      <m:rad>
                        <m:radPr>
                          <m:degHide m:val="on"/>
                          <m:ctrlPr>
                            <a:rPr lang="hu-HU" sz="2000" i="1">
                              <a:latin typeface="Cambria Math" panose="02040503050406030204" pitchFamily="18" charset="0"/>
                              <a:ea typeface="Cambria Math" panose="02040503050406030204" pitchFamily="18" charset="0"/>
                            </a:rPr>
                          </m:ctrlPr>
                        </m:radPr>
                        <m:deg/>
                        <m:e>
                          <m:r>
                            <a:rPr lang="hu-HU" sz="2000" i="1">
                              <a:latin typeface="Cambria Math" panose="02040503050406030204" pitchFamily="18" charset="0"/>
                              <a:ea typeface="Cambria Math" panose="02040503050406030204" pitchFamily="18" charset="0"/>
                            </a:rPr>
                            <m:t>1−</m:t>
                          </m:r>
                          <m:r>
                            <a:rPr lang="hu-HU" sz="2000" i="1">
                              <a:latin typeface="Cambria Math" panose="02040503050406030204" pitchFamily="18" charset="0"/>
                              <a:ea typeface="Cambria Math" panose="02040503050406030204" pitchFamily="18" charset="0"/>
                            </a:rPr>
                            <m:t>𝜌</m:t>
                          </m:r>
                        </m:e>
                      </m:rad>
                      <m:r>
                        <a:rPr lang="hu-HU" sz="2000" i="1">
                          <a:latin typeface="Cambria Math" panose="02040503050406030204" pitchFamily="18" charset="0"/>
                          <a:ea typeface="Cambria Math" panose="02040503050406030204" pitchFamily="18" charset="0"/>
                        </a:rPr>
                        <m:t>∙</m:t>
                      </m:r>
                      <m:sSub>
                        <m:sSubPr>
                          <m:ctrlPr>
                            <a:rPr lang="hu-HU" sz="2000" i="1">
                              <a:latin typeface="Cambria Math" panose="02040503050406030204" pitchFamily="18" charset="0"/>
                              <a:ea typeface="Cambria Math" panose="02040503050406030204" pitchFamily="18" charset="0"/>
                            </a:rPr>
                          </m:ctrlPr>
                        </m:sSubPr>
                        <m:e>
                          <m:r>
                            <a:rPr lang="hu-HU" sz="2000" i="1">
                              <a:latin typeface="Cambria Math" panose="02040503050406030204" pitchFamily="18" charset="0"/>
                              <a:ea typeface="Cambria Math" panose="02040503050406030204" pitchFamily="18" charset="0"/>
                            </a:rPr>
                            <m:t>𝜀</m:t>
                          </m:r>
                        </m:e>
                        <m:sub>
                          <m:r>
                            <a:rPr lang="hu-HU" sz="2000" i="1">
                              <a:latin typeface="Cambria Math" panose="02040503050406030204" pitchFamily="18" charset="0"/>
                              <a:ea typeface="Cambria Math" panose="02040503050406030204" pitchFamily="18" charset="0"/>
                            </a:rPr>
                            <m:t>𝑖</m:t>
                          </m:r>
                        </m:sub>
                      </m:sSub>
                    </m:oMath>
                  </m:oMathPara>
                </a14:m>
                <a:endParaRPr lang="hu-HU" sz="200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hu-HU" sz="2000" i="1">
                              <a:latin typeface="Cambria Math" panose="02040503050406030204" pitchFamily="18" charset="0"/>
                            </a:rPr>
                          </m:ctrlPr>
                        </m:sSubPr>
                        <m:e>
                          <m:r>
                            <a:rPr lang="hu-HU" sz="2000" i="1">
                              <a:latin typeface="Cambria Math" panose="02040503050406030204" pitchFamily="18" charset="0"/>
                            </a:rPr>
                            <m:t>𝑃𝐷</m:t>
                          </m:r>
                        </m:e>
                        <m:sub>
                          <m:r>
                            <a:rPr lang="hu-HU" sz="2000" i="1">
                              <a:latin typeface="Cambria Math" panose="02040503050406030204" pitchFamily="18" charset="0"/>
                            </a:rPr>
                            <m:t>𝑖</m:t>
                          </m:r>
                        </m:sub>
                      </m:sSub>
                      <m:r>
                        <a:rPr lang="hu-HU" sz="2000" i="1">
                          <a:latin typeface="Cambria Math" panose="02040503050406030204" pitchFamily="18" charset="0"/>
                        </a:rPr>
                        <m:t>=</m:t>
                      </m:r>
                      <m:r>
                        <a:rPr lang="hu-HU" sz="2000" i="1">
                          <a:latin typeface="Cambria Math" panose="02040503050406030204" pitchFamily="18" charset="0"/>
                        </a:rPr>
                        <m:t>𝑃𝑟</m:t>
                      </m:r>
                      <m:d>
                        <m:dPr>
                          <m:ctrlPr>
                            <a:rPr lang="hu-HU" sz="2000" i="1">
                              <a:latin typeface="Cambria Math" panose="02040503050406030204" pitchFamily="18" charset="0"/>
                            </a:rPr>
                          </m:ctrlPr>
                        </m:dPr>
                        <m:e>
                          <m:sSub>
                            <m:sSubPr>
                              <m:ctrlPr>
                                <a:rPr lang="hu-HU" sz="2000" i="1">
                                  <a:latin typeface="Cambria Math" panose="02040503050406030204" pitchFamily="18" charset="0"/>
                                </a:rPr>
                              </m:ctrlPr>
                            </m:sSubPr>
                            <m:e>
                              <m:r>
                                <a:rPr lang="hu-HU" sz="2000" i="1">
                                  <a:latin typeface="Cambria Math" panose="02040503050406030204" pitchFamily="18" charset="0"/>
                                </a:rPr>
                                <m:t>𝐴</m:t>
                              </m:r>
                            </m:e>
                            <m:sub>
                              <m:r>
                                <a:rPr lang="hu-HU" sz="2000" i="1">
                                  <a:latin typeface="Cambria Math" panose="02040503050406030204" pitchFamily="18" charset="0"/>
                                </a:rPr>
                                <m:t>𝑖</m:t>
                              </m:r>
                            </m:sub>
                          </m:sSub>
                          <m:r>
                            <a:rPr lang="hu-HU" sz="2000" i="1">
                              <a:latin typeface="Cambria Math" panose="02040503050406030204" pitchFamily="18" charset="0"/>
                              <a:ea typeface="Cambria Math" panose="02040503050406030204" pitchFamily="18" charset="0"/>
                            </a:rPr>
                            <m:t>&lt;</m:t>
                          </m:r>
                          <m:sSub>
                            <m:sSubPr>
                              <m:ctrlPr>
                                <a:rPr lang="hu-HU" sz="2000" i="1">
                                  <a:latin typeface="Cambria Math" panose="02040503050406030204" pitchFamily="18" charset="0"/>
                                  <a:ea typeface="Cambria Math" panose="02040503050406030204" pitchFamily="18" charset="0"/>
                                </a:rPr>
                              </m:ctrlPr>
                            </m:sSubPr>
                            <m:e>
                              <m:r>
                                <a:rPr lang="hu-HU" sz="2000" i="1">
                                  <a:latin typeface="Cambria Math" panose="02040503050406030204" pitchFamily="18" charset="0"/>
                                  <a:ea typeface="Cambria Math" panose="02040503050406030204" pitchFamily="18" charset="0"/>
                                </a:rPr>
                                <m:t>𝐷</m:t>
                              </m:r>
                            </m:e>
                            <m:sub>
                              <m:r>
                                <a:rPr lang="hu-HU" sz="2000" i="1">
                                  <a:latin typeface="Cambria Math" panose="02040503050406030204" pitchFamily="18" charset="0"/>
                                  <a:ea typeface="Cambria Math" panose="02040503050406030204" pitchFamily="18" charset="0"/>
                                </a:rPr>
                                <m:t>𝑖</m:t>
                              </m:r>
                            </m:sub>
                          </m:sSub>
                        </m:e>
                      </m:d>
                      <m:r>
                        <a:rPr lang="hu-HU" sz="2000" i="1">
                          <a:latin typeface="Cambria Math" panose="02040503050406030204" pitchFamily="18" charset="0"/>
                        </a:rPr>
                        <m:t>=</m:t>
                      </m:r>
                      <m:r>
                        <a:rPr lang="hu-HU" sz="2000" i="1">
                          <a:latin typeface="Cambria Math" panose="02040503050406030204" pitchFamily="18" charset="0"/>
                        </a:rPr>
                        <m:t>𝑁</m:t>
                      </m:r>
                      <m:d>
                        <m:dPr>
                          <m:ctrlPr>
                            <a:rPr lang="hu-HU" sz="2000" i="1">
                              <a:latin typeface="Cambria Math" panose="02040503050406030204" pitchFamily="18" charset="0"/>
                            </a:rPr>
                          </m:ctrlPr>
                        </m:dPr>
                        <m:e>
                          <m:sSub>
                            <m:sSubPr>
                              <m:ctrlPr>
                                <a:rPr lang="hu-HU" sz="2000" i="1">
                                  <a:latin typeface="Cambria Math" panose="02040503050406030204" pitchFamily="18" charset="0"/>
                                </a:rPr>
                              </m:ctrlPr>
                            </m:sSubPr>
                            <m:e>
                              <m:r>
                                <a:rPr lang="hu-HU" sz="2000" i="1">
                                  <a:latin typeface="Cambria Math" panose="02040503050406030204" pitchFamily="18" charset="0"/>
                                </a:rPr>
                                <m:t>𝐷</m:t>
                              </m:r>
                            </m:e>
                            <m:sub>
                              <m:r>
                                <a:rPr lang="hu-HU" sz="2000" i="1">
                                  <a:latin typeface="Cambria Math" panose="02040503050406030204" pitchFamily="18" charset="0"/>
                                </a:rPr>
                                <m:t>𝑖</m:t>
                              </m:r>
                            </m:sub>
                          </m:sSub>
                        </m:e>
                      </m:d>
                      <m:r>
                        <a:rPr lang="hu-HU" sz="2000" i="1">
                          <a:latin typeface="Cambria Math" panose="02040503050406030204" pitchFamily="18" charset="0"/>
                          <a:ea typeface="Cambria Math" panose="02040503050406030204" pitchFamily="18" charset="0"/>
                        </a:rPr>
                        <m:t>→</m:t>
                      </m:r>
                      <m:sSub>
                        <m:sSubPr>
                          <m:ctrlPr>
                            <a:rPr lang="hu-HU" sz="2000" i="1">
                              <a:latin typeface="Cambria Math" panose="02040503050406030204" pitchFamily="18" charset="0"/>
                              <a:ea typeface="Cambria Math" panose="02040503050406030204" pitchFamily="18" charset="0"/>
                            </a:rPr>
                          </m:ctrlPr>
                        </m:sSubPr>
                        <m:e>
                          <m:r>
                            <a:rPr lang="hu-HU" sz="2000" i="1">
                              <a:latin typeface="Cambria Math" panose="02040503050406030204" pitchFamily="18" charset="0"/>
                              <a:ea typeface="Cambria Math" panose="02040503050406030204" pitchFamily="18" charset="0"/>
                            </a:rPr>
                            <m:t>𝐷</m:t>
                          </m:r>
                        </m:e>
                        <m:sub>
                          <m:r>
                            <a:rPr lang="hu-HU" sz="2000" i="1">
                              <a:latin typeface="Cambria Math" panose="02040503050406030204" pitchFamily="18" charset="0"/>
                              <a:ea typeface="Cambria Math" panose="02040503050406030204" pitchFamily="18" charset="0"/>
                            </a:rPr>
                            <m:t>𝑖</m:t>
                          </m:r>
                        </m:sub>
                      </m:sSub>
                      <m:r>
                        <a:rPr lang="hu-HU" sz="2000" i="1">
                          <a:latin typeface="Cambria Math" panose="02040503050406030204" pitchFamily="18" charset="0"/>
                          <a:ea typeface="Cambria Math" panose="02040503050406030204" pitchFamily="18" charset="0"/>
                        </a:rPr>
                        <m:t>=</m:t>
                      </m:r>
                      <m:sSup>
                        <m:sSupPr>
                          <m:ctrlPr>
                            <a:rPr lang="hu-HU" sz="2000" i="1">
                              <a:latin typeface="Cambria Math" panose="02040503050406030204" pitchFamily="18" charset="0"/>
                              <a:ea typeface="Cambria Math" panose="02040503050406030204" pitchFamily="18" charset="0"/>
                            </a:rPr>
                          </m:ctrlPr>
                        </m:sSupPr>
                        <m:e>
                          <m:r>
                            <a:rPr lang="hu-HU" sz="2000" i="1">
                              <a:latin typeface="Cambria Math" panose="02040503050406030204" pitchFamily="18" charset="0"/>
                              <a:ea typeface="Cambria Math" panose="02040503050406030204" pitchFamily="18" charset="0"/>
                            </a:rPr>
                            <m:t>𝑁</m:t>
                          </m:r>
                        </m:e>
                        <m:sup>
                          <m:r>
                            <a:rPr lang="hu-HU" sz="2000" i="1">
                              <a:latin typeface="Cambria Math" panose="02040503050406030204" pitchFamily="18" charset="0"/>
                              <a:ea typeface="Cambria Math" panose="02040503050406030204" pitchFamily="18" charset="0"/>
                            </a:rPr>
                            <m:t>−1</m:t>
                          </m:r>
                        </m:sup>
                      </m:sSup>
                      <m:d>
                        <m:dPr>
                          <m:ctrlPr>
                            <a:rPr lang="hu-HU" sz="2000" i="1">
                              <a:latin typeface="Cambria Math" panose="02040503050406030204" pitchFamily="18" charset="0"/>
                              <a:ea typeface="Cambria Math" panose="02040503050406030204" pitchFamily="18" charset="0"/>
                            </a:rPr>
                          </m:ctrlPr>
                        </m:dPr>
                        <m:e>
                          <m:sSub>
                            <m:sSubPr>
                              <m:ctrlPr>
                                <a:rPr lang="hu-HU" sz="2000" i="1">
                                  <a:latin typeface="Cambria Math" panose="02040503050406030204" pitchFamily="18" charset="0"/>
                                </a:rPr>
                              </m:ctrlPr>
                            </m:sSubPr>
                            <m:e>
                              <m:r>
                                <a:rPr lang="hu-HU" sz="2000" i="1">
                                  <a:latin typeface="Cambria Math" panose="02040503050406030204" pitchFamily="18" charset="0"/>
                                </a:rPr>
                                <m:t>𝑃𝐷</m:t>
                              </m:r>
                            </m:e>
                            <m:sub>
                              <m:r>
                                <a:rPr lang="hu-HU" sz="2000" i="1">
                                  <a:latin typeface="Cambria Math" panose="02040503050406030204" pitchFamily="18" charset="0"/>
                                </a:rPr>
                                <m:t>𝑖</m:t>
                              </m:r>
                            </m:sub>
                          </m:sSub>
                        </m:e>
                      </m:d>
                    </m:oMath>
                  </m:oMathPara>
                </a14:m>
                <a:endParaRPr lang="hu-HU" sz="200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hu-HU" sz="2000" i="1">
                              <a:latin typeface="Cambria Math" panose="02040503050406030204" pitchFamily="18" charset="0"/>
                            </a:rPr>
                          </m:ctrlPr>
                        </m:sSubPr>
                        <m:e>
                          <m:r>
                            <a:rPr lang="hu-HU" sz="2000" i="1">
                              <a:latin typeface="Cambria Math" panose="02040503050406030204" pitchFamily="18" charset="0"/>
                            </a:rPr>
                            <m:t>𝑃𝐷</m:t>
                          </m:r>
                        </m:e>
                        <m:sub>
                          <m:r>
                            <a:rPr lang="hu-HU" sz="2000" i="1">
                              <a:latin typeface="Cambria Math" panose="02040503050406030204" pitchFamily="18" charset="0"/>
                            </a:rPr>
                            <m:t>𝑖</m:t>
                          </m:r>
                        </m:sub>
                      </m:sSub>
                      <m:d>
                        <m:dPr>
                          <m:ctrlPr>
                            <a:rPr lang="hu-HU" sz="2000" i="1">
                              <a:latin typeface="Cambria Math" panose="02040503050406030204" pitchFamily="18" charset="0"/>
                            </a:rPr>
                          </m:ctrlPr>
                        </m:dPr>
                        <m:e>
                          <m:r>
                            <a:rPr lang="hu-HU" sz="2000" i="1">
                              <a:latin typeface="Cambria Math" panose="02040503050406030204" pitchFamily="18" charset="0"/>
                            </a:rPr>
                            <m:t>𝑥</m:t>
                          </m:r>
                        </m:e>
                      </m:d>
                      <m:r>
                        <a:rPr lang="hu-HU" sz="2000" i="1">
                          <a:latin typeface="Cambria Math" panose="02040503050406030204" pitchFamily="18" charset="0"/>
                        </a:rPr>
                        <m:t>=</m:t>
                      </m:r>
                      <m:r>
                        <a:rPr lang="hu-HU" sz="2000" i="1">
                          <a:latin typeface="Cambria Math" panose="02040503050406030204" pitchFamily="18" charset="0"/>
                        </a:rPr>
                        <m:t>𝑃𝑟</m:t>
                      </m:r>
                      <m:d>
                        <m:dPr>
                          <m:ctrlPr>
                            <a:rPr lang="hu-HU" sz="2000" i="1">
                              <a:latin typeface="Cambria Math" panose="02040503050406030204" pitchFamily="18" charset="0"/>
                            </a:rPr>
                          </m:ctrlPr>
                        </m:dPr>
                        <m:e>
                          <m:sSub>
                            <m:sSubPr>
                              <m:ctrlPr>
                                <a:rPr lang="hu-HU" sz="2000" i="1">
                                  <a:latin typeface="Cambria Math" panose="02040503050406030204" pitchFamily="18" charset="0"/>
                                </a:rPr>
                              </m:ctrlPr>
                            </m:sSubPr>
                            <m:e>
                              <m:r>
                                <a:rPr lang="hu-HU" sz="2000" i="1">
                                  <a:latin typeface="Cambria Math" panose="02040503050406030204" pitchFamily="18" charset="0"/>
                                </a:rPr>
                                <m:t>𝐴</m:t>
                              </m:r>
                            </m:e>
                            <m:sub>
                              <m:r>
                                <a:rPr lang="hu-HU" sz="2000" i="1">
                                  <a:latin typeface="Cambria Math" panose="02040503050406030204" pitchFamily="18" charset="0"/>
                                </a:rPr>
                                <m:t>𝑖</m:t>
                              </m:r>
                            </m:sub>
                          </m:sSub>
                          <m:r>
                            <a:rPr lang="hu-HU" sz="2000" i="1">
                              <a:latin typeface="Cambria Math" panose="02040503050406030204" pitchFamily="18" charset="0"/>
                              <a:ea typeface="Cambria Math" panose="02040503050406030204" pitchFamily="18" charset="0"/>
                            </a:rPr>
                            <m:t>&lt;</m:t>
                          </m:r>
                          <m:sSub>
                            <m:sSubPr>
                              <m:ctrlPr>
                                <a:rPr lang="hu-HU" sz="2000" i="1">
                                  <a:latin typeface="Cambria Math" panose="02040503050406030204" pitchFamily="18" charset="0"/>
                                  <a:ea typeface="Cambria Math" panose="02040503050406030204" pitchFamily="18" charset="0"/>
                                </a:rPr>
                              </m:ctrlPr>
                            </m:sSubPr>
                            <m:e>
                              <m:r>
                                <a:rPr lang="hu-HU" sz="2000" i="1">
                                  <a:latin typeface="Cambria Math" panose="02040503050406030204" pitchFamily="18" charset="0"/>
                                  <a:ea typeface="Cambria Math" panose="02040503050406030204" pitchFamily="18" charset="0"/>
                                </a:rPr>
                                <m:t>𝐷</m:t>
                              </m:r>
                            </m:e>
                            <m:sub>
                              <m:r>
                                <a:rPr lang="hu-HU" sz="2000" i="1">
                                  <a:latin typeface="Cambria Math" panose="02040503050406030204" pitchFamily="18" charset="0"/>
                                  <a:ea typeface="Cambria Math" panose="02040503050406030204" pitchFamily="18" charset="0"/>
                                </a:rPr>
                                <m:t>𝑖</m:t>
                              </m:r>
                            </m:sub>
                          </m:sSub>
                        </m:e>
                      </m:d>
                      <m:r>
                        <a:rPr lang="hu-HU" sz="2000">
                          <a:latin typeface="Cambria Math" panose="02040503050406030204" pitchFamily="18" charset="0"/>
                          <a:ea typeface="Cambria Math" panose="02040503050406030204" pitchFamily="18" charset="0"/>
                        </a:rPr>
                        <m:t>=</m:t>
                      </m:r>
                      <m:r>
                        <a:rPr lang="hu-HU" sz="2000" i="1">
                          <a:latin typeface="Cambria Math" panose="02040503050406030204" pitchFamily="18" charset="0"/>
                        </a:rPr>
                        <m:t>𝑃𝑟</m:t>
                      </m:r>
                      <m:d>
                        <m:dPr>
                          <m:ctrlPr>
                            <a:rPr lang="hu-HU" sz="2000" i="1">
                              <a:latin typeface="Cambria Math" panose="02040503050406030204" pitchFamily="18" charset="0"/>
                            </a:rPr>
                          </m:ctrlPr>
                        </m:dPr>
                        <m:e>
                          <m:sSub>
                            <m:sSubPr>
                              <m:ctrlPr>
                                <a:rPr lang="hu-HU" sz="2000" i="1">
                                  <a:latin typeface="Cambria Math" panose="02040503050406030204" pitchFamily="18" charset="0"/>
                                </a:rPr>
                              </m:ctrlPr>
                            </m:sSubPr>
                            <m:e>
                              <m:r>
                                <a:rPr lang="hu-HU" sz="2000" i="1">
                                  <a:latin typeface="Cambria Math" panose="02040503050406030204" pitchFamily="18" charset="0"/>
                                  <a:ea typeface="Cambria Math" panose="02040503050406030204" pitchFamily="18" charset="0"/>
                                </a:rPr>
                                <m:t>𝜀</m:t>
                              </m:r>
                            </m:e>
                            <m:sub>
                              <m:r>
                                <a:rPr lang="hu-HU" sz="2000" i="1">
                                  <a:latin typeface="Cambria Math" panose="02040503050406030204" pitchFamily="18" charset="0"/>
                                </a:rPr>
                                <m:t>𝑖</m:t>
                              </m:r>
                            </m:sub>
                          </m:sSub>
                          <m:r>
                            <a:rPr lang="hu-HU" sz="2000" i="1">
                              <a:latin typeface="Cambria Math" panose="02040503050406030204" pitchFamily="18" charset="0"/>
                              <a:ea typeface="Cambria Math" panose="02040503050406030204" pitchFamily="18" charset="0"/>
                            </a:rPr>
                            <m:t>&lt;</m:t>
                          </m:r>
                          <m:f>
                            <m:fPr>
                              <m:ctrlPr>
                                <a:rPr lang="hu-HU" sz="2000" i="1">
                                  <a:latin typeface="Cambria Math" panose="02040503050406030204" pitchFamily="18" charset="0"/>
                                  <a:ea typeface="Cambria Math" panose="02040503050406030204" pitchFamily="18" charset="0"/>
                                </a:rPr>
                              </m:ctrlPr>
                            </m:fPr>
                            <m:num>
                              <m:sSub>
                                <m:sSubPr>
                                  <m:ctrlPr>
                                    <a:rPr lang="hu-HU" sz="2000" i="1">
                                      <a:latin typeface="Cambria Math" panose="02040503050406030204" pitchFamily="18" charset="0"/>
                                      <a:ea typeface="Cambria Math" panose="02040503050406030204" pitchFamily="18" charset="0"/>
                                    </a:rPr>
                                  </m:ctrlPr>
                                </m:sSubPr>
                                <m:e>
                                  <m:r>
                                    <a:rPr lang="hu-HU" sz="2000" i="1">
                                      <a:latin typeface="Cambria Math" panose="02040503050406030204" pitchFamily="18" charset="0"/>
                                      <a:ea typeface="Cambria Math" panose="02040503050406030204" pitchFamily="18" charset="0"/>
                                    </a:rPr>
                                    <m:t>𝐷</m:t>
                                  </m:r>
                                </m:e>
                                <m:sub>
                                  <m:r>
                                    <a:rPr lang="hu-HU" sz="2000" i="1">
                                      <a:latin typeface="Cambria Math" panose="02040503050406030204" pitchFamily="18" charset="0"/>
                                      <a:ea typeface="Cambria Math" panose="02040503050406030204" pitchFamily="18" charset="0"/>
                                    </a:rPr>
                                    <m:t>𝑖</m:t>
                                  </m:r>
                                </m:sub>
                              </m:sSub>
                              <m:r>
                                <a:rPr lang="hu-HU" sz="2000" i="1">
                                  <a:latin typeface="Cambria Math" panose="02040503050406030204" pitchFamily="18" charset="0"/>
                                  <a:ea typeface="Cambria Math" panose="02040503050406030204" pitchFamily="18" charset="0"/>
                                </a:rPr>
                                <m:t>−</m:t>
                              </m:r>
                              <m:rad>
                                <m:radPr>
                                  <m:degHide m:val="on"/>
                                  <m:ctrlPr>
                                    <a:rPr lang="hu-HU" sz="2000" i="1">
                                      <a:latin typeface="Cambria Math" panose="02040503050406030204" pitchFamily="18" charset="0"/>
                                    </a:rPr>
                                  </m:ctrlPr>
                                </m:radPr>
                                <m:deg/>
                                <m:e>
                                  <m:r>
                                    <a:rPr lang="hu-HU" sz="2000" i="1">
                                      <a:latin typeface="Cambria Math" panose="02040503050406030204" pitchFamily="18" charset="0"/>
                                      <a:ea typeface="Cambria Math" panose="02040503050406030204" pitchFamily="18" charset="0"/>
                                    </a:rPr>
                                    <m:t>𝜌</m:t>
                                  </m:r>
                                </m:e>
                              </m:rad>
                              <m:r>
                                <a:rPr lang="hu-HU" sz="2000" i="1">
                                  <a:latin typeface="Cambria Math" panose="02040503050406030204" pitchFamily="18" charset="0"/>
                                  <a:ea typeface="Cambria Math" panose="02040503050406030204" pitchFamily="18" charset="0"/>
                                </a:rPr>
                                <m:t>∙</m:t>
                              </m:r>
                              <m:r>
                                <a:rPr lang="hu-HU" sz="2000" i="1">
                                  <a:latin typeface="Cambria Math" panose="02040503050406030204" pitchFamily="18" charset="0"/>
                                  <a:ea typeface="Cambria Math" panose="02040503050406030204" pitchFamily="18" charset="0"/>
                                </a:rPr>
                                <m:t>𝑥</m:t>
                              </m:r>
                            </m:num>
                            <m:den>
                              <m:rad>
                                <m:radPr>
                                  <m:degHide m:val="on"/>
                                  <m:ctrlPr>
                                    <a:rPr lang="hu-HU" sz="2000" i="1">
                                      <a:latin typeface="Cambria Math" panose="02040503050406030204" pitchFamily="18" charset="0"/>
                                      <a:ea typeface="Cambria Math" panose="02040503050406030204" pitchFamily="18" charset="0"/>
                                    </a:rPr>
                                  </m:ctrlPr>
                                </m:radPr>
                                <m:deg/>
                                <m:e>
                                  <m:r>
                                    <a:rPr lang="hu-HU" sz="2000" i="1">
                                      <a:latin typeface="Cambria Math" panose="02040503050406030204" pitchFamily="18" charset="0"/>
                                      <a:ea typeface="Cambria Math" panose="02040503050406030204" pitchFamily="18" charset="0"/>
                                    </a:rPr>
                                    <m:t>1−</m:t>
                                  </m:r>
                                  <m:r>
                                    <a:rPr lang="hu-HU" sz="2000" i="1">
                                      <a:latin typeface="Cambria Math" panose="02040503050406030204" pitchFamily="18" charset="0"/>
                                      <a:ea typeface="Cambria Math" panose="02040503050406030204" pitchFamily="18" charset="0"/>
                                    </a:rPr>
                                    <m:t>𝜌</m:t>
                                  </m:r>
                                </m:e>
                              </m:rad>
                            </m:den>
                          </m:f>
                        </m:e>
                      </m:d>
                      <m:r>
                        <a:rPr lang="hu-HU" sz="2000" i="1">
                          <a:latin typeface="Cambria Math" panose="02040503050406030204" pitchFamily="18" charset="0"/>
                          <a:ea typeface="Cambria Math" panose="02040503050406030204" pitchFamily="18" charset="0"/>
                        </a:rPr>
                        <m:t>=</m:t>
                      </m:r>
                      <m:r>
                        <a:rPr lang="hu-HU" sz="2000" i="1">
                          <a:latin typeface="Cambria Math" panose="02040503050406030204" pitchFamily="18" charset="0"/>
                          <a:ea typeface="Cambria Math" panose="02040503050406030204" pitchFamily="18" charset="0"/>
                        </a:rPr>
                        <m:t>𝑁</m:t>
                      </m:r>
                      <m:d>
                        <m:dPr>
                          <m:ctrlPr>
                            <a:rPr lang="hu-HU" sz="2000" i="1">
                              <a:latin typeface="Cambria Math" panose="02040503050406030204" pitchFamily="18" charset="0"/>
                              <a:ea typeface="Cambria Math" panose="02040503050406030204" pitchFamily="18" charset="0"/>
                            </a:rPr>
                          </m:ctrlPr>
                        </m:dPr>
                        <m:e>
                          <m:f>
                            <m:fPr>
                              <m:ctrlPr>
                                <a:rPr lang="hu-HU" sz="2000" i="1">
                                  <a:latin typeface="Cambria Math" panose="02040503050406030204" pitchFamily="18" charset="0"/>
                                  <a:ea typeface="Cambria Math" panose="02040503050406030204" pitchFamily="18" charset="0"/>
                                </a:rPr>
                              </m:ctrlPr>
                            </m:fPr>
                            <m:num>
                              <m:sSub>
                                <m:sSubPr>
                                  <m:ctrlPr>
                                    <a:rPr lang="hu-HU" sz="2000" i="1">
                                      <a:latin typeface="Cambria Math" panose="02040503050406030204" pitchFamily="18" charset="0"/>
                                      <a:ea typeface="Cambria Math" panose="02040503050406030204" pitchFamily="18" charset="0"/>
                                    </a:rPr>
                                  </m:ctrlPr>
                                </m:sSubPr>
                                <m:e>
                                  <m:r>
                                    <a:rPr lang="hu-HU" sz="2000" i="1">
                                      <a:latin typeface="Cambria Math" panose="02040503050406030204" pitchFamily="18" charset="0"/>
                                      <a:ea typeface="Cambria Math" panose="02040503050406030204" pitchFamily="18" charset="0"/>
                                    </a:rPr>
                                    <m:t>𝐷</m:t>
                                  </m:r>
                                </m:e>
                                <m:sub>
                                  <m:r>
                                    <a:rPr lang="hu-HU" sz="2000" i="1">
                                      <a:latin typeface="Cambria Math" panose="02040503050406030204" pitchFamily="18" charset="0"/>
                                      <a:ea typeface="Cambria Math" panose="02040503050406030204" pitchFamily="18" charset="0"/>
                                    </a:rPr>
                                    <m:t>𝑖</m:t>
                                  </m:r>
                                </m:sub>
                              </m:sSub>
                              <m:r>
                                <a:rPr lang="hu-HU" sz="2000" i="1">
                                  <a:latin typeface="Cambria Math" panose="02040503050406030204" pitchFamily="18" charset="0"/>
                                  <a:ea typeface="Cambria Math" panose="02040503050406030204" pitchFamily="18" charset="0"/>
                                </a:rPr>
                                <m:t>−</m:t>
                              </m:r>
                              <m:rad>
                                <m:radPr>
                                  <m:degHide m:val="on"/>
                                  <m:ctrlPr>
                                    <a:rPr lang="hu-HU" sz="2000" i="1">
                                      <a:latin typeface="Cambria Math" panose="02040503050406030204" pitchFamily="18" charset="0"/>
                                    </a:rPr>
                                  </m:ctrlPr>
                                </m:radPr>
                                <m:deg/>
                                <m:e>
                                  <m:r>
                                    <a:rPr lang="hu-HU" sz="2000" i="1">
                                      <a:latin typeface="Cambria Math" panose="02040503050406030204" pitchFamily="18" charset="0"/>
                                      <a:ea typeface="Cambria Math" panose="02040503050406030204" pitchFamily="18" charset="0"/>
                                    </a:rPr>
                                    <m:t>𝜌</m:t>
                                  </m:r>
                                </m:e>
                              </m:rad>
                              <m:r>
                                <a:rPr lang="hu-HU" sz="2000" i="1">
                                  <a:latin typeface="Cambria Math" panose="02040503050406030204" pitchFamily="18" charset="0"/>
                                  <a:ea typeface="Cambria Math" panose="02040503050406030204" pitchFamily="18" charset="0"/>
                                </a:rPr>
                                <m:t>∙</m:t>
                              </m:r>
                              <m:r>
                                <a:rPr lang="hu-HU" sz="2000" i="1">
                                  <a:latin typeface="Cambria Math" panose="02040503050406030204" pitchFamily="18" charset="0"/>
                                  <a:ea typeface="Cambria Math" panose="02040503050406030204" pitchFamily="18" charset="0"/>
                                </a:rPr>
                                <m:t>𝑥</m:t>
                              </m:r>
                            </m:num>
                            <m:den>
                              <m:rad>
                                <m:radPr>
                                  <m:degHide m:val="on"/>
                                  <m:ctrlPr>
                                    <a:rPr lang="hu-HU" sz="2000" i="1">
                                      <a:latin typeface="Cambria Math" panose="02040503050406030204" pitchFamily="18" charset="0"/>
                                      <a:ea typeface="Cambria Math" panose="02040503050406030204" pitchFamily="18" charset="0"/>
                                    </a:rPr>
                                  </m:ctrlPr>
                                </m:radPr>
                                <m:deg/>
                                <m:e>
                                  <m:r>
                                    <a:rPr lang="hu-HU" sz="2000" i="1">
                                      <a:latin typeface="Cambria Math" panose="02040503050406030204" pitchFamily="18" charset="0"/>
                                      <a:ea typeface="Cambria Math" panose="02040503050406030204" pitchFamily="18" charset="0"/>
                                    </a:rPr>
                                    <m:t>1−</m:t>
                                  </m:r>
                                  <m:r>
                                    <a:rPr lang="hu-HU" sz="2000" i="1">
                                      <a:latin typeface="Cambria Math" panose="02040503050406030204" pitchFamily="18" charset="0"/>
                                      <a:ea typeface="Cambria Math" panose="02040503050406030204" pitchFamily="18" charset="0"/>
                                    </a:rPr>
                                    <m:t>𝜌</m:t>
                                  </m:r>
                                </m:e>
                              </m:rad>
                            </m:den>
                          </m:f>
                        </m:e>
                      </m:d>
                    </m:oMath>
                  </m:oMathPara>
                </a14:m>
                <a:endParaRPr lang="hu-HU" sz="2000" dirty="0"/>
              </a:p>
              <a:p>
                <a:pPr marL="0" indent="0">
                  <a:buNone/>
                </a:pPr>
                <a14:m>
                  <m:oMathPara xmlns:m="http://schemas.openxmlformats.org/officeDocument/2006/math">
                    <m:oMathParaPr>
                      <m:jc m:val="left"/>
                    </m:oMathParaPr>
                    <m:oMath xmlns:m="http://schemas.openxmlformats.org/officeDocument/2006/math">
                      <m:sSub>
                        <m:sSubPr>
                          <m:ctrlPr>
                            <a:rPr lang="hu-HU" sz="2000" i="1">
                              <a:latin typeface="Cambria Math" panose="02040503050406030204" pitchFamily="18" charset="0"/>
                            </a:rPr>
                          </m:ctrlPr>
                        </m:sSubPr>
                        <m:e>
                          <m:r>
                            <a:rPr lang="hu-HU" sz="2000" i="1">
                              <a:latin typeface="Cambria Math" panose="02040503050406030204" pitchFamily="18" charset="0"/>
                            </a:rPr>
                            <m:t>𝑃𝐷</m:t>
                          </m:r>
                        </m:e>
                        <m:sub>
                          <m:r>
                            <a:rPr lang="hu-HU" sz="2000" i="1">
                              <a:latin typeface="Cambria Math" panose="02040503050406030204" pitchFamily="18" charset="0"/>
                            </a:rPr>
                            <m:t>𝑖</m:t>
                          </m:r>
                        </m:sub>
                      </m:sSub>
                      <m:d>
                        <m:dPr>
                          <m:ctrlPr>
                            <a:rPr lang="hu-HU" sz="2000" i="1">
                              <a:latin typeface="Cambria Math" panose="02040503050406030204" pitchFamily="18" charset="0"/>
                            </a:rPr>
                          </m:ctrlPr>
                        </m:dPr>
                        <m:e>
                          <m:r>
                            <a:rPr lang="hu-HU" sz="2000" i="1">
                              <a:latin typeface="Cambria Math" panose="02040503050406030204" pitchFamily="18" charset="0"/>
                            </a:rPr>
                            <m:t>𝑥</m:t>
                          </m:r>
                        </m:e>
                      </m:d>
                      <m:r>
                        <a:rPr lang="hu-HU" sz="2000">
                          <a:latin typeface="Cambria Math" panose="02040503050406030204" pitchFamily="18" charset="0"/>
                        </a:rPr>
                        <m:t>=</m:t>
                      </m:r>
                      <m:r>
                        <a:rPr lang="hu-HU" sz="2000" i="1">
                          <a:latin typeface="Cambria Math" panose="02040503050406030204" pitchFamily="18" charset="0"/>
                          <a:ea typeface="Cambria Math" panose="02040503050406030204" pitchFamily="18" charset="0"/>
                        </a:rPr>
                        <m:t>𝑁</m:t>
                      </m:r>
                      <m:d>
                        <m:dPr>
                          <m:ctrlPr>
                            <a:rPr lang="hu-HU" sz="2000" i="1">
                              <a:latin typeface="Cambria Math" panose="02040503050406030204" pitchFamily="18" charset="0"/>
                              <a:ea typeface="Cambria Math" panose="02040503050406030204" pitchFamily="18" charset="0"/>
                            </a:rPr>
                          </m:ctrlPr>
                        </m:dPr>
                        <m:e>
                          <m:f>
                            <m:fPr>
                              <m:ctrlPr>
                                <a:rPr lang="hu-HU" sz="2000" i="1">
                                  <a:latin typeface="Cambria Math" panose="02040503050406030204" pitchFamily="18" charset="0"/>
                                  <a:ea typeface="Cambria Math" panose="02040503050406030204" pitchFamily="18" charset="0"/>
                                </a:rPr>
                              </m:ctrlPr>
                            </m:fPr>
                            <m:num>
                              <m:sSup>
                                <m:sSupPr>
                                  <m:ctrlPr>
                                    <a:rPr lang="hu-HU" sz="2000" i="1">
                                      <a:latin typeface="Cambria Math" panose="02040503050406030204" pitchFamily="18" charset="0"/>
                                      <a:ea typeface="Cambria Math" panose="02040503050406030204" pitchFamily="18" charset="0"/>
                                    </a:rPr>
                                  </m:ctrlPr>
                                </m:sSupPr>
                                <m:e>
                                  <m:r>
                                    <a:rPr lang="hu-HU" sz="2000" i="1">
                                      <a:latin typeface="Cambria Math" panose="02040503050406030204" pitchFamily="18" charset="0"/>
                                      <a:ea typeface="Cambria Math" panose="02040503050406030204" pitchFamily="18" charset="0"/>
                                    </a:rPr>
                                    <m:t>𝑁</m:t>
                                  </m:r>
                                </m:e>
                                <m:sup>
                                  <m:r>
                                    <a:rPr lang="hu-HU" sz="2000" i="1">
                                      <a:latin typeface="Cambria Math" panose="02040503050406030204" pitchFamily="18" charset="0"/>
                                      <a:ea typeface="Cambria Math" panose="02040503050406030204" pitchFamily="18" charset="0"/>
                                    </a:rPr>
                                    <m:t>−1</m:t>
                                  </m:r>
                                </m:sup>
                              </m:sSup>
                              <m:d>
                                <m:dPr>
                                  <m:ctrlPr>
                                    <a:rPr lang="hu-HU" sz="2000" i="1">
                                      <a:latin typeface="Cambria Math" panose="02040503050406030204" pitchFamily="18" charset="0"/>
                                      <a:ea typeface="Cambria Math" panose="02040503050406030204" pitchFamily="18" charset="0"/>
                                    </a:rPr>
                                  </m:ctrlPr>
                                </m:dPr>
                                <m:e>
                                  <m:sSub>
                                    <m:sSubPr>
                                      <m:ctrlPr>
                                        <a:rPr lang="hu-HU" sz="2000" i="1">
                                          <a:latin typeface="Cambria Math" panose="02040503050406030204" pitchFamily="18" charset="0"/>
                                        </a:rPr>
                                      </m:ctrlPr>
                                    </m:sSubPr>
                                    <m:e>
                                      <m:r>
                                        <a:rPr lang="hu-HU" sz="2000" i="1">
                                          <a:latin typeface="Cambria Math" panose="02040503050406030204" pitchFamily="18" charset="0"/>
                                        </a:rPr>
                                        <m:t>𝑃𝐷</m:t>
                                      </m:r>
                                    </m:e>
                                    <m:sub>
                                      <m:r>
                                        <a:rPr lang="hu-HU" sz="2000" i="1">
                                          <a:latin typeface="Cambria Math" panose="02040503050406030204" pitchFamily="18" charset="0"/>
                                        </a:rPr>
                                        <m:t>𝑖</m:t>
                                      </m:r>
                                    </m:sub>
                                  </m:sSub>
                                </m:e>
                              </m:d>
                              <m:r>
                                <a:rPr lang="hu-HU" sz="2000" i="1">
                                  <a:latin typeface="Cambria Math" panose="02040503050406030204" pitchFamily="18" charset="0"/>
                                  <a:ea typeface="Cambria Math" panose="02040503050406030204" pitchFamily="18" charset="0"/>
                                </a:rPr>
                                <m:t>−</m:t>
                              </m:r>
                              <m:rad>
                                <m:radPr>
                                  <m:degHide m:val="on"/>
                                  <m:ctrlPr>
                                    <a:rPr lang="hu-HU" sz="2000" i="1">
                                      <a:latin typeface="Cambria Math" panose="02040503050406030204" pitchFamily="18" charset="0"/>
                                    </a:rPr>
                                  </m:ctrlPr>
                                </m:radPr>
                                <m:deg/>
                                <m:e>
                                  <m:r>
                                    <a:rPr lang="hu-HU" sz="2000" i="1">
                                      <a:latin typeface="Cambria Math" panose="02040503050406030204" pitchFamily="18" charset="0"/>
                                      <a:ea typeface="Cambria Math" panose="02040503050406030204" pitchFamily="18" charset="0"/>
                                    </a:rPr>
                                    <m:t>𝜌</m:t>
                                  </m:r>
                                </m:e>
                              </m:rad>
                              <m:r>
                                <a:rPr lang="hu-HU" sz="2000" i="1">
                                  <a:latin typeface="Cambria Math" panose="02040503050406030204" pitchFamily="18" charset="0"/>
                                  <a:ea typeface="Cambria Math" panose="02040503050406030204" pitchFamily="18" charset="0"/>
                                </a:rPr>
                                <m:t>∙</m:t>
                              </m:r>
                              <m:r>
                                <a:rPr lang="hu-HU" sz="2000" i="1">
                                  <a:latin typeface="Cambria Math" panose="02040503050406030204" pitchFamily="18" charset="0"/>
                                  <a:ea typeface="Cambria Math" panose="02040503050406030204" pitchFamily="18" charset="0"/>
                                </a:rPr>
                                <m:t>𝑥</m:t>
                              </m:r>
                            </m:num>
                            <m:den>
                              <m:rad>
                                <m:radPr>
                                  <m:degHide m:val="on"/>
                                  <m:ctrlPr>
                                    <a:rPr lang="hu-HU" sz="2000" i="1">
                                      <a:latin typeface="Cambria Math" panose="02040503050406030204" pitchFamily="18" charset="0"/>
                                      <a:ea typeface="Cambria Math" panose="02040503050406030204" pitchFamily="18" charset="0"/>
                                    </a:rPr>
                                  </m:ctrlPr>
                                </m:radPr>
                                <m:deg/>
                                <m:e>
                                  <m:r>
                                    <a:rPr lang="hu-HU" sz="2000" i="1">
                                      <a:latin typeface="Cambria Math" panose="02040503050406030204" pitchFamily="18" charset="0"/>
                                      <a:ea typeface="Cambria Math" panose="02040503050406030204" pitchFamily="18" charset="0"/>
                                    </a:rPr>
                                    <m:t>1−</m:t>
                                  </m:r>
                                  <m:r>
                                    <a:rPr lang="hu-HU" sz="2000" i="1">
                                      <a:latin typeface="Cambria Math" panose="02040503050406030204" pitchFamily="18" charset="0"/>
                                      <a:ea typeface="Cambria Math" panose="02040503050406030204" pitchFamily="18" charset="0"/>
                                    </a:rPr>
                                    <m:t>𝜌</m:t>
                                  </m:r>
                                </m:e>
                              </m:rad>
                            </m:den>
                          </m:f>
                        </m:e>
                      </m:d>
                    </m:oMath>
                  </m:oMathPara>
                </a14:m>
                <a:endParaRPr lang="hu-HU" sz="2000" dirty="0"/>
              </a:p>
              <a:p>
                <a:pPr marL="0" indent="0">
                  <a:buNone/>
                </a:pPr>
                <a:endParaRPr lang="hu-HU" sz="2000" dirty="0"/>
              </a:p>
              <a:p>
                <a:pPr marL="0" indent="0">
                  <a:buNone/>
                </a:pPr>
                <a14:m>
                  <m:oMathPara xmlns:m="http://schemas.openxmlformats.org/officeDocument/2006/math">
                    <m:oMathParaPr>
                      <m:jc m:val="left"/>
                    </m:oMathParaPr>
                    <m:oMath xmlns:m="http://schemas.openxmlformats.org/officeDocument/2006/math">
                      <m:sSup>
                        <m:sSupPr>
                          <m:ctrlPr>
                            <a:rPr lang="hu-HU" sz="2000" i="1">
                              <a:latin typeface="Cambria Math" panose="02040503050406030204" pitchFamily="18" charset="0"/>
                              <a:ea typeface="Cambria Math" panose="02040503050406030204" pitchFamily="18" charset="0"/>
                            </a:rPr>
                          </m:ctrlPr>
                        </m:sSupPr>
                        <m:e>
                          <m:r>
                            <a:rPr lang="hu-HU" sz="2000" i="1">
                              <a:latin typeface="Cambria Math" panose="02040503050406030204" pitchFamily="18" charset="0"/>
                              <a:ea typeface="Cambria Math" panose="02040503050406030204" pitchFamily="18" charset="0"/>
                            </a:rPr>
                            <m:t>𝑁</m:t>
                          </m:r>
                        </m:e>
                        <m:sup>
                          <m:r>
                            <a:rPr lang="hu-HU" sz="2000" i="1">
                              <a:latin typeface="Cambria Math" panose="02040503050406030204" pitchFamily="18" charset="0"/>
                              <a:ea typeface="Cambria Math" panose="02040503050406030204" pitchFamily="18" charset="0"/>
                            </a:rPr>
                            <m:t>−1</m:t>
                          </m:r>
                        </m:sup>
                      </m:sSup>
                      <m:d>
                        <m:dPr>
                          <m:ctrlPr>
                            <a:rPr lang="hu-HU" sz="2000" i="1">
                              <a:latin typeface="Cambria Math" panose="02040503050406030204" pitchFamily="18" charset="0"/>
                              <a:ea typeface="Cambria Math" panose="02040503050406030204" pitchFamily="18" charset="0"/>
                            </a:rPr>
                          </m:ctrlPr>
                        </m:dPr>
                        <m:e>
                          <m:sSubSup>
                            <m:sSubSupPr>
                              <m:ctrlPr>
                                <a:rPr lang="hu-HU" sz="2000" i="1">
                                  <a:latin typeface="Cambria Math" panose="02040503050406030204" pitchFamily="18" charset="0"/>
                                  <a:ea typeface="Cambria Math" panose="02040503050406030204" pitchFamily="18" charset="0"/>
                                </a:rPr>
                              </m:ctrlPr>
                            </m:sSubSupPr>
                            <m:e>
                              <m:r>
                                <a:rPr lang="hu-HU" sz="2000" i="1">
                                  <a:latin typeface="Cambria Math" panose="02040503050406030204" pitchFamily="18" charset="0"/>
                                  <a:ea typeface="Cambria Math" panose="02040503050406030204" pitchFamily="18" charset="0"/>
                                </a:rPr>
                                <m:t>𝑃𝐷</m:t>
                              </m:r>
                            </m:e>
                            <m:sub>
                              <m:r>
                                <a:rPr lang="hu-HU" sz="2000" i="1">
                                  <a:latin typeface="Cambria Math" panose="02040503050406030204" pitchFamily="18" charset="0"/>
                                  <a:ea typeface="Cambria Math" panose="02040503050406030204" pitchFamily="18" charset="0"/>
                                </a:rPr>
                                <m:t>𝑖</m:t>
                              </m:r>
                            </m:sub>
                            <m:sup>
                              <m:r>
                                <a:rPr lang="hu-HU" sz="2000" i="1">
                                  <a:latin typeface="Cambria Math" panose="02040503050406030204" pitchFamily="18" charset="0"/>
                                  <a:ea typeface="Cambria Math" panose="02040503050406030204" pitchFamily="18" charset="0"/>
                                </a:rPr>
                                <m:t>𝑃𝐼𝑇</m:t>
                              </m:r>
                            </m:sup>
                          </m:sSubSup>
                        </m:e>
                      </m:d>
                      <m:r>
                        <a:rPr lang="hu-HU" sz="2000" i="1">
                          <a:latin typeface="Cambria Math" panose="02040503050406030204" pitchFamily="18" charset="0"/>
                        </a:rPr>
                        <m:t>=</m:t>
                      </m:r>
                      <m:f>
                        <m:fPr>
                          <m:ctrlPr>
                            <a:rPr lang="hu-HU" sz="2000" i="1">
                              <a:latin typeface="Cambria Math" panose="02040503050406030204" pitchFamily="18" charset="0"/>
                              <a:ea typeface="Cambria Math" panose="02040503050406030204" pitchFamily="18" charset="0"/>
                            </a:rPr>
                          </m:ctrlPr>
                        </m:fPr>
                        <m:num>
                          <m:sSup>
                            <m:sSupPr>
                              <m:ctrlPr>
                                <a:rPr lang="hu-HU" sz="2000" i="1">
                                  <a:latin typeface="Cambria Math" panose="02040503050406030204" pitchFamily="18" charset="0"/>
                                  <a:ea typeface="Cambria Math" panose="02040503050406030204" pitchFamily="18" charset="0"/>
                                </a:rPr>
                              </m:ctrlPr>
                            </m:sSupPr>
                            <m:e>
                              <m:r>
                                <a:rPr lang="hu-HU" sz="2000" i="1">
                                  <a:latin typeface="Cambria Math" panose="02040503050406030204" pitchFamily="18" charset="0"/>
                                  <a:ea typeface="Cambria Math" panose="02040503050406030204" pitchFamily="18" charset="0"/>
                                </a:rPr>
                                <m:t>𝑁</m:t>
                              </m:r>
                            </m:e>
                            <m:sup>
                              <m:r>
                                <a:rPr lang="hu-HU" sz="2000" i="1">
                                  <a:latin typeface="Cambria Math" panose="02040503050406030204" pitchFamily="18" charset="0"/>
                                  <a:ea typeface="Cambria Math" panose="02040503050406030204" pitchFamily="18" charset="0"/>
                                </a:rPr>
                                <m:t>−1</m:t>
                              </m:r>
                            </m:sup>
                          </m:sSup>
                          <m:d>
                            <m:dPr>
                              <m:ctrlPr>
                                <a:rPr lang="hu-HU" sz="2000" i="1">
                                  <a:latin typeface="Cambria Math" panose="02040503050406030204" pitchFamily="18" charset="0"/>
                                  <a:ea typeface="Cambria Math" panose="02040503050406030204" pitchFamily="18" charset="0"/>
                                </a:rPr>
                              </m:ctrlPr>
                            </m:dPr>
                            <m:e>
                              <m:sSubSup>
                                <m:sSubSupPr>
                                  <m:ctrlPr>
                                    <a:rPr lang="hu-HU" sz="2000" i="1">
                                      <a:latin typeface="Cambria Math" panose="02040503050406030204" pitchFamily="18" charset="0"/>
                                      <a:ea typeface="Cambria Math" panose="02040503050406030204" pitchFamily="18" charset="0"/>
                                    </a:rPr>
                                  </m:ctrlPr>
                                </m:sSubSupPr>
                                <m:e>
                                  <m:r>
                                    <a:rPr lang="hu-HU" sz="2000" i="1">
                                      <a:latin typeface="Cambria Math" panose="02040503050406030204" pitchFamily="18" charset="0"/>
                                      <a:ea typeface="Cambria Math" panose="02040503050406030204" pitchFamily="18" charset="0"/>
                                    </a:rPr>
                                    <m:t>𝑃𝐷</m:t>
                                  </m:r>
                                </m:e>
                                <m:sub>
                                  <m:r>
                                    <a:rPr lang="hu-HU" sz="2000" i="1">
                                      <a:latin typeface="Cambria Math" panose="02040503050406030204" pitchFamily="18" charset="0"/>
                                      <a:ea typeface="Cambria Math" panose="02040503050406030204" pitchFamily="18" charset="0"/>
                                    </a:rPr>
                                    <m:t>𝑖</m:t>
                                  </m:r>
                                </m:sub>
                                <m:sup>
                                  <m:r>
                                    <a:rPr lang="hu-HU" sz="2000" i="1">
                                      <a:latin typeface="Cambria Math" panose="02040503050406030204" pitchFamily="18" charset="0"/>
                                      <a:ea typeface="Cambria Math" panose="02040503050406030204" pitchFamily="18" charset="0"/>
                                    </a:rPr>
                                    <m:t>𝑇𝑇𝐶</m:t>
                                  </m:r>
                                </m:sup>
                              </m:sSubSup>
                            </m:e>
                          </m:d>
                          <m:r>
                            <a:rPr lang="hu-HU" sz="2000" i="1">
                              <a:latin typeface="Cambria Math" panose="02040503050406030204" pitchFamily="18" charset="0"/>
                              <a:ea typeface="Cambria Math" panose="02040503050406030204" pitchFamily="18" charset="0"/>
                            </a:rPr>
                            <m:t>−</m:t>
                          </m:r>
                          <m:rad>
                            <m:radPr>
                              <m:degHide m:val="on"/>
                              <m:ctrlPr>
                                <a:rPr lang="hu-HU" sz="2000" i="1">
                                  <a:latin typeface="Cambria Math" panose="02040503050406030204" pitchFamily="18" charset="0"/>
                                </a:rPr>
                              </m:ctrlPr>
                            </m:radPr>
                            <m:deg/>
                            <m:e>
                              <m:r>
                                <a:rPr lang="hu-HU" sz="2000" i="1">
                                  <a:latin typeface="Cambria Math" panose="02040503050406030204" pitchFamily="18" charset="0"/>
                                  <a:ea typeface="Cambria Math" panose="02040503050406030204" pitchFamily="18" charset="0"/>
                                </a:rPr>
                                <m:t>𝜌</m:t>
                              </m:r>
                            </m:e>
                          </m:rad>
                          <m:r>
                            <a:rPr lang="hu-HU" sz="2000" i="1">
                              <a:latin typeface="Cambria Math" panose="02040503050406030204" pitchFamily="18" charset="0"/>
                              <a:ea typeface="Cambria Math" panose="02040503050406030204" pitchFamily="18" charset="0"/>
                            </a:rPr>
                            <m:t>∙</m:t>
                          </m:r>
                          <m:r>
                            <a:rPr lang="hu-HU" sz="2000" i="1">
                              <a:latin typeface="Cambria Math" panose="02040503050406030204" pitchFamily="18" charset="0"/>
                              <a:ea typeface="Cambria Math" panose="02040503050406030204" pitchFamily="18" charset="0"/>
                            </a:rPr>
                            <m:t>𝑥</m:t>
                          </m:r>
                        </m:num>
                        <m:den>
                          <m:rad>
                            <m:radPr>
                              <m:degHide m:val="on"/>
                              <m:ctrlPr>
                                <a:rPr lang="hu-HU" sz="2000" i="1">
                                  <a:latin typeface="Cambria Math" panose="02040503050406030204" pitchFamily="18" charset="0"/>
                                  <a:ea typeface="Cambria Math" panose="02040503050406030204" pitchFamily="18" charset="0"/>
                                </a:rPr>
                              </m:ctrlPr>
                            </m:radPr>
                            <m:deg/>
                            <m:e>
                              <m:r>
                                <a:rPr lang="hu-HU" sz="2000" i="1">
                                  <a:latin typeface="Cambria Math" panose="02040503050406030204" pitchFamily="18" charset="0"/>
                                  <a:ea typeface="Cambria Math" panose="02040503050406030204" pitchFamily="18" charset="0"/>
                                </a:rPr>
                                <m:t>1−</m:t>
                              </m:r>
                              <m:r>
                                <a:rPr lang="hu-HU" sz="2000" i="1">
                                  <a:latin typeface="Cambria Math" panose="02040503050406030204" pitchFamily="18" charset="0"/>
                                  <a:ea typeface="Cambria Math" panose="02040503050406030204" pitchFamily="18" charset="0"/>
                                </a:rPr>
                                <m:t>𝜌</m:t>
                              </m:r>
                            </m:e>
                          </m:rad>
                        </m:den>
                      </m:f>
                    </m:oMath>
                  </m:oMathPara>
                </a14:m>
                <a:endParaRPr lang="hu-HU" sz="2000" dirty="0"/>
              </a:p>
              <a:p>
                <a:pPr marL="0" indent="0">
                  <a:buNone/>
                </a:pPr>
                <a:endParaRPr lang="hu-HU" sz="2000" i="1" dirty="0">
                  <a:latin typeface="Cambria Math" panose="02040503050406030204" pitchFamily="18" charset="0"/>
                </a:endParaRPr>
              </a:p>
              <a:p>
                <a:pPr marL="0" indent="0">
                  <a:buNone/>
                </a:pPr>
                <a14:m>
                  <m:oMath xmlns:m="http://schemas.openxmlformats.org/officeDocument/2006/math">
                    <m:r>
                      <a:rPr lang="hu-HU" sz="2000" i="1">
                        <a:latin typeface="Cambria Math" panose="02040503050406030204" pitchFamily="18" charset="0"/>
                      </a:rPr>
                      <m:t>𝑥</m:t>
                    </m:r>
                    <m:r>
                      <a:rPr lang="hu-HU" sz="2000" i="1">
                        <a:latin typeface="Cambria Math" panose="02040503050406030204" pitchFamily="18" charset="0"/>
                      </a:rPr>
                      <m:t>=</m:t>
                    </m:r>
                    <m:f>
                      <m:fPr>
                        <m:ctrlPr>
                          <a:rPr lang="hu-HU" sz="2000" i="1">
                            <a:latin typeface="Cambria Math" panose="02040503050406030204" pitchFamily="18" charset="0"/>
                            <a:ea typeface="Cambria Math" panose="02040503050406030204" pitchFamily="18" charset="0"/>
                          </a:rPr>
                        </m:ctrlPr>
                      </m:fPr>
                      <m:num>
                        <m:sSup>
                          <m:sSupPr>
                            <m:ctrlPr>
                              <a:rPr lang="hu-HU" sz="2000" i="1">
                                <a:latin typeface="Cambria Math" panose="02040503050406030204" pitchFamily="18" charset="0"/>
                                <a:ea typeface="Cambria Math" panose="02040503050406030204" pitchFamily="18" charset="0"/>
                              </a:rPr>
                            </m:ctrlPr>
                          </m:sSupPr>
                          <m:e>
                            <m:r>
                              <a:rPr lang="hu-HU" sz="2000" i="1">
                                <a:latin typeface="Cambria Math" panose="02040503050406030204" pitchFamily="18" charset="0"/>
                                <a:ea typeface="Cambria Math" panose="02040503050406030204" pitchFamily="18" charset="0"/>
                              </a:rPr>
                              <m:t>𝑁</m:t>
                            </m:r>
                          </m:e>
                          <m:sup>
                            <m:r>
                              <a:rPr lang="hu-HU" sz="2000" i="1">
                                <a:latin typeface="Cambria Math" panose="02040503050406030204" pitchFamily="18" charset="0"/>
                                <a:ea typeface="Cambria Math" panose="02040503050406030204" pitchFamily="18" charset="0"/>
                              </a:rPr>
                              <m:t>−1</m:t>
                            </m:r>
                          </m:sup>
                        </m:sSup>
                        <m:d>
                          <m:dPr>
                            <m:ctrlPr>
                              <a:rPr lang="hu-HU" sz="2000" i="1">
                                <a:latin typeface="Cambria Math" panose="02040503050406030204" pitchFamily="18" charset="0"/>
                                <a:ea typeface="Cambria Math" panose="02040503050406030204" pitchFamily="18" charset="0"/>
                              </a:rPr>
                            </m:ctrlPr>
                          </m:dPr>
                          <m:e>
                            <m:sSubSup>
                              <m:sSubSupPr>
                                <m:ctrlPr>
                                  <a:rPr lang="hu-HU" sz="2000" i="1">
                                    <a:latin typeface="Cambria Math" panose="02040503050406030204" pitchFamily="18" charset="0"/>
                                    <a:ea typeface="Cambria Math" panose="02040503050406030204" pitchFamily="18" charset="0"/>
                                  </a:rPr>
                                </m:ctrlPr>
                              </m:sSubSupPr>
                              <m:e>
                                <m:r>
                                  <a:rPr lang="hu-HU" sz="2000" i="1">
                                    <a:latin typeface="Cambria Math" panose="02040503050406030204" pitchFamily="18" charset="0"/>
                                    <a:ea typeface="Cambria Math" panose="02040503050406030204" pitchFamily="18" charset="0"/>
                                  </a:rPr>
                                  <m:t>𝑃𝐷</m:t>
                                </m:r>
                              </m:e>
                              <m:sub>
                                <m:r>
                                  <a:rPr lang="hu-HU" sz="2000" i="1">
                                    <a:latin typeface="Cambria Math" panose="02040503050406030204" pitchFamily="18" charset="0"/>
                                    <a:ea typeface="Cambria Math" panose="02040503050406030204" pitchFamily="18" charset="0"/>
                                  </a:rPr>
                                  <m:t>𝑖</m:t>
                                </m:r>
                              </m:sub>
                              <m:sup>
                                <m:r>
                                  <a:rPr lang="hu-HU" sz="2000" i="1">
                                    <a:latin typeface="Cambria Math" panose="02040503050406030204" pitchFamily="18" charset="0"/>
                                    <a:ea typeface="Cambria Math" panose="02040503050406030204" pitchFamily="18" charset="0"/>
                                  </a:rPr>
                                  <m:t>𝑇𝑇𝐶</m:t>
                                </m:r>
                              </m:sup>
                            </m:sSubSup>
                          </m:e>
                        </m:d>
                        <m:r>
                          <a:rPr lang="hu-HU" sz="2000" i="1">
                            <a:latin typeface="Cambria Math" panose="02040503050406030204" pitchFamily="18" charset="0"/>
                            <a:ea typeface="Cambria Math" panose="02040503050406030204" pitchFamily="18" charset="0"/>
                          </a:rPr>
                          <m:t>−</m:t>
                        </m:r>
                        <m:rad>
                          <m:radPr>
                            <m:degHide m:val="on"/>
                            <m:ctrlPr>
                              <a:rPr lang="hu-HU" sz="2000" i="1">
                                <a:latin typeface="Cambria Math" panose="02040503050406030204" pitchFamily="18" charset="0"/>
                                <a:ea typeface="Cambria Math" panose="02040503050406030204" pitchFamily="18" charset="0"/>
                              </a:rPr>
                            </m:ctrlPr>
                          </m:radPr>
                          <m:deg/>
                          <m:e>
                            <m:r>
                              <a:rPr lang="hu-HU" sz="2000" i="1">
                                <a:latin typeface="Cambria Math" panose="02040503050406030204" pitchFamily="18" charset="0"/>
                                <a:ea typeface="Cambria Math" panose="02040503050406030204" pitchFamily="18" charset="0"/>
                              </a:rPr>
                              <m:t>1−</m:t>
                            </m:r>
                            <m:r>
                              <a:rPr lang="hu-HU" sz="2000" i="1">
                                <a:latin typeface="Cambria Math" panose="02040503050406030204" pitchFamily="18" charset="0"/>
                                <a:ea typeface="Cambria Math" panose="02040503050406030204" pitchFamily="18" charset="0"/>
                              </a:rPr>
                              <m:t>𝜌</m:t>
                            </m:r>
                          </m:e>
                        </m:rad>
                        <m:r>
                          <a:rPr lang="hu-HU" sz="2000" i="1">
                            <a:latin typeface="Cambria Math" panose="02040503050406030204" pitchFamily="18" charset="0"/>
                            <a:ea typeface="Cambria Math" panose="02040503050406030204" pitchFamily="18" charset="0"/>
                          </a:rPr>
                          <m:t>∙</m:t>
                        </m:r>
                        <m:sSup>
                          <m:sSupPr>
                            <m:ctrlPr>
                              <a:rPr lang="hu-HU" sz="2000" i="1">
                                <a:latin typeface="Cambria Math" panose="02040503050406030204" pitchFamily="18" charset="0"/>
                                <a:ea typeface="Cambria Math" panose="02040503050406030204" pitchFamily="18" charset="0"/>
                              </a:rPr>
                            </m:ctrlPr>
                          </m:sSupPr>
                          <m:e>
                            <m:r>
                              <a:rPr lang="hu-HU" sz="2000" i="1">
                                <a:latin typeface="Cambria Math" panose="02040503050406030204" pitchFamily="18" charset="0"/>
                                <a:ea typeface="Cambria Math" panose="02040503050406030204" pitchFamily="18" charset="0"/>
                              </a:rPr>
                              <m:t>𝑁</m:t>
                            </m:r>
                          </m:e>
                          <m:sup>
                            <m:r>
                              <a:rPr lang="hu-HU" sz="2000" i="1">
                                <a:latin typeface="Cambria Math" panose="02040503050406030204" pitchFamily="18" charset="0"/>
                                <a:ea typeface="Cambria Math" panose="02040503050406030204" pitchFamily="18" charset="0"/>
                              </a:rPr>
                              <m:t>−1</m:t>
                            </m:r>
                          </m:sup>
                        </m:sSup>
                        <m:d>
                          <m:dPr>
                            <m:ctrlPr>
                              <a:rPr lang="hu-HU" sz="2000" i="1">
                                <a:latin typeface="Cambria Math" panose="02040503050406030204" pitchFamily="18" charset="0"/>
                                <a:ea typeface="Cambria Math" panose="02040503050406030204" pitchFamily="18" charset="0"/>
                              </a:rPr>
                            </m:ctrlPr>
                          </m:dPr>
                          <m:e>
                            <m:sSubSup>
                              <m:sSubSupPr>
                                <m:ctrlPr>
                                  <a:rPr lang="hu-HU" sz="2000" i="1">
                                    <a:latin typeface="Cambria Math" panose="02040503050406030204" pitchFamily="18" charset="0"/>
                                    <a:ea typeface="Cambria Math" panose="02040503050406030204" pitchFamily="18" charset="0"/>
                                  </a:rPr>
                                </m:ctrlPr>
                              </m:sSubSupPr>
                              <m:e>
                                <m:r>
                                  <a:rPr lang="hu-HU" sz="2000" i="1">
                                    <a:latin typeface="Cambria Math" panose="02040503050406030204" pitchFamily="18" charset="0"/>
                                    <a:ea typeface="Cambria Math" panose="02040503050406030204" pitchFamily="18" charset="0"/>
                                  </a:rPr>
                                  <m:t>𝑃𝐷</m:t>
                                </m:r>
                              </m:e>
                              <m:sub>
                                <m:r>
                                  <a:rPr lang="hu-HU" sz="2000" i="1">
                                    <a:latin typeface="Cambria Math" panose="02040503050406030204" pitchFamily="18" charset="0"/>
                                    <a:ea typeface="Cambria Math" panose="02040503050406030204" pitchFamily="18" charset="0"/>
                                  </a:rPr>
                                  <m:t>𝑖</m:t>
                                </m:r>
                              </m:sub>
                              <m:sup>
                                <m:r>
                                  <a:rPr lang="hu-HU" sz="2000" i="1">
                                    <a:latin typeface="Cambria Math" panose="02040503050406030204" pitchFamily="18" charset="0"/>
                                    <a:ea typeface="Cambria Math" panose="02040503050406030204" pitchFamily="18" charset="0"/>
                                  </a:rPr>
                                  <m:t>𝑃𝐼𝑇</m:t>
                                </m:r>
                              </m:sup>
                            </m:sSubSup>
                          </m:e>
                        </m:d>
                      </m:num>
                      <m:den>
                        <m:rad>
                          <m:radPr>
                            <m:degHide m:val="on"/>
                            <m:ctrlPr>
                              <a:rPr lang="hu-HU" sz="2000" i="1">
                                <a:latin typeface="Cambria Math" panose="02040503050406030204" pitchFamily="18" charset="0"/>
                                <a:ea typeface="Cambria Math" panose="02040503050406030204" pitchFamily="18" charset="0"/>
                              </a:rPr>
                            </m:ctrlPr>
                          </m:radPr>
                          <m:deg/>
                          <m:e>
                            <m:r>
                              <a:rPr lang="hu-HU" sz="2000" i="1">
                                <a:latin typeface="Cambria Math" panose="02040503050406030204" pitchFamily="18" charset="0"/>
                                <a:ea typeface="Cambria Math" panose="02040503050406030204" pitchFamily="18" charset="0"/>
                              </a:rPr>
                              <m:t>𝜌</m:t>
                            </m:r>
                          </m:e>
                        </m:rad>
                      </m:den>
                    </m:f>
                  </m:oMath>
                </a14:m>
                <a:r>
                  <a:rPr lang="hu-HU" sz="2000" dirty="0"/>
                  <a:t> -&gt; </a:t>
                </a:r>
                <a:r>
                  <a:rPr lang="hu-HU" sz="2000" dirty="0" err="1"/>
                  <a:t>macroeconomic</a:t>
                </a:r>
                <a:r>
                  <a:rPr lang="hu-HU" sz="2000" dirty="0"/>
                  <a:t> modelling</a:t>
                </a:r>
              </a:p>
            </p:txBody>
          </p:sp>
        </mc:Choice>
        <mc:Fallback xmlns="">
          <p:sp>
            <p:nvSpPr>
              <p:cNvPr id="3" name="Tartalom helye 2"/>
              <p:cNvSpPr>
                <a:spLocks noGrp="1" noRot="1" noChangeAspect="1" noMove="1" noResize="1" noEditPoints="1" noAdjustHandles="1" noChangeArrowheads="1" noChangeShapeType="1" noTextEdit="1"/>
              </p:cNvSpPr>
              <p:nvPr>
                <p:ph sz="half" idx="1"/>
              </p:nvPr>
            </p:nvSpPr>
            <p:spPr>
              <a:xfrm>
                <a:off x="1981200" y="1600200"/>
                <a:ext cx="7499176" cy="5257800"/>
              </a:xfrm>
              <a:blipFill>
                <a:blip r:embed="rId2"/>
                <a:stretch>
                  <a:fillRect/>
                </a:stretch>
              </a:blipFill>
            </p:spPr>
            <p:txBody>
              <a:bodyPr/>
              <a:lstStyle/>
              <a:p>
                <a:r>
                  <a:rPr lang="en-GB">
                    <a:noFill/>
                  </a:rPr>
                  <a:t> </a:t>
                </a:r>
              </a:p>
            </p:txBody>
          </p:sp>
        </mc:Fallback>
      </mc:AlternateContent>
      <p:cxnSp>
        <p:nvCxnSpPr>
          <p:cNvPr id="7" name="Egyenes összekötő nyíllal 6"/>
          <p:cNvCxnSpPr/>
          <p:nvPr/>
        </p:nvCxnSpPr>
        <p:spPr>
          <a:xfrm>
            <a:off x="2351584" y="3717032"/>
            <a:ext cx="504056" cy="79208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Egyenes összekötő nyíllal 8"/>
          <p:cNvCxnSpPr/>
          <p:nvPr/>
        </p:nvCxnSpPr>
        <p:spPr>
          <a:xfrm>
            <a:off x="4295800" y="3501008"/>
            <a:ext cx="216024" cy="86409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Szövegdoboz 3">
            <a:extLst>
              <a:ext uri="{FF2B5EF4-FFF2-40B4-BE49-F238E27FC236}">
                <a16:creationId xmlns:a16="http://schemas.microsoft.com/office/drawing/2014/main" id="{0C670E04-F4BB-46E2-A9CB-67BDB06B5EEC}"/>
              </a:ext>
            </a:extLst>
          </p:cNvPr>
          <p:cNvSpPr txBox="1"/>
          <p:nvPr/>
        </p:nvSpPr>
        <p:spPr>
          <a:xfrm>
            <a:off x="7176120" y="3501009"/>
            <a:ext cx="2304256" cy="369332"/>
          </a:xfrm>
          <a:prstGeom prst="rect">
            <a:avLst/>
          </a:prstGeom>
          <a:noFill/>
          <a:ln>
            <a:solidFill>
              <a:srgbClr val="FF0000"/>
            </a:solidFill>
          </a:ln>
        </p:spPr>
        <p:txBody>
          <a:bodyPr wrap="square" rtlCol="0">
            <a:spAutoFit/>
          </a:bodyPr>
          <a:lstStyle/>
          <a:p>
            <a:r>
              <a:rPr lang="hu-HU" dirty="0" err="1"/>
              <a:t>Std</a:t>
            </a:r>
            <a:r>
              <a:rPr lang="hu-HU" dirty="0"/>
              <a:t> </a:t>
            </a:r>
            <a:r>
              <a:rPr lang="hu-HU" dirty="0" err="1"/>
              <a:t>normal</a:t>
            </a:r>
            <a:r>
              <a:rPr lang="hu-HU" dirty="0"/>
              <a:t> </a:t>
            </a:r>
            <a:r>
              <a:rPr lang="hu-HU" dirty="0" err="1"/>
              <a:t>dist</a:t>
            </a:r>
            <a:r>
              <a:rPr lang="hu-HU" dirty="0"/>
              <a:t>.</a:t>
            </a:r>
          </a:p>
        </p:txBody>
      </p:sp>
      <p:cxnSp>
        <p:nvCxnSpPr>
          <p:cNvPr id="6" name="Egyenes összekötő nyíllal 5">
            <a:extLst>
              <a:ext uri="{FF2B5EF4-FFF2-40B4-BE49-F238E27FC236}">
                <a16:creationId xmlns:a16="http://schemas.microsoft.com/office/drawing/2014/main" id="{3C0DDFA4-9DF9-481A-92D6-C0D9D49744D0}"/>
              </a:ext>
            </a:extLst>
          </p:cNvPr>
          <p:cNvCxnSpPr>
            <a:cxnSpLocks/>
          </p:cNvCxnSpPr>
          <p:nvPr/>
        </p:nvCxnSpPr>
        <p:spPr>
          <a:xfrm flipH="1" flipV="1">
            <a:off x="5402230" y="2850717"/>
            <a:ext cx="2715179" cy="6458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Egyenes összekötő nyíllal 9">
            <a:extLst>
              <a:ext uri="{FF2B5EF4-FFF2-40B4-BE49-F238E27FC236}">
                <a16:creationId xmlns:a16="http://schemas.microsoft.com/office/drawing/2014/main" id="{8A50DB04-F330-4BDA-8288-E447C2A6ED10}"/>
              </a:ext>
            </a:extLst>
          </p:cNvPr>
          <p:cNvCxnSpPr>
            <a:cxnSpLocks/>
          </p:cNvCxnSpPr>
          <p:nvPr/>
        </p:nvCxnSpPr>
        <p:spPr>
          <a:xfrm flipV="1">
            <a:off x="8117408" y="2568205"/>
            <a:ext cx="858912" cy="9283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Szövegdoboz 4">
            <a:extLst>
              <a:ext uri="{FF2B5EF4-FFF2-40B4-BE49-F238E27FC236}">
                <a16:creationId xmlns:a16="http://schemas.microsoft.com/office/drawing/2014/main" id="{EFBD7AC9-4B1A-4A85-BA97-2B30777443DE}"/>
              </a:ext>
            </a:extLst>
          </p:cNvPr>
          <p:cNvSpPr txBox="1"/>
          <p:nvPr/>
        </p:nvSpPr>
        <p:spPr>
          <a:xfrm>
            <a:off x="7176120" y="4365105"/>
            <a:ext cx="2304256" cy="584775"/>
          </a:xfrm>
          <a:prstGeom prst="rect">
            <a:avLst/>
          </a:prstGeom>
          <a:noFill/>
          <a:ln>
            <a:solidFill>
              <a:srgbClr val="FF0000"/>
            </a:solidFill>
          </a:ln>
        </p:spPr>
        <p:txBody>
          <a:bodyPr wrap="square" rtlCol="0">
            <a:spAutoFit/>
          </a:bodyPr>
          <a:lstStyle/>
          <a:p>
            <a:r>
              <a:rPr lang="hu-HU" sz="1600" dirty="0"/>
              <a:t>TTC -&gt; </a:t>
            </a:r>
            <a:r>
              <a:rPr lang="hu-HU" sz="1600" dirty="0" err="1"/>
              <a:t>capital</a:t>
            </a:r>
            <a:r>
              <a:rPr lang="hu-HU" sz="1600" dirty="0"/>
              <a:t> </a:t>
            </a:r>
            <a:r>
              <a:rPr lang="hu-HU" sz="1600" dirty="0" err="1"/>
              <a:t>calc</a:t>
            </a:r>
            <a:endParaRPr lang="hu-HU" sz="1600" dirty="0"/>
          </a:p>
          <a:p>
            <a:r>
              <a:rPr lang="hu-HU" sz="1600" dirty="0"/>
              <a:t>PIT -&gt; IFRS9 </a:t>
            </a:r>
            <a:r>
              <a:rPr lang="hu-HU" sz="1600" dirty="0" err="1"/>
              <a:t>provision</a:t>
            </a:r>
            <a:r>
              <a:rPr lang="hu-HU" sz="1600" dirty="0"/>
              <a:t> </a:t>
            </a:r>
          </a:p>
        </p:txBody>
      </p:sp>
      <p:cxnSp>
        <p:nvCxnSpPr>
          <p:cNvPr id="13" name="Egyenes összekötő nyíllal 12">
            <a:extLst>
              <a:ext uri="{FF2B5EF4-FFF2-40B4-BE49-F238E27FC236}">
                <a16:creationId xmlns:a16="http://schemas.microsoft.com/office/drawing/2014/main" id="{47644ADD-43C5-4F81-A620-2129AC87A64D}"/>
              </a:ext>
            </a:extLst>
          </p:cNvPr>
          <p:cNvCxnSpPr/>
          <p:nvPr/>
        </p:nvCxnSpPr>
        <p:spPr>
          <a:xfrm flipH="1" flipV="1">
            <a:off x="3791744" y="2852937"/>
            <a:ext cx="4325664" cy="6436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4037851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48F919C-87CC-40D2-8618-3EDECA9D4F9B}"/>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448F919C-87CC-40D2-8618-3EDECA9D4F9B}"/>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4" name="TextBox 33">
            <a:extLst>
              <a:ext uri="{FF2B5EF4-FFF2-40B4-BE49-F238E27FC236}">
                <a16:creationId xmlns:a16="http://schemas.microsoft.com/office/drawing/2014/main" id="{02DABCD0-8654-4C7B-BE8C-903E195D28F5}"/>
              </a:ext>
            </a:extLst>
          </p:cNvPr>
          <p:cNvSpPr txBox="1"/>
          <p:nvPr/>
        </p:nvSpPr>
        <p:spPr>
          <a:xfrm>
            <a:off x="7264102" y="3695701"/>
            <a:ext cx="3324809" cy="2362200"/>
          </a:xfrm>
          <a:prstGeom prst="rect">
            <a:avLst/>
          </a:prstGeom>
          <a:solidFill>
            <a:schemeClr val="bg1"/>
          </a:solidFill>
          <a:ln>
            <a:noFill/>
          </a:ln>
          <a:effectLst>
            <a:outerShdw blurRad="50800" dist="38100" dir="2700000" algn="tl" rotWithShape="0">
              <a:prstClr val="black">
                <a:alpha val="40000"/>
              </a:prstClr>
            </a:outerShdw>
          </a:effectLst>
        </p:spPr>
        <p:txBody>
          <a:bodyPr wrap="square" rtlCol="0">
            <a:noAutofit/>
          </a:bodyPr>
          <a:lstStyle/>
          <a:p>
            <a:pPr marL="232172" indent="-232172">
              <a:buFont typeface="Wingdings" panose="05000000000000000000" pitchFamily="2" charset="2"/>
              <a:buChar char="§"/>
            </a:pPr>
            <a:endParaRPr lang="en-GB" sz="1138" dirty="0">
              <a:latin typeface="+mj-lt"/>
            </a:endParaRPr>
          </a:p>
        </p:txBody>
      </p:sp>
      <p:sp>
        <p:nvSpPr>
          <p:cNvPr id="2" name="Title 1">
            <a:extLst>
              <a:ext uri="{FF2B5EF4-FFF2-40B4-BE49-F238E27FC236}">
                <a16:creationId xmlns:a16="http://schemas.microsoft.com/office/drawing/2014/main" id="{E75E7C00-AAFF-48E0-8F2B-E8F46B3A7872}"/>
              </a:ext>
            </a:extLst>
          </p:cNvPr>
          <p:cNvSpPr>
            <a:spLocks noGrp="1"/>
          </p:cNvSpPr>
          <p:nvPr>
            <p:ph type="title"/>
          </p:nvPr>
        </p:nvSpPr>
        <p:spPr/>
        <p:txBody>
          <a:bodyPr vert="horz">
            <a:normAutofit fontScale="90000"/>
          </a:bodyPr>
          <a:lstStyle/>
          <a:p>
            <a:r>
              <a:rPr lang="en-GB" dirty="0"/>
              <a:t>Pillar 1: Market risk capital standards (‘FRTB’)</a:t>
            </a:r>
          </a:p>
        </p:txBody>
      </p:sp>
      <p:sp>
        <p:nvSpPr>
          <p:cNvPr id="12" name="Rectangle 11">
            <a:extLst>
              <a:ext uri="{FF2B5EF4-FFF2-40B4-BE49-F238E27FC236}">
                <a16:creationId xmlns:a16="http://schemas.microsoft.com/office/drawing/2014/main" id="{36C3E1C8-D7AB-4F98-879C-4169D318E60D}"/>
              </a:ext>
            </a:extLst>
          </p:cNvPr>
          <p:cNvSpPr/>
          <p:nvPr/>
        </p:nvSpPr>
        <p:spPr>
          <a:xfrm>
            <a:off x="1603092" y="1282710"/>
            <a:ext cx="5481292" cy="459126"/>
          </a:xfrm>
          <a:prstGeom prst="rect">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38" b="1" dirty="0">
                <a:solidFill>
                  <a:schemeClr val="bg1"/>
                </a:solidFill>
                <a:latin typeface="+mj-lt"/>
                <a:cs typeface="Times New Roman" panose="02020603050405020304" pitchFamily="18" charset="0"/>
              </a:rPr>
              <a:t>The Standardised Approach for Basel Market Risk</a:t>
            </a:r>
            <a:endParaRPr lang="en-GB" sz="1138" dirty="0">
              <a:solidFill>
                <a:schemeClr val="bg1"/>
              </a:solidFill>
              <a:latin typeface="+mj-lt"/>
              <a:cs typeface="Times New Roman" panose="02020603050405020304" pitchFamily="18" charset="0"/>
            </a:endParaRPr>
          </a:p>
        </p:txBody>
      </p:sp>
      <p:sp>
        <p:nvSpPr>
          <p:cNvPr id="13" name="Rectangle 12">
            <a:extLst>
              <a:ext uri="{FF2B5EF4-FFF2-40B4-BE49-F238E27FC236}">
                <a16:creationId xmlns:a16="http://schemas.microsoft.com/office/drawing/2014/main" id="{D1D7B59D-6AE8-4BBF-916A-A41BAC4209F3}"/>
              </a:ext>
            </a:extLst>
          </p:cNvPr>
          <p:cNvSpPr/>
          <p:nvPr/>
        </p:nvSpPr>
        <p:spPr>
          <a:xfrm>
            <a:off x="1603091" y="1880170"/>
            <a:ext cx="2105195" cy="1790791"/>
          </a:xfrm>
          <a:prstGeom prst="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138" b="1" dirty="0">
                <a:solidFill>
                  <a:schemeClr val="tx1"/>
                </a:solidFill>
                <a:latin typeface="+mj-lt"/>
                <a:cs typeface="Times New Roman" panose="02020603050405020304" pitchFamily="18" charset="0"/>
              </a:rPr>
              <a:t>Sensitivities based method</a:t>
            </a:r>
            <a:endParaRPr lang="en-GB" sz="1138" dirty="0">
              <a:solidFill>
                <a:schemeClr val="tx1"/>
              </a:solidFill>
              <a:latin typeface="+mj-lt"/>
              <a:cs typeface="Times New Roman" panose="02020603050405020304" pitchFamily="18" charset="0"/>
            </a:endParaRPr>
          </a:p>
        </p:txBody>
      </p:sp>
      <p:sp>
        <p:nvSpPr>
          <p:cNvPr id="16" name="TextBox 15">
            <a:extLst>
              <a:ext uri="{FF2B5EF4-FFF2-40B4-BE49-F238E27FC236}">
                <a16:creationId xmlns:a16="http://schemas.microsoft.com/office/drawing/2014/main" id="{A940571C-7CEC-4A25-AFE4-94A3F60D8BBC}"/>
              </a:ext>
            </a:extLst>
          </p:cNvPr>
          <p:cNvSpPr txBox="1"/>
          <p:nvPr/>
        </p:nvSpPr>
        <p:spPr>
          <a:xfrm>
            <a:off x="1603091" y="3695700"/>
            <a:ext cx="2105195" cy="2362200"/>
          </a:xfrm>
          <a:prstGeom prst="rect">
            <a:avLst/>
          </a:prstGeom>
          <a:solidFill>
            <a:schemeClr val="bg1"/>
          </a:solidFill>
          <a:ln>
            <a:noFill/>
          </a:ln>
          <a:effectLst>
            <a:outerShdw blurRad="50800" dist="38100" dir="2700000" algn="tl" rotWithShape="0">
              <a:prstClr val="black">
                <a:alpha val="40000"/>
              </a:prstClr>
            </a:outerShdw>
          </a:effectLst>
        </p:spPr>
        <p:txBody>
          <a:bodyPr wrap="square" rtlCol="0">
            <a:noAutofit/>
          </a:bodyPr>
          <a:lstStyle/>
          <a:p>
            <a:r>
              <a:rPr lang="en-GB" sz="1138" b="1" dirty="0">
                <a:latin typeface="+mj-lt"/>
              </a:rPr>
              <a:t>Risk classes</a:t>
            </a:r>
          </a:p>
          <a:p>
            <a:pPr marL="232172" indent="-232172">
              <a:buFont typeface="Wingdings" panose="05000000000000000000" pitchFamily="2" charset="2"/>
              <a:buChar char="§"/>
            </a:pPr>
            <a:r>
              <a:rPr lang="en-GB" sz="1138" dirty="0">
                <a:latin typeface="+mj-lt"/>
              </a:rPr>
              <a:t>General Interest Rate Risk (</a:t>
            </a:r>
            <a:r>
              <a:rPr lang="en-GB" sz="1138" dirty="0" err="1">
                <a:latin typeface="+mj-lt"/>
              </a:rPr>
              <a:t>GIRR</a:t>
            </a:r>
            <a:r>
              <a:rPr lang="en-GB" sz="1138" dirty="0">
                <a:latin typeface="+mj-lt"/>
              </a:rPr>
              <a:t>)</a:t>
            </a:r>
          </a:p>
          <a:p>
            <a:pPr marL="232172" indent="-232172">
              <a:buFont typeface="Wingdings" panose="05000000000000000000" pitchFamily="2" charset="2"/>
              <a:buChar char="§"/>
            </a:pPr>
            <a:r>
              <a:rPr lang="en-GB" sz="1138" dirty="0">
                <a:latin typeface="+mj-lt"/>
              </a:rPr>
              <a:t>Credit Spread Risk (CSR): non securitisation</a:t>
            </a:r>
          </a:p>
          <a:p>
            <a:pPr marL="232172" indent="-232172">
              <a:buFont typeface="Wingdings" panose="05000000000000000000" pitchFamily="2" charset="2"/>
              <a:buChar char="§"/>
            </a:pPr>
            <a:r>
              <a:rPr lang="en-GB" sz="1138" dirty="0">
                <a:latin typeface="+mj-lt"/>
              </a:rPr>
              <a:t>CSR: securitisation</a:t>
            </a:r>
          </a:p>
          <a:p>
            <a:pPr marL="232172" indent="-232172">
              <a:buFont typeface="Wingdings" panose="05000000000000000000" pitchFamily="2" charset="2"/>
              <a:buChar char="§"/>
            </a:pPr>
            <a:r>
              <a:rPr lang="en-GB" sz="1138" dirty="0">
                <a:latin typeface="+mj-lt"/>
              </a:rPr>
              <a:t>CSR: securitisation correlation trading portfolio (CTP)</a:t>
            </a:r>
          </a:p>
          <a:p>
            <a:pPr marL="232172" indent="-232172">
              <a:buFont typeface="Wingdings" panose="05000000000000000000" pitchFamily="2" charset="2"/>
              <a:buChar char="§"/>
            </a:pPr>
            <a:r>
              <a:rPr lang="en-GB" sz="1138" dirty="0">
                <a:latin typeface="+mj-lt"/>
              </a:rPr>
              <a:t>Foreign Exchange (FX) risk</a:t>
            </a:r>
          </a:p>
          <a:p>
            <a:pPr marL="232172" indent="-232172">
              <a:buFont typeface="Wingdings" panose="05000000000000000000" pitchFamily="2" charset="2"/>
              <a:buChar char="§"/>
            </a:pPr>
            <a:r>
              <a:rPr lang="en-GB" sz="1138" dirty="0">
                <a:latin typeface="+mj-lt"/>
              </a:rPr>
              <a:t>Equity risk</a:t>
            </a:r>
          </a:p>
          <a:p>
            <a:pPr marL="232172" indent="-232172">
              <a:buFont typeface="Wingdings" panose="05000000000000000000" pitchFamily="2" charset="2"/>
              <a:buChar char="§"/>
            </a:pPr>
            <a:r>
              <a:rPr lang="en-GB" sz="1138" dirty="0">
                <a:latin typeface="+mj-lt"/>
              </a:rPr>
              <a:t>Commodity risk</a:t>
            </a:r>
          </a:p>
          <a:p>
            <a:pPr marL="232172" indent="-232172">
              <a:buFont typeface="Wingdings" panose="05000000000000000000" pitchFamily="2" charset="2"/>
              <a:buChar char="§"/>
            </a:pPr>
            <a:endParaRPr lang="en-GB" sz="1138" dirty="0">
              <a:latin typeface="+mj-lt"/>
            </a:endParaRPr>
          </a:p>
        </p:txBody>
      </p:sp>
      <p:sp>
        <p:nvSpPr>
          <p:cNvPr id="14" name="Rectangle 13">
            <a:extLst>
              <a:ext uri="{FF2B5EF4-FFF2-40B4-BE49-F238E27FC236}">
                <a16:creationId xmlns:a16="http://schemas.microsoft.com/office/drawing/2014/main" id="{0862898B-D218-4DAB-A6EE-4B09E8AF5BB1}"/>
              </a:ext>
            </a:extLst>
          </p:cNvPr>
          <p:cNvSpPr/>
          <p:nvPr/>
        </p:nvSpPr>
        <p:spPr>
          <a:xfrm>
            <a:off x="3956534" y="1880170"/>
            <a:ext cx="1439801" cy="1790791"/>
          </a:xfrm>
          <a:prstGeom prst="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138" b="1" dirty="0">
                <a:solidFill>
                  <a:schemeClr val="tx1"/>
                </a:solidFill>
                <a:latin typeface="+mj-lt"/>
                <a:cs typeface="Times New Roman" panose="02020603050405020304" pitchFamily="18" charset="0"/>
              </a:rPr>
              <a:t>Default risk charge (DRC)</a:t>
            </a:r>
            <a:endParaRPr lang="en-GB" sz="1138" dirty="0">
              <a:solidFill>
                <a:schemeClr val="tx1"/>
              </a:solidFill>
              <a:latin typeface="+mj-lt"/>
              <a:cs typeface="Times New Roman" panose="02020603050405020304" pitchFamily="18" charset="0"/>
            </a:endParaRPr>
          </a:p>
        </p:txBody>
      </p:sp>
      <p:sp>
        <p:nvSpPr>
          <p:cNvPr id="15" name="Rectangle 14">
            <a:extLst>
              <a:ext uri="{FF2B5EF4-FFF2-40B4-BE49-F238E27FC236}">
                <a16:creationId xmlns:a16="http://schemas.microsoft.com/office/drawing/2014/main" id="{358859C7-9403-4B3D-B4BA-E3A64B0F62EB}"/>
              </a:ext>
            </a:extLst>
          </p:cNvPr>
          <p:cNvSpPr/>
          <p:nvPr/>
        </p:nvSpPr>
        <p:spPr>
          <a:xfrm>
            <a:off x="5644583" y="1880170"/>
            <a:ext cx="1439801" cy="1790791"/>
          </a:xfrm>
          <a:prstGeom prst="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138" b="1" dirty="0">
                <a:solidFill>
                  <a:schemeClr val="tx1"/>
                </a:solidFill>
                <a:latin typeface="+mj-lt"/>
                <a:cs typeface="Times New Roman" panose="02020603050405020304" pitchFamily="18" charset="0"/>
              </a:rPr>
              <a:t>Residual risk add-on (</a:t>
            </a:r>
            <a:r>
              <a:rPr lang="en-GB" sz="1138" b="1" dirty="0" err="1">
                <a:solidFill>
                  <a:schemeClr val="tx1"/>
                </a:solidFill>
                <a:latin typeface="+mj-lt"/>
                <a:cs typeface="Times New Roman" panose="02020603050405020304" pitchFamily="18" charset="0"/>
              </a:rPr>
              <a:t>RRAO</a:t>
            </a:r>
            <a:r>
              <a:rPr lang="en-GB" sz="1138" b="1" dirty="0">
                <a:solidFill>
                  <a:schemeClr val="tx1"/>
                </a:solidFill>
                <a:latin typeface="+mj-lt"/>
                <a:cs typeface="Times New Roman" panose="02020603050405020304" pitchFamily="18" charset="0"/>
              </a:rPr>
              <a:t>)</a:t>
            </a:r>
            <a:endParaRPr lang="en-GB" sz="1138" dirty="0">
              <a:solidFill>
                <a:schemeClr val="tx1"/>
              </a:solidFill>
              <a:latin typeface="+mj-lt"/>
              <a:cs typeface="Times New Roman" panose="02020603050405020304" pitchFamily="18" charset="0"/>
            </a:endParaRPr>
          </a:p>
        </p:txBody>
      </p:sp>
      <p:sp>
        <p:nvSpPr>
          <p:cNvPr id="17" name="TextBox 16">
            <a:extLst>
              <a:ext uri="{FF2B5EF4-FFF2-40B4-BE49-F238E27FC236}">
                <a16:creationId xmlns:a16="http://schemas.microsoft.com/office/drawing/2014/main" id="{99E28009-823C-45B9-B699-A4C1FF42BF47}"/>
              </a:ext>
            </a:extLst>
          </p:cNvPr>
          <p:cNvSpPr txBox="1"/>
          <p:nvPr/>
        </p:nvSpPr>
        <p:spPr>
          <a:xfrm>
            <a:off x="3956534" y="3695701"/>
            <a:ext cx="1439801" cy="2362200"/>
          </a:xfrm>
          <a:prstGeom prst="rect">
            <a:avLst/>
          </a:prstGeom>
          <a:solidFill>
            <a:schemeClr val="bg1"/>
          </a:solidFill>
          <a:ln>
            <a:noFill/>
          </a:ln>
          <a:effectLst>
            <a:outerShdw blurRad="50800" dist="38100" dir="2700000" algn="tl" rotWithShape="0">
              <a:prstClr val="black">
                <a:alpha val="40000"/>
              </a:prstClr>
            </a:outerShdw>
          </a:effectLst>
        </p:spPr>
        <p:txBody>
          <a:bodyPr wrap="square" rtlCol="0">
            <a:noAutofit/>
          </a:bodyPr>
          <a:lstStyle/>
          <a:p>
            <a:pPr marL="232172" indent="-232172">
              <a:buFont typeface="Wingdings" panose="05000000000000000000" pitchFamily="2" charset="2"/>
              <a:buChar char="§"/>
            </a:pPr>
            <a:r>
              <a:rPr lang="en-GB" sz="1138" dirty="0">
                <a:latin typeface="+mj-lt"/>
              </a:rPr>
              <a:t>Default risk: non securitisation</a:t>
            </a:r>
          </a:p>
          <a:p>
            <a:pPr marL="232172" indent="-232172">
              <a:buFont typeface="Wingdings" panose="05000000000000000000" pitchFamily="2" charset="2"/>
              <a:buChar char="§"/>
            </a:pPr>
            <a:r>
              <a:rPr lang="en-GB" sz="1138" dirty="0">
                <a:latin typeface="+mj-lt"/>
              </a:rPr>
              <a:t>Default risk: securitisation</a:t>
            </a:r>
          </a:p>
          <a:p>
            <a:pPr marL="232172" indent="-232172">
              <a:buFont typeface="Wingdings" panose="05000000000000000000" pitchFamily="2" charset="2"/>
              <a:buChar char="§"/>
            </a:pPr>
            <a:r>
              <a:rPr lang="en-GB" sz="1138" dirty="0">
                <a:latin typeface="+mj-lt"/>
              </a:rPr>
              <a:t>Default risk: securitisation correlation trading portfolio (CTP)</a:t>
            </a:r>
          </a:p>
          <a:p>
            <a:pPr marL="232172" indent="-232172">
              <a:buFont typeface="Wingdings" panose="05000000000000000000" pitchFamily="2" charset="2"/>
              <a:buChar char="§"/>
            </a:pPr>
            <a:endParaRPr lang="en-GB" sz="1138" dirty="0">
              <a:latin typeface="+mj-lt"/>
            </a:endParaRPr>
          </a:p>
        </p:txBody>
      </p:sp>
      <p:sp>
        <p:nvSpPr>
          <p:cNvPr id="18" name="TextBox 17">
            <a:extLst>
              <a:ext uri="{FF2B5EF4-FFF2-40B4-BE49-F238E27FC236}">
                <a16:creationId xmlns:a16="http://schemas.microsoft.com/office/drawing/2014/main" id="{8FA8BF43-E06F-4634-80EF-FFC94170D63A}"/>
              </a:ext>
            </a:extLst>
          </p:cNvPr>
          <p:cNvSpPr txBox="1"/>
          <p:nvPr/>
        </p:nvSpPr>
        <p:spPr>
          <a:xfrm>
            <a:off x="5644583" y="3695700"/>
            <a:ext cx="1439801" cy="2362200"/>
          </a:xfrm>
          <a:prstGeom prst="rect">
            <a:avLst/>
          </a:prstGeom>
          <a:solidFill>
            <a:schemeClr val="bg1"/>
          </a:solidFill>
          <a:ln>
            <a:noFill/>
          </a:ln>
          <a:effectLst>
            <a:outerShdw blurRad="50800" dist="38100" dir="2700000" algn="tl" rotWithShape="0">
              <a:prstClr val="black">
                <a:alpha val="40000"/>
              </a:prstClr>
            </a:outerShdw>
          </a:effectLst>
        </p:spPr>
        <p:txBody>
          <a:bodyPr wrap="square" rtlCol="0">
            <a:noAutofit/>
          </a:bodyPr>
          <a:lstStyle/>
          <a:p>
            <a:pPr marL="232172" indent="-232172">
              <a:buFont typeface="Wingdings" panose="05000000000000000000" pitchFamily="2" charset="2"/>
              <a:buChar char="§"/>
            </a:pPr>
            <a:r>
              <a:rPr lang="en-GB" sz="1138" dirty="0">
                <a:latin typeface="+mj-lt"/>
              </a:rPr>
              <a:t>Applied to instruments with non-linear pay offs</a:t>
            </a:r>
          </a:p>
          <a:p>
            <a:pPr marL="232172" indent="-232172">
              <a:buFont typeface="Wingdings" panose="05000000000000000000" pitchFamily="2" charset="2"/>
              <a:buChar char="§"/>
            </a:pPr>
            <a:r>
              <a:rPr lang="en-GB" sz="1138" dirty="0">
                <a:latin typeface="+mj-lt"/>
              </a:rPr>
              <a:t>Based on notional amounts</a:t>
            </a:r>
          </a:p>
          <a:p>
            <a:pPr marL="232172" indent="-232172">
              <a:buFont typeface="Wingdings" panose="05000000000000000000" pitchFamily="2" charset="2"/>
              <a:buChar char="§"/>
            </a:pPr>
            <a:endParaRPr lang="en-GB" sz="1138" dirty="0">
              <a:latin typeface="+mj-lt"/>
            </a:endParaRPr>
          </a:p>
        </p:txBody>
      </p:sp>
      <p:sp>
        <p:nvSpPr>
          <p:cNvPr id="19" name="Rectangle 18">
            <a:extLst>
              <a:ext uri="{FF2B5EF4-FFF2-40B4-BE49-F238E27FC236}">
                <a16:creationId xmlns:a16="http://schemas.microsoft.com/office/drawing/2014/main" id="{C8C95F3E-D2E1-4187-8CD8-D01C5DEB3B66}"/>
              </a:ext>
            </a:extLst>
          </p:cNvPr>
          <p:cNvSpPr/>
          <p:nvPr/>
        </p:nvSpPr>
        <p:spPr>
          <a:xfrm>
            <a:off x="1726337" y="2200657"/>
            <a:ext cx="982792" cy="336686"/>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75" dirty="0">
                <a:solidFill>
                  <a:schemeClr val="tx1"/>
                </a:solidFill>
                <a:latin typeface="+mj-lt"/>
                <a:cs typeface="Times New Roman" panose="02020603050405020304" pitchFamily="18" charset="0"/>
              </a:rPr>
              <a:t>Delta risk</a:t>
            </a:r>
          </a:p>
        </p:txBody>
      </p:sp>
      <p:sp>
        <p:nvSpPr>
          <p:cNvPr id="20" name="Rectangle 19">
            <a:extLst>
              <a:ext uri="{FF2B5EF4-FFF2-40B4-BE49-F238E27FC236}">
                <a16:creationId xmlns:a16="http://schemas.microsoft.com/office/drawing/2014/main" id="{E9FE7888-1367-47F1-8CDF-0DA66AC3A1AE}"/>
              </a:ext>
            </a:extLst>
          </p:cNvPr>
          <p:cNvSpPr/>
          <p:nvPr/>
        </p:nvSpPr>
        <p:spPr>
          <a:xfrm>
            <a:off x="1726337" y="2653069"/>
            <a:ext cx="982792" cy="336686"/>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75" dirty="0">
                <a:solidFill>
                  <a:schemeClr val="tx1"/>
                </a:solidFill>
                <a:latin typeface="+mj-lt"/>
                <a:cs typeface="Times New Roman" panose="02020603050405020304" pitchFamily="18" charset="0"/>
              </a:rPr>
              <a:t>Vega risk</a:t>
            </a:r>
          </a:p>
        </p:txBody>
      </p:sp>
      <p:sp>
        <p:nvSpPr>
          <p:cNvPr id="21" name="Rectangle 20">
            <a:extLst>
              <a:ext uri="{FF2B5EF4-FFF2-40B4-BE49-F238E27FC236}">
                <a16:creationId xmlns:a16="http://schemas.microsoft.com/office/drawing/2014/main" id="{C77B685B-5E95-42D2-AF4E-87EF11371976}"/>
              </a:ext>
            </a:extLst>
          </p:cNvPr>
          <p:cNvSpPr/>
          <p:nvPr/>
        </p:nvSpPr>
        <p:spPr>
          <a:xfrm>
            <a:off x="1726337" y="3105482"/>
            <a:ext cx="982792" cy="336686"/>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75" dirty="0">
                <a:solidFill>
                  <a:schemeClr val="tx1"/>
                </a:solidFill>
                <a:latin typeface="+mj-lt"/>
                <a:cs typeface="Times New Roman" panose="02020603050405020304" pitchFamily="18" charset="0"/>
              </a:rPr>
              <a:t>Curvature risk</a:t>
            </a:r>
          </a:p>
        </p:txBody>
      </p:sp>
      <p:sp>
        <p:nvSpPr>
          <p:cNvPr id="22" name="TextBox 21">
            <a:extLst>
              <a:ext uri="{FF2B5EF4-FFF2-40B4-BE49-F238E27FC236}">
                <a16:creationId xmlns:a16="http://schemas.microsoft.com/office/drawing/2014/main" id="{4CACBB19-751E-4944-866E-FE5391D912A9}"/>
              </a:ext>
            </a:extLst>
          </p:cNvPr>
          <p:cNvSpPr txBox="1"/>
          <p:nvPr/>
        </p:nvSpPr>
        <p:spPr>
          <a:xfrm>
            <a:off x="2709129" y="2200657"/>
            <a:ext cx="886290" cy="336686"/>
          </a:xfrm>
          <a:prstGeom prst="rect">
            <a:avLst/>
          </a:prstGeom>
          <a:noFill/>
        </p:spPr>
        <p:txBody>
          <a:bodyPr wrap="square" rtlCol="0" anchor="ctr">
            <a:noAutofit/>
          </a:bodyPr>
          <a:lstStyle/>
          <a:p>
            <a:r>
              <a:rPr lang="en-GB" sz="975" dirty="0">
                <a:latin typeface="+mj-lt"/>
                <a:cs typeface="Times New Roman" panose="02020603050405020304" pitchFamily="18" charset="0"/>
              </a:rPr>
              <a:t>Linear risk</a:t>
            </a:r>
          </a:p>
        </p:txBody>
      </p:sp>
      <p:sp>
        <p:nvSpPr>
          <p:cNvPr id="23" name="TextBox 22">
            <a:extLst>
              <a:ext uri="{FF2B5EF4-FFF2-40B4-BE49-F238E27FC236}">
                <a16:creationId xmlns:a16="http://schemas.microsoft.com/office/drawing/2014/main" id="{F35B4668-D5FB-4FEB-A5E9-4095C4D17C8E}"/>
              </a:ext>
            </a:extLst>
          </p:cNvPr>
          <p:cNvSpPr txBox="1"/>
          <p:nvPr/>
        </p:nvSpPr>
        <p:spPr>
          <a:xfrm>
            <a:off x="2709129" y="2653069"/>
            <a:ext cx="886290" cy="336686"/>
          </a:xfrm>
          <a:prstGeom prst="rect">
            <a:avLst/>
          </a:prstGeom>
          <a:noFill/>
        </p:spPr>
        <p:txBody>
          <a:bodyPr wrap="square" rtlCol="0" anchor="ctr">
            <a:noAutofit/>
          </a:bodyPr>
          <a:lstStyle/>
          <a:p>
            <a:r>
              <a:rPr lang="en-GB" sz="975" dirty="0">
                <a:latin typeface="+mj-lt"/>
                <a:cs typeface="Times New Roman" panose="02020603050405020304" pitchFamily="18" charset="0"/>
              </a:rPr>
              <a:t>Linear risk, options only</a:t>
            </a:r>
          </a:p>
        </p:txBody>
      </p:sp>
      <p:sp>
        <p:nvSpPr>
          <p:cNvPr id="24" name="TextBox 23">
            <a:extLst>
              <a:ext uri="{FF2B5EF4-FFF2-40B4-BE49-F238E27FC236}">
                <a16:creationId xmlns:a16="http://schemas.microsoft.com/office/drawing/2014/main" id="{D532B5A2-A4ED-4687-BDA4-40B3211947DA}"/>
              </a:ext>
            </a:extLst>
          </p:cNvPr>
          <p:cNvSpPr txBox="1"/>
          <p:nvPr/>
        </p:nvSpPr>
        <p:spPr>
          <a:xfrm>
            <a:off x="2709128" y="3105481"/>
            <a:ext cx="886290" cy="336686"/>
          </a:xfrm>
          <a:prstGeom prst="rect">
            <a:avLst/>
          </a:prstGeom>
          <a:noFill/>
        </p:spPr>
        <p:txBody>
          <a:bodyPr wrap="square" rtlCol="0" anchor="ctr">
            <a:noAutofit/>
          </a:bodyPr>
          <a:lstStyle/>
          <a:p>
            <a:r>
              <a:rPr lang="en-GB" sz="975" dirty="0">
                <a:latin typeface="+mj-lt"/>
                <a:cs typeface="Times New Roman" panose="02020603050405020304" pitchFamily="18" charset="0"/>
              </a:rPr>
              <a:t>Non linear risk</a:t>
            </a:r>
          </a:p>
        </p:txBody>
      </p:sp>
      <p:sp>
        <p:nvSpPr>
          <p:cNvPr id="25" name="TextBox 24">
            <a:extLst>
              <a:ext uri="{FF2B5EF4-FFF2-40B4-BE49-F238E27FC236}">
                <a16:creationId xmlns:a16="http://schemas.microsoft.com/office/drawing/2014/main" id="{90800715-9770-4B5B-AD43-8ADE92B252A4}"/>
              </a:ext>
            </a:extLst>
          </p:cNvPr>
          <p:cNvSpPr txBox="1"/>
          <p:nvPr/>
        </p:nvSpPr>
        <p:spPr>
          <a:xfrm>
            <a:off x="3708285" y="2625524"/>
            <a:ext cx="248248" cy="317459"/>
          </a:xfrm>
          <a:prstGeom prst="rect">
            <a:avLst/>
          </a:prstGeom>
          <a:noFill/>
        </p:spPr>
        <p:txBody>
          <a:bodyPr wrap="square" rtlCol="0">
            <a:spAutoFit/>
          </a:bodyPr>
          <a:lstStyle/>
          <a:p>
            <a:pPr algn="ctr"/>
            <a:r>
              <a:rPr lang="en-GB" sz="1463" b="1" dirty="0">
                <a:latin typeface="+mj-lt"/>
                <a:cs typeface="Times New Roman" panose="02020603050405020304" pitchFamily="18" charset="0"/>
              </a:rPr>
              <a:t>+</a:t>
            </a:r>
          </a:p>
        </p:txBody>
      </p:sp>
      <p:sp>
        <p:nvSpPr>
          <p:cNvPr id="26" name="TextBox 25">
            <a:extLst>
              <a:ext uri="{FF2B5EF4-FFF2-40B4-BE49-F238E27FC236}">
                <a16:creationId xmlns:a16="http://schemas.microsoft.com/office/drawing/2014/main" id="{77D9960B-07DC-46B3-83BE-50D50D62F450}"/>
              </a:ext>
            </a:extLst>
          </p:cNvPr>
          <p:cNvSpPr txBox="1"/>
          <p:nvPr/>
        </p:nvSpPr>
        <p:spPr>
          <a:xfrm>
            <a:off x="5366708" y="2625524"/>
            <a:ext cx="248248" cy="317459"/>
          </a:xfrm>
          <a:prstGeom prst="rect">
            <a:avLst/>
          </a:prstGeom>
          <a:noFill/>
        </p:spPr>
        <p:txBody>
          <a:bodyPr wrap="square" rtlCol="0">
            <a:spAutoFit/>
          </a:bodyPr>
          <a:lstStyle/>
          <a:p>
            <a:pPr algn="ctr"/>
            <a:r>
              <a:rPr lang="en-GB" sz="1463" b="1" dirty="0">
                <a:latin typeface="+mj-lt"/>
                <a:cs typeface="Times New Roman" panose="02020603050405020304" pitchFamily="18" charset="0"/>
              </a:rPr>
              <a:t>+</a:t>
            </a:r>
          </a:p>
        </p:txBody>
      </p:sp>
      <p:sp>
        <p:nvSpPr>
          <p:cNvPr id="29" name="Rectangle 28">
            <a:extLst>
              <a:ext uri="{FF2B5EF4-FFF2-40B4-BE49-F238E27FC236}">
                <a16:creationId xmlns:a16="http://schemas.microsoft.com/office/drawing/2014/main" id="{52BFD05D-E943-40FC-811D-E896DB97B735}"/>
              </a:ext>
            </a:extLst>
          </p:cNvPr>
          <p:cNvSpPr/>
          <p:nvPr/>
        </p:nvSpPr>
        <p:spPr>
          <a:xfrm>
            <a:off x="7264102" y="1277929"/>
            <a:ext cx="3327699" cy="459126"/>
          </a:xfrm>
          <a:prstGeom prst="rect">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38" b="1" dirty="0">
                <a:solidFill>
                  <a:schemeClr val="bg1"/>
                </a:solidFill>
                <a:latin typeface="+mj-lt"/>
                <a:cs typeface="Times New Roman" panose="02020603050405020304" pitchFamily="18" charset="0"/>
              </a:rPr>
              <a:t>The Internal Models Approach</a:t>
            </a:r>
            <a:endParaRPr lang="en-GB" sz="1138" dirty="0">
              <a:solidFill>
                <a:schemeClr val="bg1"/>
              </a:solidFill>
              <a:latin typeface="+mj-lt"/>
              <a:cs typeface="Times New Roman" panose="02020603050405020304" pitchFamily="18" charset="0"/>
            </a:endParaRPr>
          </a:p>
        </p:txBody>
      </p:sp>
      <p:sp>
        <p:nvSpPr>
          <p:cNvPr id="31" name="Rectangle 30">
            <a:extLst>
              <a:ext uri="{FF2B5EF4-FFF2-40B4-BE49-F238E27FC236}">
                <a16:creationId xmlns:a16="http://schemas.microsoft.com/office/drawing/2014/main" id="{43B73307-B4BE-44F9-98C0-F24DEB97C4F1}"/>
              </a:ext>
            </a:extLst>
          </p:cNvPr>
          <p:cNvSpPr/>
          <p:nvPr/>
        </p:nvSpPr>
        <p:spPr>
          <a:xfrm>
            <a:off x="7264102" y="1880170"/>
            <a:ext cx="3327699" cy="1790791"/>
          </a:xfrm>
          <a:prstGeom prst="rect">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38" dirty="0">
                <a:solidFill>
                  <a:schemeClr val="tx1"/>
                </a:solidFill>
                <a:latin typeface="+mj-lt"/>
                <a:cs typeface="Times New Roman" panose="02020603050405020304" pitchFamily="18" charset="0"/>
              </a:rPr>
              <a:t>Upon the explicit approval of a bank’s supervisory authority, the use of an internal model for the measurement of market risks is permitted, subject to explicit qualitative and quantitative standards. At a minimum, banks are required to calculated an ES on a daily basis for the bank-wide internal model, as well as for each trading desk, at a </a:t>
            </a:r>
            <a:r>
              <a:rPr lang="en-US" sz="1138" dirty="0" err="1">
                <a:solidFill>
                  <a:schemeClr val="tx1"/>
                </a:solidFill>
                <a:latin typeface="+mj-lt"/>
                <a:cs typeface="Times New Roman" panose="02020603050405020304" pitchFamily="18" charset="0"/>
              </a:rPr>
              <a:t>97.5</a:t>
            </a:r>
            <a:r>
              <a:rPr lang="en-US" sz="1138" baseline="30000" dirty="0" err="1">
                <a:solidFill>
                  <a:schemeClr val="tx1"/>
                </a:solidFill>
                <a:latin typeface="+mj-lt"/>
                <a:cs typeface="Times New Roman" panose="02020603050405020304" pitchFamily="18" charset="0"/>
              </a:rPr>
              <a:t>th</a:t>
            </a:r>
            <a:r>
              <a:rPr lang="en-US" sz="1138" baseline="30000" dirty="0">
                <a:solidFill>
                  <a:schemeClr val="tx1"/>
                </a:solidFill>
                <a:latin typeface="+mj-lt"/>
                <a:cs typeface="Times New Roman" panose="02020603050405020304" pitchFamily="18" charset="0"/>
              </a:rPr>
              <a:t> </a:t>
            </a:r>
            <a:r>
              <a:rPr lang="en-US" sz="1138" dirty="0">
                <a:solidFill>
                  <a:schemeClr val="tx1"/>
                </a:solidFill>
                <a:latin typeface="+mj-lt"/>
                <a:cs typeface="Times New Roman" panose="02020603050405020304" pitchFamily="18" charset="0"/>
              </a:rPr>
              <a:t>percentile, one tailed confidence interval. </a:t>
            </a:r>
            <a:endParaRPr lang="en-GB" sz="1138" dirty="0">
              <a:solidFill>
                <a:schemeClr val="tx1"/>
              </a:solidFill>
              <a:latin typeface="+mj-lt"/>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022E1AC-74D9-46B3-A0E0-2D0DAF20CB51}"/>
                  </a:ext>
                </a:extLst>
              </p:cNvPr>
              <p:cNvSpPr txBox="1"/>
              <p:nvPr/>
            </p:nvSpPr>
            <p:spPr>
              <a:xfrm>
                <a:off x="7264101" y="4277971"/>
                <a:ext cx="3327700" cy="69102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000" i="1">
                          <a:latin typeface="Cambria Math" panose="02040503050406030204" pitchFamily="18" charset="0"/>
                        </a:rPr>
                        <m:t>𝐸𝑆</m:t>
                      </m:r>
                      <m:r>
                        <a:rPr lang="en-GB" sz="1000">
                          <a:latin typeface="Cambria Math" panose="02040503050406030204" pitchFamily="18" charset="0"/>
                        </a:rPr>
                        <m:t>=</m:t>
                      </m:r>
                      <m:rad>
                        <m:radPr>
                          <m:degHide m:val="on"/>
                          <m:ctrlPr>
                            <a:rPr lang="en-GB" sz="1000" i="1">
                              <a:solidFill>
                                <a:srgbClr val="836967"/>
                              </a:solidFill>
                              <a:latin typeface="Cambria Math" panose="02040503050406030204" pitchFamily="18" charset="0"/>
                            </a:rPr>
                          </m:ctrlPr>
                        </m:radPr>
                        <m:deg/>
                        <m:e>
                          <m:sSup>
                            <m:sSupPr>
                              <m:ctrlPr>
                                <a:rPr lang="en-GB" sz="1000" i="1">
                                  <a:solidFill>
                                    <a:srgbClr val="836967"/>
                                  </a:solidFill>
                                  <a:latin typeface="Cambria Math" panose="02040503050406030204" pitchFamily="18" charset="0"/>
                                </a:rPr>
                              </m:ctrlPr>
                            </m:sSupPr>
                            <m:e>
                              <m:d>
                                <m:dPr>
                                  <m:ctrlPr>
                                    <a:rPr lang="en-GB" sz="1000" i="1">
                                      <a:solidFill>
                                        <a:srgbClr val="836967"/>
                                      </a:solidFill>
                                      <a:latin typeface="Cambria Math" panose="02040503050406030204" pitchFamily="18" charset="0"/>
                                    </a:rPr>
                                  </m:ctrlPr>
                                </m:dPr>
                                <m:e>
                                  <m:sSub>
                                    <m:sSubPr>
                                      <m:ctrlPr>
                                        <a:rPr lang="en-GB" sz="1000" i="1">
                                          <a:solidFill>
                                            <a:srgbClr val="836967"/>
                                          </a:solidFill>
                                          <a:latin typeface="Cambria Math" panose="02040503050406030204" pitchFamily="18" charset="0"/>
                                        </a:rPr>
                                      </m:ctrlPr>
                                    </m:sSubPr>
                                    <m:e>
                                      <m:r>
                                        <a:rPr lang="en-GB" sz="1000" i="1">
                                          <a:latin typeface="Cambria Math" panose="02040503050406030204" pitchFamily="18" charset="0"/>
                                        </a:rPr>
                                        <m:t>𝐸𝑆</m:t>
                                      </m:r>
                                    </m:e>
                                    <m:sub>
                                      <m:r>
                                        <a:rPr lang="en-GB" sz="1000" i="1">
                                          <a:latin typeface="Cambria Math" panose="02040503050406030204" pitchFamily="18" charset="0"/>
                                        </a:rPr>
                                        <m:t>𝑇</m:t>
                                      </m:r>
                                    </m:sub>
                                  </m:sSub>
                                  <m:d>
                                    <m:dPr>
                                      <m:ctrlPr>
                                        <a:rPr lang="en-GB" sz="1000" i="1">
                                          <a:solidFill>
                                            <a:srgbClr val="836967"/>
                                          </a:solidFill>
                                          <a:latin typeface="Cambria Math" panose="02040503050406030204" pitchFamily="18" charset="0"/>
                                        </a:rPr>
                                      </m:ctrlPr>
                                    </m:dPr>
                                    <m:e>
                                      <m:r>
                                        <a:rPr lang="en-GB" sz="1000" i="1">
                                          <a:latin typeface="Cambria Math" panose="02040503050406030204" pitchFamily="18" charset="0"/>
                                        </a:rPr>
                                        <m:t>𝑃</m:t>
                                      </m:r>
                                    </m:e>
                                  </m:d>
                                </m:e>
                              </m:d>
                            </m:e>
                            <m:sup>
                              <m:r>
                                <a:rPr lang="en-GB" sz="1000">
                                  <a:latin typeface="Cambria Math" panose="02040503050406030204" pitchFamily="18" charset="0"/>
                                </a:rPr>
                                <m:t>2</m:t>
                              </m:r>
                            </m:sup>
                          </m:sSup>
                          <m:r>
                            <a:rPr lang="en-GB" sz="1000">
                              <a:latin typeface="Cambria Math" panose="02040503050406030204" pitchFamily="18" charset="0"/>
                            </a:rPr>
                            <m:t>+</m:t>
                          </m:r>
                          <m:nary>
                            <m:naryPr>
                              <m:chr m:val="∑"/>
                              <m:limLoc m:val="undOvr"/>
                              <m:supHide m:val="on"/>
                              <m:ctrlPr>
                                <a:rPr lang="en-GB" sz="1000" i="1">
                                  <a:latin typeface="Cambria Math" panose="02040503050406030204" pitchFamily="18" charset="0"/>
                                </a:rPr>
                              </m:ctrlPr>
                            </m:naryPr>
                            <m:sub>
                              <m:r>
                                <a:rPr lang="en-GB" sz="1000" i="1">
                                  <a:latin typeface="Cambria Math" panose="02040503050406030204" pitchFamily="18" charset="0"/>
                                </a:rPr>
                                <m:t>𝑗</m:t>
                              </m:r>
                              <m:r>
                                <a:rPr lang="en-GB" sz="1000">
                                  <a:latin typeface="Cambria Math" panose="02040503050406030204" pitchFamily="18" charset="0"/>
                                </a:rPr>
                                <m:t>≥2</m:t>
                              </m:r>
                            </m:sub>
                            <m:sup/>
                            <m:e>
                              <m:sSup>
                                <m:sSupPr>
                                  <m:ctrlPr>
                                    <a:rPr lang="en-GB" sz="1000" i="1">
                                      <a:solidFill>
                                        <a:srgbClr val="836967"/>
                                      </a:solidFill>
                                      <a:latin typeface="Cambria Math" panose="02040503050406030204" pitchFamily="18" charset="0"/>
                                    </a:rPr>
                                  </m:ctrlPr>
                                </m:sSupPr>
                                <m:e>
                                  <m:d>
                                    <m:dPr>
                                      <m:ctrlPr>
                                        <a:rPr lang="en-GB" sz="1000" i="1">
                                          <a:solidFill>
                                            <a:srgbClr val="836967"/>
                                          </a:solidFill>
                                          <a:latin typeface="Cambria Math" panose="02040503050406030204" pitchFamily="18" charset="0"/>
                                        </a:rPr>
                                      </m:ctrlPr>
                                    </m:dPr>
                                    <m:e>
                                      <m:sSub>
                                        <m:sSubPr>
                                          <m:ctrlPr>
                                            <a:rPr lang="en-GB" sz="1000" i="1">
                                              <a:solidFill>
                                                <a:srgbClr val="836967"/>
                                              </a:solidFill>
                                              <a:latin typeface="Cambria Math" panose="02040503050406030204" pitchFamily="18" charset="0"/>
                                            </a:rPr>
                                          </m:ctrlPr>
                                        </m:sSubPr>
                                        <m:e>
                                          <m:r>
                                            <a:rPr lang="en-GB" sz="1000" i="1">
                                              <a:latin typeface="Cambria Math" panose="02040503050406030204" pitchFamily="18" charset="0"/>
                                            </a:rPr>
                                            <m:t>𝐸𝑆</m:t>
                                          </m:r>
                                        </m:e>
                                        <m:sub>
                                          <m:r>
                                            <a:rPr lang="en-GB" sz="1000" i="1">
                                              <a:latin typeface="Cambria Math" panose="02040503050406030204" pitchFamily="18" charset="0"/>
                                            </a:rPr>
                                            <m:t>𝑇</m:t>
                                          </m:r>
                                        </m:sub>
                                      </m:sSub>
                                      <m:d>
                                        <m:dPr>
                                          <m:ctrlPr>
                                            <a:rPr lang="en-GB" sz="1000" i="1">
                                              <a:solidFill>
                                                <a:srgbClr val="836967"/>
                                              </a:solidFill>
                                              <a:latin typeface="Cambria Math" panose="02040503050406030204" pitchFamily="18" charset="0"/>
                                            </a:rPr>
                                          </m:ctrlPr>
                                        </m:dPr>
                                        <m:e>
                                          <m:r>
                                            <a:rPr lang="en-GB" sz="1000" i="1">
                                              <a:latin typeface="Cambria Math" panose="02040503050406030204" pitchFamily="18" charset="0"/>
                                            </a:rPr>
                                            <m:t>𝑃</m:t>
                                          </m:r>
                                          <m:r>
                                            <a:rPr lang="en-GB" sz="1000">
                                              <a:latin typeface="Cambria Math" panose="02040503050406030204" pitchFamily="18" charset="0"/>
                                            </a:rPr>
                                            <m:t>,</m:t>
                                          </m:r>
                                          <m:r>
                                            <a:rPr lang="en-GB" sz="1000" i="1">
                                              <a:latin typeface="Cambria Math" panose="02040503050406030204" pitchFamily="18" charset="0"/>
                                            </a:rPr>
                                            <m:t>𝑗</m:t>
                                          </m:r>
                                        </m:e>
                                      </m:d>
                                      <m:rad>
                                        <m:radPr>
                                          <m:degHide m:val="on"/>
                                          <m:ctrlPr>
                                            <a:rPr lang="en-GB" sz="1000" i="1">
                                              <a:solidFill>
                                                <a:srgbClr val="836967"/>
                                              </a:solidFill>
                                              <a:latin typeface="Cambria Math" panose="02040503050406030204" pitchFamily="18" charset="0"/>
                                            </a:rPr>
                                          </m:ctrlPr>
                                        </m:radPr>
                                        <m:deg/>
                                        <m:e>
                                          <m:f>
                                            <m:fPr>
                                              <m:ctrlPr>
                                                <a:rPr lang="en-GB" sz="1000" i="1">
                                                  <a:solidFill>
                                                    <a:srgbClr val="836967"/>
                                                  </a:solidFill>
                                                  <a:latin typeface="Cambria Math" panose="02040503050406030204" pitchFamily="18" charset="0"/>
                                                </a:rPr>
                                              </m:ctrlPr>
                                            </m:fPr>
                                            <m:num>
                                              <m:d>
                                                <m:dPr>
                                                  <m:ctrlPr>
                                                    <a:rPr lang="en-GB" sz="1000" i="1">
                                                      <a:solidFill>
                                                        <a:srgbClr val="836967"/>
                                                      </a:solidFill>
                                                      <a:latin typeface="Cambria Math" panose="02040503050406030204" pitchFamily="18" charset="0"/>
                                                    </a:rPr>
                                                  </m:ctrlPr>
                                                </m:dPr>
                                                <m:e>
                                                  <m:sSub>
                                                    <m:sSubPr>
                                                      <m:ctrlPr>
                                                        <a:rPr lang="en-GB" sz="1000" i="1">
                                                          <a:solidFill>
                                                            <a:srgbClr val="836967"/>
                                                          </a:solidFill>
                                                          <a:latin typeface="Cambria Math" panose="02040503050406030204" pitchFamily="18" charset="0"/>
                                                        </a:rPr>
                                                      </m:ctrlPr>
                                                    </m:sSubPr>
                                                    <m:e>
                                                      <m:r>
                                                        <a:rPr lang="en-GB" sz="1000" i="1">
                                                          <a:latin typeface="Cambria Math" panose="02040503050406030204" pitchFamily="18" charset="0"/>
                                                        </a:rPr>
                                                        <m:t>𝐿𝐻</m:t>
                                                      </m:r>
                                                    </m:e>
                                                    <m:sub>
                                                      <m:r>
                                                        <a:rPr lang="en-GB" sz="1000" i="1">
                                                          <a:latin typeface="Cambria Math" panose="02040503050406030204" pitchFamily="18" charset="0"/>
                                                        </a:rPr>
                                                        <m:t>𝑗</m:t>
                                                      </m:r>
                                                    </m:sub>
                                                  </m:sSub>
                                                  <m:r>
                                                    <a:rPr lang="en-GB" sz="1000">
                                                      <a:latin typeface="Cambria Math" panose="02040503050406030204" pitchFamily="18" charset="0"/>
                                                    </a:rPr>
                                                    <m:t>−</m:t>
                                                  </m:r>
                                                  <m:sSub>
                                                    <m:sSubPr>
                                                      <m:ctrlPr>
                                                        <a:rPr lang="en-GB" sz="1000" i="1">
                                                          <a:solidFill>
                                                            <a:srgbClr val="836967"/>
                                                          </a:solidFill>
                                                          <a:latin typeface="Cambria Math" panose="02040503050406030204" pitchFamily="18" charset="0"/>
                                                        </a:rPr>
                                                      </m:ctrlPr>
                                                    </m:sSubPr>
                                                    <m:e>
                                                      <m:r>
                                                        <a:rPr lang="en-GB" sz="1000" i="1">
                                                          <a:latin typeface="Cambria Math" panose="02040503050406030204" pitchFamily="18" charset="0"/>
                                                        </a:rPr>
                                                        <m:t>𝐿𝐻</m:t>
                                                      </m:r>
                                                    </m:e>
                                                    <m:sub>
                                                      <m:r>
                                                        <a:rPr lang="en-GB" sz="1000" i="1">
                                                          <a:latin typeface="Cambria Math" panose="02040503050406030204" pitchFamily="18" charset="0"/>
                                                        </a:rPr>
                                                        <m:t>𝑗</m:t>
                                                      </m:r>
                                                      <m:r>
                                                        <a:rPr lang="en-GB" sz="1000">
                                                          <a:latin typeface="Cambria Math" panose="02040503050406030204" pitchFamily="18" charset="0"/>
                                                        </a:rPr>
                                                        <m:t>−1</m:t>
                                                      </m:r>
                                                    </m:sub>
                                                  </m:sSub>
                                                </m:e>
                                              </m:d>
                                            </m:num>
                                            <m:den>
                                              <m:r>
                                                <a:rPr lang="en-GB" sz="1000" i="1">
                                                  <a:latin typeface="Cambria Math" panose="02040503050406030204" pitchFamily="18" charset="0"/>
                                                </a:rPr>
                                                <m:t>𝑇</m:t>
                                              </m:r>
                                            </m:den>
                                          </m:f>
                                        </m:e>
                                      </m:rad>
                                    </m:e>
                                  </m:d>
                                </m:e>
                                <m:sup>
                                  <m:r>
                                    <a:rPr lang="en-GB" sz="1000">
                                      <a:latin typeface="Cambria Math" panose="02040503050406030204" pitchFamily="18" charset="0"/>
                                    </a:rPr>
                                    <m:t>2</m:t>
                                  </m:r>
                                </m:sup>
                              </m:sSup>
                            </m:e>
                          </m:nary>
                        </m:e>
                      </m:rad>
                    </m:oMath>
                  </m:oMathPara>
                </a14:m>
                <a:endParaRPr lang="en-GB" sz="1000" dirty="0"/>
              </a:p>
            </p:txBody>
          </p:sp>
        </mc:Choice>
        <mc:Fallback xmlns="">
          <p:sp>
            <p:nvSpPr>
              <p:cNvPr id="33" name="TextBox 32">
                <a:extLst>
                  <a:ext uri="{FF2B5EF4-FFF2-40B4-BE49-F238E27FC236}">
                    <a16:creationId xmlns:a16="http://schemas.microsoft.com/office/drawing/2014/main" id="{2022E1AC-74D9-46B3-A0E0-2D0DAF20CB51}"/>
                  </a:ext>
                </a:extLst>
              </p:cNvPr>
              <p:cNvSpPr txBox="1">
                <a:spLocks noRot="1" noChangeAspect="1" noMove="1" noResize="1" noEditPoints="1" noAdjustHandles="1" noChangeArrowheads="1" noChangeShapeType="1" noTextEdit="1"/>
              </p:cNvSpPr>
              <p:nvPr/>
            </p:nvSpPr>
            <p:spPr>
              <a:xfrm>
                <a:off x="7264101" y="4277971"/>
                <a:ext cx="3327700" cy="691023"/>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11944139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06AA770-5DFD-4066-B8EA-0135F84F2AFE}"/>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4" name="Object 3" hidden="1">
                        <a:extLst>
                          <a:ext uri="{FF2B5EF4-FFF2-40B4-BE49-F238E27FC236}">
                            <a16:creationId xmlns:a16="http://schemas.microsoft.com/office/drawing/2014/main" id="{106AA770-5DFD-4066-B8EA-0135F84F2AFE}"/>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61CD86F-4557-44B0-A0F5-F2105466AAA1}"/>
              </a:ext>
            </a:extLst>
          </p:cNvPr>
          <p:cNvSpPr>
            <a:spLocks noGrp="1"/>
          </p:cNvSpPr>
          <p:nvPr>
            <p:ph type="title"/>
          </p:nvPr>
        </p:nvSpPr>
        <p:spPr/>
        <p:txBody>
          <a:bodyPr vert="horz"/>
          <a:lstStyle/>
          <a:p>
            <a:r>
              <a:rPr lang="en-GB" dirty="0"/>
              <a:t>Pillar 1: Operational Risk</a:t>
            </a:r>
          </a:p>
        </p:txBody>
      </p:sp>
      <p:sp>
        <p:nvSpPr>
          <p:cNvPr id="6" name="Rectangle 5">
            <a:extLst>
              <a:ext uri="{FF2B5EF4-FFF2-40B4-BE49-F238E27FC236}">
                <a16:creationId xmlns:a16="http://schemas.microsoft.com/office/drawing/2014/main" id="{A7B8D94E-1479-4A34-B49C-2E6850AA6A3B}"/>
              </a:ext>
            </a:extLst>
          </p:cNvPr>
          <p:cNvSpPr/>
          <p:nvPr/>
        </p:nvSpPr>
        <p:spPr>
          <a:xfrm>
            <a:off x="1609066" y="1295400"/>
            <a:ext cx="8982735" cy="1501589"/>
          </a:xfrm>
          <a:prstGeom prst="rect">
            <a:avLst/>
          </a:prstGeom>
          <a:solidFill>
            <a:schemeClr val="bg1">
              <a:lumMod val="95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lnSpc>
                <a:spcPct val="130000"/>
              </a:lnSpc>
            </a:pPr>
            <a:r>
              <a:rPr lang="en-GB" sz="1400" b="1" dirty="0">
                <a:solidFill>
                  <a:srgbClr val="000000"/>
                </a:solidFill>
              </a:rPr>
              <a:t>After years of heavy investment by banking institutions, the Basel Committee decided to do away with the Advanced Measurement Approach (AMA) for Operational Risk as well as the Basic Indicator Approach (BIA) and Alternative Standardised Approach (TSA/ASA)</a:t>
            </a:r>
          </a:p>
          <a:p>
            <a:pPr algn="ctr">
              <a:lnSpc>
                <a:spcPct val="130000"/>
              </a:lnSpc>
            </a:pPr>
            <a:r>
              <a:rPr lang="en-GB" sz="1400" b="1" dirty="0">
                <a:solidFill>
                  <a:srgbClr val="000000"/>
                </a:solidFill>
              </a:rPr>
              <a:t>The 2017 Basel updates introduce a single non-model based method for the calculation of operational risk capital, the Standardised Measurement Approach (</a:t>
            </a:r>
            <a:r>
              <a:rPr lang="en-GB" sz="1400" b="1" dirty="0" err="1">
                <a:solidFill>
                  <a:srgbClr val="000000"/>
                </a:solidFill>
              </a:rPr>
              <a:t>SMA</a:t>
            </a:r>
            <a:r>
              <a:rPr lang="en-GB" sz="1400" b="1" dirty="0">
                <a:solidFill>
                  <a:srgbClr val="000000"/>
                </a:solidFill>
              </a:rPr>
              <a:t>)</a:t>
            </a:r>
          </a:p>
        </p:txBody>
      </p:sp>
      <p:sp>
        <p:nvSpPr>
          <p:cNvPr id="7" name="Rectangle 6">
            <a:extLst>
              <a:ext uri="{FF2B5EF4-FFF2-40B4-BE49-F238E27FC236}">
                <a16:creationId xmlns:a16="http://schemas.microsoft.com/office/drawing/2014/main" id="{CA7328BC-E91A-4D56-8DC1-04F4DCF61743}"/>
              </a:ext>
            </a:extLst>
          </p:cNvPr>
          <p:cNvSpPr/>
          <p:nvPr/>
        </p:nvSpPr>
        <p:spPr>
          <a:xfrm>
            <a:off x="1600201" y="2896719"/>
            <a:ext cx="1328569" cy="505610"/>
          </a:xfrm>
          <a:prstGeom prst="rect">
            <a:avLst/>
          </a:prstGeom>
          <a:solidFill>
            <a:schemeClr val="accent2">
              <a:lumMod val="60000"/>
              <a:lumOff val="4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err="1">
                <a:solidFill>
                  <a:srgbClr val="000000"/>
                </a:solidFill>
              </a:rPr>
              <a:t>SMA</a:t>
            </a:r>
            <a:r>
              <a:rPr lang="en-GB" sz="1200" b="1" dirty="0">
                <a:solidFill>
                  <a:srgbClr val="000000"/>
                </a:solidFill>
              </a:rPr>
              <a:t> capital charge</a:t>
            </a:r>
          </a:p>
        </p:txBody>
      </p:sp>
      <p:sp>
        <p:nvSpPr>
          <p:cNvPr id="8" name="Rectangle 7">
            <a:extLst>
              <a:ext uri="{FF2B5EF4-FFF2-40B4-BE49-F238E27FC236}">
                <a16:creationId xmlns:a16="http://schemas.microsoft.com/office/drawing/2014/main" id="{0A1C3DC3-1E87-4D20-AD10-29A0D419B029}"/>
              </a:ext>
            </a:extLst>
          </p:cNvPr>
          <p:cNvSpPr/>
          <p:nvPr/>
        </p:nvSpPr>
        <p:spPr>
          <a:xfrm>
            <a:off x="3280212" y="2896719"/>
            <a:ext cx="3480073" cy="505610"/>
          </a:xfrm>
          <a:prstGeom prst="rect">
            <a:avLst/>
          </a:prstGeom>
          <a:solidFill>
            <a:schemeClr val="accent2">
              <a:lumMod val="60000"/>
              <a:lumOff val="4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a:solidFill>
                  <a:srgbClr val="000000"/>
                </a:solidFill>
              </a:rPr>
              <a:t>Business Indicator Component (BIC)</a:t>
            </a:r>
          </a:p>
        </p:txBody>
      </p:sp>
      <p:sp>
        <p:nvSpPr>
          <p:cNvPr id="9" name="Rectangle 8">
            <a:extLst>
              <a:ext uri="{FF2B5EF4-FFF2-40B4-BE49-F238E27FC236}">
                <a16:creationId xmlns:a16="http://schemas.microsoft.com/office/drawing/2014/main" id="{C2FD3118-1134-4B55-8EEC-9AEC25F0A748}"/>
              </a:ext>
            </a:extLst>
          </p:cNvPr>
          <p:cNvSpPr/>
          <p:nvPr/>
        </p:nvSpPr>
        <p:spPr>
          <a:xfrm>
            <a:off x="7111727" y="2896719"/>
            <a:ext cx="3480073" cy="505610"/>
          </a:xfrm>
          <a:prstGeom prst="rect">
            <a:avLst/>
          </a:prstGeom>
          <a:solidFill>
            <a:schemeClr val="accent2">
              <a:lumMod val="60000"/>
              <a:lumOff val="40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a:solidFill>
                  <a:srgbClr val="000000"/>
                </a:solidFill>
              </a:rPr>
              <a:t>Internal Loss Multiplier (</a:t>
            </a:r>
            <a:r>
              <a:rPr lang="en-GB" sz="1200" b="1" dirty="0" err="1">
                <a:solidFill>
                  <a:srgbClr val="000000"/>
                </a:solidFill>
              </a:rPr>
              <a:t>ILM</a:t>
            </a:r>
            <a:r>
              <a:rPr lang="en-GB" sz="1200" b="1" dirty="0">
                <a:solidFill>
                  <a:srgbClr val="000000"/>
                </a:solidFill>
              </a:rPr>
              <a:t>)</a:t>
            </a:r>
          </a:p>
        </p:txBody>
      </p:sp>
      <p:sp>
        <p:nvSpPr>
          <p:cNvPr id="11" name="TextBox 10">
            <a:extLst>
              <a:ext uri="{FF2B5EF4-FFF2-40B4-BE49-F238E27FC236}">
                <a16:creationId xmlns:a16="http://schemas.microsoft.com/office/drawing/2014/main" id="{AAB35E17-A958-4E01-B63D-ED51EF9FA662}"/>
              </a:ext>
            </a:extLst>
          </p:cNvPr>
          <p:cNvSpPr txBox="1"/>
          <p:nvPr/>
        </p:nvSpPr>
        <p:spPr>
          <a:xfrm>
            <a:off x="2562972" y="2885963"/>
            <a:ext cx="1083036" cy="505610"/>
          </a:xfrm>
          <a:prstGeom prst="rect">
            <a:avLst/>
          </a:prstGeom>
          <a:noFill/>
        </p:spPr>
        <p:txBody>
          <a:bodyPr wrap="square" rtlCol="0" anchor="t">
            <a:noAutofit/>
          </a:bodyPr>
          <a:lstStyle/>
          <a:p>
            <a:pPr algn="ctr"/>
            <a:r>
              <a:rPr lang="en-GB" sz="2800" b="1" dirty="0">
                <a:cs typeface="Trebuchet MS"/>
              </a:rPr>
              <a:t>=</a:t>
            </a:r>
          </a:p>
        </p:txBody>
      </p:sp>
      <p:sp>
        <p:nvSpPr>
          <p:cNvPr id="12" name="TextBox 11">
            <a:extLst>
              <a:ext uri="{FF2B5EF4-FFF2-40B4-BE49-F238E27FC236}">
                <a16:creationId xmlns:a16="http://schemas.microsoft.com/office/drawing/2014/main" id="{2FDDE4EC-1CF6-4EB0-B509-A54C353CABAE}"/>
              </a:ext>
            </a:extLst>
          </p:cNvPr>
          <p:cNvSpPr txBox="1"/>
          <p:nvPr/>
        </p:nvSpPr>
        <p:spPr>
          <a:xfrm>
            <a:off x="6394487" y="2980096"/>
            <a:ext cx="1083036" cy="505610"/>
          </a:xfrm>
          <a:prstGeom prst="rect">
            <a:avLst/>
          </a:prstGeom>
          <a:noFill/>
        </p:spPr>
        <p:txBody>
          <a:bodyPr wrap="square" rtlCol="0" anchor="t">
            <a:noAutofit/>
          </a:bodyPr>
          <a:lstStyle/>
          <a:p>
            <a:pPr algn="ctr"/>
            <a:r>
              <a:rPr lang="en-GB" sz="2800" b="1" dirty="0">
                <a:cs typeface="Trebuchet MS"/>
              </a:rPr>
              <a:t>*</a:t>
            </a:r>
          </a:p>
        </p:txBody>
      </p:sp>
      <p:sp>
        <p:nvSpPr>
          <p:cNvPr id="13" name="TextBox 12">
            <a:extLst>
              <a:ext uri="{FF2B5EF4-FFF2-40B4-BE49-F238E27FC236}">
                <a16:creationId xmlns:a16="http://schemas.microsoft.com/office/drawing/2014/main" id="{6A467207-DFE2-4204-AE50-D42D73F49CAD}"/>
              </a:ext>
            </a:extLst>
          </p:cNvPr>
          <p:cNvSpPr txBox="1"/>
          <p:nvPr/>
        </p:nvSpPr>
        <p:spPr>
          <a:xfrm>
            <a:off x="3280212" y="3445361"/>
            <a:ext cx="3480073" cy="319816"/>
          </a:xfrm>
          <a:prstGeom prst="rect">
            <a:avLst/>
          </a:prstGeom>
          <a:noFill/>
        </p:spPr>
        <p:txBody>
          <a:bodyPr wrap="square" rtlCol="0">
            <a:noAutofit/>
          </a:bodyPr>
          <a:lstStyle/>
          <a:p>
            <a:pPr algn="ctr"/>
            <a:r>
              <a:rPr lang="en-GB" sz="1200" dirty="0">
                <a:cs typeface="Trebuchet MS"/>
              </a:rPr>
              <a:t>The sum of:</a:t>
            </a:r>
          </a:p>
        </p:txBody>
      </p:sp>
      <p:sp>
        <p:nvSpPr>
          <p:cNvPr id="14" name="Isosceles Triangle 13">
            <a:extLst>
              <a:ext uri="{FF2B5EF4-FFF2-40B4-BE49-F238E27FC236}">
                <a16:creationId xmlns:a16="http://schemas.microsoft.com/office/drawing/2014/main" id="{55CE7235-301E-44C8-880E-F0DBCA5326D2}"/>
              </a:ext>
            </a:extLst>
          </p:cNvPr>
          <p:cNvSpPr/>
          <p:nvPr/>
        </p:nvSpPr>
        <p:spPr>
          <a:xfrm flipV="1">
            <a:off x="4482365" y="3379472"/>
            <a:ext cx="1075765" cy="118334"/>
          </a:xfrm>
          <a:prstGeom prst="triangle">
            <a:avLst/>
          </a:prstGeom>
          <a:solidFill>
            <a:schemeClr val="accent2">
              <a:lumMod val="75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endParaRPr lang="en-GB" sz="1200" b="1" dirty="0">
              <a:solidFill>
                <a:srgbClr val="000000"/>
              </a:solidFill>
            </a:endParaRPr>
          </a:p>
        </p:txBody>
      </p:sp>
      <p:grpSp>
        <p:nvGrpSpPr>
          <p:cNvPr id="18" name="Group 17">
            <a:extLst>
              <a:ext uri="{FF2B5EF4-FFF2-40B4-BE49-F238E27FC236}">
                <a16:creationId xmlns:a16="http://schemas.microsoft.com/office/drawing/2014/main" id="{29251C00-36DB-4B97-B5CA-89022426FE9E}"/>
              </a:ext>
            </a:extLst>
          </p:cNvPr>
          <p:cNvGrpSpPr/>
          <p:nvPr/>
        </p:nvGrpSpPr>
        <p:grpSpPr>
          <a:xfrm>
            <a:off x="3280208" y="3695701"/>
            <a:ext cx="3480076" cy="2362201"/>
            <a:chOff x="2137208" y="4319644"/>
            <a:chExt cx="3480076" cy="2237151"/>
          </a:xfrm>
        </p:grpSpPr>
        <p:sp>
          <p:nvSpPr>
            <p:cNvPr id="15" name="Rectangle 14">
              <a:extLst>
                <a:ext uri="{FF2B5EF4-FFF2-40B4-BE49-F238E27FC236}">
                  <a16:creationId xmlns:a16="http://schemas.microsoft.com/office/drawing/2014/main" id="{8AED384F-26F4-4FC3-A770-DD803BF1970B}"/>
                </a:ext>
              </a:extLst>
            </p:cNvPr>
            <p:cNvSpPr/>
            <p:nvPr/>
          </p:nvSpPr>
          <p:spPr>
            <a:xfrm>
              <a:off x="2137211" y="4319644"/>
              <a:ext cx="3480073" cy="677732"/>
            </a:xfrm>
            <a:prstGeom prst="rect">
              <a:avLst/>
            </a:prstGeom>
            <a:solidFill>
              <a:schemeClr val="bg1">
                <a:lumMod val="95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a:solidFill>
                    <a:srgbClr val="000000"/>
                  </a:solidFill>
                </a:rPr>
                <a:t>Interest, Leases &amp; </a:t>
              </a:r>
              <a:r>
                <a:rPr lang="en-GB" sz="1200" b="1" dirty="0" err="1">
                  <a:solidFill>
                    <a:srgbClr val="000000"/>
                  </a:solidFill>
                </a:rPr>
                <a:t>Divident</a:t>
              </a:r>
              <a:r>
                <a:rPr lang="en-GB" sz="1200" b="1" dirty="0">
                  <a:solidFill>
                    <a:srgbClr val="000000"/>
                  </a:solidFill>
                </a:rPr>
                <a:t> component (</a:t>
              </a:r>
              <a:r>
                <a:rPr lang="en-GB" sz="1200" b="1" dirty="0" err="1">
                  <a:solidFill>
                    <a:srgbClr val="000000"/>
                  </a:solidFill>
                </a:rPr>
                <a:t>ILDC</a:t>
              </a:r>
              <a:r>
                <a:rPr lang="en-GB" sz="1200" b="1" dirty="0">
                  <a:solidFill>
                    <a:srgbClr val="000000"/>
                  </a:solidFill>
                </a:rPr>
                <a:t>)</a:t>
              </a:r>
            </a:p>
            <a:p>
              <a:pPr algn="ctr"/>
              <a:r>
                <a:rPr lang="en-US" sz="1200" b="1" dirty="0">
                  <a:solidFill>
                    <a:srgbClr val="000000"/>
                  </a:solidFill>
                </a:rPr>
                <a:t> </a:t>
              </a:r>
              <a:r>
                <a:rPr lang="en-US" sz="1200" dirty="0">
                  <a:solidFill>
                    <a:srgbClr val="000000"/>
                  </a:solidFill>
                </a:rPr>
                <a:t>Minimum (Absolute Value [Interest income –</a:t>
              </a:r>
            </a:p>
            <a:p>
              <a:pPr algn="ctr"/>
              <a:r>
                <a:rPr lang="en-US" sz="1200" dirty="0">
                  <a:solidFill>
                    <a:srgbClr val="000000"/>
                  </a:solidFill>
                </a:rPr>
                <a:t>Interest expense</a:t>
              </a:r>
              <a:r>
                <a:rPr lang="en-US" sz="1200">
                  <a:solidFill>
                    <a:srgbClr val="000000"/>
                  </a:solidFill>
                </a:rPr>
                <a:t>]; 3.5% </a:t>
              </a:r>
              <a:r>
                <a:rPr lang="en-US" sz="1200" dirty="0">
                  <a:solidFill>
                    <a:srgbClr val="000000"/>
                  </a:solidFill>
                </a:rPr>
                <a:t>*Interest earning assets) + Dividend income</a:t>
              </a:r>
              <a:endParaRPr lang="en-GB" sz="1200" dirty="0">
                <a:solidFill>
                  <a:srgbClr val="000000"/>
                </a:solidFill>
              </a:endParaRPr>
            </a:p>
          </p:txBody>
        </p:sp>
        <p:sp>
          <p:nvSpPr>
            <p:cNvPr id="16" name="Rectangle 15">
              <a:extLst>
                <a:ext uri="{FF2B5EF4-FFF2-40B4-BE49-F238E27FC236}">
                  <a16:creationId xmlns:a16="http://schemas.microsoft.com/office/drawing/2014/main" id="{44014E2E-6754-483B-B826-B7FC4E791BFA}"/>
                </a:ext>
              </a:extLst>
            </p:cNvPr>
            <p:cNvSpPr/>
            <p:nvPr/>
          </p:nvSpPr>
          <p:spPr>
            <a:xfrm>
              <a:off x="2137209" y="5117735"/>
              <a:ext cx="3480073" cy="677732"/>
            </a:xfrm>
            <a:prstGeom prst="rect">
              <a:avLst/>
            </a:prstGeom>
            <a:solidFill>
              <a:schemeClr val="bg1">
                <a:lumMod val="95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a:solidFill>
                    <a:srgbClr val="000000"/>
                  </a:solidFill>
                </a:rPr>
                <a:t>Services component (SC)</a:t>
              </a:r>
            </a:p>
            <a:p>
              <a:pPr algn="ctr"/>
              <a:r>
                <a:rPr lang="en-US" sz="1200" dirty="0">
                  <a:solidFill>
                    <a:srgbClr val="000000"/>
                  </a:solidFill>
                </a:rPr>
                <a:t>SC = Maximum (Fee income; Fee expense) +</a:t>
              </a:r>
            </a:p>
            <a:p>
              <a:pPr algn="ctr"/>
              <a:r>
                <a:rPr lang="en-US" sz="1200" dirty="0">
                  <a:solidFill>
                    <a:srgbClr val="000000"/>
                  </a:solidFill>
                </a:rPr>
                <a:t>Maximum (Other operating income; Other operating expense)</a:t>
              </a:r>
              <a:endParaRPr lang="en-GB" sz="1200" dirty="0">
                <a:solidFill>
                  <a:srgbClr val="000000"/>
                </a:solidFill>
              </a:endParaRPr>
            </a:p>
          </p:txBody>
        </p:sp>
        <p:sp>
          <p:nvSpPr>
            <p:cNvPr id="17" name="Rectangle 16">
              <a:extLst>
                <a:ext uri="{FF2B5EF4-FFF2-40B4-BE49-F238E27FC236}">
                  <a16:creationId xmlns:a16="http://schemas.microsoft.com/office/drawing/2014/main" id="{F8A834BB-61E6-41A3-92A4-8D588F701B42}"/>
                </a:ext>
              </a:extLst>
            </p:cNvPr>
            <p:cNvSpPr/>
            <p:nvPr/>
          </p:nvSpPr>
          <p:spPr>
            <a:xfrm>
              <a:off x="2137208" y="5879063"/>
              <a:ext cx="3480073" cy="677732"/>
            </a:xfrm>
            <a:prstGeom prst="rect">
              <a:avLst/>
            </a:prstGeom>
            <a:solidFill>
              <a:schemeClr val="bg1">
                <a:lumMod val="95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ctr" anchorCtr="0" forceAA="0" compatLnSpc="1">
              <a:prstTxWarp prst="textNoShape">
                <a:avLst/>
              </a:prstTxWarp>
              <a:noAutofit/>
            </a:bodyPr>
            <a:lstStyle/>
            <a:p>
              <a:pPr algn="ctr"/>
              <a:r>
                <a:rPr lang="en-GB" sz="1200" b="1" dirty="0">
                  <a:solidFill>
                    <a:srgbClr val="000000"/>
                  </a:solidFill>
                </a:rPr>
                <a:t>Financial component (FC)</a:t>
              </a:r>
            </a:p>
            <a:p>
              <a:pPr algn="ctr"/>
              <a:r>
                <a:rPr lang="en-US" sz="1200" dirty="0">
                  <a:solidFill>
                    <a:srgbClr val="000000"/>
                  </a:solidFill>
                </a:rPr>
                <a:t>FC = Absolute value (Net P&amp;L Trading book) +</a:t>
              </a:r>
            </a:p>
            <a:p>
              <a:pPr algn="ctr"/>
              <a:r>
                <a:rPr lang="en-US" sz="1200" dirty="0">
                  <a:solidFill>
                    <a:srgbClr val="000000"/>
                  </a:solidFill>
                </a:rPr>
                <a:t>Absolute value (Net P&amp;L Banking book)</a:t>
              </a:r>
              <a:endParaRPr lang="en-GB" sz="1200" dirty="0">
                <a:solidFill>
                  <a:srgbClr val="000000"/>
                </a:solidFill>
              </a:endParaRPr>
            </a:p>
          </p:txBody>
        </p:sp>
      </p:grpSp>
      <p:sp>
        <p:nvSpPr>
          <p:cNvPr id="19" name="Rectangle 18">
            <a:extLst>
              <a:ext uri="{FF2B5EF4-FFF2-40B4-BE49-F238E27FC236}">
                <a16:creationId xmlns:a16="http://schemas.microsoft.com/office/drawing/2014/main" id="{208BCB26-BA7E-465B-8652-8CF67DF9C575}"/>
              </a:ext>
            </a:extLst>
          </p:cNvPr>
          <p:cNvSpPr/>
          <p:nvPr/>
        </p:nvSpPr>
        <p:spPr>
          <a:xfrm>
            <a:off x="7111728" y="3698614"/>
            <a:ext cx="3480073" cy="2359286"/>
          </a:xfrm>
          <a:prstGeom prst="rect">
            <a:avLst/>
          </a:prstGeom>
          <a:solidFill>
            <a:schemeClr val="bg1">
              <a:lumMod val="95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r>
              <a:rPr lang="en-GB" sz="1200" b="1" dirty="0">
                <a:solidFill>
                  <a:srgbClr val="000000"/>
                </a:solidFill>
              </a:rPr>
              <a:t>The Loss Component (LC) </a:t>
            </a:r>
            <a:r>
              <a:rPr lang="en-GB" sz="1200" dirty="0">
                <a:solidFill>
                  <a:srgbClr val="000000"/>
                </a:solidFill>
              </a:rPr>
              <a:t>is defined as 15 times the average annual operational risk losses over the previous 10 years (therefore introducing </a:t>
            </a:r>
            <a:r>
              <a:rPr lang="en-GB" sz="1200" i="1" dirty="0">
                <a:solidFill>
                  <a:srgbClr val="000000"/>
                </a:solidFill>
              </a:rPr>
              <a:t>some</a:t>
            </a:r>
            <a:r>
              <a:rPr lang="en-GB" sz="1200" dirty="0">
                <a:solidFill>
                  <a:srgbClr val="000000"/>
                </a:solidFill>
              </a:rPr>
              <a:t> risk sensitivity to the framework)</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23CEAE5-D960-4BE1-A652-F86C611A78E3}"/>
                  </a:ext>
                </a:extLst>
              </p:cNvPr>
              <p:cNvSpPr txBox="1"/>
              <p:nvPr/>
            </p:nvSpPr>
            <p:spPr>
              <a:xfrm>
                <a:off x="7200441" y="4801828"/>
                <a:ext cx="3422700" cy="914400"/>
              </a:xfrm>
              <a:prstGeom prst="rect">
                <a:avLst/>
              </a:prstGeom>
              <a:noFill/>
            </p:spPr>
            <p:txBody>
              <a:bodyPr wrap="none" lIns="0" tIns="0" rIns="0" bIns="0" rtlCol="0">
                <a:noAutofit/>
              </a:bodyPr>
              <a:lstStyle/>
              <a:p>
                <a:pPr/>
                <a14:m>
                  <m:oMathPara xmlns:m="http://schemas.openxmlformats.org/officeDocument/2006/math">
                    <m:oMathParaPr>
                      <m:jc m:val="centerGroup"/>
                    </m:oMathParaPr>
                    <m:oMath xmlns:m="http://schemas.openxmlformats.org/officeDocument/2006/math">
                      <m:r>
                        <a:rPr lang="en-GB" sz="1000" i="1">
                          <a:latin typeface="Cambria Math" panose="02040503050406030204" pitchFamily="18" charset="0"/>
                          <a:cs typeface="Trebuchet MS"/>
                        </a:rPr>
                        <m:t>𝐼𝐿𝑀</m:t>
                      </m:r>
                      <m:r>
                        <a:rPr lang="en-GB" sz="1000" i="1">
                          <a:latin typeface="Cambria Math" panose="02040503050406030204" pitchFamily="18" charset="0"/>
                          <a:cs typeface="Trebuchet MS"/>
                        </a:rPr>
                        <m:t>=</m:t>
                      </m:r>
                      <m:r>
                        <a:rPr lang="en-GB" sz="1000" i="1">
                          <a:latin typeface="Cambria Math" panose="02040503050406030204" pitchFamily="18" charset="0"/>
                          <a:cs typeface="Trebuchet MS"/>
                        </a:rPr>
                        <m:t>𝑙𝑛</m:t>
                      </m:r>
                      <m:d>
                        <m:dPr>
                          <m:ctrlPr>
                            <a:rPr lang="en-GB" sz="1000" i="1">
                              <a:latin typeface="Cambria Math" panose="02040503050406030204" pitchFamily="18" charset="0"/>
                            </a:rPr>
                          </m:ctrlPr>
                        </m:dPr>
                        <m:e>
                          <m:func>
                            <m:funcPr>
                              <m:ctrlPr>
                                <a:rPr lang="en-GB" sz="1000" i="1">
                                  <a:latin typeface="Cambria Math" panose="02040503050406030204" pitchFamily="18" charset="0"/>
                                </a:rPr>
                              </m:ctrlPr>
                            </m:funcPr>
                            <m:fName>
                              <m:r>
                                <m:rPr>
                                  <m:sty m:val="p"/>
                                </m:rPr>
                                <a:rPr lang="en-GB" sz="1000">
                                  <a:latin typeface="Cambria Math" panose="02040503050406030204" pitchFamily="18" charset="0"/>
                                </a:rPr>
                                <m:t>exp</m:t>
                              </m:r>
                            </m:fName>
                            <m:e>
                              <m:d>
                                <m:dPr>
                                  <m:ctrlPr>
                                    <a:rPr lang="en-GB" sz="1000" i="1">
                                      <a:latin typeface="Cambria Math" panose="02040503050406030204" pitchFamily="18" charset="0"/>
                                    </a:rPr>
                                  </m:ctrlPr>
                                </m:dPr>
                                <m:e>
                                  <m:r>
                                    <a:rPr lang="en-GB" sz="1000" i="1">
                                      <a:latin typeface="Cambria Math" panose="02040503050406030204" pitchFamily="18" charset="0"/>
                                    </a:rPr>
                                    <m:t>1</m:t>
                                  </m:r>
                                </m:e>
                              </m:d>
                            </m:e>
                          </m:func>
                          <m:r>
                            <a:rPr lang="en-GB" sz="1000" i="1">
                              <a:latin typeface="Cambria Math" panose="02040503050406030204" pitchFamily="18" charset="0"/>
                            </a:rPr>
                            <m:t>−1+</m:t>
                          </m:r>
                          <m:sSup>
                            <m:sSupPr>
                              <m:ctrlPr>
                                <a:rPr lang="en-GB" sz="1000" i="1">
                                  <a:latin typeface="Cambria Math" panose="02040503050406030204" pitchFamily="18" charset="0"/>
                                </a:rPr>
                              </m:ctrlPr>
                            </m:sSupPr>
                            <m:e>
                              <m:d>
                                <m:dPr>
                                  <m:ctrlPr>
                                    <a:rPr lang="en-GB" sz="1000" i="1">
                                      <a:latin typeface="Cambria Math" panose="02040503050406030204" pitchFamily="18" charset="0"/>
                                    </a:rPr>
                                  </m:ctrlPr>
                                </m:dPr>
                                <m:e>
                                  <m:f>
                                    <m:fPr>
                                      <m:ctrlPr>
                                        <a:rPr lang="en-GB" sz="1000" i="1">
                                          <a:latin typeface="Cambria Math" panose="02040503050406030204" pitchFamily="18" charset="0"/>
                                        </a:rPr>
                                      </m:ctrlPr>
                                    </m:fPr>
                                    <m:num>
                                      <m:r>
                                        <a:rPr lang="en-GB" sz="1000" i="1">
                                          <a:latin typeface="Cambria Math" panose="02040503050406030204" pitchFamily="18" charset="0"/>
                                        </a:rPr>
                                        <m:t>15 ∗</m:t>
                                      </m:r>
                                      <m:nary>
                                        <m:naryPr>
                                          <m:chr m:val="∑"/>
                                          <m:subHide m:val="on"/>
                                          <m:supHide m:val="on"/>
                                          <m:ctrlPr>
                                            <a:rPr lang="en-GB" sz="1000" i="1">
                                              <a:latin typeface="Cambria Math" panose="02040503050406030204" pitchFamily="18" charset="0"/>
                                            </a:rPr>
                                          </m:ctrlPr>
                                        </m:naryPr>
                                        <m:sub/>
                                        <m:sup/>
                                        <m:e>
                                          <m:r>
                                            <a:rPr lang="en-GB" sz="1000" i="1">
                                              <a:latin typeface="Cambria Math" panose="02040503050406030204" pitchFamily="18" charset="0"/>
                                            </a:rPr>
                                            <m:t>𝑂𝑝𝑠</m:t>
                                          </m:r>
                                          <m:r>
                                            <a:rPr lang="en-GB" sz="1000" i="1">
                                              <a:latin typeface="Cambria Math" panose="02040503050406030204" pitchFamily="18" charset="0"/>
                                            </a:rPr>
                                            <m:t> </m:t>
                                          </m:r>
                                          <m:r>
                                            <a:rPr lang="en-GB" sz="1000" i="1">
                                              <a:latin typeface="Cambria Math" panose="02040503050406030204" pitchFamily="18" charset="0"/>
                                            </a:rPr>
                                            <m:t>𝑅𝑖𝑠𝑘</m:t>
                                          </m:r>
                                          <m:r>
                                            <a:rPr lang="en-GB" sz="1000" i="1">
                                              <a:latin typeface="Cambria Math" panose="02040503050406030204" pitchFamily="18" charset="0"/>
                                            </a:rPr>
                                            <m:t> </m:t>
                                          </m:r>
                                          <m:r>
                                            <a:rPr lang="en-GB" sz="1000" i="1">
                                              <a:latin typeface="Cambria Math" panose="02040503050406030204" pitchFamily="18" charset="0"/>
                                            </a:rPr>
                                            <m:t>𝑙𝑜𝑠𝑠𝑒𝑠</m:t>
                                          </m:r>
                                          <m:r>
                                            <a:rPr lang="en-GB" sz="1000" i="1">
                                              <a:latin typeface="Cambria Math" panose="02040503050406030204" pitchFamily="18" charset="0"/>
                                            </a:rPr>
                                            <m:t> </m:t>
                                          </m:r>
                                          <m:r>
                                            <a:rPr lang="en-GB" sz="1000" i="1">
                                              <a:latin typeface="Cambria Math" panose="02040503050406030204" pitchFamily="18" charset="0"/>
                                            </a:rPr>
                                            <m:t>𝑦𝑟</m:t>
                                          </m:r>
                                        </m:e>
                                      </m:nary>
                                    </m:num>
                                    <m:den>
                                      <m:r>
                                        <a:rPr lang="en-GB" sz="1000" i="1">
                                          <a:latin typeface="Cambria Math" panose="02040503050406030204" pitchFamily="18" charset="0"/>
                                        </a:rPr>
                                        <m:t>𝐵𝐼𝐶</m:t>
                                      </m:r>
                                    </m:den>
                                  </m:f>
                                </m:e>
                              </m:d>
                            </m:e>
                            <m:sup>
                              <m:r>
                                <a:rPr lang="en-GB" sz="1000" i="1">
                                  <a:latin typeface="Cambria Math" panose="02040503050406030204" pitchFamily="18" charset="0"/>
                                </a:rPr>
                                <m:t>0.8</m:t>
                              </m:r>
                            </m:sup>
                          </m:sSup>
                        </m:e>
                      </m:d>
                    </m:oMath>
                  </m:oMathPara>
                </a14:m>
                <a:endParaRPr lang="en-GB" sz="1000" dirty="0">
                  <a:cs typeface="Trebuchet MS"/>
                </a:endParaRPr>
              </a:p>
            </p:txBody>
          </p:sp>
        </mc:Choice>
        <mc:Fallback xmlns="">
          <p:sp>
            <p:nvSpPr>
              <p:cNvPr id="21" name="TextBox 20">
                <a:extLst>
                  <a:ext uri="{FF2B5EF4-FFF2-40B4-BE49-F238E27FC236}">
                    <a16:creationId xmlns:a16="http://schemas.microsoft.com/office/drawing/2014/main" id="{023CEAE5-D960-4BE1-A652-F86C611A78E3}"/>
                  </a:ext>
                </a:extLst>
              </p:cNvPr>
              <p:cNvSpPr txBox="1">
                <a:spLocks noRot="1" noChangeAspect="1" noMove="1" noResize="1" noEditPoints="1" noAdjustHandles="1" noChangeArrowheads="1" noChangeShapeType="1" noTextEdit="1"/>
              </p:cNvSpPr>
              <p:nvPr/>
            </p:nvSpPr>
            <p:spPr>
              <a:xfrm>
                <a:off x="7200441" y="4801828"/>
                <a:ext cx="3422700" cy="914400"/>
              </a:xfrm>
              <a:prstGeom prst="rect">
                <a:avLst/>
              </a:prstGeom>
              <a:blipFill>
                <a:blip r:embed="rId5"/>
                <a:stretch>
                  <a:fillRect t="-25333"/>
                </a:stretch>
              </a:blipFill>
            </p:spPr>
            <p:txBody>
              <a:bodyPr/>
              <a:lstStyle/>
              <a:p>
                <a:r>
                  <a:rPr lang="en-GB">
                    <a:noFill/>
                  </a:rPr>
                  <a:t> </a:t>
                </a:r>
              </a:p>
            </p:txBody>
          </p:sp>
        </mc:Fallback>
      </mc:AlternateContent>
    </p:spTree>
    <p:extLst>
      <p:ext uri="{BB962C8B-B14F-4D97-AF65-F5344CB8AC3E}">
        <p14:creationId xmlns:p14="http://schemas.microsoft.com/office/powerpoint/2010/main" val="37008073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FFF2E14-1E5D-46C8-A5D2-B4ABAE3BFB18}"/>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9FFF2E14-1E5D-46C8-A5D2-B4ABAE3BFB18}"/>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6891FD7-7D74-4D93-93C2-9A49E742C064}"/>
              </a:ext>
            </a:extLst>
          </p:cNvPr>
          <p:cNvSpPr>
            <a:spLocks noGrp="1"/>
          </p:cNvSpPr>
          <p:nvPr>
            <p:ph type="title"/>
          </p:nvPr>
        </p:nvSpPr>
        <p:spPr/>
        <p:txBody>
          <a:bodyPr vert="horz">
            <a:normAutofit fontScale="90000"/>
          </a:bodyPr>
          <a:lstStyle/>
          <a:p>
            <a:r>
              <a:rPr lang="en-GB" dirty="0"/>
              <a:t>Basel III introduced explicit liquidity capital standards (a bit late, but better late than never…)</a:t>
            </a:r>
          </a:p>
        </p:txBody>
      </p:sp>
      <p:sp>
        <p:nvSpPr>
          <p:cNvPr id="3" name="Content Placeholder 2">
            <a:extLst>
              <a:ext uri="{FF2B5EF4-FFF2-40B4-BE49-F238E27FC236}">
                <a16:creationId xmlns:a16="http://schemas.microsoft.com/office/drawing/2014/main" id="{895415FE-154F-4822-BF3E-8E3BF20252D9}"/>
              </a:ext>
            </a:extLst>
          </p:cNvPr>
          <p:cNvSpPr>
            <a:spLocks noGrp="1"/>
          </p:cNvSpPr>
          <p:nvPr>
            <p:ph idx="1"/>
          </p:nvPr>
        </p:nvSpPr>
        <p:spPr>
          <a:xfrm>
            <a:off x="1609725" y="1306514"/>
            <a:ext cx="4448176" cy="4750487"/>
          </a:xfrm>
        </p:spPr>
        <p:txBody>
          <a:bodyPr/>
          <a:lstStyle/>
          <a:p>
            <a:r>
              <a:rPr lang="en-GB" sz="1400" dirty="0"/>
              <a:t>Strong capital requirements are a necessary condition for  banking sector stability but by themselves are not sufficient</a:t>
            </a:r>
          </a:p>
          <a:p>
            <a:endParaRPr lang="en-GB" sz="1400" dirty="0"/>
          </a:p>
          <a:p>
            <a:r>
              <a:rPr lang="en-GB" sz="1400" i="1" dirty="0"/>
              <a:t>A strong liquidity base is of equal importance </a:t>
            </a:r>
          </a:p>
          <a:p>
            <a:endParaRPr lang="en-GB" sz="1400" dirty="0"/>
          </a:p>
          <a:p>
            <a:r>
              <a:rPr lang="en-GB" sz="1400" dirty="0"/>
              <a:t>In the lead up to and during the financial crisis many banks did not manage their liquidity prudently</a:t>
            </a:r>
          </a:p>
          <a:p>
            <a:endParaRPr lang="en-GB" sz="1400" dirty="0"/>
          </a:p>
          <a:p>
            <a:r>
              <a:rPr lang="en-GB" sz="1400" dirty="0"/>
              <a:t>Until the publication of Basel 3 there was no internationally harmonised liquidity standard</a:t>
            </a:r>
          </a:p>
          <a:p>
            <a:endParaRPr lang="en-GB" sz="1400" dirty="0"/>
          </a:p>
          <a:p>
            <a:r>
              <a:rPr lang="en-GB" sz="1400" dirty="0"/>
              <a:t>Ironically, the Basel Committee had been preparing its “Principles for sound liquidity risk management and supervision” but only got to publish them days after Lehman Brothers collapsed</a:t>
            </a:r>
          </a:p>
          <a:p>
            <a:endParaRPr lang="en-GB" sz="1400" dirty="0"/>
          </a:p>
        </p:txBody>
      </p:sp>
      <p:pic>
        <p:nvPicPr>
          <p:cNvPr id="14" name="Picture 13">
            <a:extLst>
              <a:ext uri="{FF2B5EF4-FFF2-40B4-BE49-F238E27FC236}">
                <a16:creationId xmlns:a16="http://schemas.microsoft.com/office/drawing/2014/main" id="{E43CBC8B-2834-423F-A956-D8D1BB1851A8}"/>
              </a:ext>
            </a:extLst>
          </p:cNvPr>
          <p:cNvPicPr>
            <a:picLocks noChangeAspect="1"/>
          </p:cNvPicPr>
          <p:nvPr/>
        </p:nvPicPr>
        <p:blipFill>
          <a:blip r:embed="rId5"/>
          <a:stretch>
            <a:fillRect/>
          </a:stretch>
        </p:blipFill>
        <p:spPr>
          <a:xfrm>
            <a:off x="7115378" y="1295401"/>
            <a:ext cx="3362122" cy="475048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894930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007B3E4C-3239-4A0B-ACE3-D7971101EFF1}"/>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4" name="Object 3" hidden="1">
                        <a:extLst>
                          <a:ext uri="{FF2B5EF4-FFF2-40B4-BE49-F238E27FC236}">
                            <a16:creationId xmlns:a16="http://schemas.microsoft.com/office/drawing/2014/main" id="{007B3E4C-3239-4A0B-ACE3-D7971101EFF1}"/>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4B36B92-FD35-4105-9426-0660026E86F3}"/>
              </a:ext>
            </a:extLst>
          </p:cNvPr>
          <p:cNvSpPr>
            <a:spLocks noGrp="1"/>
          </p:cNvSpPr>
          <p:nvPr>
            <p:ph type="title"/>
          </p:nvPr>
        </p:nvSpPr>
        <p:spPr/>
        <p:txBody>
          <a:bodyPr vert="horz"/>
          <a:lstStyle/>
          <a:p>
            <a:r>
              <a:rPr lang="en-GB" dirty="0"/>
              <a:t>What is liquidity risk?</a:t>
            </a:r>
          </a:p>
        </p:txBody>
      </p:sp>
      <p:sp>
        <p:nvSpPr>
          <p:cNvPr id="6" name="Text Placeholder 4">
            <a:extLst>
              <a:ext uri="{FF2B5EF4-FFF2-40B4-BE49-F238E27FC236}">
                <a16:creationId xmlns:a16="http://schemas.microsoft.com/office/drawing/2014/main" id="{4B55900E-9678-42D5-A21F-8A1C6B70B854}"/>
              </a:ext>
            </a:extLst>
          </p:cNvPr>
          <p:cNvSpPr txBox="1">
            <a:spLocks/>
          </p:cNvSpPr>
          <p:nvPr/>
        </p:nvSpPr>
        <p:spPr>
          <a:xfrm>
            <a:off x="1725611" y="2147786"/>
            <a:ext cx="4185585" cy="2796354"/>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a:lstStyle>
            <a:lvl1pPr marL="180975" indent="-180975" algn="l" defTabSz="457200" rtl="0" eaLnBrk="1" latinLnBrk="0" hangingPunct="1">
              <a:spcBef>
                <a:spcPct val="20000"/>
              </a:spcBef>
              <a:buFont typeface="Wingdings" charset="2"/>
              <a:buChar char="§"/>
              <a:defRPr sz="1200" kern="1200" baseline="0">
                <a:solidFill>
                  <a:schemeClr val="tx1"/>
                </a:solidFill>
                <a:latin typeface="+mn-lt"/>
                <a:ea typeface="+mn-ea"/>
                <a:cs typeface="+mn-cs"/>
              </a:defRPr>
            </a:lvl1pPr>
            <a:lvl2pPr marL="447675" indent="-180975" algn="l" defTabSz="457200" rtl="0" eaLnBrk="1" latinLnBrk="0" hangingPunct="1">
              <a:spcBef>
                <a:spcPct val="20000"/>
              </a:spcBef>
              <a:buFont typeface="Arial"/>
              <a:buChar char="–"/>
              <a:defRPr sz="1200" kern="1200">
                <a:solidFill>
                  <a:schemeClr val="tx1"/>
                </a:solidFill>
                <a:latin typeface="+mn-lt"/>
                <a:ea typeface="+mn-ea"/>
                <a:cs typeface="+mn-cs"/>
              </a:defRPr>
            </a:lvl2pPr>
            <a:lvl3pPr marL="714375" indent="-180975" algn="l" defTabSz="457200" rtl="0" eaLnBrk="1" latinLnBrk="0" hangingPunct="1">
              <a:spcBef>
                <a:spcPct val="20000"/>
              </a:spcBef>
              <a:buFont typeface="Lucida Grande"/>
              <a:buChar char="»"/>
              <a:defRPr sz="1200" kern="1200">
                <a:solidFill>
                  <a:schemeClr val="tx1"/>
                </a:solidFill>
                <a:latin typeface="+mn-lt"/>
                <a:ea typeface="+mn-ea"/>
                <a:cs typeface="+mn-cs"/>
              </a:defRPr>
            </a:lvl3pPr>
            <a:lvl4pPr marL="981075" indent="-169863" algn="l" defTabSz="457200" rtl="0" eaLnBrk="1" latinLnBrk="0" hangingPunct="1">
              <a:spcBef>
                <a:spcPct val="20000"/>
              </a:spcBef>
              <a:buFont typeface="Arial"/>
              <a:buChar char="–"/>
              <a:defRPr sz="1200" kern="1200">
                <a:solidFill>
                  <a:schemeClr val="tx1"/>
                </a:solidFill>
                <a:latin typeface="+mn-lt"/>
                <a:ea typeface="+mn-ea"/>
                <a:cs typeface="+mn-cs"/>
              </a:defRPr>
            </a:lvl4pPr>
            <a:lvl5pPr marL="1258888" indent="-180975" algn="l" defTabSz="457200" rtl="0" eaLnBrk="1" latinLnBrk="0" hangingPunct="1">
              <a:spcBef>
                <a:spcPct val="20000"/>
              </a:spcBef>
              <a:buFont typeface="Arial"/>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GB" sz="1600" b="1" dirty="0"/>
              <a:t>Funding liquidity risk</a:t>
            </a:r>
          </a:p>
          <a:p>
            <a:pPr marL="0" indent="0">
              <a:buNone/>
            </a:pPr>
            <a:endParaRPr lang="en-GB" sz="1600" b="1" dirty="0"/>
          </a:p>
          <a:p>
            <a:pPr marL="0" indent="0" algn="ctr">
              <a:lnSpc>
                <a:spcPct val="150000"/>
              </a:lnSpc>
              <a:buNone/>
            </a:pPr>
            <a:r>
              <a:rPr lang="en-GB" sz="1400" dirty="0"/>
              <a:t>“The risk that the firm will not be able to efficiently meet both expected and unexpected current and future cash flow and collateral needs without affecting either daily operations or the financial condition of the firm.” </a:t>
            </a:r>
          </a:p>
          <a:p>
            <a:endParaRPr lang="en-GB" sz="1600" dirty="0"/>
          </a:p>
          <a:p>
            <a:pPr marL="0" indent="0" algn="r">
              <a:buNone/>
            </a:pPr>
            <a:r>
              <a:rPr lang="en-GB" i="1" dirty="0"/>
              <a:t>Basel Committee on Banking Supervision, 2006</a:t>
            </a:r>
          </a:p>
          <a:p>
            <a:endParaRPr lang="en-GB" dirty="0"/>
          </a:p>
        </p:txBody>
      </p:sp>
      <p:sp>
        <p:nvSpPr>
          <p:cNvPr id="7" name="Text Placeholder 5">
            <a:extLst>
              <a:ext uri="{FF2B5EF4-FFF2-40B4-BE49-F238E27FC236}">
                <a16:creationId xmlns:a16="http://schemas.microsoft.com/office/drawing/2014/main" id="{BCA3606C-976A-450C-8B3E-109F3B10325B}"/>
              </a:ext>
            </a:extLst>
          </p:cNvPr>
          <p:cNvSpPr txBox="1">
            <a:spLocks/>
          </p:cNvSpPr>
          <p:nvPr/>
        </p:nvSpPr>
        <p:spPr>
          <a:xfrm>
            <a:off x="6291704" y="2147786"/>
            <a:ext cx="4185797" cy="2796354"/>
          </a:xfrm>
          <a:prstGeom prst="rect">
            <a:avLst/>
          </a:prstGeom>
          <a:solidFill>
            <a:schemeClr val="accent2">
              <a:lumMod val="40000"/>
              <a:lumOff val="60000"/>
            </a:schemeClr>
          </a:solidFill>
          <a:effectLst>
            <a:outerShdw blurRad="50800" dist="38100" dir="2700000" algn="tl" rotWithShape="0">
              <a:prstClr val="black">
                <a:alpha val="40000"/>
              </a:prstClr>
            </a:outerShdw>
          </a:effectLst>
        </p:spPr>
        <p:txBody>
          <a:bodyPr/>
          <a:lstStyle>
            <a:lvl1pPr marL="180975" indent="-180975" algn="l" defTabSz="457200" rtl="0" eaLnBrk="1" latinLnBrk="0" hangingPunct="1">
              <a:spcBef>
                <a:spcPct val="20000"/>
              </a:spcBef>
              <a:buFont typeface="Wingdings" charset="2"/>
              <a:buChar char="§"/>
              <a:defRPr sz="1200" kern="1200" baseline="0">
                <a:solidFill>
                  <a:schemeClr val="tx1"/>
                </a:solidFill>
                <a:latin typeface="+mn-lt"/>
                <a:ea typeface="+mn-ea"/>
                <a:cs typeface="+mn-cs"/>
              </a:defRPr>
            </a:lvl1pPr>
            <a:lvl2pPr marL="447675" indent="-180975" algn="l" defTabSz="457200" rtl="0" eaLnBrk="1" latinLnBrk="0" hangingPunct="1">
              <a:spcBef>
                <a:spcPct val="20000"/>
              </a:spcBef>
              <a:buFont typeface="Arial"/>
              <a:buChar char="–"/>
              <a:defRPr sz="1200" kern="1200">
                <a:solidFill>
                  <a:schemeClr val="tx1"/>
                </a:solidFill>
                <a:latin typeface="+mn-lt"/>
                <a:ea typeface="+mn-ea"/>
                <a:cs typeface="+mn-cs"/>
              </a:defRPr>
            </a:lvl2pPr>
            <a:lvl3pPr marL="714375" indent="-180975" algn="l" defTabSz="457200" rtl="0" eaLnBrk="1" latinLnBrk="0" hangingPunct="1">
              <a:spcBef>
                <a:spcPct val="20000"/>
              </a:spcBef>
              <a:buFont typeface="Lucida Grande"/>
              <a:buChar char="»"/>
              <a:defRPr sz="1200" kern="1200">
                <a:solidFill>
                  <a:schemeClr val="tx1"/>
                </a:solidFill>
                <a:latin typeface="+mn-lt"/>
                <a:ea typeface="+mn-ea"/>
                <a:cs typeface="+mn-cs"/>
              </a:defRPr>
            </a:lvl3pPr>
            <a:lvl4pPr marL="981075" indent="-169863" algn="l" defTabSz="457200" rtl="0" eaLnBrk="1" latinLnBrk="0" hangingPunct="1">
              <a:spcBef>
                <a:spcPct val="20000"/>
              </a:spcBef>
              <a:buFont typeface="Arial"/>
              <a:buChar char="–"/>
              <a:defRPr sz="1200" kern="1200">
                <a:solidFill>
                  <a:schemeClr val="tx1"/>
                </a:solidFill>
                <a:latin typeface="+mn-lt"/>
                <a:ea typeface="+mn-ea"/>
                <a:cs typeface="+mn-cs"/>
              </a:defRPr>
            </a:lvl4pPr>
            <a:lvl5pPr marL="1258888" indent="-180975" algn="l" defTabSz="457200" rtl="0" eaLnBrk="1" latinLnBrk="0" hangingPunct="1">
              <a:spcBef>
                <a:spcPct val="20000"/>
              </a:spcBef>
              <a:buFont typeface="Arial"/>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GB" sz="1600" b="1" dirty="0"/>
              <a:t>Trading liquidity risk</a:t>
            </a:r>
          </a:p>
          <a:p>
            <a:pPr marL="0" indent="0">
              <a:buNone/>
            </a:pPr>
            <a:endParaRPr lang="en-GB" sz="1600" b="1" dirty="0"/>
          </a:p>
          <a:p>
            <a:pPr marL="0" indent="0" algn="ctr">
              <a:lnSpc>
                <a:spcPct val="150000"/>
              </a:lnSpc>
              <a:buNone/>
            </a:pPr>
            <a:r>
              <a:rPr lang="en-GB" sz="1400" dirty="0"/>
              <a:t>“The risk that a firm cannot easily offset or eliminate a position without significantly affecting the market price because of inadequate market depth or market disruption.” </a:t>
            </a:r>
          </a:p>
          <a:p>
            <a:endParaRPr lang="en-GB" sz="1600" dirty="0"/>
          </a:p>
          <a:p>
            <a:pPr marL="0" indent="0" algn="r">
              <a:buNone/>
            </a:pPr>
            <a:endParaRPr lang="en-GB" i="1" dirty="0">
              <a:solidFill>
                <a:prstClr val="black"/>
              </a:solidFill>
            </a:endParaRPr>
          </a:p>
          <a:p>
            <a:pPr marL="0" indent="0" algn="r">
              <a:buNone/>
            </a:pPr>
            <a:r>
              <a:rPr lang="en-GB" i="1" dirty="0">
                <a:solidFill>
                  <a:prstClr val="black"/>
                </a:solidFill>
              </a:rPr>
              <a:t>Basel Committee on Banking Supervision, 2006</a:t>
            </a:r>
          </a:p>
          <a:p>
            <a:pPr marL="0" indent="0" algn="r">
              <a:buNone/>
            </a:pPr>
            <a:endParaRPr lang="en-GB" sz="1600" i="1" dirty="0"/>
          </a:p>
        </p:txBody>
      </p:sp>
      <p:sp>
        <p:nvSpPr>
          <p:cNvPr id="8" name="TextBox 7">
            <a:extLst>
              <a:ext uri="{FF2B5EF4-FFF2-40B4-BE49-F238E27FC236}">
                <a16:creationId xmlns:a16="http://schemas.microsoft.com/office/drawing/2014/main" id="{FEC4E0DF-7D2B-4AFE-ACC7-C77EC702E1FC}"/>
              </a:ext>
            </a:extLst>
          </p:cNvPr>
          <p:cNvSpPr txBox="1"/>
          <p:nvPr/>
        </p:nvSpPr>
        <p:spPr>
          <a:xfrm>
            <a:off x="1609066" y="1306513"/>
            <a:ext cx="8982735" cy="469124"/>
          </a:xfrm>
          <a:prstGeom prst="rect">
            <a:avLst/>
          </a:prstGeom>
          <a:noFill/>
        </p:spPr>
        <p:txBody>
          <a:bodyPr wrap="square" rtlCol="0">
            <a:noAutofit/>
          </a:bodyPr>
          <a:lstStyle/>
          <a:p>
            <a:r>
              <a:rPr lang="en-GB" sz="1400" dirty="0">
                <a:cs typeface="Trebuchet MS"/>
              </a:rPr>
              <a:t>One needs to differentiate between funding liquidity and trading liquidity risk</a:t>
            </a:r>
          </a:p>
        </p:txBody>
      </p:sp>
      <p:sp>
        <p:nvSpPr>
          <p:cNvPr id="9" name="Isosceles Triangle 8">
            <a:extLst>
              <a:ext uri="{FF2B5EF4-FFF2-40B4-BE49-F238E27FC236}">
                <a16:creationId xmlns:a16="http://schemas.microsoft.com/office/drawing/2014/main" id="{A6BF7249-32D3-474B-890C-4FA2F9F139A4}"/>
              </a:ext>
            </a:extLst>
          </p:cNvPr>
          <p:cNvSpPr/>
          <p:nvPr/>
        </p:nvSpPr>
        <p:spPr>
          <a:xfrm>
            <a:off x="3006577" y="5451269"/>
            <a:ext cx="1456661" cy="244549"/>
          </a:xfrm>
          <a:prstGeom prst="triangle">
            <a:avLst/>
          </a:prstGeom>
          <a:solidFill>
            <a:schemeClr val="accent2"/>
          </a:solidFill>
          <a:ln w="15875">
            <a:solidFill>
              <a:srgbClr val="7E99A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endParaRPr lang="en-GB" sz="1000" dirty="0">
              <a:solidFill>
                <a:srgbClr val="000000"/>
              </a:solidFill>
            </a:endParaRPr>
          </a:p>
        </p:txBody>
      </p:sp>
      <p:sp>
        <p:nvSpPr>
          <p:cNvPr id="10" name="TextBox 9">
            <a:extLst>
              <a:ext uri="{FF2B5EF4-FFF2-40B4-BE49-F238E27FC236}">
                <a16:creationId xmlns:a16="http://schemas.microsoft.com/office/drawing/2014/main" id="{1A4637B6-8C16-4FEC-AE62-C31509061923}"/>
              </a:ext>
            </a:extLst>
          </p:cNvPr>
          <p:cNvSpPr txBox="1"/>
          <p:nvPr/>
        </p:nvSpPr>
        <p:spPr>
          <a:xfrm>
            <a:off x="2177236" y="5695818"/>
            <a:ext cx="3115340" cy="362083"/>
          </a:xfrm>
          <a:prstGeom prst="rect">
            <a:avLst/>
          </a:prstGeom>
          <a:noFill/>
        </p:spPr>
        <p:txBody>
          <a:bodyPr wrap="square" rtlCol="0">
            <a:noAutofit/>
          </a:bodyPr>
          <a:lstStyle/>
          <a:p>
            <a:pPr algn="ctr"/>
            <a:r>
              <a:rPr lang="en-GB" sz="1200" dirty="0">
                <a:cs typeface="Trebuchet MS"/>
              </a:rPr>
              <a:t>Focus of Basel Liquidity Standards</a:t>
            </a:r>
          </a:p>
        </p:txBody>
      </p:sp>
      <p:sp>
        <p:nvSpPr>
          <p:cNvPr id="12" name="Isosceles Triangle 11">
            <a:extLst>
              <a:ext uri="{FF2B5EF4-FFF2-40B4-BE49-F238E27FC236}">
                <a16:creationId xmlns:a16="http://schemas.microsoft.com/office/drawing/2014/main" id="{258A9BBC-21BE-4C9D-B8F6-E771AE53DEB7}"/>
              </a:ext>
            </a:extLst>
          </p:cNvPr>
          <p:cNvSpPr/>
          <p:nvPr/>
        </p:nvSpPr>
        <p:spPr>
          <a:xfrm>
            <a:off x="7728767" y="5451269"/>
            <a:ext cx="1456661" cy="244549"/>
          </a:xfrm>
          <a:prstGeom prst="triangle">
            <a:avLst/>
          </a:prstGeom>
          <a:solidFill>
            <a:schemeClr val="accent2"/>
          </a:solidFill>
          <a:ln w="15875">
            <a:solidFill>
              <a:srgbClr val="7E99A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endParaRPr lang="en-GB" sz="1000" dirty="0">
              <a:solidFill>
                <a:srgbClr val="000000"/>
              </a:solidFill>
            </a:endParaRPr>
          </a:p>
        </p:txBody>
      </p:sp>
      <p:sp>
        <p:nvSpPr>
          <p:cNvPr id="13" name="TextBox 12">
            <a:extLst>
              <a:ext uri="{FF2B5EF4-FFF2-40B4-BE49-F238E27FC236}">
                <a16:creationId xmlns:a16="http://schemas.microsoft.com/office/drawing/2014/main" id="{1FF8BA34-BAB0-42D7-AEE9-D9465E67C066}"/>
              </a:ext>
            </a:extLst>
          </p:cNvPr>
          <p:cNvSpPr txBox="1"/>
          <p:nvPr/>
        </p:nvSpPr>
        <p:spPr>
          <a:xfrm>
            <a:off x="6899426" y="5695818"/>
            <a:ext cx="3115340" cy="362083"/>
          </a:xfrm>
          <a:prstGeom prst="rect">
            <a:avLst/>
          </a:prstGeom>
          <a:noFill/>
        </p:spPr>
        <p:txBody>
          <a:bodyPr wrap="square" rtlCol="0">
            <a:noAutofit/>
          </a:bodyPr>
          <a:lstStyle/>
          <a:p>
            <a:pPr algn="ctr"/>
            <a:r>
              <a:rPr lang="en-GB" sz="1200" dirty="0">
                <a:cs typeface="Trebuchet MS"/>
              </a:rPr>
              <a:t>Focus of Basel Market Risk Standards</a:t>
            </a:r>
          </a:p>
        </p:txBody>
      </p:sp>
    </p:spTree>
    <p:extLst>
      <p:ext uri="{BB962C8B-B14F-4D97-AF65-F5344CB8AC3E}">
        <p14:creationId xmlns:p14="http://schemas.microsoft.com/office/powerpoint/2010/main" val="38165015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AF78946-C941-441F-896A-C11FA76CEC74}"/>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4" name="Object 3" hidden="1">
                        <a:extLst>
                          <a:ext uri="{FF2B5EF4-FFF2-40B4-BE49-F238E27FC236}">
                            <a16:creationId xmlns:a16="http://schemas.microsoft.com/office/drawing/2014/main" id="{9AF78946-C941-441F-896A-C11FA76CEC74}"/>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5" name="Text Placeholder 4">
            <a:extLst>
              <a:ext uri="{FF2B5EF4-FFF2-40B4-BE49-F238E27FC236}">
                <a16:creationId xmlns:a16="http://schemas.microsoft.com/office/drawing/2014/main" id="{725FF058-6959-46B3-BC77-BBD08EF4E276}"/>
              </a:ext>
            </a:extLst>
          </p:cNvPr>
          <p:cNvSpPr>
            <a:spLocks noGrp="1"/>
          </p:cNvSpPr>
          <p:nvPr>
            <p:ph idx="1"/>
          </p:nvPr>
        </p:nvSpPr>
        <p:spPr>
          <a:xfrm>
            <a:off x="1609725" y="1306800"/>
            <a:ext cx="8971492" cy="2038828"/>
          </a:xfrm>
        </p:spPr>
        <p:txBody>
          <a:bodyPr>
            <a:normAutofit fontScale="62500" lnSpcReduction="20000"/>
          </a:bodyPr>
          <a:lstStyle/>
          <a:p>
            <a:pPr marL="495300" lvl="1">
              <a:lnSpc>
                <a:spcPct val="150000"/>
              </a:lnSpc>
              <a:buFont typeface="+mj-lt"/>
              <a:buAutoNum type="arabicPeriod"/>
            </a:pPr>
            <a:r>
              <a:rPr lang="en-GB" dirty="0"/>
              <a:t>The capability of a financial firm to maintain an equilibrium between financial inflows and outflows over time</a:t>
            </a:r>
          </a:p>
          <a:p>
            <a:pPr marL="495300" lvl="1">
              <a:lnSpc>
                <a:spcPct val="150000"/>
              </a:lnSpc>
              <a:buFont typeface="+mj-lt"/>
              <a:buAutoNum type="arabicPeriod"/>
            </a:pPr>
            <a:r>
              <a:rPr lang="en-GB" dirty="0"/>
              <a:t>The capability of a financial firm to increase its liabilities (acquire funds) on the wholesale financial markets when the funding is needed</a:t>
            </a:r>
          </a:p>
          <a:p>
            <a:pPr marL="495300" lvl="1">
              <a:lnSpc>
                <a:spcPct val="150000"/>
              </a:lnSpc>
              <a:buFont typeface="+mj-lt"/>
              <a:buAutoNum type="arabicPeriod"/>
            </a:pPr>
            <a:r>
              <a:rPr lang="en-GB" dirty="0"/>
              <a:t>The capability of a financial firm to turn an asset into cash quickly, without capital loss or interest penalty (closely linked to trading liquidity)</a:t>
            </a:r>
          </a:p>
          <a:p>
            <a:pPr marL="342900" indent="-342900">
              <a:buFont typeface="+mj-lt"/>
              <a:buAutoNum type="arabicPeriod"/>
            </a:pPr>
            <a:endParaRPr lang="en-GB" sz="1200" dirty="0"/>
          </a:p>
          <a:p>
            <a:endParaRPr lang="en-GB" dirty="0"/>
          </a:p>
        </p:txBody>
      </p:sp>
      <p:sp>
        <p:nvSpPr>
          <p:cNvPr id="2" name="Title 1">
            <a:extLst>
              <a:ext uri="{FF2B5EF4-FFF2-40B4-BE49-F238E27FC236}">
                <a16:creationId xmlns:a16="http://schemas.microsoft.com/office/drawing/2014/main" id="{2407C1D3-687D-443A-9D25-BEDA6A952855}"/>
              </a:ext>
            </a:extLst>
          </p:cNvPr>
          <p:cNvSpPr>
            <a:spLocks noGrp="1"/>
          </p:cNvSpPr>
          <p:nvPr>
            <p:ph type="title"/>
          </p:nvPr>
        </p:nvSpPr>
        <p:spPr/>
        <p:txBody>
          <a:bodyPr vert="horz">
            <a:normAutofit fontScale="90000"/>
          </a:bodyPr>
          <a:lstStyle/>
          <a:p>
            <a:r>
              <a:rPr lang="en-GB" dirty="0"/>
              <a:t>What does funding liquidity mean and what are its causes?</a:t>
            </a:r>
          </a:p>
        </p:txBody>
      </p:sp>
      <p:sp>
        <p:nvSpPr>
          <p:cNvPr id="7" name="Rectangle 6">
            <a:extLst>
              <a:ext uri="{FF2B5EF4-FFF2-40B4-BE49-F238E27FC236}">
                <a16:creationId xmlns:a16="http://schemas.microsoft.com/office/drawing/2014/main" id="{F74C7E51-A68E-4468-978A-FA47B7E7017F}"/>
              </a:ext>
            </a:extLst>
          </p:cNvPr>
          <p:cNvSpPr/>
          <p:nvPr/>
        </p:nvSpPr>
        <p:spPr>
          <a:xfrm>
            <a:off x="1609066" y="3345628"/>
            <a:ext cx="8982735" cy="2713172"/>
          </a:xfrm>
          <a:prstGeom prst="rect">
            <a:avLst/>
          </a:prstGeom>
          <a:solidFill>
            <a:schemeClr val="bg1">
              <a:lumMod val="95000"/>
            </a:schemeClr>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r>
              <a:rPr lang="en-GB" sz="1200" b="1" dirty="0">
                <a:solidFill>
                  <a:srgbClr val="000000"/>
                </a:solidFill>
              </a:rPr>
              <a:t>Causes of funding liquidity risk</a:t>
            </a:r>
          </a:p>
        </p:txBody>
      </p:sp>
      <p:sp>
        <p:nvSpPr>
          <p:cNvPr id="8" name="Rectangle 7">
            <a:extLst>
              <a:ext uri="{FF2B5EF4-FFF2-40B4-BE49-F238E27FC236}">
                <a16:creationId xmlns:a16="http://schemas.microsoft.com/office/drawing/2014/main" id="{59CE2826-9708-453B-8C88-9C87F7B46F62}"/>
              </a:ext>
            </a:extLst>
          </p:cNvPr>
          <p:cNvSpPr/>
          <p:nvPr/>
        </p:nvSpPr>
        <p:spPr>
          <a:xfrm>
            <a:off x="1714500" y="3635695"/>
            <a:ext cx="4343400" cy="2313284"/>
          </a:xfrm>
          <a:prstGeom prst="rect">
            <a:avLst/>
          </a:prstGeom>
          <a:solidFill>
            <a:schemeClr val="bg1"/>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r>
              <a:rPr lang="en-GB" sz="1200" b="1" dirty="0">
                <a:solidFill>
                  <a:srgbClr val="000000"/>
                </a:solidFill>
              </a:rPr>
              <a:t>Endogenous (firm specific)</a:t>
            </a:r>
          </a:p>
          <a:p>
            <a:pPr marL="180975" indent="-180975">
              <a:buSzPct val="100000"/>
              <a:buFont typeface="Wingdings" panose="05000000000000000000" pitchFamily="2" charset="2"/>
              <a:buChar char="§"/>
            </a:pPr>
            <a:r>
              <a:rPr lang="en-GB" sz="1200" dirty="0">
                <a:solidFill>
                  <a:srgbClr val="000000"/>
                </a:solidFill>
              </a:rPr>
              <a:t>Transaction and product driven sources: </a:t>
            </a:r>
          </a:p>
          <a:p>
            <a:pPr marL="447675" lvl="1" indent="-180975">
              <a:buSzPct val="100000"/>
              <a:buFont typeface="Arial" panose="020B0604020202020204" pitchFamily="34" charset="0"/>
              <a:buChar char="–"/>
            </a:pPr>
            <a:r>
              <a:rPr lang="en-GB" sz="1200" dirty="0">
                <a:solidFill>
                  <a:srgbClr val="000000"/>
                </a:solidFill>
              </a:rPr>
              <a:t>Unanticipated market movements or events (bankruptcy, default, or ratings downgrade) cause demand for additional collateral from counterparties</a:t>
            </a:r>
          </a:p>
          <a:p>
            <a:pPr marL="447675" lvl="1" indent="-180975">
              <a:buSzPct val="100000"/>
              <a:buFont typeface="Arial" panose="020B0604020202020204" pitchFamily="34" charset="0"/>
              <a:buChar char="–"/>
            </a:pPr>
            <a:r>
              <a:rPr lang="en-GB" sz="1200" dirty="0">
                <a:solidFill>
                  <a:srgbClr val="000000"/>
                </a:solidFill>
              </a:rPr>
              <a:t>Derivatives, off-balance sheet instruments and on-balance sheet contracts with embedded optionality result in unexpected cash outflows that need to be funded</a:t>
            </a:r>
          </a:p>
          <a:p>
            <a:pPr marL="180975" indent="-180975">
              <a:buSzPct val="100000"/>
              <a:buFont typeface="Wingdings" panose="05000000000000000000" pitchFamily="2" charset="2"/>
              <a:buChar char="§"/>
            </a:pPr>
            <a:r>
              <a:rPr lang="en-GB" sz="1200" dirty="0">
                <a:solidFill>
                  <a:srgbClr val="000000"/>
                </a:solidFill>
              </a:rPr>
              <a:t>Event driven sources: ratings downgrades or other negative news leading to a loss of market confidence in a firm (e.g. limiting ability to refinance or to access capital markets)</a:t>
            </a:r>
          </a:p>
          <a:p>
            <a:pPr marL="171450" indent="-171450">
              <a:buFont typeface="Wingdings" panose="05000000000000000000" pitchFamily="2" charset="2"/>
              <a:buChar char="§"/>
            </a:pPr>
            <a:endParaRPr lang="en-GB" sz="1200" b="1" dirty="0">
              <a:solidFill>
                <a:srgbClr val="000000"/>
              </a:solidFill>
            </a:endParaRPr>
          </a:p>
        </p:txBody>
      </p:sp>
      <p:sp>
        <p:nvSpPr>
          <p:cNvPr id="9" name="Rectangle 8">
            <a:extLst>
              <a:ext uri="{FF2B5EF4-FFF2-40B4-BE49-F238E27FC236}">
                <a16:creationId xmlns:a16="http://schemas.microsoft.com/office/drawing/2014/main" id="{3288D2A5-83DC-4706-9D61-DEECAAD7333B}"/>
              </a:ext>
            </a:extLst>
          </p:cNvPr>
          <p:cNvSpPr/>
          <p:nvPr/>
        </p:nvSpPr>
        <p:spPr>
          <a:xfrm>
            <a:off x="6134102" y="3635695"/>
            <a:ext cx="4343400" cy="2313284"/>
          </a:xfrm>
          <a:prstGeom prst="rect">
            <a:avLst/>
          </a:prstGeom>
          <a:solidFill>
            <a:schemeClr val="bg1"/>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r>
              <a:rPr lang="en-GB" sz="1200" b="1" dirty="0">
                <a:solidFill>
                  <a:srgbClr val="000000"/>
                </a:solidFill>
              </a:rPr>
              <a:t>Exogenous (market induced)</a:t>
            </a:r>
          </a:p>
          <a:p>
            <a:pPr marL="180975" indent="-180975">
              <a:buSzPct val="100000"/>
              <a:buFont typeface="Wingdings" panose="05000000000000000000" pitchFamily="2" charset="2"/>
              <a:buChar char="§"/>
            </a:pPr>
            <a:r>
              <a:rPr lang="en-GB" sz="1200" dirty="0">
                <a:solidFill>
                  <a:srgbClr val="000000"/>
                </a:solidFill>
              </a:rPr>
              <a:t>Funding sources: movement to more volatile funding sources, such as wholesale funds</a:t>
            </a:r>
          </a:p>
          <a:p>
            <a:pPr marL="180975" indent="-180975">
              <a:buSzPct val="100000"/>
              <a:buFont typeface="Wingdings" panose="05000000000000000000" pitchFamily="2" charset="2"/>
              <a:buChar char="§"/>
            </a:pPr>
            <a:r>
              <a:rPr lang="en-GB" sz="1200" dirty="0">
                <a:solidFill>
                  <a:srgbClr val="000000"/>
                </a:solidFill>
              </a:rPr>
              <a:t>Customer behaviour: Internet banking, and depositors’ ability to switch funds among accounts by electronic means etc.</a:t>
            </a:r>
          </a:p>
          <a:p>
            <a:pPr marL="171450" indent="-171450">
              <a:buFont typeface="Wingdings" panose="05000000000000000000" pitchFamily="2" charset="2"/>
              <a:buChar char="§"/>
            </a:pPr>
            <a:endParaRPr lang="en-GB" sz="1200" b="1" dirty="0">
              <a:solidFill>
                <a:srgbClr val="000000"/>
              </a:solidFill>
            </a:endParaRPr>
          </a:p>
        </p:txBody>
      </p:sp>
    </p:spTree>
    <p:extLst>
      <p:ext uri="{BB962C8B-B14F-4D97-AF65-F5344CB8AC3E}">
        <p14:creationId xmlns:p14="http://schemas.microsoft.com/office/powerpoint/2010/main" val="378987189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3EC012F-99A3-4C7C-B94A-AF8260F014C8}"/>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63EC012F-99A3-4C7C-B94A-AF8260F014C8}"/>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DFD4A27-35E9-4AE8-AB3A-FBB1DBB54301}"/>
              </a:ext>
            </a:extLst>
          </p:cNvPr>
          <p:cNvSpPr>
            <a:spLocks noGrp="1"/>
          </p:cNvSpPr>
          <p:nvPr>
            <p:ph type="title"/>
          </p:nvPr>
        </p:nvSpPr>
        <p:spPr/>
        <p:txBody>
          <a:bodyPr vert="horz">
            <a:normAutofit fontScale="90000"/>
          </a:bodyPr>
          <a:lstStyle/>
          <a:p>
            <a:r>
              <a:rPr lang="en-GB" dirty="0"/>
              <a:t>Basel III liquidity risk standards</a:t>
            </a:r>
            <a:br>
              <a:rPr lang="en-GB" dirty="0"/>
            </a:br>
            <a:r>
              <a:rPr lang="en-GB" i="1" dirty="0">
                <a:solidFill>
                  <a:schemeClr val="accent2">
                    <a:lumMod val="75000"/>
                  </a:schemeClr>
                </a:solidFill>
              </a:rPr>
              <a:t>The Liquidity Coverage Ratio (</a:t>
            </a:r>
            <a:r>
              <a:rPr lang="en-GB" i="1" dirty="0" err="1">
                <a:solidFill>
                  <a:schemeClr val="accent2">
                    <a:lumMod val="75000"/>
                  </a:schemeClr>
                </a:solidFill>
              </a:rPr>
              <a:t>LCR</a:t>
            </a:r>
            <a:r>
              <a:rPr lang="en-GB" i="1" dirty="0">
                <a:solidFill>
                  <a:schemeClr val="accent2">
                    <a:lumMod val="75000"/>
                  </a:schemeClr>
                </a:solidFill>
              </a:rPr>
              <a:t>)</a:t>
            </a:r>
            <a:endParaRPr lang="en-GB" dirty="0">
              <a:solidFill>
                <a:schemeClr val="accent2">
                  <a:lumMod val="75000"/>
                </a:schemeClr>
              </a:solidFill>
            </a:endParaRPr>
          </a:p>
        </p:txBody>
      </p:sp>
      <p:sp>
        <p:nvSpPr>
          <p:cNvPr id="15" name="Rectangle 14">
            <a:extLst>
              <a:ext uri="{FF2B5EF4-FFF2-40B4-BE49-F238E27FC236}">
                <a16:creationId xmlns:a16="http://schemas.microsoft.com/office/drawing/2014/main" id="{9F6EC15F-81FC-4F39-AF18-906D9831EE72}"/>
              </a:ext>
            </a:extLst>
          </p:cNvPr>
          <p:cNvSpPr/>
          <p:nvPr/>
        </p:nvSpPr>
        <p:spPr>
          <a:xfrm>
            <a:off x="6185278" y="2439988"/>
            <a:ext cx="4274399" cy="3617912"/>
          </a:xfrm>
          <a:prstGeom prst="rect">
            <a:avLst/>
          </a:prstGeom>
          <a:ln/>
          <a:effectLst/>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39" tIns="45719" rIns="91439" bIns="45719" numCol="1" spcCol="0" rtlCol="0" fromWordArt="0" anchor="t" anchorCtr="0" forceAA="0" compatLnSpc="1">
            <a:prstTxWarp prst="textNoShape">
              <a:avLst/>
            </a:prstTxWarp>
            <a:noAutofit/>
          </a:bodyPr>
          <a:lstStyle/>
          <a:p>
            <a:pPr marL="180975" indent="-180975">
              <a:buSzPct val="100000"/>
            </a:pPr>
            <a:endParaRPr lang="en-GB" sz="1050" dirty="0">
              <a:latin typeface="+mj-lt"/>
            </a:endParaRPr>
          </a:p>
        </p:txBody>
      </p:sp>
      <p:sp>
        <p:nvSpPr>
          <p:cNvPr id="16" name="Rectangle 15">
            <a:extLst>
              <a:ext uri="{FF2B5EF4-FFF2-40B4-BE49-F238E27FC236}">
                <a16:creationId xmlns:a16="http://schemas.microsoft.com/office/drawing/2014/main" id="{3A4F3B34-57FD-4E99-B611-5FE5F5CAB137}"/>
              </a:ext>
            </a:extLst>
          </p:cNvPr>
          <p:cNvSpPr/>
          <p:nvPr/>
        </p:nvSpPr>
        <p:spPr>
          <a:xfrm>
            <a:off x="1713438" y="1306513"/>
            <a:ext cx="8764063" cy="989012"/>
          </a:xfrm>
          <a:prstGeom prst="rect">
            <a:avLst/>
          </a:prstGeom>
          <a:ln/>
          <a:effectLst/>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endParaRPr lang="en-GB" sz="1050" dirty="0">
              <a:solidFill>
                <a:srgbClr val="000000"/>
              </a:solidFill>
              <a:latin typeface="+mj-lt"/>
            </a:endParaRPr>
          </a:p>
        </p:txBody>
      </p:sp>
      <p:sp>
        <p:nvSpPr>
          <p:cNvPr id="19" name="Rectangle 18">
            <a:extLst>
              <a:ext uri="{FF2B5EF4-FFF2-40B4-BE49-F238E27FC236}">
                <a16:creationId xmlns:a16="http://schemas.microsoft.com/office/drawing/2014/main" id="{929008AE-244B-4BC1-9B11-CF81F1F85A59}"/>
              </a:ext>
            </a:extLst>
          </p:cNvPr>
          <p:cNvSpPr/>
          <p:nvPr/>
        </p:nvSpPr>
        <p:spPr>
          <a:xfrm>
            <a:off x="1714301" y="2439988"/>
            <a:ext cx="4274399" cy="3617912"/>
          </a:xfrm>
          <a:prstGeom prst="rect">
            <a:avLst/>
          </a:prstGeom>
          <a:ln/>
          <a:effectLst/>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39" tIns="45719" rIns="91439" bIns="45719" numCol="1" spcCol="0" rtlCol="0" fromWordArt="0" anchor="t" anchorCtr="0" forceAA="0" compatLnSpc="1">
            <a:prstTxWarp prst="textNoShape">
              <a:avLst/>
            </a:prstTxWarp>
            <a:noAutofit/>
          </a:bodyPr>
          <a:lstStyle/>
          <a:p>
            <a:pPr>
              <a:buSzPct val="100000"/>
            </a:pPr>
            <a:r>
              <a:rPr lang="en-GB" sz="1200" b="1" dirty="0">
                <a:latin typeface="+mj-lt"/>
              </a:rPr>
              <a:t>Objective</a:t>
            </a:r>
          </a:p>
          <a:p>
            <a:pPr marL="180975" indent="-180975">
              <a:buSzPct val="100000"/>
              <a:buFont typeface="Wingdings"/>
              <a:buChar char="§"/>
            </a:pPr>
            <a:r>
              <a:rPr lang="en-GB" sz="1200" dirty="0">
                <a:latin typeface="+mj-lt"/>
              </a:rPr>
              <a:t>To ensure that a bank maintains an adequate level of unencumbered, high-quality liquid assets that can be converted into cash to meet its liquidity needs for a 30 calendar day time horizon under a significantly severe liquidity stress scenario specified by supervisors</a:t>
            </a:r>
          </a:p>
          <a:p>
            <a:pPr marL="180975" indent="-180975">
              <a:buSzPct val="100000"/>
              <a:buFont typeface="Wingdings"/>
              <a:buChar char="§"/>
            </a:pPr>
            <a:endParaRPr lang="en-GB" sz="1200" dirty="0">
              <a:latin typeface="+mj-lt"/>
            </a:endParaRPr>
          </a:p>
          <a:p>
            <a:pPr>
              <a:buSzPct val="100000"/>
            </a:pPr>
            <a:r>
              <a:rPr lang="en-GB" sz="1200" b="1" dirty="0">
                <a:latin typeface="+mj-lt"/>
              </a:rPr>
              <a:t>Analysis</a:t>
            </a:r>
          </a:p>
          <a:p>
            <a:pPr marL="180975" indent="-180975">
              <a:buSzPct val="100000"/>
              <a:buFont typeface="Wingdings"/>
              <a:buChar char="§"/>
            </a:pPr>
            <a:r>
              <a:rPr lang="en-GB" sz="1200" dirty="0">
                <a:latin typeface="+mj-lt"/>
              </a:rPr>
              <a:t>To qualify as a high-quality liquid asset, an asset should be liquid in markets during a time of stress.  </a:t>
            </a:r>
          </a:p>
          <a:p>
            <a:pPr marL="180975" indent="-180975">
              <a:buSzPct val="100000"/>
              <a:buFont typeface="Wingdings"/>
              <a:buChar char="§"/>
            </a:pPr>
            <a:r>
              <a:rPr lang="en-GB" sz="1200" dirty="0">
                <a:latin typeface="+mj-lt"/>
              </a:rPr>
              <a:t>Typically these assets are eligible at central banks for intraday liquidity needs.</a:t>
            </a:r>
          </a:p>
          <a:p>
            <a:pPr marL="180975" indent="-180975">
              <a:buSzPct val="100000"/>
              <a:buFont typeface="Wingdings"/>
              <a:buChar char="§"/>
            </a:pPr>
            <a:r>
              <a:rPr lang="en-GB" sz="1200" dirty="0">
                <a:latin typeface="+mj-lt"/>
              </a:rPr>
              <a:t>The characteristics in the diagram to the right outline the fundamental and market related causes of liquidity.</a:t>
            </a:r>
          </a:p>
          <a:p>
            <a:pPr marL="180975" indent="-180975">
              <a:buSzPct val="100000"/>
              <a:buFont typeface="Wingdings"/>
              <a:buChar char="§"/>
            </a:pPr>
            <a:r>
              <a:rPr lang="en-GB" sz="1200" dirty="0">
                <a:latin typeface="+mj-lt"/>
              </a:rPr>
              <a:t>High-quality liquid assets can either be classified as level 1 or level 2 </a:t>
            </a:r>
          </a:p>
          <a:p>
            <a:pPr marL="180975" indent="-180975">
              <a:buSzPct val="100000"/>
              <a:buFont typeface="Wingdings"/>
              <a:buChar char="§"/>
            </a:pPr>
            <a:endParaRPr lang="en-GB" sz="1200" dirty="0">
              <a:latin typeface="+mj-lt"/>
            </a:endParaRPr>
          </a:p>
        </p:txBody>
      </p:sp>
      <p:cxnSp>
        <p:nvCxnSpPr>
          <p:cNvPr id="21" name="AutoShape 5">
            <a:extLst>
              <a:ext uri="{FF2B5EF4-FFF2-40B4-BE49-F238E27FC236}">
                <a16:creationId xmlns:a16="http://schemas.microsoft.com/office/drawing/2014/main" id="{DB133B7E-2962-436D-B7D8-FE8BC4CB4B80}"/>
              </a:ext>
            </a:extLst>
          </p:cNvPr>
          <p:cNvCxnSpPr>
            <a:cxnSpLocks noChangeShapeType="1"/>
          </p:cNvCxnSpPr>
          <p:nvPr/>
        </p:nvCxnSpPr>
        <p:spPr bwMode="auto">
          <a:xfrm rot="5400000">
            <a:off x="7553099" y="2680114"/>
            <a:ext cx="553440" cy="990620"/>
          </a:xfrm>
          <a:prstGeom prst="bentConnector3">
            <a:avLst>
              <a:gd name="adj1" fmla="val 47824"/>
            </a:avLst>
          </a:prstGeom>
          <a:noFill/>
          <a:ln w="9525">
            <a:solidFill>
              <a:srgbClr val="000000"/>
            </a:solidFill>
            <a:miter lim="800000"/>
            <a:headEnd/>
            <a:tailEnd type="triangle" w="med" len="med"/>
          </a:ln>
          <a:effectLst/>
        </p:spPr>
      </p:cxnSp>
      <p:cxnSp>
        <p:nvCxnSpPr>
          <p:cNvPr id="22" name="AutoShape 6">
            <a:extLst>
              <a:ext uri="{FF2B5EF4-FFF2-40B4-BE49-F238E27FC236}">
                <a16:creationId xmlns:a16="http://schemas.microsoft.com/office/drawing/2014/main" id="{C8324E14-4F07-4826-A205-657DEC714459}"/>
              </a:ext>
            </a:extLst>
          </p:cNvPr>
          <p:cNvCxnSpPr>
            <a:cxnSpLocks noChangeShapeType="1"/>
          </p:cNvCxnSpPr>
          <p:nvPr/>
        </p:nvCxnSpPr>
        <p:spPr bwMode="auto">
          <a:xfrm rot="16200000" flipH="1">
            <a:off x="8543421" y="2677740"/>
            <a:ext cx="552863" cy="990620"/>
          </a:xfrm>
          <a:prstGeom prst="bentConnector3">
            <a:avLst>
              <a:gd name="adj1" fmla="val 47824"/>
            </a:avLst>
          </a:prstGeom>
          <a:noFill/>
          <a:ln w="9525">
            <a:solidFill>
              <a:srgbClr val="000000"/>
            </a:solidFill>
            <a:miter lim="800000"/>
            <a:headEnd/>
            <a:tailEnd type="triangle" w="med" len="med"/>
          </a:ln>
          <a:effectLst/>
        </p:spPr>
      </p:cxnSp>
      <p:sp>
        <p:nvSpPr>
          <p:cNvPr id="23" name="TextBox 22">
            <a:extLst>
              <a:ext uri="{FF2B5EF4-FFF2-40B4-BE49-F238E27FC236}">
                <a16:creationId xmlns:a16="http://schemas.microsoft.com/office/drawing/2014/main" id="{26B678C5-0D25-4379-BA02-6BFD400FAD01}"/>
              </a:ext>
            </a:extLst>
          </p:cNvPr>
          <p:cNvSpPr txBox="1"/>
          <p:nvPr/>
        </p:nvSpPr>
        <p:spPr>
          <a:xfrm>
            <a:off x="6454092" y="2598421"/>
            <a:ext cx="3735903" cy="439027"/>
          </a:xfrm>
          <a:prstGeom prst="rect">
            <a:avLst/>
          </a:prstGeom>
          <a:effectLst/>
        </p:spPr>
        <p:style>
          <a:lnRef idx="2">
            <a:schemeClr val="accent2">
              <a:shade val="50000"/>
            </a:schemeClr>
          </a:lnRef>
          <a:fillRef idx="1">
            <a:schemeClr val="accent2"/>
          </a:fillRef>
          <a:effectRef idx="0">
            <a:schemeClr val="accent2"/>
          </a:effectRef>
          <a:fontRef idx="minor">
            <a:schemeClr val="lt1"/>
          </a:fontRef>
        </p:style>
        <p:txBody>
          <a:bodyPr wrap="square" lIns="91439" tIns="45719" rIns="91439" bIns="45719" rtlCol="0">
            <a:noAutofit/>
          </a:bodyPr>
          <a:lstStyle/>
          <a:p>
            <a:pPr algn="ctr" fontAlgn="base">
              <a:spcBef>
                <a:spcPct val="0"/>
              </a:spcBef>
              <a:spcAft>
                <a:spcPts val="1000"/>
              </a:spcAft>
            </a:pPr>
            <a:r>
              <a:rPr lang="en-GB" sz="1400" dirty="0">
                <a:solidFill>
                  <a:schemeClr val="tx1"/>
                </a:solidFill>
                <a:latin typeface="+mj-lt"/>
                <a:cs typeface="Arial" pitchFamily="34" charset="0"/>
              </a:rPr>
              <a:t>Characteristics of high-quality liquid assets</a:t>
            </a:r>
            <a:endParaRPr lang="en-GB" sz="2400" dirty="0">
              <a:solidFill>
                <a:schemeClr val="tx1"/>
              </a:solidFill>
              <a:latin typeface="+mj-lt"/>
              <a:cs typeface="Arial" pitchFamily="34" charset="0"/>
            </a:endParaRPr>
          </a:p>
        </p:txBody>
      </p:sp>
      <p:sp>
        <p:nvSpPr>
          <p:cNvPr id="24" name="TextBox 23">
            <a:extLst>
              <a:ext uri="{FF2B5EF4-FFF2-40B4-BE49-F238E27FC236}">
                <a16:creationId xmlns:a16="http://schemas.microsoft.com/office/drawing/2014/main" id="{62AB8673-B535-460C-BBE3-CA79E926CF3D}"/>
              </a:ext>
            </a:extLst>
          </p:cNvPr>
          <p:cNvSpPr txBox="1"/>
          <p:nvPr/>
        </p:nvSpPr>
        <p:spPr>
          <a:xfrm>
            <a:off x="6455561" y="3445302"/>
            <a:ext cx="1767773" cy="2490038"/>
          </a:xfrm>
          <a:prstGeom prst="rect">
            <a:avLst/>
          </a:prstGeom>
          <a:effectLst/>
        </p:spPr>
        <p:style>
          <a:lnRef idx="2">
            <a:schemeClr val="accent2">
              <a:shade val="50000"/>
            </a:schemeClr>
          </a:lnRef>
          <a:fillRef idx="1">
            <a:schemeClr val="accent2"/>
          </a:fillRef>
          <a:effectRef idx="0">
            <a:schemeClr val="accent2"/>
          </a:effectRef>
          <a:fontRef idx="minor">
            <a:schemeClr val="lt1"/>
          </a:fontRef>
        </p:style>
        <p:txBody>
          <a:bodyPr wrap="square" lIns="91439" tIns="45719" rIns="91439" bIns="45719" rtlCol="0">
            <a:noAutofit/>
          </a:bodyPr>
          <a:lstStyle/>
          <a:p>
            <a:pPr algn="ctr" fontAlgn="base">
              <a:spcBef>
                <a:spcPct val="0"/>
              </a:spcBef>
              <a:spcAft>
                <a:spcPts val="1000"/>
              </a:spcAft>
            </a:pPr>
            <a:r>
              <a:rPr lang="en-GB" sz="1100" b="1" dirty="0">
                <a:solidFill>
                  <a:schemeClr val="tx1"/>
                </a:solidFill>
                <a:latin typeface="+mj-lt"/>
                <a:cs typeface="Arial" pitchFamily="34" charset="0"/>
              </a:rPr>
              <a:t>Fundamental characteristics</a:t>
            </a:r>
            <a:endParaRPr lang="en-GB" sz="1100" b="1" dirty="0">
              <a:latin typeface="+mj-lt"/>
              <a:cs typeface="Arial" pitchFamily="34" charset="0"/>
            </a:endParaRPr>
          </a:p>
          <a:p>
            <a:pPr marL="180975" indent="-180975" fontAlgn="base">
              <a:spcBef>
                <a:spcPct val="0"/>
              </a:spcBef>
              <a:spcAft>
                <a:spcPts val="1000"/>
              </a:spcAft>
              <a:buSzPct val="100000"/>
              <a:buFont typeface="Wingdings"/>
              <a:buChar char="§"/>
            </a:pPr>
            <a:r>
              <a:rPr lang="en-GB" sz="1100" dirty="0">
                <a:solidFill>
                  <a:srgbClr val="000000"/>
                </a:solidFill>
                <a:latin typeface="+mj-lt"/>
                <a:cs typeface="Arial" pitchFamily="34" charset="0"/>
              </a:rPr>
              <a:t>Low credit and market risk</a:t>
            </a:r>
          </a:p>
          <a:p>
            <a:pPr marL="180975" indent="-180975" fontAlgn="base">
              <a:spcBef>
                <a:spcPct val="0"/>
              </a:spcBef>
              <a:spcAft>
                <a:spcPts val="1000"/>
              </a:spcAft>
              <a:buSzPct val="100000"/>
              <a:buFont typeface="Wingdings"/>
              <a:buChar char="§"/>
            </a:pPr>
            <a:r>
              <a:rPr lang="en-GB" sz="1100" dirty="0">
                <a:solidFill>
                  <a:srgbClr val="000000"/>
                </a:solidFill>
                <a:latin typeface="+mj-lt"/>
                <a:cs typeface="Arial" pitchFamily="34" charset="0"/>
              </a:rPr>
              <a:t>Ease and certainty of valuation</a:t>
            </a:r>
          </a:p>
          <a:p>
            <a:pPr marL="180975" indent="-180975" fontAlgn="base">
              <a:spcBef>
                <a:spcPct val="0"/>
              </a:spcBef>
              <a:spcAft>
                <a:spcPts val="1000"/>
              </a:spcAft>
              <a:buSzPct val="100000"/>
              <a:buFont typeface="Wingdings"/>
              <a:buChar char="§"/>
            </a:pPr>
            <a:r>
              <a:rPr lang="en-GB" sz="1100" dirty="0">
                <a:solidFill>
                  <a:srgbClr val="000000"/>
                </a:solidFill>
                <a:latin typeface="+mj-lt"/>
                <a:cs typeface="Arial" pitchFamily="34" charset="0"/>
              </a:rPr>
              <a:t>Low correlation with risky assets</a:t>
            </a:r>
          </a:p>
          <a:p>
            <a:pPr marL="180975" indent="-180975" fontAlgn="base">
              <a:spcBef>
                <a:spcPct val="0"/>
              </a:spcBef>
              <a:spcAft>
                <a:spcPts val="1000"/>
              </a:spcAft>
              <a:buSzPct val="100000"/>
              <a:buFont typeface="Wingdings"/>
              <a:buChar char="§"/>
            </a:pPr>
            <a:r>
              <a:rPr lang="en-GB" sz="1100" dirty="0">
                <a:solidFill>
                  <a:srgbClr val="000000"/>
                </a:solidFill>
                <a:latin typeface="+mj-lt"/>
                <a:cs typeface="Arial" pitchFamily="34" charset="0"/>
              </a:rPr>
              <a:t>Listed on a developed and recognised exchange market</a:t>
            </a:r>
            <a:endParaRPr lang="en-GB" sz="1100" dirty="0">
              <a:solidFill>
                <a:schemeClr val="tx1"/>
              </a:solidFill>
              <a:latin typeface="+mj-lt"/>
              <a:cs typeface="Arial" pitchFamily="34" charset="0"/>
            </a:endParaRPr>
          </a:p>
        </p:txBody>
      </p:sp>
      <p:sp>
        <p:nvSpPr>
          <p:cNvPr id="25" name="TextBox 24">
            <a:extLst>
              <a:ext uri="{FF2B5EF4-FFF2-40B4-BE49-F238E27FC236}">
                <a16:creationId xmlns:a16="http://schemas.microsoft.com/office/drawing/2014/main" id="{37278D40-1A5A-464B-9219-7FBEFC14A766}"/>
              </a:ext>
            </a:extLst>
          </p:cNvPr>
          <p:cNvSpPr txBox="1"/>
          <p:nvPr/>
        </p:nvSpPr>
        <p:spPr>
          <a:xfrm>
            <a:off x="8423090" y="3445302"/>
            <a:ext cx="1767773" cy="2490038"/>
          </a:xfrm>
          <a:prstGeom prst="rect">
            <a:avLst/>
          </a:prstGeom>
          <a:effectLst/>
        </p:spPr>
        <p:style>
          <a:lnRef idx="2">
            <a:schemeClr val="accent2">
              <a:shade val="50000"/>
            </a:schemeClr>
          </a:lnRef>
          <a:fillRef idx="1">
            <a:schemeClr val="accent2"/>
          </a:fillRef>
          <a:effectRef idx="0">
            <a:schemeClr val="accent2"/>
          </a:effectRef>
          <a:fontRef idx="minor">
            <a:schemeClr val="lt1"/>
          </a:fontRef>
        </p:style>
        <p:txBody>
          <a:bodyPr wrap="square" lIns="91439" tIns="45719" rIns="91439" bIns="45719" rtlCol="0">
            <a:noAutofit/>
          </a:bodyPr>
          <a:lstStyle/>
          <a:p>
            <a:pPr algn="ctr" fontAlgn="base">
              <a:spcBef>
                <a:spcPct val="0"/>
              </a:spcBef>
              <a:spcAft>
                <a:spcPts val="1000"/>
              </a:spcAft>
            </a:pPr>
            <a:r>
              <a:rPr lang="en-GB" sz="1100" b="1" dirty="0">
                <a:solidFill>
                  <a:schemeClr val="tx1"/>
                </a:solidFill>
                <a:latin typeface="+mj-lt"/>
                <a:cs typeface="Arial" pitchFamily="34" charset="0"/>
              </a:rPr>
              <a:t>Market-related characteristics</a:t>
            </a:r>
          </a:p>
          <a:p>
            <a:pPr marL="180975" indent="-180975" fontAlgn="base">
              <a:spcBef>
                <a:spcPct val="0"/>
              </a:spcBef>
              <a:spcAft>
                <a:spcPts val="1000"/>
              </a:spcAft>
              <a:buSzPct val="100000"/>
              <a:buFont typeface="Wingdings"/>
              <a:buChar char="§"/>
            </a:pPr>
            <a:r>
              <a:rPr lang="en-GB" sz="1100" dirty="0">
                <a:solidFill>
                  <a:srgbClr val="000000"/>
                </a:solidFill>
                <a:latin typeface="+mj-lt"/>
                <a:cs typeface="Arial" pitchFamily="34" charset="0"/>
              </a:rPr>
              <a:t>Active and sizable market</a:t>
            </a:r>
          </a:p>
          <a:p>
            <a:pPr marL="180975" indent="-180975" fontAlgn="base">
              <a:spcBef>
                <a:spcPct val="0"/>
              </a:spcBef>
              <a:spcAft>
                <a:spcPts val="1000"/>
              </a:spcAft>
              <a:buSzPct val="100000"/>
              <a:buFont typeface="Wingdings"/>
              <a:buChar char="§"/>
            </a:pPr>
            <a:r>
              <a:rPr lang="en-GB" sz="1100" dirty="0">
                <a:solidFill>
                  <a:srgbClr val="000000"/>
                </a:solidFill>
                <a:latin typeface="+mj-lt"/>
                <a:cs typeface="Arial" pitchFamily="34" charset="0"/>
              </a:rPr>
              <a:t>Presence of committed market makers</a:t>
            </a:r>
          </a:p>
          <a:p>
            <a:pPr marL="180975" indent="-180975" fontAlgn="base">
              <a:spcBef>
                <a:spcPct val="0"/>
              </a:spcBef>
              <a:spcAft>
                <a:spcPts val="1000"/>
              </a:spcAft>
              <a:buSzPct val="100000"/>
              <a:buFont typeface="Wingdings"/>
              <a:buChar char="§"/>
            </a:pPr>
            <a:r>
              <a:rPr lang="en-GB" sz="1100" dirty="0">
                <a:solidFill>
                  <a:srgbClr val="000000"/>
                </a:solidFill>
                <a:latin typeface="+mj-lt"/>
                <a:cs typeface="Arial" pitchFamily="34" charset="0"/>
              </a:rPr>
              <a:t>Low market concentration</a:t>
            </a:r>
          </a:p>
          <a:p>
            <a:pPr marL="180975" indent="-180975" fontAlgn="base">
              <a:spcBef>
                <a:spcPct val="0"/>
              </a:spcBef>
              <a:spcAft>
                <a:spcPts val="1000"/>
              </a:spcAft>
              <a:buSzPct val="100000"/>
              <a:buFont typeface="Wingdings"/>
              <a:buChar char="§"/>
            </a:pPr>
            <a:r>
              <a:rPr lang="en-GB" sz="1100" dirty="0">
                <a:solidFill>
                  <a:srgbClr val="000000"/>
                </a:solidFill>
                <a:latin typeface="+mj-lt"/>
                <a:cs typeface="Arial" pitchFamily="34" charset="0"/>
              </a:rPr>
              <a:t>Flight to quality</a:t>
            </a:r>
            <a:endParaRPr lang="en-GB" sz="1100" dirty="0">
              <a:solidFill>
                <a:schemeClr val="tx1"/>
              </a:solidFill>
              <a:latin typeface="+mj-lt"/>
              <a:cs typeface="Arial" pitchFamily="34" charset="0"/>
            </a:endParaRPr>
          </a:p>
        </p:txBody>
      </p:sp>
      <p:grpSp>
        <p:nvGrpSpPr>
          <p:cNvPr id="34" name="Group 33">
            <a:extLst>
              <a:ext uri="{FF2B5EF4-FFF2-40B4-BE49-F238E27FC236}">
                <a16:creationId xmlns:a16="http://schemas.microsoft.com/office/drawing/2014/main" id="{2A26ABE7-2857-4E3F-8D81-FFC7BB589345}"/>
              </a:ext>
            </a:extLst>
          </p:cNvPr>
          <p:cNvGrpSpPr/>
          <p:nvPr/>
        </p:nvGrpSpPr>
        <p:grpSpPr>
          <a:xfrm>
            <a:off x="3057864" y="1575658"/>
            <a:ext cx="6075698" cy="450725"/>
            <a:chOff x="1441525" y="1575657"/>
            <a:chExt cx="6075698" cy="450725"/>
          </a:xfrm>
        </p:grpSpPr>
        <p:sp>
          <p:nvSpPr>
            <p:cNvPr id="29" name="TextBox 28">
              <a:extLst>
                <a:ext uri="{FF2B5EF4-FFF2-40B4-BE49-F238E27FC236}">
                  <a16:creationId xmlns:a16="http://schemas.microsoft.com/office/drawing/2014/main" id="{89C50458-49CA-40F7-8B8E-EBF48DE705F3}"/>
                </a:ext>
              </a:extLst>
            </p:cNvPr>
            <p:cNvSpPr txBox="1"/>
            <p:nvPr/>
          </p:nvSpPr>
          <p:spPr>
            <a:xfrm>
              <a:off x="6529587" y="1575657"/>
              <a:ext cx="987636" cy="450725"/>
            </a:xfrm>
            <a:prstGeom prst="rect">
              <a:avLst/>
            </a:prstGeom>
            <a:noFill/>
          </p:spPr>
          <p:txBody>
            <a:bodyPr wrap="square" rtlCol="0" anchor="ctr">
              <a:noAutofit/>
            </a:bodyPr>
            <a:lstStyle/>
            <a:p>
              <a:r>
                <a:rPr lang="en-GB" sz="1400" dirty="0">
                  <a:latin typeface="+mj-lt"/>
                  <a:cs typeface="Trebuchet MS"/>
                </a:rPr>
                <a:t>≥ 100%</a:t>
              </a:r>
            </a:p>
          </p:txBody>
        </p:sp>
        <p:sp>
          <p:nvSpPr>
            <p:cNvPr id="30" name="TextBox 29">
              <a:extLst>
                <a:ext uri="{FF2B5EF4-FFF2-40B4-BE49-F238E27FC236}">
                  <a16:creationId xmlns:a16="http://schemas.microsoft.com/office/drawing/2014/main" id="{3016F609-1C20-4273-8A99-0345696725C4}"/>
                </a:ext>
              </a:extLst>
            </p:cNvPr>
            <p:cNvSpPr txBox="1"/>
            <p:nvPr/>
          </p:nvSpPr>
          <p:spPr>
            <a:xfrm>
              <a:off x="1441525" y="1575657"/>
              <a:ext cx="5222312" cy="450725"/>
            </a:xfrm>
            <a:prstGeom prst="rect">
              <a:avLst/>
            </a:prstGeom>
            <a:noFill/>
          </p:spPr>
          <p:txBody>
            <a:bodyPr wrap="square" rtlCol="0" anchor="ctr">
              <a:noAutofit/>
            </a:bodyPr>
            <a:lstStyle/>
            <a:p>
              <a:pPr algn="ctr">
                <a:lnSpc>
                  <a:spcPct val="150000"/>
                </a:lnSpc>
              </a:pPr>
              <a:r>
                <a:rPr lang="en-GB" sz="1400" dirty="0">
                  <a:latin typeface="+mj-lt"/>
                  <a:cs typeface="Trebuchet MS"/>
                </a:rPr>
                <a:t>Stock of high – quality liquid assets</a:t>
              </a:r>
            </a:p>
            <a:p>
              <a:pPr algn="ctr">
                <a:lnSpc>
                  <a:spcPct val="150000"/>
                </a:lnSpc>
              </a:pPr>
              <a:r>
                <a:rPr lang="en-GB" sz="1400" dirty="0">
                  <a:latin typeface="+mj-lt"/>
                  <a:cs typeface="Trebuchet MS"/>
                </a:rPr>
                <a:t>Total net cash outflows over the next 30 calendar days</a:t>
              </a:r>
            </a:p>
          </p:txBody>
        </p:sp>
        <p:cxnSp>
          <p:nvCxnSpPr>
            <p:cNvPr id="31" name="Straight Connector 30">
              <a:extLst>
                <a:ext uri="{FF2B5EF4-FFF2-40B4-BE49-F238E27FC236}">
                  <a16:creationId xmlns:a16="http://schemas.microsoft.com/office/drawing/2014/main" id="{4E89B615-553F-495C-8F2C-503BF9FA5401}"/>
                </a:ext>
              </a:extLst>
            </p:cNvPr>
            <p:cNvCxnSpPr>
              <a:cxnSpLocks/>
            </p:cNvCxnSpPr>
            <p:nvPr/>
          </p:nvCxnSpPr>
          <p:spPr>
            <a:xfrm>
              <a:off x="1731981" y="1819657"/>
              <a:ext cx="4848203" cy="0"/>
            </a:xfrm>
            <a:prstGeom prst="line">
              <a:avLst/>
            </a:prstGeom>
            <a:ln w="15875">
              <a:solidFill>
                <a:schemeClr val="tx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00003071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3EC012F-99A3-4C7C-B94A-AF8260F014C8}"/>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63EC012F-99A3-4C7C-B94A-AF8260F014C8}"/>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DFD4A27-35E9-4AE8-AB3A-FBB1DBB54301}"/>
              </a:ext>
            </a:extLst>
          </p:cNvPr>
          <p:cNvSpPr>
            <a:spLocks noGrp="1"/>
          </p:cNvSpPr>
          <p:nvPr>
            <p:ph type="title"/>
          </p:nvPr>
        </p:nvSpPr>
        <p:spPr/>
        <p:txBody>
          <a:bodyPr vert="horz">
            <a:normAutofit fontScale="90000"/>
          </a:bodyPr>
          <a:lstStyle/>
          <a:p>
            <a:r>
              <a:rPr lang="en-GB" dirty="0"/>
              <a:t>Basel III liquidity risk standards</a:t>
            </a:r>
            <a:br>
              <a:rPr lang="en-GB" dirty="0"/>
            </a:br>
            <a:r>
              <a:rPr lang="en-GB" i="1" dirty="0">
                <a:solidFill>
                  <a:schemeClr val="accent2">
                    <a:lumMod val="75000"/>
                  </a:schemeClr>
                </a:solidFill>
              </a:rPr>
              <a:t>The Liquidity Coverage Ratio (</a:t>
            </a:r>
            <a:r>
              <a:rPr lang="en-GB" i="1" dirty="0" err="1">
                <a:solidFill>
                  <a:schemeClr val="accent2">
                    <a:lumMod val="75000"/>
                  </a:schemeClr>
                </a:solidFill>
              </a:rPr>
              <a:t>LCR</a:t>
            </a:r>
            <a:r>
              <a:rPr lang="en-GB" i="1" dirty="0">
                <a:solidFill>
                  <a:schemeClr val="accent2">
                    <a:lumMod val="75000"/>
                  </a:schemeClr>
                </a:solidFill>
              </a:rPr>
              <a:t>)</a:t>
            </a:r>
            <a:endParaRPr lang="en-GB" dirty="0">
              <a:solidFill>
                <a:schemeClr val="accent2">
                  <a:lumMod val="75000"/>
                </a:schemeClr>
              </a:solidFill>
            </a:endParaRPr>
          </a:p>
        </p:txBody>
      </p:sp>
      <p:pic>
        <p:nvPicPr>
          <p:cNvPr id="17" name="Picture 16">
            <a:extLst>
              <a:ext uri="{FF2B5EF4-FFF2-40B4-BE49-F238E27FC236}">
                <a16:creationId xmlns:a16="http://schemas.microsoft.com/office/drawing/2014/main" id="{984674A9-7463-4E5E-987A-61E149CFF97D}"/>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2260079" y="1295400"/>
            <a:ext cx="7671845" cy="4762500"/>
          </a:xfrm>
          <a:prstGeom prst="rect">
            <a:avLst/>
          </a:prstGeom>
        </p:spPr>
      </p:pic>
    </p:spTree>
    <p:extLst>
      <p:ext uri="{BB962C8B-B14F-4D97-AF65-F5344CB8AC3E}">
        <p14:creationId xmlns:p14="http://schemas.microsoft.com/office/powerpoint/2010/main" val="16419800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3EC012F-99A3-4C7C-B94A-AF8260F014C8}"/>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63EC012F-99A3-4C7C-B94A-AF8260F014C8}"/>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DFD4A27-35E9-4AE8-AB3A-FBB1DBB54301}"/>
              </a:ext>
            </a:extLst>
          </p:cNvPr>
          <p:cNvSpPr>
            <a:spLocks noGrp="1"/>
          </p:cNvSpPr>
          <p:nvPr>
            <p:ph type="title"/>
          </p:nvPr>
        </p:nvSpPr>
        <p:spPr/>
        <p:txBody>
          <a:bodyPr vert="horz">
            <a:normAutofit fontScale="90000"/>
          </a:bodyPr>
          <a:lstStyle/>
          <a:p>
            <a:r>
              <a:rPr lang="en-GB" dirty="0"/>
              <a:t>Basel III liquidity risk standards</a:t>
            </a:r>
            <a:br>
              <a:rPr lang="en-GB" dirty="0"/>
            </a:br>
            <a:r>
              <a:rPr lang="en-GB" i="1" dirty="0">
                <a:solidFill>
                  <a:schemeClr val="accent2">
                    <a:lumMod val="75000"/>
                  </a:schemeClr>
                </a:solidFill>
              </a:rPr>
              <a:t>The Net Stable Funding Ratio (</a:t>
            </a:r>
            <a:r>
              <a:rPr lang="en-GB" i="1" dirty="0" err="1">
                <a:solidFill>
                  <a:schemeClr val="accent2">
                    <a:lumMod val="75000"/>
                  </a:schemeClr>
                </a:solidFill>
              </a:rPr>
              <a:t>NSFR</a:t>
            </a:r>
            <a:r>
              <a:rPr lang="en-GB" i="1" dirty="0">
                <a:solidFill>
                  <a:schemeClr val="accent2">
                    <a:lumMod val="75000"/>
                  </a:schemeClr>
                </a:solidFill>
              </a:rPr>
              <a:t>)</a:t>
            </a:r>
            <a:endParaRPr lang="en-GB" dirty="0">
              <a:solidFill>
                <a:schemeClr val="accent2">
                  <a:lumMod val="75000"/>
                </a:schemeClr>
              </a:solidFill>
            </a:endParaRPr>
          </a:p>
        </p:txBody>
      </p:sp>
      <p:sp>
        <p:nvSpPr>
          <p:cNvPr id="15" name="Rectangle 14">
            <a:extLst>
              <a:ext uri="{FF2B5EF4-FFF2-40B4-BE49-F238E27FC236}">
                <a16:creationId xmlns:a16="http://schemas.microsoft.com/office/drawing/2014/main" id="{9F6EC15F-81FC-4F39-AF18-906D9831EE72}"/>
              </a:ext>
            </a:extLst>
          </p:cNvPr>
          <p:cNvSpPr/>
          <p:nvPr/>
        </p:nvSpPr>
        <p:spPr>
          <a:xfrm>
            <a:off x="6185278" y="2439988"/>
            <a:ext cx="4274399" cy="3617912"/>
          </a:xfrm>
          <a:prstGeom prst="rect">
            <a:avLst/>
          </a:prstGeom>
          <a:ln/>
          <a:effectLst/>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39" tIns="45719" rIns="91439" bIns="45719" numCol="1" spcCol="0" rtlCol="0" fromWordArt="0" anchor="t" anchorCtr="0" forceAA="0" compatLnSpc="1">
            <a:prstTxWarp prst="textNoShape">
              <a:avLst/>
            </a:prstTxWarp>
            <a:noAutofit/>
          </a:bodyPr>
          <a:lstStyle/>
          <a:p>
            <a:pPr marL="180975" indent="-180975">
              <a:buSzPct val="100000"/>
            </a:pPr>
            <a:endParaRPr lang="en-GB" sz="1050" dirty="0">
              <a:latin typeface="+mj-lt"/>
            </a:endParaRPr>
          </a:p>
        </p:txBody>
      </p:sp>
      <p:sp>
        <p:nvSpPr>
          <p:cNvPr id="16" name="Rectangle 15">
            <a:extLst>
              <a:ext uri="{FF2B5EF4-FFF2-40B4-BE49-F238E27FC236}">
                <a16:creationId xmlns:a16="http://schemas.microsoft.com/office/drawing/2014/main" id="{3A4F3B34-57FD-4E99-B611-5FE5F5CAB137}"/>
              </a:ext>
            </a:extLst>
          </p:cNvPr>
          <p:cNvSpPr/>
          <p:nvPr/>
        </p:nvSpPr>
        <p:spPr>
          <a:xfrm>
            <a:off x="1713438" y="1306513"/>
            <a:ext cx="8764063" cy="989012"/>
          </a:xfrm>
          <a:prstGeom prst="rect">
            <a:avLst/>
          </a:prstGeom>
          <a:ln/>
          <a:effectLst/>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39" tIns="45719" rIns="91439" bIns="45719" numCol="1" spcCol="0" rtlCol="0" fromWordArt="0" anchor="ctr" anchorCtr="0" forceAA="0" compatLnSpc="1">
            <a:prstTxWarp prst="textNoShape">
              <a:avLst/>
            </a:prstTxWarp>
            <a:noAutofit/>
          </a:bodyPr>
          <a:lstStyle/>
          <a:p>
            <a:pPr algn="ctr"/>
            <a:endParaRPr lang="en-GB" sz="1050" dirty="0">
              <a:solidFill>
                <a:srgbClr val="000000"/>
              </a:solidFill>
              <a:latin typeface="+mj-lt"/>
            </a:endParaRPr>
          </a:p>
        </p:txBody>
      </p:sp>
      <p:sp>
        <p:nvSpPr>
          <p:cNvPr id="19" name="Rectangle 18">
            <a:extLst>
              <a:ext uri="{FF2B5EF4-FFF2-40B4-BE49-F238E27FC236}">
                <a16:creationId xmlns:a16="http://schemas.microsoft.com/office/drawing/2014/main" id="{929008AE-244B-4BC1-9B11-CF81F1F85A59}"/>
              </a:ext>
            </a:extLst>
          </p:cNvPr>
          <p:cNvSpPr/>
          <p:nvPr/>
        </p:nvSpPr>
        <p:spPr>
          <a:xfrm>
            <a:off x="1714301" y="2439988"/>
            <a:ext cx="4274399" cy="3617912"/>
          </a:xfrm>
          <a:prstGeom prst="rect">
            <a:avLst/>
          </a:prstGeom>
          <a:ln/>
          <a:effectLst/>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39" tIns="45719" rIns="91439" bIns="45719" numCol="1" spcCol="0" rtlCol="0" fromWordArt="0" anchor="t" anchorCtr="0" forceAA="0" compatLnSpc="1">
            <a:prstTxWarp prst="textNoShape">
              <a:avLst/>
            </a:prstTxWarp>
            <a:noAutofit/>
          </a:bodyPr>
          <a:lstStyle/>
          <a:p>
            <a:pPr>
              <a:buSzPct val="100000"/>
            </a:pPr>
            <a:r>
              <a:rPr lang="en-GB" sz="1200" b="1" dirty="0">
                <a:latin typeface="+mj-lt"/>
              </a:rPr>
              <a:t>Objective</a:t>
            </a:r>
          </a:p>
          <a:p>
            <a:pPr marL="180975" indent="-180975">
              <a:buSzPct val="100000"/>
              <a:buFont typeface="Wingdings"/>
              <a:buChar char="§"/>
            </a:pPr>
            <a:r>
              <a:rPr lang="en-GB" sz="1200" dirty="0">
                <a:latin typeface="+mj-lt"/>
              </a:rPr>
              <a:t>To </a:t>
            </a:r>
            <a:r>
              <a:rPr lang="en-GB" sz="1200" dirty="0"/>
              <a:t>promote resiliency over longer-term time horizons by creating additional incentives for banks to fund their activities with more stable sources of funding on an ongoing structural basis</a:t>
            </a:r>
          </a:p>
          <a:p>
            <a:pPr marL="180975" indent="-180975">
              <a:buSzPct val="100000"/>
              <a:buFont typeface="Wingdings"/>
              <a:buChar char="§"/>
            </a:pPr>
            <a:endParaRPr lang="en-GB" sz="1200" dirty="0">
              <a:latin typeface="+mj-lt"/>
            </a:endParaRPr>
          </a:p>
          <a:p>
            <a:pPr>
              <a:buSzPct val="100000"/>
            </a:pPr>
            <a:r>
              <a:rPr lang="en-GB" sz="1200" b="1" dirty="0">
                <a:latin typeface="+mj-lt"/>
              </a:rPr>
              <a:t>Analysis</a:t>
            </a:r>
          </a:p>
          <a:p>
            <a:pPr marL="180975" indent="-180975">
              <a:buSzPct val="100000"/>
              <a:buFont typeface="Wingdings"/>
              <a:buChar char="§"/>
            </a:pPr>
            <a:r>
              <a:rPr lang="en-GB" sz="1200" dirty="0"/>
              <a:t>The </a:t>
            </a:r>
            <a:r>
              <a:rPr lang="en-GB" sz="1200" dirty="0" err="1"/>
              <a:t>NSFR</a:t>
            </a:r>
            <a:r>
              <a:rPr lang="en-GB" sz="1200" dirty="0"/>
              <a:t> aims to limit over-reliance on short-term wholesale funding during times of market liquidity and encourages better assessment of liquidity risk across all on- and off-balance sheet items</a:t>
            </a:r>
          </a:p>
          <a:p>
            <a:pPr marL="180975" indent="-180975">
              <a:buSzPct val="100000"/>
              <a:buFont typeface="Wingdings"/>
              <a:buChar char="§"/>
            </a:pPr>
            <a:r>
              <a:rPr lang="en-GB" sz="1200" dirty="0"/>
              <a:t>The approach incentivises institutions to fund their stock of high-quality liquid assets with funds other than those that mature just outside the 30-day horizon</a:t>
            </a:r>
          </a:p>
          <a:p>
            <a:pPr marL="180975" indent="-180975">
              <a:buSzPct val="100000"/>
              <a:buFont typeface="Wingdings"/>
              <a:buChar char="§"/>
            </a:pPr>
            <a:r>
              <a:rPr lang="en-GB" sz="1200" dirty="0"/>
              <a:t>The metric establishes a minimum acceptable amount of stable funding based on the liquidity characteristics of an institution’s assets and activities over a one year horizon</a:t>
            </a:r>
          </a:p>
          <a:p>
            <a:pPr marL="180975" indent="-180975">
              <a:buSzPct val="100000"/>
              <a:buFont typeface="Wingdings"/>
              <a:buChar char="§"/>
            </a:pPr>
            <a:endParaRPr lang="en-GB" sz="1200" dirty="0">
              <a:latin typeface="+mj-lt"/>
            </a:endParaRPr>
          </a:p>
        </p:txBody>
      </p:sp>
      <p:sp>
        <p:nvSpPr>
          <p:cNvPr id="24" name="TextBox 23">
            <a:extLst>
              <a:ext uri="{FF2B5EF4-FFF2-40B4-BE49-F238E27FC236}">
                <a16:creationId xmlns:a16="http://schemas.microsoft.com/office/drawing/2014/main" id="{62AB8673-B535-460C-BBE3-CA79E926CF3D}"/>
              </a:ext>
            </a:extLst>
          </p:cNvPr>
          <p:cNvSpPr txBox="1"/>
          <p:nvPr/>
        </p:nvSpPr>
        <p:spPr>
          <a:xfrm>
            <a:off x="6455561" y="2586038"/>
            <a:ext cx="1767773" cy="3349302"/>
          </a:xfrm>
          <a:prstGeom prst="rect">
            <a:avLst/>
          </a:prstGeom>
          <a:effectLst/>
        </p:spPr>
        <p:style>
          <a:lnRef idx="2">
            <a:schemeClr val="accent2">
              <a:shade val="50000"/>
            </a:schemeClr>
          </a:lnRef>
          <a:fillRef idx="1">
            <a:schemeClr val="accent2"/>
          </a:fillRef>
          <a:effectRef idx="0">
            <a:schemeClr val="accent2"/>
          </a:effectRef>
          <a:fontRef idx="minor">
            <a:schemeClr val="lt1"/>
          </a:fontRef>
        </p:style>
        <p:txBody>
          <a:bodyPr wrap="square" lIns="91439" tIns="45719" rIns="91439" bIns="45719" rtlCol="0">
            <a:noAutofit/>
          </a:bodyPr>
          <a:lstStyle/>
          <a:p>
            <a:pPr algn="ctr" fontAlgn="base">
              <a:spcBef>
                <a:spcPct val="0"/>
              </a:spcBef>
              <a:spcAft>
                <a:spcPts val="1000"/>
              </a:spcAft>
            </a:pPr>
            <a:r>
              <a:rPr lang="en-GB" sz="1100" b="1" dirty="0">
                <a:solidFill>
                  <a:schemeClr val="tx1"/>
                </a:solidFill>
                <a:latin typeface="+mj-lt"/>
                <a:cs typeface="Arial" pitchFamily="34" charset="0"/>
              </a:rPr>
              <a:t>Available Stable Funding (AFS)</a:t>
            </a:r>
            <a:endParaRPr lang="en-GB" sz="1100" b="1" dirty="0">
              <a:latin typeface="+mj-lt"/>
              <a:cs typeface="Arial" pitchFamily="34" charset="0"/>
            </a:endParaRPr>
          </a:p>
          <a:p>
            <a:pPr marL="180975" indent="-180975" fontAlgn="base">
              <a:spcBef>
                <a:spcPct val="0"/>
              </a:spcBef>
              <a:spcAft>
                <a:spcPts val="300"/>
              </a:spcAft>
              <a:buSzPct val="100000"/>
              <a:buFont typeface="Wingdings"/>
              <a:buChar char="§"/>
            </a:pPr>
            <a:r>
              <a:rPr lang="en-US" sz="1100" dirty="0">
                <a:solidFill>
                  <a:srgbClr val="000000"/>
                </a:solidFill>
                <a:latin typeface="+mj-lt"/>
                <a:cs typeface="Arial" pitchFamily="34" charset="0"/>
              </a:rPr>
              <a:t>Capital</a:t>
            </a:r>
          </a:p>
          <a:p>
            <a:pPr marL="180975" indent="-180975" fontAlgn="base">
              <a:spcBef>
                <a:spcPct val="0"/>
              </a:spcBef>
              <a:spcAft>
                <a:spcPts val="300"/>
              </a:spcAft>
              <a:buSzPct val="100000"/>
              <a:buFont typeface="Wingdings"/>
              <a:buChar char="§"/>
            </a:pPr>
            <a:r>
              <a:rPr lang="en-US" sz="1100" dirty="0">
                <a:solidFill>
                  <a:srgbClr val="000000"/>
                </a:solidFill>
                <a:latin typeface="+mj-lt"/>
                <a:cs typeface="Arial" pitchFamily="34" charset="0"/>
              </a:rPr>
              <a:t>Preferred stock with maturity of equal to or greater than one year</a:t>
            </a:r>
          </a:p>
          <a:p>
            <a:pPr marL="180975" indent="-180975" fontAlgn="base">
              <a:spcBef>
                <a:spcPct val="0"/>
              </a:spcBef>
              <a:spcAft>
                <a:spcPts val="300"/>
              </a:spcAft>
              <a:buSzPct val="100000"/>
              <a:buFont typeface="Wingdings"/>
              <a:buChar char="§"/>
            </a:pPr>
            <a:r>
              <a:rPr lang="en-US" sz="1100" dirty="0">
                <a:solidFill>
                  <a:srgbClr val="000000"/>
                </a:solidFill>
                <a:latin typeface="+mj-lt"/>
                <a:cs typeface="Arial" pitchFamily="34" charset="0"/>
              </a:rPr>
              <a:t>Liabilities with effective maturities of one year or greater </a:t>
            </a:r>
          </a:p>
          <a:p>
            <a:pPr marL="180975" indent="-180975" fontAlgn="base">
              <a:spcBef>
                <a:spcPct val="0"/>
              </a:spcBef>
              <a:spcAft>
                <a:spcPts val="300"/>
              </a:spcAft>
              <a:buSzPct val="100000"/>
              <a:buFont typeface="Wingdings"/>
              <a:buChar char="§"/>
            </a:pPr>
            <a:r>
              <a:rPr lang="en-US" sz="1100" dirty="0">
                <a:solidFill>
                  <a:srgbClr val="000000"/>
                </a:solidFill>
                <a:latin typeface="+mj-lt"/>
                <a:cs typeface="Arial" pitchFamily="34" charset="0"/>
              </a:rPr>
              <a:t>Non-maturity deposits, term deposits, unsecured wholesale funding (maturity &lt;1 </a:t>
            </a:r>
            <a:r>
              <a:rPr lang="en-US" sz="1100" dirty="0" err="1">
                <a:solidFill>
                  <a:srgbClr val="000000"/>
                </a:solidFill>
                <a:latin typeface="+mj-lt"/>
                <a:cs typeface="Arial" pitchFamily="34" charset="0"/>
              </a:rPr>
              <a:t>yr</a:t>
            </a:r>
            <a:r>
              <a:rPr lang="en-US" sz="1100" dirty="0">
                <a:solidFill>
                  <a:srgbClr val="000000"/>
                </a:solidFill>
                <a:latin typeface="+mj-lt"/>
                <a:cs typeface="Arial" pitchFamily="34" charset="0"/>
              </a:rPr>
              <a:t>)</a:t>
            </a:r>
          </a:p>
          <a:p>
            <a:pPr marL="180975" indent="-180975" fontAlgn="base">
              <a:spcBef>
                <a:spcPct val="0"/>
              </a:spcBef>
              <a:spcAft>
                <a:spcPts val="300"/>
              </a:spcAft>
              <a:buSzPct val="100000"/>
              <a:buFont typeface="Wingdings"/>
              <a:buChar char="§"/>
            </a:pPr>
            <a:r>
              <a:rPr lang="en-US" sz="1100" dirty="0">
                <a:solidFill>
                  <a:srgbClr val="000000"/>
                </a:solidFill>
                <a:latin typeface="+mj-lt"/>
                <a:cs typeface="Arial" pitchFamily="34" charset="0"/>
              </a:rPr>
              <a:t>Multiplied by an allocated </a:t>
            </a:r>
            <a:r>
              <a:rPr lang="en-US" sz="1100" dirty="0" err="1">
                <a:solidFill>
                  <a:srgbClr val="000000"/>
                </a:solidFill>
                <a:latin typeface="+mj-lt"/>
                <a:cs typeface="Arial" pitchFamily="34" charset="0"/>
              </a:rPr>
              <a:t>ASF</a:t>
            </a:r>
            <a:r>
              <a:rPr lang="en-US" sz="1100" dirty="0">
                <a:solidFill>
                  <a:srgbClr val="000000"/>
                </a:solidFill>
                <a:latin typeface="+mj-lt"/>
                <a:cs typeface="Arial" pitchFamily="34" charset="0"/>
              </a:rPr>
              <a:t> factor</a:t>
            </a:r>
          </a:p>
        </p:txBody>
      </p:sp>
      <p:sp>
        <p:nvSpPr>
          <p:cNvPr id="25" name="TextBox 24">
            <a:extLst>
              <a:ext uri="{FF2B5EF4-FFF2-40B4-BE49-F238E27FC236}">
                <a16:creationId xmlns:a16="http://schemas.microsoft.com/office/drawing/2014/main" id="{37278D40-1A5A-464B-9219-7FBEFC14A766}"/>
              </a:ext>
            </a:extLst>
          </p:cNvPr>
          <p:cNvSpPr txBox="1"/>
          <p:nvPr/>
        </p:nvSpPr>
        <p:spPr>
          <a:xfrm>
            <a:off x="8423090" y="2586038"/>
            <a:ext cx="1767773" cy="3349302"/>
          </a:xfrm>
          <a:prstGeom prst="rect">
            <a:avLst/>
          </a:prstGeom>
          <a:effectLst/>
        </p:spPr>
        <p:style>
          <a:lnRef idx="2">
            <a:schemeClr val="accent2">
              <a:shade val="50000"/>
            </a:schemeClr>
          </a:lnRef>
          <a:fillRef idx="1">
            <a:schemeClr val="accent2"/>
          </a:fillRef>
          <a:effectRef idx="0">
            <a:schemeClr val="accent2"/>
          </a:effectRef>
          <a:fontRef idx="minor">
            <a:schemeClr val="lt1"/>
          </a:fontRef>
        </p:style>
        <p:txBody>
          <a:bodyPr wrap="square" lIns="91439" tIns="45719" rIns="91439" bIns="45719" rtlCol="0">
            <a:noAutofit/>
          </a:bodyPr>
          <a:lstStyle/>
          <a:p>
            <a:pPr algn="ctr" fontAlgn="base">
              <a:spcBef>
                <a:spcPct val="0"/>
              </a:spcBef>
              <a:spcAft>
                <a:spcPts val="1000"/>
              </a:spcAft>
            </a:pPr>
            <a:r>
              <a:rPr lang="en-GB" sz="1100" b="1" dirty="0">
                <a:solidFill>
                  <a:schemeClr val="tx1"/>
                </a:solidFill>
                <a:latin typeface="+mj-lt"/>
                <a:cs typeface="Arial" pitchFamily="34" charset="0"/>
              </a:rPr>
              <a:t>Required Stable Funding (RFS)</a:t>
            </a:r>
          </a:p>
          <a:p>
            <a:pPr marL="180975" indent="-180975" fontAlgn="base">
              <a:spcBef>
                <a:spcPct val="0"/>
              </a:spcBef>
              <a:spcAft>
                <a:spcPts val="1000"/>
              </a:spcAft>
              <a:buSzPct val="100000"/>
              <a:buFont typeface="Wingdings"/>
              <a:buChar char="§"/>
            </a:pPr>
            <a:r>
              <a:rPr lang="en-GB" sz="1100" dirty="0">
                <a:solidFill>
                  <a:srgbClr val="000000"/>
                </a:solidFill>
                <a:latin typeface="+mj-lt"/>
                <a:cs typeface="Arial" pitchFamily="34" charset="0"/>
              </a:rPr>
              <a:t>The sum of the value of assets held and funded by the institution, multiplied by a specific factor assigned to each particular asset type, added to the amount of off-balance sheet activity multiplied by its associated </a:t>
            </a:r>
            <a:r>
              <a:rPr lang="en-GB" sz="1100" dirty="0" err="1">
                <a:solidFill>
                  <a:srgbClr val="000000"/>
                </a:solidFill>
                <a:latin typeface="+mj-lt"/>
                <a:cs typeface="Arial" pitchFamily="34" charset="0"/>
              </a:rPr>
              <a:t>RSF</a:t>
            </a:r>
            <a:r>
              <a:rPr lang="en-GB" sz="1100" dirty="0">
                <a:solidFill>
                  <a:srgbClr val="000000"/>
                </a:solidFill>
                <a:latin typeface="+mj-lt"/>
                <a:cs typeface="Arial" pitchFamily="34" charset="0"/>
              </a:rPr>
              <a:t> factor</a:t>
            </a:r>
            <a:endParaRPr lang="en-GB" sz="1100" dirty="0">
              <a:solidFill>
                <a:schemeClr val="tx1"/>
              </a:solidFill>
              <a:latin typeface="+mj-lt"/>
              <a:cs typeface="Arial" pitchFamily="34" charset="0"/>
            </a:endParaRPr>
          </a:p>
        </p:txBody>
      </p:sp>
      <p:grpSp>
        <p:nvGrpSpPr>
          <p:cNvPr id="34" name="Group 33">
            <a:extLst>
              <a:ext uri="{FF2B5EF4-FFF2-40B4-BE49-F238E27FC236}">
                <a16:creationId xmlns:a16="http://schemas.microsoft.com/office/drawing/2014/main" id="{2A26ABE7-2857-4E3F-8D81-FFC7BB589345}"/>
              </a:ext>
            </a:extLst>
          </p:cNvPr>
          <p:cNvGrpSpPr/>
          <p:nvPr/>
        </p:nvGrpSpPr>
        <p:grpSpPr>
          <a:xfrm>
            <a:off x="3057864" y="1575658"/>
            <a:ext cx="6075698" cy="450725"/>
            <a:chOff x="1441525" y="1575657"/>
            <a:chExt cx="6075698" cy="450725"/>
          </a:xfrm>
        </p:grpSpPr>
        <p:sp>
          <p:nvSpPr>
            <p:cNvPr id="29" name="TextBox 28">
              <a:extLst>
                <a:ext uri="{FF2B5EF4-FFF2-40B4-BE49-F238E27FC236}">
                  <a16:creationId xmlns:a16="http://schemas.microsoft.com/office/drawing/2014/main" id="{89C50458-49CA-40F7-8B8E-EBF48DE705F3}"/>
                </a:ext>
              </a:extLst>
            </p:cNvPr>
            <p:cNvSpPr txBox="1"/>
            <p:nvPr/>
          </p:nvSpPr>
          <p:spPr>
            <a:xfrm>
              <a:off x="6529587" y="1575657"/>
              <a:ext cx="987636" cy="450725"/>
            </a:xfrm>
            <a:prstGeom prst="rect">
              <a:avLst/>
            </a:prstGeom>
            <a:noFill/>
          </p:spPr>
          <p:txBody>
            <a:bodyPr wrap="square" rtlCol="0" anchor="ctr">
              <a:noAutofit/>
            </a:bodyPr>
            <a:lstStyle/>
            <a:p>
              <a:r>
                <a:rPr lang="en-GB" sz="1400" dirty="0">
                  <a:latin typeface="+mj-lt"/>
                  <a:cs typeface="Trebuchet MS"/>
                </a:rPr>
                <a:t>≥ 100%</a:t>
              </a:r>
            </a:p>
          </p:txBody>
        </p:sp>
        <p:sp>
          <p:nvSpPr>
            <p:cNvPr id="30" name="TextBox 29">
              <a:extLst>
                <a:ext uri="{FF2B5EF4-FFF2-40B4-BE49-F238E27FC236}">
                  <a16:creationId xmlns:a16="http://schemas.microsoft.com/office/drawing/2014/main" id="{3016F609-1C20-4273-8A99-0345696725C4}"/>
                </a:ext>
              </a:extLst>
            </p:cNvPr>
            <p:cNvSpPr txBox="1"/>
            <p:nvPr/>
          </p:nvSpPr>
          <p:spPr>
            <a:xfrm>
              <a:off x="1441525" y="1575657"/>
              <a:ext cx="5222312" cy="450725"/>
            </a:xfrm>
            <a:prstGeom prst="rect">
              <a:avLst/>
            </a:prstGeom>
            <a:noFill/>
          </p:spPr>
          <p:txBody>
            <a:bodyPr wrap="square" rtlCol="0" anchor="ctr">
              <a:noAutofit/>
            </a:bodyPr>
            <a:lstStyle/>
            <a:p>
              <a:pPr algn="ctr">
                <a:lnSpc>
                  <a:spcPct val="150000"/>
                </a:lnSpc>
              </a:pPr>
              <a:r>
                <a:rPr lang="en-GB" sz="1400" dirty="0">
                  <a:latin typeface="+mj-lt"/>
                  <a:cs typeface="Trebuchet MS"/>
                </a:rPr>
                <a:t>Available amount of stable funding</a:t>
              </a:r>
            </a:p>
            <a:p>
              <a:pPr algn="ctr">
                <a:lnSpc>
                  <a:spcPct val="150000"/>
                </a:lnSpc>
              </a:pPr>
              <a:r>
                <a:rPr lang="en-GB" sz="1400" dirty="0">
                  <a:latin typeface="+mj-lt"/>
                  <a:cs typeface="Trebuchet MS"/>
                </a:rPr>
                <a:t>Required amount of stable funding</a:t>
              </a:r>
            </a:p>
          </p:txBody>
        </p:sp>
        <p:cxnSp>
          <p:nvCxnSpPr>
            <p:cNvPr id="31" name="Straight Connector 30">
              <a:extLst>
                <a:ext uri="{FF2B5EF4-FFF2-40B4-BE49-F238E27FC236}">
                  <a16:creationId xmlns:a16="http://schemas.microsoft.com/office/drawing/2014/main" id="{4E89B615-553F-495C-8F2C-503BF9FA5401}"/>
                </a:ext>
              </a:extLst>
            </p:cNvPr>
            <p:cNvCxnSpPr>
              <a:cxnSpLocks/>
            </p:cNvCxnSpPr>
            <p:nvPr/>
          </p:nvCxnSpPr>
          <p:spPr>
            <a:xfrm>
              <a:off x="1731981" y="1819657"/>
              <a:ext cx="4848203" cy="0"/>
            </a:xfrm>
            <a:prstGeom prst="line">
              <a:avLst/>
            </a:prstGeom>
            <a:ln w="15875">
              <a:solidFill>
                <a:schemeClr val="tx1"/>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7363842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3EC012F-99A3-4C7C-B94A-AF8260F014C8}"/>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63EC012F-99A3-4C7C-B94A-AF8260F014C8}"/>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DFD4A27-35E9-4AE8-AB3A-FBB1DBB54301}"/>
              </a:ext>
            </a:extLst>
          </p:cNvPr>
          <p:cNvSpPr>
            <a:spLocks noGrp="1"/>
          </p:cNvSpPr>
          <p:nvPr>
            <p:ph type="title"/>
          </p:nvPr>
        </p:nvSpPr>
        <p:spPr/>
        <p:txBody>
          <a:bodyPr vert="horz">
            <a:normAutofit fontScale="90000"/>
          </a:bodyPr>
          <a:lstStyle/>
          <a:p>
            <a:r>
              <a:rPr lang="en-GB" dirty="0"/>
              <a:t>Basel III liquidity risk standards</a:t>
            </a:r>
            <a:br>
              <a:rPr lang="en-GB" dirty="0"/>
            </a:br>
            <a:r>
              <a:rPr lang="en-GB" i="1" dirty="0">
                <a:solidFill>
                  <a:schemeClr val="accent2">
                    <a:lumMod val="75000"/>
                  </a:schemeClr>
                </a:solidFill>
              </a:rPr>
              <a:t>The Net Stable Funding Ratio (</a:t>
            </a:r>
            <a:r>
              <a:rPr lang="en-GB" i="1" dirty="0" err="1">
                <a:solidFill>
                  <a:schemeClr val="accent2">
                    <a:lumMod val="75000"/>
                  </a:schemeClr>
                </a:solidFill>
              </a:rPr>
              <a:t>NSFR</a:t>
            </a:r>
            <a:r>
              <a:rPr lang="en-GB" i="1" dirty="0">
                <a:solidFill>
                  <a:schemeClr val="accent2">
                    <a:lumMod val="75000"/>
                  </a:schemeClr>
                </a:solidFill>
              </a:rPr>
              <a:t>)</a:t>
            </a:r>
            <a:endParaRPr lang="en-GB" dirty="0">
              <a:solidFill>
                <a:schemeClr val="accent2">
                  <a:lumMod val="75000"/>
                </a:schemeClr>
              </a:solidFill>
            </a:endParaRPr>
          </a:p>
        </p:txBody>
      </p:sp>
      <p:pic>
        <p:nvPicPr>
          <p:cNvPr id="13" name="Picture 12">
            <a:extLst>
              <a:ext uri="{FF2B5EF4-FFF2-40B4-BE49-F238E27FC236}">
                <a16:creationId xmlns:a16="http://schemas.microsoft.com/office/drawing/2014/main" id="{7909DE4E-5843-4073-BE69-757FBE11599B}"/>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2171279" y="1303468"/>
            <a:ext cx="7849445" cy="4754432"/>
          </a:xfrm>
          <a:prstGeom prst="rect">
            <a:avLst/>
          </a:prstGeom>
        </p:spPr>
      </p:pic>
    </p:spTree>
    <p:extLst>
      <p:ext uri="{BB962C8B-B14F-4D97-AF65-F5344CB8AC3E}">
        <p14:creationId xmlns:p14="http://schemas.microsoft.com/office/powerpoint/2010/main" val="66198915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768265C-B9E8-442D-9EF5-E8DDADED7BA0}"/>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3768265C-B9E8-442D-9EF5-E8DDADED7BA0}"/>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cxnSp>
        <p:nvCxnSpPr>
          <p:cNvPr id="47" name="Connector: Curved 46">
            <a:extLst>
              <a:ext uri="{FF2B5EF4-FFF2-40B4-BE49-F238E27FC236}">
                <a16:creationId xmlns:a16="http://schemas.microsoft.com/office/drawing/2014/main" id="{68ADE906-3B56-427B-AE20-95D10BF4EA81}"/>
              </a:ext>
            </a:extLst>
          </p:cNvPr>
          <p:cNvCxnSpPr>
            <a:cxnSpLocks/>
          </p:cNvCxnSpPr>
          <p:nvPr/>
        </p:nvCxnSpPr>
        <p:spPr>
          <a:xfrm rot="10800000" flipV="1">
            <a:off x="4473953" y="2588929"/>
            <a:ext cx="2405542" cy="1881339"/>
          </a:xfrm>
          <a:prstGeom prst="curvedConnector3">
            <a:avLst>
              <a:gd name="adj1" fmla="val 44186"/>
            </a:avLst>
          </a:prstGeom>
          <a:ln w="57150">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sp>
        <p:nvSpPr>
          <p:cNvPr id="4" name="Title 3">
            <a:extLst>
              <a:ext uri="{FF2B5EF4-FFF2-40B4-BE49-F238E27FC236}">
                <a16:creationId xmlns:a16="http://schemas.microsoft.com/office/drawing/2014/main" id="{23C3585C-7A23-48C4-8B6D-9B0586029F5C}"/>
              </a:ext>
            </a:extLst>
          </p:cNvPr>
          <p:cNvSpPr>
            <a:spLocks noGrp="1"/>
          </p:cNvSpPr>
          <p:nvPr>
            <p:ph type="title"/>
          </p:nvPr>
        </p:nvSpPr>
        <p:spPr/>
        <p:txBody>
          <a:bodyPr vert="horz"/>
          <a:lstStyle/>
          <a:p>
            <a:r>
              <a:rPr lang="en-GB" dirty="0"/>
              <a:t>Worked example of </a:t>
            </a:r>
            <a:r>
              <a:rPr lang="en-GB" dirty="0" err="1"/>
              <a:t>LCR</a:t>
            </a:r>
            <a:r>
              <a:rPr lang="en-GB" dirty="0"/>
              <a:t> calculation</a:t>
            </a:r>
          </a:p>
        </p:txBody>
      </p:sp>
      <p:graphicFrame>
        <p:nvGraphicFramePr>
          <p:cNvPr id="8" name="Table 7">
            <a:extLst>
              <a:ext uri="{FF2B5EF4-FFF2-40B4-BE49-F238E27FC236}">
                <a16:creationId xmlns:a16="http://schemas.microsoft.com/office/drawing/2014/main" id="{CFF6A82B-62CB-4EA0-A72A-FC2B91C9D3C5}"/>
              </a:ext>
            </a:extLst>
          </p:cNvPr>
          <p:cNvGraphicFramePr>
            <a:graphicFrameLocks noGrp="1"/>
          </p:cNvGraphicFramePr>
          <p:nvPr/>
        </p:nvGraphicFramePr>
        <p:xfrm>
          <a:off x="2552253" y="1659783"/>
          <a:ext cx="7925247" cy="1477255"/>
        </p:xfrm>
        <a:graphic>
          <a:graphicData uri="http://schemas.openxmlformats.org/drawingml/2006/table">
            <a:tbl>
              <a:tblPr/>
              <a:tblGrid>
                <a:gridCol w="2829261">
                  <a:extLst>
                    <a:ext uri="{9D8B030D-6E8A-4147-A177-3AD203B41FA5}">
                      <a16:colId xmlns:a16="http://schemas.microsoft.com/office/drawing/2014/main" val="13485291"/>
                    </a:ext>
                  </a:extLst>
                </a:gridCol>
                <a:gridCol w="665938">
                  <a:extLst>
                    <a:ext uri="{9D8B030D-6E8A-4147-A177-3AD203B41FA5}">
                      <a16:colId xmlns:a16="http://schemas.microsoft.com/office/drawing/2014/main" val="3877568841"/>
                    </a:ext>
                  </a:extLst>
                </a:gridCol>
                <a:gridCol w="512017">
                  <a:extLst>
                    <a:ext uri="{9D8B030D-6E8A-4147-A177-3AD203B41FA5}">
                      <a16:colId xmlns:a16="http://schemas.microsoft.com/office/drawing/2014/main" val="4038536362"/>
                    </a:ext>
                  </a:extLst>
                </a:gridCol>
                <a:gridCol w="3243438">
                  <a:extLst>
                    <a:ext uri="{9D8B030D-6E8A-4147-A177-3AD203B41FA5}">
                      <a16:colId xmlns:a16="http://schemas.microsoft.com/office/drawing/2014/main" val="1360369286"/>
                    </a:ext>
                  </a:extLst>
                </a:gridCol>
                <a:gridCol w="674593">
                  <a:extLst>
                    <a:ext uri="{9D8B030D-6E8A-4147-A177-3AD203B41FA5}">
                      <a16:colId xmlns:a16="http://schemas.microsoft.com/office/drawing/2014/main" val="2809195089"/>
                    </a:ext>
                  </a:extLst>
                </a:gridCol>
              </a:tblGrid>
              <a:tr h="129316">
                <a:tc>
                  <a:txBody>
                    <a:bodyPr/>
                    <a:lstStyle/>
                    <a:p>
                      <a:pPr algn="ctr" fontAlgn="ctr"/>
                      <a:r>
                        <a:rPr lang="en-GB" sz="800" b="1" i="0" u="none" strike="noStrike">
                          <a:solidFill>
                            <a:srgbClr val="FFFFFF"/>
                          </a:solidFill>
                          <a:effectLst/>
                          <a:latin typeface="+mj-lt"/>
                        </a:rPr>
                        <a:t>Assets</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GB" sz="1000" b="1" i="0" u="none" strike="noStrike">
                          <a:solidFill>
                            <a:srgbClr val="FFFFFF"/>
                          </a:solidFill>
                          <a:effectLst/>
                          <a:latin typeface="+mj-lt"/>
                        </a:rPr>
                        <a:t>€</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GB" sz="1000" b="1" i="0" u="none" strike="noStrike">
                          <a:solidFill>
                            <a:srgbClr val="FFFFFF"/>
                          </a:solidFill>
                          <a:effectLst/>
                          <a:latin typeface="+mj-lt"/>
                        </a:rPr>
                        <a:t> </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GB" sz="800" b="1" i="0" u="none" strike="noStrike" dirty="0">
                          <a:solidFill>
                            <a:srgbClr val="FFFFFF"/>
                          </a:solidFill>
                          <a:effectLst/>
                          <a:latin typeface="+mj-lt"/>
                        </a:rPr>
                        <a:t>Liabilities</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GB" sz="1000" b="1" i="0" u="none" strike="noStrike">
                          <a:solidFill>
                            <a:srgbClr val="FFFFFF"/>
                          </a:solidFill>
                          <a:effectLst/>
                          <a:latin typeface="+mj-lt"/>
                        </a:rPr>
                        <a:t>€</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2930559797"/>
                  </a:ext>
                </a:extLst>
              </a:tr>
              <a:tr h="111928">
                <a:tc>
                  <a:txBody>
                    <a:bodyPr/>
                    <a:lstStyle/>
                    <a:p>
                      <a:pPr algn="l" fontAlgn="t"/>
                      <a:r>
                        <a:rPr lang="en-GB" sz="800" b="1" i="0" u="none" strike="noStrike" dirty="0">
                          <a:solidFill>
                            <a:srgbClr val="000000"/>
                          </a:solidFill>
                          <a:effectLst/>
                          <a:latin typeface="+mj-lt"/>
                        </a:rPr>
                        <a:t>Cash</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t"/>
                      <a:r>
                        <a:rPr lang="en-GB" sz="800" b="1" i="0" u="none" strike="noStrike">
                          <a:solidFill>
                            <a:srgbClr val="000000"/>
                          </a:solidFill>
                          <a:effectLst/>
                          <a:latin typeface="+mj-lt"/>
                        </a:rPr>
                        <a:t>50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t"/>
                      <a:r>
                        <a:rPr lang="en-GB" sz="800" b="1" i="0" u="none" strike="noStrike">
                          <a:solidFill>
                            <a:srgbClr val="000000"/>
                          </a:solidFill>
                          <a:effectLst/>
                          <a:latin typeface="+mj-lt"/>
                        </a:rPr>
                        <a:t> </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1" i="0" u="none" strike="noStrike">
                          <a:solidFill>
                            <a:srgbClr val="000000"/>
                          </a:solidFill>
                          <a:effectLst/>
                          <a:latin typeface="+mj-lt"/>
                        </a:rPr>
                        <a:t>Equity Capital</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1" i="0" u="none" strike="noStrike">
                          <a:solidFill>
                            <a:srgbClr val="000000"/>
                          </a:solidFill>
                          <a:effectLst/>
                          <a:latin typeface="+mj-lt"/>
                        </a:rPr>
                        <a:t>80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9205866"/>
                  </a:ext>
                </a:extLst>
              </a:tr>
              <a:tr h="171636">
                <a:tc>
                  <a:txBody>
                    <a:bodyPr/>
                    <a:lstStyle/>
                    <a:p>
                      <a:pPr algn="l" fontAlgn="t"/>
                      <a:r>
                        <a:rPr lang="en-GB" sz="800" b="1" i="0" u="none" strike="noStrike" dirty="0">
                          <a:solidFill>
                            <a:srgbClr val="000000"/>
                          </a:solidFill>
                          <a:effectLst/>
                          <a:latin typeface="+mj-lt"/>
                        </a:rPr>
                        <a:t>Government Securities</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t"/>
                      <a:r>
                        <a:rPr lang="en-GB" sz="800" b="1" i="0" u="none" strike="noStrike">
                          <a:solidFill>
                            <a:srgbClr val="000000"/>
                          </a:solidFill>
                          <a:effectLst/>
                          <a:latin typeface="+mj-lt"/>
                        </a:rPr>
                        <a:t>100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t"/>
                      <a:r>
                        <a:rPr lang="en-GB" sz="800" b="1" i="0" u="none" strike="noStrike">
                          <a:solidFill>
                            <a:srgbClr val="000000"/>
                          </a:solidFill>
                          <a:effectLst/>
                          <a:latin typeface="+mj-lt"/>
                        </a:rPr>
                        <a:t> </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1" i="0" u="none" strike="noStrike">
                          <a:solidFill>
                            <a:srgbClr val="000000"/>
                          </a:solidFill>
                          <a:effectLst/>
                          <a:latin typeface="+mj-lt"/>
                        </a:rPr>
                        <a:t>Tier 2 Capital maturing in 5 months</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1" i="0" u="none" strike="noStrike">
                          <a:solidFill>
                            <a:srgbClr val="000000"/>
                          </a:solidFill>
                          <a:effectLst/>
                          <a:latin typeface="+mj-lt"/>
                        </a:rPr>
                        <a:t>20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3609694"/>
                  </a:ext>
                </a:extLst>
              </a:tr>
              <a:tr h="111928">
                <a:tc>
                  <a:txBody>
                    <a:bodyPr/>
                    <a:lstStyle/>
                    <a:p>
                      <a:pPr algn="l" fontAlgn="t"/>
                      <a:r>
                        <a:rPr lang="en-GB" sz="800" b="1" i="0" u="none" strike="noStrike" dirty="0">
                          <a:solidFill>
                            <a:srgbClr val="000000"/>
                          </a:solidFill>
                          <a:effectLst/>
                          <a:latin typeface="+mj-lt"/>
                        </a:rPr>
                        <a:t>Covered Bonds rated AA-</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t"/>
                      <a:r>
                        <a:rPr lang="en-GB" sz="800" b="1" i="0" u="none" strike="noStrike" dirty="0">
                          <a:solidFill>
                            <a:srgbClr val="000000"/>
                          </a:solidFill>
                          <a:effectLst/>
                          <a:latin typeface="+mj-lt"/>
                        </a:rPr>
                        <a:t>50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t"/>
                      <a:r>
                        <a:rPr lang="en-GB" sz="800" b="1" i="0" u="none" strike="noStrike">
                          <a:solidFill>
                            <a:srgbClr val="000000"/>
                          </a:solidFill>
                          <a:effectLst/>
                          <a:latin typeface="+mj-lt"/>
                        </a:rPr>
                        <a:t> </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1" i="0" u="none" strike="noStrike" dirty="0">
                          <a:solidFill>
                            <a:srgbClr val="000000"/>
                          </a:solidFill>
                          <a:effectLst/>
                          <a:latin typeface="+mj-lt"/>
                        </a:rPr>
                        <a:t>Retail Deposits - Stable</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t"/>
                      <a:r>
                        <a:rPr lang="en-GB" sz="800" b="1" i="0" u="none" strike="noStrike">
                          <a:solidFill>
                            <a:srgbClr val="000000"/>
                          </a:solidFill>
                          <a:effectLst/>
                          <a:latin typeface="+mj-lt"/>
                        </a:rPr>
                        <a:t>100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335909289"/>
                  </a:ext>
                </a:extLst>
              </a:tr>
              <a:tr h="111928">
                <a:tc>
                  <a:txBody>
                    <a:bodyPr/>
                    <a:lstStyle/>
                    <a:p>
                      <a:pPr algn="l" fontAlgn="t"/>
                      <a:r>
                        <a:rPr lang="en-GB" sz="800" b="1" i="0" u="none" strike="noStrike">
                          <a:solidFill>
                            <a:srgbClr val="000000"/>
                          </a:solidFill>
                          <a:effectLst/>
                          <a:latin typeface="+mj-lt"/>
                        </a:rPr>
                        <a:t>Retail Credit Cards</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1" i="0" u="none" strike="noStrike">
                          <a:solidFill>
                            <a:srgbClr val="000000"/>
                          </a:solidFill>
                          <a:effectLst/>
                          <a:latin typeface="+mj-lt"/>
                        </a:rPr>
                        <a:t>200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1" i="0" u="none" strike="noStrike">
                          <a:solidFill>
                            <a:srgbClr val="000000"/>
                          </a:solidFill>
                          <a:effectLst/>
                          <a:latin typeface="+mj-lt"/>
                        </a:rPr>
                        <a:t> </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1" i="0" u="none" strike="noStrike" dirty="0">
                          <a:solidFill>
                            <a:srgbClr val="000000"/>
                          </a:solidFill>
                          <a:effectLst/>
                          <a:latin typeface="+mj-lt"/>
                        </a:rPr>
                        <a:t>Retail Deposits - Less Stable</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t"/>
                      <a:r>
                        <a:rPr lang="en-GB" sz="800" b="1" i="0" u="none" strike="noStrike">
                          <a:solidFill>
                            <a:srgbClr val="000000"/>
                          </a:solidFill>
                          <a:effectLst/>
                          <a:latin typeface="+mj-lt"/>
                        </a:rPr>
                        <a:t>300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961490591"/>
                  </a:ext>
                </a:extLst>
              </a:tr>
              <a:tr h="148063">
                <a:tc>
                  <a:txBody>
                    <a:bodyPr/>
                    <a:lstStyle/>
                    <a:p>
                      <a:pPr algn="l" fontAlgn="t"/>
                      <a:r>
                        <a:rPr lang="en-GB" sz="800" b="1" i="0" u="none" strike="noStrike" dirty="0">
                          <a:solidFill>
                            <a:srgbClr val="000000"/>
                          </a:solidFill>
                          <a:effectLst/>
                          <a:latin typeface="+mj-lt"/>
                        </a:rPr>
                        <a:t>Residential Mortgage Loans maturing in less than 1 year</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t"/>
                      <a:r>
                        <a:rPr lang="en-GB" sz="800" b="1" i="0" u="none" strike="noStrike">
                          <a:solidFill>
                            <a:srgbClr val="000000"/>
                          </a:solidFill>
                          <a:effectLst/>
                          <a:latin typeface="+mj-lt"/>
                        </a:rPr>
                        <a:t>100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t"/>
                      <a:r>
                        <a:rPr lang="en-GB" sz="800" b="1" i="0" u="none" strike="noStrike">
                          <a:solidFill>
                            <a:srgbClr val="000000"/>
                          </a:solidFill>
                          <a:effectLst/>
                          <a:latin typeface="+mj-lt"/>
                        </a:rPr>
                        <a:t> </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l" fontAlgn="t"/>
                      <a:r>
                        <a:rPr lang="en-GB" sz="800" b="1" i="0" u="none" strike="noStrike" dirty="0">
                          <a:solidFill>
                            <a:srgbClr val="000000"/>
                          </a:solidFill>
                          <a:effectLst/>
                          <a:latin typeface="+mj-lt"/>
                        </a:rPr>
                        <a:t>Wholesale Deposits from Financial Institutions maturing in 30 days</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rowSpan="2">
                  <a:txBody>
                    <a:bodyPr/>
                    <a:lstStyle/>
                    <a:p>
                      <a:pPr algn="ctr" fontAlgn="t"/>
                      <a:r>
                        <a:rPr lang="en-GB" sz="800" b="1" i="0" u="none" strike="noStrike" dirty="0">
                          <a:solidFill>
                            <a:srgbClr val="000000"/>
                          </a:solidFill>
                          <a:effectLst/>
                          <a:latin typeface="+mj-lt"/>
                        </a:rPr>
                        <a:t> 175</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163996182"/>
                  </a:ext>
                </a:extLst>
              </a:tr>
              <a:tr h="182880">
                <a:tc>
                  <a:txBody>
                    <a:bodyPr/>
                    <a:lstStyle/>
                    <a:p>
                      <a:pPr algn="l" fontAlgn="t"/>
                      <a:r>
                        <a:rPr lang="en-GB" sz="800" b="1" i="0" u="none" strike="noStrike" dirty="0">
                          <a:solidFill>
                            <a:srgbClr val="000000"/>
                          </a:solidFill>
                          <a:effectLst/>
                          <a:latin typeface="+mj-lt"/>
                        </a:rPr>
                        <a:t>Residential Mortgage Loans maturing in more than 1 year</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t"/>
                      <a:r>
                        <a:rPr lang="en-GB" sz="800" b="1" i="0" u="none" strike="noStrike">
                          <a:solidFill>
                            <a:srgbClr val="000000"/>
                          </a:solidFill>
                          <a:effectLst/>
                          <a:latin typeface="+mj-lt"/>
                        </a:rPr>
                        <a:t>400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t"/>
                      <a:r>
                        <a:rPr lang="en-GB" sz="800" b="1" i="0" u="none" strike="noStrike">
                          <a:solidFill>
                            <a:srgbClr val="000000"/>
                          </a:solidFill>
                          <a:effectLst/>
                          <a:latin typeface="+mj-lt"/>
                        </a:rPr>
                        <a:t> </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l" fontAlgn="t"/>
                      <a:endParaRPr lang="en-GB" sz="800" b="1" i="0" u="none" strike="noStrike" dirty="0">
                        <a:solidFill>
                          <a:srgbClr val="000000"/>
                        </a:solidFill>
                        <a:effectLst/>
                        <a:latin typeface="+mj-lt"/>
                      </a:endParaRP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t"/>
                      <a:endParaRPr lang="en-GB" sz="800" b="1" i="0" u="none" strike="noStrike" dirty="0">
                        <a:solidFill>
                          <a:srgbClr val="000000"/>
                        </a:solidFill>
                        <a:effectLst/>
                        <a:latin typeface="+mj-lt"/>
                      </a:endParaRP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6713733"/>
                  </a:ext>
                </a:extLst>
              </a:tr>
              <a:tr h="172122">
                <a:tc>
                  <a:txBody>
                    <a:bodyPr/>
                    <a:lstStyle/>
                    <a:p>
                      <a:pPr algn="l" fontAlgn="t"/>
                      <a:r>
                        <a:rPr lang="en-GB" sz="800" b="1" i="0" u="none" strike="noStrike" dirty="0">
                          <a:solidFill>
                            <a:srgbClr val="000000"/>
                          </a:solidFill>
                          <a:effectLst/>
                          <a:latin typeface="+mj-lt"/>
                        </a:rPr>
                        <a:t>Wholesale loans maturing in 30 days</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t"/>
                      <a:r>
                        <a:rPr lang="en-GB" sz="800" b="1" i="0" u="none" strike="noStrike" dirty="0">
                          <a:solidFill>
                            <a:srgbClr val="000000"/>
                          </a:solidFill>
                          <a:effectLst/>
                          <a:latin typeface="+mj-lt"/>
                        </a:rPr>
                        <a:t>100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t"/>
                      <a:r>
                        <a:rPr lang="en-GB" sz="800" b="1" i="0" u="none" strike="noStrike">
                          <a:solidFill>
                            <a:srgbClr val="000000"/>
                          </a:solidFill>
                          <a:effectLst/>
                          <a:latin typeface="+mj-lt"/>
                        </a:rPr>
                        <a:t> </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1" i="0" u="none" strike="noStrike" dirty="0">
                          <a:solidFill>
                            <a:srgbClr val="000000"/>
                          </a:solidFill>
                          <a:effectLst/>
                          <a:latin typeface="+mj-lt"/>
                        </a:rPr>
                        <a:t>Subordinated debt maturing between 30 days and 6 months</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1" i="0" u="none" strike="noStrike">
                          <a:solidFill>
                            <a:srgbClr val="000000"/>
                          </a:solidFill>
                          <a:effectLst/>
                          <a:latin typeface="+mj-lt"/>
                        </a:rPr>
                        <a:t>325</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4597381"/>
                  </a:ext>
                </a:extLst>
              </a:tr>
              <a:tr h="111928">
                <a:tc>
                  <a:txBody>
                    <a:bodyPr/>
                    <a:lstStyle/>
                    <a:p>
                      <a:pPr algn="l"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93546808"/>
                  </a:ext>
                </a:extLst>
              </a:tr>
              <a:tr h="117258">
                <a:tc>
                  <a:txBody>
                    <a:bodyPr/>
                    <a:lstStyle/>
                    <a:p>
                      <a:pPr algn="l" fontAlgn="b"/>
                      <a:r>
                        <a:rPr lang="en-GB" sz="800" b="1" i="0" u="none" strike="noStrike" dirty="0">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1,000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dirty="0">
                          <a:solidFill>
                            <a:srgbClr val="000000"/>
                          </a:solidFill>
                          <a:effectLst/>
                          <a:latin typeface="+mj-lt"/>
                        </a:rPr>
                        <a:t>1,000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03562431"/>
                  </a:ext>
                </a:extLst>
              </a:tr>
            </a:tbl>
          </a:graphicData>
        </a:graphic>
      </p:graphicFrame>
      <p:sp>
        <p:nvSpPr>
          <p:cNvPr id="9" name="TextBox 8">
            <a:extLst>
              <a:ext uri="{FF2B5EF4-FFF2-40B4-BE49-F238E27FC236}">
                <a16:creationId xmlns:a16="http://schemas.microsoft.com/office/drawing/2014/main" id="{7260D842-5BD0-45C7-8717-1821842B2A6B}"/>
              </a:ext>
            </a:extLst>
          </p:cNvPr>
          <p:cNvSpPr txBox="1"/>
          <p:nvPr/>
        </p:nvSpPr>
        <p:spPr>
          <a:xfrm>
            <a:off x="1600200" y="1295400"/>
            <a:ext cx="8991600" cy="339762"/>
          </a:xfrm>
          <a:prstGeom prst="rect">
            <a:avLst/>
          </a:prstGeom>
          <a:solidFill>
            <a:schemeClr val="tx2">
              <a:lumMod val="60000"/>
              <a:lumOff val="40000"/>
            </a:schemeClr>
          </a:solidFill>
          <a:scene3d>
            <a:camera prst="orthographicFront"/>
            <a:lightRig rig="threePt" dir="t"/>
          </a:scene3d>
          <a:sp3d>
            <a:bevelT/>
          </a:sp3d>
        </p:spPr>
        <p:txBody>
          <a:bodyPr wrap="square" rtlCol="0">
            <a:noAutofit/>
          </a:bodyPr>
          <a:lstStyle/>
          <a:p>
            <a:pPr algn="ctr"/>
            <a:r>
              <a:rPr lang="en-GB" sz="1600" b="1" dirty="0">
                <a:cs typeface="Trebuchet MS"/>
              </a:rPr>
              <a:t>Balance Sheet of </a:t>
            </a:r>
            <a:r>
              <a:rPr lang="en-GB" sz="1600" b="1" dirty="0" err="1">
                <a:cs typeface="Trebuchet MS"/>
              </a:rPr>
              <a:t>ChoudWest</a:t>
            </a:r>
            <a:r>
              <a:rPr lang="en-GB" sz="1600" b="1" dirty="0">
                <a:cs typeface="Trebuchet MS"/>
              </a:rPr>
              <a:t> Bank</a:t>
            </a:r>
          </a:p>
        </p:txBody>
      </p:sp>
      <p:graphicFrame>
        <p:nvGraphicFramePr>
          <p:cNvPr id="10" name="Table 9">
            <a:extLst>
              <a:ext uri="{FF2B5EF4-FFF2-40B4-BE49-F238E27FC236}">
                <a16:creationId xmlns:a16="http://schemas.microsoft.com/office/drawing/2014/main" id="{31764950-0211-4694-84FE-53E1E3A740B9}"/>
              </a:ext>
            </a:extLst>
          </p:cNvPr>
          <p:cNvGraphicFramePr>
            <a:graphicFrameLocks noGrp="1"/>
          </p:cNvGraphicFramePr>
          <p:nvPr/>
        </p:nvGraphicFramePr>
        <p:xfrm>
          <a:off x="2143023" y="3367145"/>
          <a:ext cx="4343400" cy="685517"/>
        </p:xfrm>
        <a:graphic>
          <a:graphicData uri="http://schemas.openxmlformats.org/drawingml/2006/table">
            <a:tbl>
              <a:tblPr/>
              <a:tblGrid>
                <a:gridCol w="1829249">
                  <a:extLst>
                    <a:ext uri="{9D8B030D-6E8A-4147-A177-3AD203B41FA5}">
                      <a16:colId xmlns:a16="http://schemas.microsoft.com/office/drawing/2014/main" val="388062047"/>
                    </a:ext>
                  </a:extLst>
                </a:gridCol>
                <a:gridCol w="570156">
                  <a:extLst>
                    <a:ext uri="{9D8B030D-6E8A-4147-A177-3AD203B41FA5}">
                      <a16:colId xmlns:a16="http://schemas.microsoft.com/office/drawing/2014/main" val="3535301081"/>
                    </a:ext>
                  </a:extLst>
                </a:gridCol>
                <a:gridCol w="1461395">
                  <a:extLst>
                    <a:ext uri="{9D8B030D-6E8A-4147-A177-3AD203B41FA5}">
                      <a16:colId xmlns:a16="http://schemas.microsoft.com/office/drawing/2014/main" val="1202775643"/>
                    </a:ext>
                  </a:extLst>
                </a:gridCol>
                <a:gridCol w="482600">
                  <a:extLst>
                    <a:ext uri="{9D8B030D-6E8A-4147-A177-3AD203B41FA5}">
                      <a16:colId xmlns:a16="http://schemas.microsoft.com/office/drawing/2014/main" val="2577695575"/>
                    </a:ext>
                  </a:extLst>
                </a:gridCol>
              </a:tblGrid>
              <a:tr h="151375">
                <a:tc>
                  <a:txBody>
                    <a:bodyPr/>
                    <a:lstStyle/>
                    <a:p>
                      <a:pPr algn="ctr" fontAlgn="ctr"/>
                      <a:r>
                        <a:rPr lang="en-GB" sz="800" b="1" i="0" u="none" strike="noStrike" dirty="0">
                          <a:solidFill>
                            <a:schemeClr val="bg1"/>
                          </a:solidFill>
                          <a:effectLst/>
                          <a:latin typeface="+mj-lt"/>
                        </a:rPr>
                        <a:t>Liquid Assets</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tc>
                  <a:txBody>
                    <a:bodyPr/>
                    <a:lstStyle/>
                    <a:p>
                      <a:pPr algn="ctr" fontAlgn="ctr"/>
                      <a:r>
                        <a:rPr lang="en-GB" sz="1000" b="1" i="0" u="none" strike="noStrike" dirty="0">
                          <a:solidFill>
                            <a:schemeClr val="bg1"/>
                          </a:solidFill>
                          <a:effectLst/>
                          <a:latin typeface="+mj-lt"/>
                        </a:rPr>
                        <a:t>€</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tc>
                  <a:txBody>
                    <a:bodyPr/>
                    <a:lstStyle/>
                    <a:p>
                      <a:pPr algn="ctr" fontAlgn="ctr"/>
                      <a:r>
                        <a:rPr lang="en-GB" sz="800" b="1" i="0" u="none" strike="noStrike" dirty="0">
                          <a:solidFill>
                            <a:schemeClr val="bg1"/>
                          </a:solidFill>
                          <a:effectLst/>
                          <a:latin typeface="+mj-lt"/>
                        </a:rPr>
                        <a:t>Factor to be applied</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tc>
                  <a:txBody>
                    <a:bodyPr/>
                    <a:lstStyle/>
                    <a:p>
                      <a:pPr algn="ctr" fontAlgn="ctr"/>
                      <a:r>
                        <a:rPr lang="en-GB" sz="1000" b="1" i="0" u="none" strike="noStrike" dirty="0">
                          <a:solidFill>
                            <a:schemeClr val="bg1"/>
                          </a:solidFill>
                          <a:effectLst/>
                          <a:latin typeface="+mj-lt"/>
                        </a:rPr>
                        <a:t>€</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extLst>
                  <a:ext uri="{0D108BD9-81ED-4DB2-BD59-A6C34878D82A}">
                    <a16:rowId xmlns:a16="http://schemas.microsoft.com/office/drawing/2014/main" val="2714180409"/>
                  </a:ext>
                </a:extLst>
              </a:tr>
              <a:tr h="106810">
                <a:tc>
                  <a:txBody>
                    <a:bodyPr/>
                    <a:lstStyle/>
                    <a:p>
                      <a:pPr algn="l" fontAlgn="b"/>
                      <a:r>
                        <a:rPr lang="en-GB" sz="800" b="1" i="0" u="none" strike="noStrike" dirty="0">
                          <a:solidFill>
                            <a:srgbClr val="000000"/>
                          </a:solidFill>
                          <a:effectLst/>
                          <a:latin typeface="+mj-lt"/>
                        </a:rPr>
                        <a:t>Cash</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b"/>
                      <a:r>
                        <a:rPr lang="en-GB" sz="800" b="1" i="0" u="none" strike="noStrike">
                          <a:solidFill>
                            <a:srgbClr val="000000"/>
                          </a:solidFill>
                          <a:effectLst/>
                          <a:latin typeface="+mj-lt"/>
                        </a:rPr>
                        <a:t>50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b"/>
                      <a:r>
                        <a:rPr lang="en-GB" sz="800" b="1" i="0" u="none" strike="noStrike">
                          <a:solidFill>
                            <a:srgbClr val="000000"/>
                          </a:solidFill>
                          <a:effectLst/>
                          <a:latin typeface="+mj-lt"/>
                        </a:rPr>
                        <a:t>100%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50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8266540"/>
                  </a:ext>
                </a:extLst>
              </a:tr>
              <a:tr h="139496">
                <a:tc>
                  <a:txBody>
                    <a:bodyPr/>
                    <a:lstStyle/>
                    <a:p>
                      <a:pPr algn="l" fontAlgn="b"/>
                      <a:r>
                        <a:rPr lang="en-GB" sz="800" b="1" i="0" u="none" strike="noStrike" dirty="0">
                          <a:solidFill>
                            <a:srgbClr val="000000"/>
                          </a:solidFill>
                          <a:effectLst/>
                          <a:latin typeface="+mj-lt"/>
                        </a:rPr>
                        <a:t>Government Securities</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b"/>
                      <a:r>
                        <a:rPr lang="en-GB" sz="800" b="1" i="0" u="none" strike="noStrike">
                          <a:solidFill>
                            <a:srgbClr val="000000"/>
                          </a:solidFill>
                          <a:effectLst/>
                          <a:latin typeface="+mj-lt"/>
                        </a:rPr>
                        <a:t>100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b"/>
                      <a:r>
                        <a:rPr lang="en-GB" sz="800" b="1" i="0" u="none" strike="noStrike">
                          <a:solidFill>
                            <a:srgbClr val="000000"/>
                          </a:solidFill>
                          <a:effectLst/>
                          <a:latin typeface="+mj-lt"/>
                        </a:rPr>
                        <a:t>100%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100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7353323"/>
                  </a:ext>
                </a:extLst>
              </a:tr>
              <a:tr h="129092">
                <a:tc>
                  <a:txBody>
                    <a:bodyPr/>
                    <a:lstStyle/>
                    <a:p>
                      <a:pPr algn="l" fontAlgn="b"/>
                      <a:r>
                        <a:rPr lang="en-GB" sz="800" b="1" i="0" u="none" strike="noStrike" dirty="0">
                          <a:solidFill>
                            <a:srgbClr val="000000"/>
                          </a:solidFill>
                          <a:effectLst/>
                          <a:latin typeface="+mj-lt"/>
                        </a:rPr>
                        <a:t>Covered Bonds rated AA-</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b"/>
                      <a:r>
                        <a:rPr lang="en-GB" sz="800" b="1" i="0" u="none" strike="noStrike" dirty="0">
                          <a:solidFill>
                            <a:srgbClr val="000000"/>
                          </a:solidFill>
                          <a:effectLst/>
                          <a:latin typeface="+mj-lt"/>
                        </a:rPr>
                        <a:t>50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fontAlgn="b"/>
                      <a:r>
                        <a:rPr lang="en-GB" sz="800" b="1" i="0" u="none" strike="noStrike">
                          <a:solidFill>
                            <a:srgbClr val="000000"/>
                          </a:solidFill>
                          <a:effectLst/>
                          <a:latin typeface="+mj-lt"/>
                        </a:rPr>
                        <a:t>85%</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42.5</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60860"/>
                  </a:ext>
                </a:extLst>
              </a:tr>
              <a:tr h="129091">
                <a:tc>
                  <a:txBody>
                    <a:bodyPr/>
                    <a:lstStyle/>
                    <a:p>
                      <a:pPr algn="l"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dirty="0">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dirty="0">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dirty="0">
                          <a:solidFill>
                            <a:srgbClr val="000000"/>
                          </a:solidFill>
                          <a:effectLst/>
                          <a:latin typeface="+mj-lt"/>
                        </a:rPr>
                        <a:t>192.5</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CCFF"/>
                    </a:solidFill>
                  </a:tcPr>
                </a:tc>
                <a:extLst>
                  <a:ext uri="{0D108BD9-81ED-4DB2-BD59-A6C34878D82A}">
                    <a16:rowId xmlns:a16="http://schemas.microsoft.com/office/drawing/2014/main" val="3171094032"/>
                  </a:ext>
                </a:extLst>
              </a:tr>
            </a:tbl>
          </a:graphicData>
        </a:graphic>
      </p:graphicFrame>
      <p:graphicFrame>
        <p:nvGraphicFramePr>
          <p:cNvPr id="11" name="Table 10">
            <a:extLst>
              <a:ext uri="{FF2B5EF4-FFF2-40B4-BE49-F238E27FC236}">
                <a16:creationId xmlns:a16="http://schemas.microsoft.com/office/drawing/2014/main" id="{0D145C16-A4B7-4655-A35F-308D7595AA0A}"/>
              </a:ext>
            </a:extLst>
          </p:cNvPr>
          <p:cNvGraphicFramePr>
            <a:graphicFrameLocks noGrp="1"/>
          </p:cNvGraphicFramePr>
          <p:nvPr/>
        </p:nvGraphicFramePr>
        <p:xfrm>
          <a:off x="2143023" y="4177199"/>
          <a:ext cx="4343400" cy="1004260"/>
        </p:xfrm>
        <a:graphic>
          <a:graphicData uri="http://schemas.openxmlformats.org/drawingml/2006/table">
            <a:tbl>
              <a:tblPr/>
              <a:tblGrid>
                <a:gridCol w="1832003">
                  <a:extLst>
                    <a:ext uri="{9D8B030D-6E8A-4147-A177-3AD203B41FA5}">
                      <a16:colId xmlns:a16="http://schemas.microsoft.com/office/drawing/2014/main" val="1415161727"/>
                    </a:ext>
                  </a:extLst>
                </a:gridCol>
                <a:gridCol w="570435">
                  <a:extLst>
                    <a:ext uri="{9D8B030D-6E8A-4147-A177-3AD203B41FA5}">
                      <a16:colId xmlns:a16="http://schemas.microsoft.com/office/drawing/2014/main" val="3282873011"/>
                    </a:ext>
                  </a:extLst>
                </a:gridCol>
                <a:gridCol w="1449249">
                  <a:extLst>
                    <a:ext uri="{9D8B030D-6E8A-4147-A177-3AD203B41FA5}">
                      <a16:colId xmlns:a16="http://schemas.microsoft.com/office/drawing/2014/main" val="3429305675"/>
                    </a:ext>
                  </a:extLst>
                </a:gridCol>
                <a:gridCol w="491713">
                  <a:extLst>
                    <a:ext uri="{9D8B030D-6E8A-4147-A177-3AD203B41FA5}">
                      <a16:colId xmlns:a16="http://schemas.microsoft.com/office/drawing/2014/main" val="323821113"/>
                    </a:ext>
                  </a:extLst>
                </a:gridCol>
              </a:tblGrid>
              <a:tr h="163962">
                <a:tc>
                  <a:txBody>
                    <a:bodyPr/>
                    <a:lstStyle/>
                    <a:p>
                      <a:pPr algn="ctr" fontAlgn="ctr"/>
                      <a:r>
                        <a:rPr lang="en-GB" sz="800" b="1" i="0" u="none" strike="noStrike" dirty="0">
                          <a:solidFill>
                            <a:schemeClr val="bg1"/>
                          </a:solidFill>
                          <a:effectLst/>
                          <a:latin typeface="+mj-lt"/>
                        </a:rPr>
                        <a:t>Cash Outflows</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tc>
                  <a:txBody>
                    <a:bodyPr/>
                    <a:lstStyle/>
                    <a:p>
                      <a:pPr algn="ctr" fontAlgn="ctr"/>
                      <a:r>
                        <a:rPr lang="en-GB" sz="1000" b="1" i="0" u="none" strike="noStrike" dirty="0">
                          <a:solidFill>
                            <a:schemeClr val="bg1"/>
                          </a:solidFill>
                          <a:effectLst/>
                          <a:latin typeface="+mj-lt"/>
                        </a:rPr>
                        <a:t>€</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tc>
                  <a:txBody>
                    <a:bodyPr/>
                    <a:lstStyle/>
                    <a:p>
                      <a:pPr algn="ctr" fontAlgn="ctr"/>
                      <a:r>
                        <a:rPr lang="en-GB" sz="800" b="1" i="0" u="none" strike="noStrike" dirty="0">
                          <a:solidFill>
                            <a:schemeClr val="bg1"/>
                          </a:solidFill>
                          <a:effectLst/>
                          <a:latin typeface="+mj-lt"/>
                        </a:rPr>
                        <a:t>Factor to be applied</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tc>
                  <a:txBody>
                    <a:bodyPr/>
                    <a:lstStyle/>
                    <a:p>
                      <a:pPr algn="ctr" fontAlgn="ctr"/>
                      <a:r>
                        <a:rPr lang="en-GB" sz="1000" b="1" i="0" u="none" strike="noStrike" dirty="0">
                          <a:solidFill>
                            <a:schemeClr val="bg1"/>
                          </a:solidFill>
                          <a:effectLst/>
                          <a:latin typeface="+mj-lt"/>
                        </a:rPr>
                        <a:t>€</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extLst>
                  <a:ext uri="{0D108BD9-81ED-4DB2-BD59-A6C34878D82A}">
                    <a16:rowId xmlns:a16="http://schemas.microsoft.com/office/drawing/2014/main" val="3278098202"/>
                  </a:ext>
                </a:extLst>
              </a:tr>
              <a:tr h="141916">
                <a:tc>
                  <a:txBody>
                    <a:bodyPr/>
                    <a:lstStyle/>
                    <a:p>
                      <a:pPr algn="l" fontAlgn="b"/>
                      <a:r>
                        <a:rPr lang="en-GB" sz="800" b="1" i="0" u="none" strike="noStrike" dirty="0">
                          <a:solidFill>
                            <a:srgbClr val="000000"/>
                          </a:solidFill>
                          <a:effectLst/>
                          <a:latin typeface="+mj-lt"/>
                        </a:rPr>
                        <a:t>Retail Deposits - Stable</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b"/>
                      <a:r>
                        <a:rPr lang="en-GB" sz="800" b="1" i="0" u="none" strike="noStrike">
                          <a:solidFill>
                            <a:srgbClr val="000000"/>
                          </a:solidFill>
                          <a:effectLst/>
                          <a:latin typeface="+mj-lt"/>
                        </a:rPr>
                        <a:t>100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b"/>
                      <a:r>
                        <a:rPr lang="en-GB" sz="800" b="1" i="0" u="none" strike="noStrike">
                          <a:solidFill>
                            <a:srgbClr val="000000"/>
                          </a:solidFill>
                          <a:effectLst/>
                          <a:latin typeface="+mj-lt"/>
                        </a:rPr>
                        <a:t>5%</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5</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4542051"/>
                  </a:ext>
                </a:extLst>
              </a:tr>
              <a:tr h="141916">
                <a:tc>
                  <a:txBody>
                    <a:bodyPr/>
                    <a:lstStyle/>
                    <a:p>
                      <a:pPr algn="l" fontAlgn="b"/>
                      <a:r>
                        <a:rPr lang="en-GB" sz="800" b="1" i="0" u="none" strike="noStrike" dirty="0">
                          <a:solidFill>
                            <a:srgbClr val="000000"/>
                          </a:solidFill>
                          <a:effectLst/>
                          <a:latin typeface="+mj-lt"/>
                        </a:rPr>
                        <a:t>Retail Deposits - Less Stable</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b"/>
                      <a:r>
                        <a:rPr lang="en-GB" sz="800" b="1" i="0" u="none" strike="noStrike">
                          <a:solidFill>
                            <a:srgbClr val="000000"/>
                          </a:solidFill>
                          <a:effectLst/>
                          <a:latin typeface="+mj-lt"/>
                        </a:rPr>
                        <a:t>300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b"/>
                      <a:r>
                        <a:rPr lang="en-GB" sz="800" b="1" i="0" u="none" strike="noStrike">
                          <a:solidFill>
                            <a:srgbClr val="000000"/>
                          </a:solidFill>
                          <a:effectLst/>
                          <a:latin typeface="+mj-lt"/>
                        </a:rPr>
                        <a:t>10%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30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5959694"/>
                  </a:ext>
                </a:extLst>
              </a:tr>
              <a:tr h="272634">
                <a:tc>
                  <a:txBody>
                    <a:bodyPr/>
                    <a:lstStyle/>
                    <a:p>
                      <a:pPr algn="l" fontAlgn="b"/>
                      <a:r>
                        <a:rPr lang="en-GB" sz="800" b="1" i="0" u="none" strike="noStrike">
                          <a:solidFill>
                            <a:srgbClr val="000000"/>
                          </a:solidFill>
                          <a:effectLst/>
                          <a:latin typeface="+mj-lt"/>
                        </a:rPr>
                        <a:t>Wholesale Deposits from Financial Institutions maturing in 30 days</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GB" sz="800" b="1" i="0" u="none" strike="noStrike" dirty="0">
                          <a:solidFill>
                            <a:srgbClr val="000000"/>
                          </a:solidFill>
                          <a:effectLst/>
                          <a:latin typeface="+mj-lt"/>
                        </a:rPr>
                        <a:t>175</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GB" sz="800" b="1" i="0" u="none" strike="noStrike">
                          <a:solidFill>
                            <a:srgbClr val="000000"/>
                          </a:solidFill>
                          <a:effectLst/>
                          <a:latin typeface="+mj-lt"/>
                        </a:rPr>
                        <a:t>100%</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800" b="1" i="0" u="none" strike="noStrike">
                          <a:solidFill>
                            <a:srgbClr val="000000"/>
                          </a:solidFill>
                          <a:effectLst/>
                          <a:latin typeface="+mj-lt"/>
                        </a:rPr>
                        <a:t>175</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2536555"/>
                  </a:ext>
                </a:extLst>
              </a:tr>
              <a:tr h="141916">
                <a:tc>
                  <a:txBody>
                    <a:bodyPr/>
                    <a:lstStyle/>
                    <a:p>
                      <a:pPr algn="l" fontAlgn="b"/>
                      <a:r>
                        <a:rPr lang="en-GB" sz="800" b="1" i="0" u="none" strike="noStrike">
                          <a:solidFill>
                            <a:srgbClr val="000000"/>
                          </a:solidFill>
                          <a:effectLst/>
                          <a:latin typeface="+mj-lt"/>
                        </a:rPr>
                        <a:t>Undrawn credit card facilities</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200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5%</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10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43323279"/>
                  </a:ext>
                </a:extLst>
              </a:tr>
              <a:tr h="141916">
                <a:tc>
                  <a:txBody>
                    <a:bodyPr/>
                    <a:lstStyle/>
                    <a:p>
                      <a:pPr algn="l"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dirty="0">
                          <a:solidFill>
                            <a:srgbClr val="000000"/>
                          </a:solidFill>
                          <a:effectLst/>
                          <a:latin typeface="+mj-lt"/>
                        </a:rPr>
                        <a:t>220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CCFF"/>
                    </a:solidFill>
                  </a:tcPr>
                </a:tc>
                <a:extLst>
                  <a:ext uri="{0D108BD9-81ED-4DB2-BD59-A6C34878D82A}">
                    <a16:rowId xmlns:a16="http://schemas.microsoft.com/office/drawing/2014/main" val="3918821757"/>
                  </a:ext>
                </a:extLst>
              </a:tr>
            </a:tbl>
          </a:graphicData>
        </a:graphic>
      </p:graphicFrame>
      <p:sp>
        <p:nvSpPr>
          <p:cNvPr id="21" name="TextBox 20">
            <a:extLst>
              <a:ext uri="{FF2B5EF4-FFF2-40B4-BE49-F238E27FC236}">
                <a16:creationId xmlns:a16="http://schemas.microsoft.com/office/drawing/2014/main" id="{CC73B028-4A3D-4E77-9EF0-54D2379FF31F}"/>
              </a:ext>
            </a:extLst>
          </p:cNvPr>
          <p:cNvSpPr txBox="1"/>
          <p:nvPr/>
        </p:nvSpPr>
        <p:spPr>
          <a:xfrm>
            <a:off x="6509273" y="4183592"/>
            <a:ext cx="805479" cy="546284"/>
          </a:xfrm>
          <a:prstGeom prst="rect">
            <a:avLst/>
          </a:prstGeom>
          <a:noFill/>
        </p:spPr>
        <p:txBody>
          <a:bodyPr wrap="square" rtlCol="0">
            <a:noAutofit/>
          </a:bodyPr>
          <a:lstStyle/>
          <a:p>
            <a:r>
              <a:rPr lang="en-GB" sz="1400" dirty="0" err="1">
                <a:cs typeface="Trebuchet MS"/>
              </a:rPr>
              <a:t>LCR</a:t>
            </a:r>
            <a:r>
              <a:rPr lang="en-GB" sz="1400" dirty="0">
                <a:cs typeface="Trebuchet MS"/>
              </a:rPr>
              <a:t> =</a:t>
            </a:r>
          </a:p>
        </p:txBody>
      </p:sp>
      <p:cxnSp>
        <p:nvCxnSpPr>
          <p:cNvPr id="22" name="Straight Connector 21">
            <a:extLst>
              <a:ext uri="{FF2B5EF4-FFF2-40B4-BE49-F238E27FC236}">
                <a16:creationId xmlns:a16="http://schemas.microsoft.com/office/drawing/2014/main" id="{887A4A2D-C4BD-49CA-BBB8-63B743ED1DAD}"/>
              </a:ext>
            </a:extLst>
          </p:cNvPr>
          <p:cNvCxnSpPr>
            <a:cxnSpLocks/>
          </p:cNvCxnSpPr>
          <p:nvPr/>
        </p:nvCxnSpPr>
        <p:spPr>
          <a:xfrm>
            <a:off x="7067324" y="4344513"/>
            <a:ext cx="2305276"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3" name="Text Box 5">
            <a:extLst>
              <a:ext uri="{FF2B5EF4-FFF2-40B4-BE49-F238E27FC236}">
                <a16:creationId xmlns:a16="http://schemas.microsoft.com/office/drawing/2014/main" id="{3F95EB0E-19FF-4BE9-AC55-671BF8E377C8}"/>
              </a:ext>
            </a:extLst>
          </p:cNvPr>
          <p:cNvSpPr txBox="1">
            <a:spLocks noChangeArrowheads="1"/>
          </p:cNvSpPr>
          <p:nvPr/>
        </p:nvSpPr>
        <p:spPr bwMode="auto">
          <a:xfrm>
            <a:off x="7288257" y="3984332"/>
            <a:ext cx="2061515" cy="293642"/>
          </a:xfrm>
          <a:prstGeom prst="rect">
            <a:avLst/>
          </a:prstGeom>
          <a:noFill/>
          <a:ln w="25400" algn="ctr">
            <a:noFill/>
            <a:miter lim="800000"/>
            <a:headEnd/>
            <a:tailEnd/>
          </a:ln>
        </p:spPr>
        <p:txBody>
          <a:bodyPr wrap="square" lIns="77443" tIns="38721" rIns="77443" bIns="38721">
            <a:spAutoFit/>
          </a:bodyPr>
          <a:lstStyle/>
          <a:p>
            <a:pPr algn="ctr">
              <a:spcBef>
                <a:spcPct val="50000"/>
              </a:spcBef>
            </a:pPr>
            <a:r>
              <a:rPr lang="en-GB" sz="1400" dirty="0"/>
              <a:t>Liquid Assets</a:t>
            </a:r>
          </a:p>
        </p:txBody>
      </p:sp>
      <p:sp>
        <p:nvSpPr>
          <p:cNvPr id="24" name="Text Box 19">
            <a:extLst>
              <a:ext uri="{FF2B5EF4-FFF2-40B4-BE49-F238E27FC236}">
                <a16:creationId xmlns:a16="http://schemas.microsoft.com/office/drawing/2014/main" id="{D6F92CFA-B1FF-4149-A3C4-E1FA464CD13F}"/>
              </a:ext>
            </a:extLst>
          </p:cNvPr>
          <p:cNvSpPr txBox="1">
            <a:spLocks noChangeArrowheads="1"/>
          </p:cNvSpPr>
          <p:nvPr/>
        </p:nvSpPr>
        <p:spPr bwMode="auto">
          <a:xfrm>
            <a:off x="6958526" y="4413979"/>
            <a:ext cx="2489378" cy="293642"/>
          </a:xfrm>
          <a:prstGeom prst="rect">
            <a:avLst/>
          </a:prstGeom>
          <a:noFill/>
          <a:ln w="25400" algn="ctr">
            <a:noFill/>
            <a:miter lim="800000"/>
            <a:headEnd/>
            <a:tailEnd/>
          </a:ln>
        </p:spPr>
        <p:txBody>
          <a:bodyPr wrap="square" lIns="77443" tIns="38721" rIns="77443" bIns="38721">
            <a:spAutoFit/>
          </a:bodyPr>
          <a:lstStyle/>
          <a:p>
            <a:pPr algn="ctr">
              <a:spcBef>
                <a:spcPct val="50000"/>
              </a:spcBef>
            </a:pPr>
            <a:r>
              <a:rPr lang="en-GB" sz="1400" dirty="0"/>
              <a:t>Cash Outflows - Cash Inflows</a:t>
            </a:r>
          </a:p>
        </p:txBody>
      </p:sp>
      <p:graphicFrame>
        <p:nvGraphicFramePr>
          <p:cNvPr id="25" name="Table 24">
            <a:extLst>
              <a:ext uri="{FF2B5EF4-FFF2-40B4-BE49-F238E27FC236}">
                <a16:creationId xmlns:a16="http://schemas.microsoft.com/office/drawing/2014/main" id="{79270D96-8E1E-4B2F-8CC4-306FB770500C}"/>
              </a:ext>
            </a:extLst>
          </p:cNvPr>
          <p:cNvGraphicFramePr>
            <a:graphicFrameLocks noGrp="1"/>
          </p:cNvGraphicFramePr>
          <p:nvPr/>
        </p:nvGraphicFramePr>
        <p:xfrm>
          <a:off x="2144810" y="5313781"/>
          <a:ext cx="4344745" cy="737258"/>
        </p:xfrm>
        <a:graphic>
          <a:graphicData uri="http://schemas.openxmlformats.org/drawingml/2006/table">
            <a:tbl>
              <a:tblPr/>
              <a:tblGrid>
                <a:gridCol w="1848971">
                  <a:extLst>
                    <a:ext uri="{9D8B030D-6E8A-4147-A177-3AD203B41FA5}">
                      <a16:colId xmlns:a16="http://schemas.microsoft.com/office/drawing/2014/main" val="2153131687"/>
                    </a:ext>
                  </a:extLst>
                </a:gridCol>
                <a:gridCol w="559397">
                  <a:extLst>
                    <a:ext uri="{9D8B030D-6E8A-4147-A177-3AD203B41FA5}">
                      <a16:colId xmlns:a16="http://schemas.microsoft.com/office/drawing/2014/main" val="3081445565"/>
                    </a:ext>
                  </a:extLst>
                </a:gridCol>
                <a:gridCol w="1441525">
                  <a:extLst>
                    <a:ext uri="{9D8B030D-6E8A-4147-A177-3AD203B41FA5}">
                      <a16:colId xmlns:a16="http://schemas.microsoft.com/office/drawing/2014/main" val="2011461340"/>
                    </a:ext>
                  </a:extLst>
                </a:gridCol>
                <a:gridCol w="494852">
                  <a:extLst>
                    <a:ext uri="{9D8B030D-6E8A-4147-A177-3AD203B41FA5}">
                      <a16:colId xmlns:a16="http://schemas.microsoft.com/office/drawing/2014/main" val="912688676"/>
                    </a:ext>
                  </a:extLst>
                </a:gridCol>
              </a:tblGrid>
              <a:tr h="163962">
                <a:tc>
                  <a:txBody>
                    <a:bodyPr/>
                    <a:lstStyle/>
                    <a:p>
                      <a:pPr algn="ctr" fontAlgn="ctr"/>
                      <a:r>
                        <a:rPr lang="en-GB" sz="800" b="1" i="0" u="none" strike="noStrike">
                          <a:solidFill>
                            <a:schemeClr val="bg1"/>
                          </a:solidFill>
                          <a:effectLst/>
                          <a:latin typeface="+mj-lt"/>
                        </a:rPr>
                        <a:t>Cash Inflows</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tc>
                  <a:txBody>
                    <a:bodyPr/>
                    <a:lstStyle/>
                    <a:p>
                      <a:pPr algn="ctr" fontAlgn="ctr"/>
                      <a:r>
                        <a:rPr lang="en-GB" sz="1000" b="1" i="0" u="none" strike="noStrike">
                          <a:solidFill>
                            <a:schemeClr val="bg1"/>
                          </a:solidFill>
                          <a:effectLst/>
                          <a:latin typeface="+mj-lt"/>
                        </a:rPr>
                        <a:t>€</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tc>
                  <a:txBody>
                    <a:bodyPr/>
                    <a:lstStyle/>
                    <a:p>
                      <a:pPr algn="ctr" fontAlgn="ctr"/>
                      <a:r>
                        <a:rPr lang="en-GB" sz="800" b="1" i="0" u="none" strike="noStrike">
                          <a:solidFill>
                            <a:schemeClr val="bg1"/>
                          </a:solidFill>
                          <a:effectLst/>
                          <a:latin typeface="+mj-lt"/>
                        </a:rPr>
                        <a:t>Factor to be applied</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tc>
                  <a:txBody>
                    <a:bodyPr/>
                    <a:lstStyle/>
                    <a:p>
                      <a:pPr algn="ctr" fontAlgn="ctr"/>
                      <a:r>
                        <a:rPr lang="en-GB" sz="1000" b="1" i="0" u="none" strike="noStrike" dirty="0">
                          <a:solidFill>
                            <a:schemeClr val="bg1"/>
                          </a:solidFill>
                          <a:effectLst/>
                          <a:latin typeface="+mj-lt"/>
                        </a:rPr>
                        <a:t>€</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extLst>
                  <a:ext uri="{0D108BD9-81ED-4DB2-BD59-A6C34878D82A}">
                    <a16:rowId xmlns:a16="http://schemas.microsoft.com/office/drawing/2014/main" val="3064329329"/>
                  </a:ext>
                </a:extLst>
              </a:tr>
              <a:tr h="180781">
                <a:tc>
                  <a:txBody>
                    <a:bodyPr/>
                    <a:lstStyle/>
                    <a:p>
                      <a:pPr algn="l" fontAlgn="b"/>
                      <a:r>
                        <a:rPr lang="en-GB" sz="800" b="1" i="0" u="none" strike="noStrike" dirty="0">
                          <a:solidFill>
                            <a:srgbClr val="000000"/>
                          </a:solidFill>
                          <a:effectLst/>
                          <a:latin typeface="+mj-lt"/>
                        </a:rPr>
                        <a:t>Wholesale Loans maturing in 30 days</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GB" sz="800" b="1" i="0" u="none" strike="noStrike">
                          <a:solidFill>
                            <a:srgbClr val="000000"/>
                          </a:solidFill>
                          <a:effectLst/>
                          <a:latin typeface="+mj-lt"/>
                        </a:rPr>
                        <a:t>100</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GB" sz="800" b="1" i="0" u="none" strike="noStrike">
                          <a:solidFill>
                            <a:srgbClr val="000000"/>
                          </a:solidFill>
                          <a:effectLst/>
                          <a:latin typeface="+mj-lt"/>
                        </a:rPr>
                        <a:t>100%</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800" b="1" i="0" u="none" strike="noStrike">
                          <a:solidFill>
                            <a:srgbClr val="000000"/>
                          </a:solidFill>
                          <a:effectLst/>
                          <a:latin typeface="+mj-lt"/>
                        </a:rPr>
                        <a:t>100</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2467626"/>
                  </a:ext>
                </a:extLst>
              </a:tr>
              <a:tr h="161365">
                <a:tc>
                  <a:txBody>
                    <a:bodyPr/>
                    <a:lstStyle/>
                    <a:p>
                      <a:pPr algn="l" fontAlgn="b"/>
                      <a:r>
                        <a:rPr lang="en-GB" sz="800" b="1" i="0" u="none" strike="noStrike" dirty="0">
                          <a:solidFill>
                            <a:srgbClr val="000000"/>
                          </a:solidFill>
                          <a:effectLst/>
                          <a:latin typeface="+mj-lt"/>
                        </a:rPr>
                        <a:t>Scheduled repayments on Residential Mortgage Loans</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
                      <a:r>
                        <a:rPr lang="en-GB" sz="800" b="1" i="0" u="none" strike="noStrike" dirty="0">
                          <a:solidFill>
                            <a:srgbClr val="000000"/>
                          </a:solidFill>
                          <a:effectLst/>
                          <a:latin typeface="+mj-lt"/>
                        </a:rPr>
                        <a:t>500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
                      <a:r>
                        <a:rPr lang="en-GB" sz="800" b="1" i="0" u="none" strike="noStrike">
                          <a:solidFill>
                            <a:srgbClr val="000000"/>
                          </a:solidFill>
                          <a:effectLst/>
                          <a:latin typeface="+mj-lt"/>
                        </a:rPr>
                        <a:t>2%</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10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6515729"/>
                  </a:ext>
                </a:extLst>
              </a:tr>
              <a:tr h="141916">
                <a:tc>
                  <a:txBody>
                    <a:bodyPr/>
                    <a:lstStyle/>
                    <a:p>
                      <a:pPr algn="l"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dirty="0">
                          <a:solidFill>
                            <a:srgbClr val="000000"/>
                          </a:solidFill>
                          <a:effectLst/>
                          <a:latin typeface="+mj-lt"/>
                        </a:rPr>
                        <a:t>110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CCFF"/>
                    </a:solidFill>
                  </a:tcPr>
                </a:tc>
                <a:extLst>
                  <a:ext uri="{0D108BD9-81ED-4DB2-BD59-A6C34878D82A}">
                    <a16:rowId xmlns:a16="http://schemas.microsoft.com/office/drawing/2014/main" val="2114373739"/>
                  </a:ext>
                </a:extLst>
              </a:tr>
            </a:tbl>
          </a:graphicData>
        </a:graphic>
      </p:graphicFrame>
      <p:sp>
        <p:nvSpPr>
          <p:cNvPr id="29" name="Arrow: Curved Down 28">
            <a:extLst>
              <a:ext uri="{FF2B5EF4-FFF2-40B4-BE49-F238E27FC236}">
                <a16:creationId xmlns:a16="http://schemas.microsoft.com/office/drawing/2014/main" id="{B8AE342C-7483-41CF-9C1E-97E806D0E9BD}"/>
              </a:ext>
            </a:extLst>
          </p:cNvPr>
          <p:cNvSpPr/>
          <p:nvPr/>
        </p:nvSpPr>
        <p:spPr>
          <a:xfrm>
            <a:off x="6661673" y="3399699"/>
            <a:ext cx="1784635" cy="543831"/>
          </a:xfrm>
          <a:prstGeom prst="curvedDownArrow">
            <a:avLst/>
          </a:prstGeom>
          <a:solidFill>
            <a:schemeClr val="accent2"/>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endParaRPr lang="en-GB" sz="1200" b="1" dirty="0">
              <a:solidFill>
                <a:srgbClr val="000000"/>
              </a:solidFill>
            </a:endParaRPr>
          </a:p>
        </p:txBody>
      </p:sp>
      <p:sp>
        <p:nvSpPr>
          <p:cNvPr id="30" name="Arrow: Curved Down 29">
            <a:extLst>
              <a:ext uri="{FF2B5EF4-FFF2-40B4-BE49-F238E27FC236}">
                <a16:creationId xmlns:a16="http://schemas.microsoft.com/office/drawing/2014/main" id="{CA411033-9574-4943-A895-3C0218DC4C0B}"/>
              </a:ext>
            </a:extLst>
          </p:cNvPr>
          <p:cNvSpPr/>
          <p:nvPr/>
        </p:nvSpPr>
        <p:spPr>
          <a:xfrm rot="20637662" flipV="1">
            <a:off x="6544363" y="4874569"/>
            <a:ext cx="1478417" cy="462297"/>
          </a:xfrm>
          <a:prstGeom prst="curvedDownArrow">
            <a:avLst/>
          </a:prstGeom>
          <a:solidFill>
            <a:schemeClr val="accent2"/>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endParaRPr lang="en-GB" sz="1200" b="1" dirty="0">
              <a:solidFill>
                <a:srgbClr val="000000"/>
              </a:solidFill>
            </a:endParaRPr>
          </a:p>
        </p:txBody>
      </p:sp>
      <p:sp>
        <p:nvSpPr>
          <p:cNvPr id="31" name="Arrow: Curved Down 30">
            <a:extLst>
              <a:ext uri="{FF2B5EF4-FFF2-40B4-BE49-F238E27FC236}">
                <a16:creationId xmlns:a16="http://schemas.microsoft.com/office/drawing/2014/main" id="{F652B147-B1D2-433C-AAE0-99C5A18519FD}"/>
              </a:ext>
            </a:extLst>
          </p:cNvPr>
          <p:cNvSpPr/>
          <p:nvPr/>
        </p:nvSpPr>
        <p:spPr>
          <a:xfrm rot="20036496" flipV="1">
            <a:off x="6576811" y="5251405"/>
            <a:ext cx="2588181" cy="761671"/>
          </a:xfrm>
          <a:prstGeom prst="curvedDownArrow">
            <a:avLst/>
          </a:prstGeom>
          <a:solidFill>
            <a:schemeClr val="accent2"/>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endParaRPr lang="en-GB" sz="1200" b="1" dirty="0">
              <a:solidFill>
                <a:srgbClr val="000000"/>
              </a:solidFill>
            </a:endParaRPr>
          </a:p>
        </p:txBody>
      </p:sp>
      <p:sp>
        <p:nvSpPr>
          <p:cNvPr id="33" name="TextBox 32">
            <a:extLst>
              <a:ext uri="{FF2B5EF4-FFF2-40B4-BE49-F238E27FC236}">
                <a16:creationId xmlns:a16="http://schemas.microsoft.com/office/drawing/2014/main" id="{D08B7401-BEEE-4925-8DCE-1C07F03FCCA0}"/>
              </a:ext>
            </a:extLst>
          </p:cNvPr>
          <p:cNvSpPr txBox="1"/>
          <p:nvPr/>
        </p:nvSpPr>
        <p:spPr>
          <a:xfrm>
            <a:off x="9313832" y="4186084"/>
            <a:ext cx="805479" cy="546284"/>
          </a:xfrm>
          <a:prstGeom prst="rect">
            <a:avLst/>
          </a:prstGeom>
          <a:noFill/>
        </p:spPr>
        <p:txBody>
          <a:bodyPr wrap="square" rtlCol="0">
            <a:noAutofit/>
          </a:bodyPr>
          <a:lstStyle/>
          <a:p>
            <a:r>
              <a:rPr lang="en-GB" sz="1400" dirty="0">
                <a:cs typeface="Trebuchet MS"/>
              </a:rPr>
              <a:t>=</a:t>
            </a:r>
          </a:p>
        </p:txBody>
      </p:sp>
      <p:cxnSp>
        <p:nvCxnSpPr>
          <p:cNvPr id="35" name="Straight Connector 34">
            <a:extLst>
              <a:ext uri="{FF2B5EF4-FFF2-40B4-BE49-F238E27FC236}">
                <a16:creationId xmlns:a16="http://schemas.microsoft.com/office/drawing/2014/main" id="{7C4A1065-0E96-47FD-8182-6DEE644AEA80}"/>
              </a:ext>
            </a:extLst>
          </p:cNvPr>
          <p:cNvCxnSpPr>
            <a:cxnSpLocks/>
          </p:cNvCxnSpPr>
          <p:nvPr/>
        </p:nvCxnSpPr>
        <p:spPr>
          <a:xfrm>
            <a:off x="9552339" y="4333972"/>
            <a:ext cx="656219"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7" name="Text Box 5">
            <a:extLst>
              <a:ext uri="{FF2B5EF4-FFF2-40B4-BE49-F238E27FC236}">
                <a16:creationId xmlns:a16="http://schemas.microsoft.com/office/drawing/2014/main" id="{78710832-A78F-4BB6-9D86-8CAC8A075625}"/>
              </a:ext>
            </a:extLst>
          </p:cNvPr>
          <p:cNvSpPr txBox="1">
            <a:spLocks noChangeArrowheads="1"/>
          </p:cNvSpPr>
          <p:nvPr/>
        </p:nvSpPr>
        <p:spPr bwMode="auto">
          <a:xfrm>
            <a:off x="9556723" y="4005144"/>
            <a:ext cx="651834" cy="293642"/>
          </a:xfrm>
          <a:prstGeom prst="rect">
            <a:avLst/>
          </a:prstGeom>
          <a:noFill/>
          <a:ln w="25400" algn="ctr">
            <a:noFill/>
            <a:miter lim="800000"/>
            <a:headEnd/>
            <a:tailEnd/>
          </a:ln>
        </p:spPr>
        <p:txBody>
          <a:bodyPr wrap="square" lIns="77443" tIns="38721" rIns="77443" bIns="38721">
            <a:spAutoFit/>
          </a:bodyPr>
          <a:lstStyle/>
          <a:p>
            <a:pPr algn="ctr">
              <a:spcBef>
                <a:spcPct val="50000"/>
              </a:spcBef>
            </a:pPr>
            <a:r>
              <a:rPr lang="en-GB" sz="1400" dirty="0"/>
              <a:t>192.5</a:t>
            </a:r>
          </a:p>
        </p:txBody>
      </p:sp>
      <p:sp>
        <p:nvSpPr>
          <p:cNvPr id="38" name="Text Box 5">
            <a:extLst>
              <a:ext uri="{FF2B5EF4-FFF2-40B4-BE49-F238E27FC236}">
                <a16:creationId xmlns:a16="http://schemas.microsoft.com/office/drawing/2014/main" id="{4ADF9E22-E2AE-4077-B554-D1B90ABD823C}"/>
              </a:ext>
            </a:extLst>
          </p:cNvPr>
          <p:cNvSpPr txBox="1">
            <a:spLocks noChangeArrowheads="1"/>
          </p:cNvSpPr>
          <p:nvPr/>
        </p:nvSpPr>
        <p:spPr bwMode="auto">
          <a:xfrm>
            <a:off x="9513691" y="4368756"/>
            <a:ext cx="801737" cy="293642"/>
          </a:xfrm>
          <a:prstGeom prst="rect">
            <a:avLst/>
          </a:prstGeom>
          <a:noFill/>
          <a:ln w="25400" algn="ctr">
            <a:noFill/>
            <a:miter lim="800000"/>
            <a:headEnd/>
            <a:tailEnd/>
          </a:ln>
        </p:spPr>
        <p:txBody>
          <a:bodyPr wrap="square" lIns="77443" tIns="38721" rIns="77443" bIns="38721">
            <a:spAutoFit/>
          </a:bodyPr>
          <a:lstStyle/>
          <a:p>
            <a:pPr algn="ctr">
              <a:spcBef>
                <a:spcPct val="50000"/>
              </a:spcBef>
            </a:pPr>
            <a:r>
              <a:rPr lang="en-GB" sz="1400" dirty="0"/>
              <a:t>220-110</a:t>
            </a:r>
          </a:p>
        </p:txBody>
      </p:sp>
      <p:sp>
        <p:nvSpPr>
          <p:cNvPr id="41" name="TextBox 40">
            <a:extLst>
              <a:ext uri="{FF2B5EF4-FFF2-40B4-BE49-F238E27FC236}">
                <a16:creationId xmlns:a16="http://schemas.microsoft.com/office/drawing/2014/main" id="{44108806-3A45-4E79-A81C-D0F0D00D1AA8}"/>
              </a:ext>
            </a:extLst>
          </p:cNvPr>
          <p:cNvSpPr txBox="1"/>
          <p:nvPr/>
        </p:nvSpPr>
        <p:spPr>
          <a:xfrm>
            <a:off x="10152748" y="4177199"/>
            <a:ext cx="805479" cy="546284"/>
          </a:xfrm>
          <a:prstGeom prst="rect">
            <a:avLst/>
          </a:prstGeom>
          <a:noFill/>
        </p:spPr>
        <p:txBody>
          <a:bodyPr wrap="square" rtlCol="0">
            <a:noAutofit/>
          </a:bodyPr>
          <a:lstStyle/>
          <a:p>
            <a:r>
              <a:rPr lang="en-GB" sz="1400" dirty="0">
                <a:cs typeface="Trebuchet MS"/>
              </a:rPr>
              <a:t>=</a:t>
            </a:r>
          </a:p>
        </p:txBody>
      </p:sp>
      <p:sp>
        <p:nvSpPr>
          <p:cNvPr id="42" name="Text Box 5">
            <a:extLst>
              <a:ext uri="{FF2B5EF4-FFF2-40B4-BE49-F238E27FC236}">
                <a16:creationId xmlns:a16="http://schemas.microsoft.com/office/drawing/2014/main" id="{FA7786F4-9034-4810-9C40-51AC6CC70D4E}"/>
              </a:ext>
            </a:extLst>
          </p:cNvPr>
          <p:cNvSpPr txBox="1">
            <a:spLocks noChangeArrowheads="1"/>
          </p:cNvSpPr>
          <p:nvPr/>
        </p:nvSpPr>
        <p:spPr bwMode="auto">
          <a:xfrm>
            <a:off x="10214280" y="4187151"/>
            <a:ext cx="651834" cy="293642"/>
          </a:xfrm>
          <a:prstGeom prst="rect">
            <a:avLst/>
          </a:prstGeom>
          <a:noFill/>
          <a:ln w="25400" algn="ctr">
            <a:noFill/>
            <a:miter lim="800000"/>
            <a:headEnd/>
            <a:tailEnd/>
          </a:ln>
        </p:spPr>
        <p:txBody>
          <a:bodyPr wrap="square" lIns="77443" tIns="38721" rIns="77443" bIns="38721">
            <a:spAutoFit/>
          </a:bodyPr>
          <a:lstStyle/>
          <a:p>
            <a:pPr algn="ctr">
              <a:spcBef>
                <a:spcPct val="50000"/>
              </a:spcBef>
            </a:pPr>
            <a:r>
              <a:rPr lang="en-GB" sz="1400" dirty="0"/>
              <a:t>175%</a:t>
            </a:r>
          </a:p>
        </p:txBody>
      </p:sp>
      <p:sp>
        <p:nvSpPr>
          <p:cNvPr id="43" name="Arrow: Curved Down 42">
            <a:extLst>
              <a:ext uri="{FF2B5EF4-FFF2-40B4-BE49-F238E27FC236}">
                <a16:creationId xmlns:a16="http://schemas.microsoft.com/office/drawing/2014/main" id="{586C0B9E-34E8-4BAB-8ECF-B5EAE1303BB5}"/>
              </a:ext>
            </a:extLst>
          </p:cNvPr>
          <p:cNvSpPr/>
          <p:nvPr/>
        </p:nvSpPr>
        <p:spPr>
          <a:xfrm rot="6159277" flipV="1">
            <a:off x="1090652" y="2624163"/>
            <a:ext cx="1882588" cy="462297"/>
          </a:xfrm>
          <a:prstGeom prst="curvedDownArrow">
            <a:avLst/>
          </a:prstGeom>
          <a:solidFill>
            <a:schemeClr val="accent2"/>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endParaRPr lang="en-GB" sz="1200" b="1" dirty="0">
              <a:solidFill>
                <a:srgbClr val="000000"/>
              </a:solidFill>
            </a:endParaRPr>
          </a:p>
        </p:txBody>
      </p:sp>
      <p:sp>
        <p:nvSpPr>
          <p:cNvPr id="44" name="Arrow: Pentagon 43">
            <a:extLst>
              <a:ext uri="{FF2B5EF4-FFF2-40B4-BE49-F238E27FC236}">
                <a16:creationId xmlns:a16="http://schemas.microsoft.com/office/drawing/2014/main" id="{C1E0A672-0B96-4A4E-A4D5-BEFDA79C009D}"/>
              </a:ext>
            </a:extLst>
          </p:cNvPr>
          <p:cNvSpPr/>
          <p:nvPr/>
        </p:nvSpPr>
        <p:spPr>
          <a:xfrm>
            <a:off x="1600200" y="4768883"/>
            <a:ext cx="519975" cy="448077"/>
          </a:xfrm>
          <a:prstGeom prst="homePlate">
            <a:avLst>
              <a:gd name="adj" fmla="val 21190"/>
            </a:avLst>
          </a:prstGeom>
          <a:solidFill>
            <a:schemeClr val="accent2"/>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r>
              <a:rPr lang="en-GB" sz="1100" b="1" dirty="0">
                <a:solidFill>
                  <a:srgbClr val="000000"/>
                </a:solidFill>
              </a:rPr>
              <a:t>Off</a:t>
            </a:r>
          </a:p>
          <a:p>
            <a:pPr algn="ctr"/>
            <a:r>
              <a:rPr lang="en-GB" sz="1100" b="1" dirty="0">
                <a:solidFill>
                  <a:srgbClr val="000000"/>
                </a:solidFill>
              </a:rPr>
              <a:t>B/S</a:t>
            </a:r>
          </a:p>
        </p:txBody>
      </p:sp>
      <p:sp>
        <p:nvSpPr>
          <p:cNvPr id="45" name="Arrow: Curved Down 44">
            <a:extLst>
              <a:ext uri="{FF2B5EF4-FFF2-40B4-BE49-F238E27FC236}">
                <a16:creationId xmlns:a16="http://schemas.microsoft.com/office/drawing/2014/main" id="{EE53120A-0E74-4B41-854F-FD759DEF4889}"/>
              </a:ext>
            </a:extLst>
          </p:cNvPr>
          <p:cNvSpPr/>
          <p:nvPr/>
        </p:nvSpPr>
        <p:spPr>
          <a:xfrm rot="5870410" flipV="1">
            <a:off x="232496" y="3905511"/>
            <a:ext cx="3374493" cy="740411"/>
          </a:xfrm>
          <a:prstGeom prst="curvedDownArrow">
            <a:avLst/>
          </a:prstGeom>
          <a:solidFill>
            <a:schemeClr val="accent2"/>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endParaRPr lang="en-GB" sz="1200" b="1" dirty="0">
              <a:solidFill>
                <a:srgbClr val="000000"/>
              </a:solidFill>
            </a:endParaRPr>
          </a:p>
        </p:txBody>
      </p:sp>
      <p:pic>
        <p:nvPicPr>
          <p:cNvPr id="51" name="Picture 2" descr="http://ian.umces.edu/imagelibrary/albums/userpics/12789/normal_ian-symbol-positive.png">
            <a:extLst>
              <a:ext uri="{FF2B5EF4-FFF2-40B4-BE49-F238E27FC236}">
                <a16:creationId xmlns:a16="http://schemas.microsoft.com/office/drawing/2014/main" id="{672E6345-F7FB-4185-B66D-A95B1E37BFD8}"/>
              </a:ext>
            </a:extLst>
          </p:cNvPr>
          <p:cNvPicPr>
            <a:picLocks noChangeAspect="1" noChangeArrowheads="1"/>
          </p:cNvPicPr>
          <p:nvPr/>
        </p:nvPicPr>
        <p:blipFill>
          <a:blip r:embed="rId5" cstate="print"/>
          <a:srcRect/>
          <a:stretch>
            <a:fillRect/>
          </a:stretch>
        </p:blipFill>
        <p:spPr bwMode="auto">
          <a:xfrm>
            <a:off x="10309739" y="4539468"/>
            <a:ext cx="460916" cy="328401"/>
          </a:xfrm>
          <a:prstGeom prst="rect">
            <a:avLst/>
          </a:prstGeom>
          <a:noFill/>
        </p:spPr>
      </p:pic>
    </p:spTree>
    <p:extLst>
      <p:ext uri="{BB962C8B-B14F-4D97-AF65-F5344CB8AC3E}">
        <p14:creationId xmlns:p14="http://schemas.microsoft.com/office/powerpoint/2010/main" val="33551284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3768265C-B9E8-442D-9EF5-E8DDADED7BA0}"/>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8" progId="TCLayout.ActiveDocument.1">
                  <p:embed/>
                </p:oleObj>
              </mc:Choice>
              <mc:Fallback>
                <p:oleObj name="think-cell Slide" r:id="rId3" imgW="306" imgH="308" progId="TCLayout.ActiveDocument.1">
                  <p:embed/>
                  <p:pic>
                    <p:nvPicPr>
                      <p:cNvPr id="5" name="Object 4" hidden="1">
                        <a:extLst>
                          <a:ext uri="{FF2B5EF4-FFF2-40B4-BE49-F238E27FC236}">
                            <a16:creationId xmlns:a16="http://schemas.microsoft.com/office/drawing/2014/main" id="{3768265C-B9E8-442D-9EF5-E8DDADED7BA0}"/>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44" name="Arrow: Pentagon 43">
            <a:extLst>
              <a:ext uri="{FF2B5EF4-FFF2-40B4-BE49-F238E27FC236}">
                <a16:creationId xmlns:a16="http://schemas.microsoft.com/office/drawing/2014/main" id="{C1E0A672-0B96-4A4E-A4D5-BEFDA79C009D}"/>
              </a:ext>
            </a:extLst>
          </p:cNvPr>
          <p:cNvSpPr/>
          <p:nvPr/>
        </p:nvSpPr>
        <p:spPr>
          <a:xfrm>
            <a:off x="1600201" y="5267871"/>
            <a:ext cx="519975" cy="448077"/>
          </a:xfrm>
          <a:prstGeom prst="homePlate">
            <a:avLst>
              <a:gd name="adj" fmla="val 21190"/>
            </a:avLst>
          </a:prstGeom>
          <a:solidFill>
            <a:schemeClr val="accent2"/>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r>
              <a:rPr lang="en-GB" sz="1100" b="1" dirty="0">
                <a:solidFill>
                  <a:srgbClr val="000000"/>
                </a:solidFill>
              </a:rPr>
              <a:t>Off</a:t>
            </a:r>
          </a:p>
          <a:p>
            <a:pPr algn="ctr"/>
            <a:r>
              <a:rPr lang="en-GB" sz="1100" b="1" dirty="0">
                <a:solidFill>
                  <a:srgbClr val="000000"/>
                </a:solidFill>
              </a:rPr>
              <a:t>B/S</a:t>
            </a:r>
          </a:p>
        </p:txBody>
      </p:sp>
      <p:graphicFrame>
        <p:nvGraphicFramePr>
          <p:cNvPr id="27" name="Table 26">
            <a:extLst>
              <a:ext uri="{FF2B5EF4-FFF2-40B4-BE49-F238E27FC236}">
                <a16:creationId xmlns:a16="http://schemas.microsoft.com/office/drawing/2014/main" id="{2FE2A71D-EECE-40B8-ACB2-85DA2B3EFD39}"/>
              </a:ext>
            </a:extLst>
          </p:cNvPr>
          <p:cNvGraphicFramePr>
            <a:graphicFrameLocks noGrp="1"/>
          </p:cNvGraphicFramePr>
          <p:nvPr/>
        </p:nvGraphicFramePr>
        <p:xfrm>
          <a:off x="2120175" y="4673952"/>
          <a:ext cx="4346528" cy="1069522"/>
        </p:xfrm>
        <a:graphic>
          <a:graphicData uri="http://schemas.openxmlformats.org/drawingml/2006/table">
            <a:tbl>
              <a:tblPr/>
              <a:tblGrid>
                <a:gridCol w="1839996">
                  <a:extLst>
                    <a:ext uri="{9D8B030D-6E8A-4147-A177-3AD203B41FA5}">
                      <a16:colId xmlns:a16="http://schemas.microsoft.com/office/drawing/2014/main" val="3890015586"/>
                    </a:ext>
                  </a:extLst>
                </a:gridCol>
                <a:gridCol w="548640">
                  <a:extLst>
                    <a:ext uri="{9D8B030D-6E8A-4147-A177-3AD203B41FA5}">
                      <a16:colId xmlns:a16="http://schemas.microsoft.com/office/drawing/2014/main" val="1299858206"/>
                    </a:ext>
                  </a:extLst>
                </a:gridCol>
                <a:gridCol w="1484555">
                  <a:extLst>
                    <a:ext uri="{9D8B030D-6E8A-4147-A177-3AD203B41FA5}">
                      <a16:colId xmlns:a16="http://schemas.microsoft.com/office/drawing/2014/main" val="2242593866"/>
                    </a:ext>
                  </a:extLst>
                </a:gridCol>
                <a:gridCol w="473337">
                  <a:extLst>
                    <a:ext uri="{9D8B030D-6E8A-4147-A177-3AD203B41FA5}">
                      <a16:colId xmlns:a16="http://schemas.microsoft.com/office/drawing/2014/main" val="2005705427"/>
                    </a:ext>
                  </a:extLst>
                </a:gridCol>
              </a:tblGrid>
              <a:tr h="163962">
                <a:tc>
                  <a:txBody>
                    <a:bodyPr/>
                    <a:lstStyle/>
                    <a:p>
                      <a:pPr marL="0" algn="ctr" defTabSz="457200" rtl="0" eaLnBrk="1" fontAlgn="ctr" latinLnBrk="0" hangingPunct="1"/>
                      <a:r>
                        <a:rPr lang="en-GB" sz="800" b="1" i="0" u="none" strike="noStrike" kern="1200" dirty="0">
                          <a:solidFill>
                            <a:schemeClr val="bg1"/>
                          </a:solidFill>
                          <a:effectLst/>
                          <a:latin typeface="+mj-lt"/>
                          <a:ea typeface="+mn-ea"/>
                          <a:cs typeface="+mn-cs"/>
                        </a:rPr>
                        <a:t>Required Stable Funding</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tc>
                  <a:txBody>
                    <a:bodyPr/>
                    <a:lstStyle/>
                    <a:p>
                      <a:pPr marL="0" algn="ctr" defTabSz="457200" rtl="0" eaLnBrk="1" fontAlgn="ctr" latinLnBrk="0" hangingPunct="1"/>
                      <a:r>
                        <a:rPr lang="en-GB" sz="800" b="1" i="0" u="none" strike="noStrike" kern="1200" dirty="0">
                          <a:solidFill>
                            <a:schemeClr val="bg1"/>
                          </a:solidFill>
                          <a:effectLst/>
                          <a:latin typeface="+mj-lt"/>
                          <a:ea typeface="+mn-ea"/>
                          <a:cs typeface="+mn-cs"/>
                        </a:rPr>
                        <a:t>€</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tc>
                  <a:txBody>
                    <a:bodyPr/>
                    <a:lstStyle/>
                    <a:p>
                      <a:pPr marL="0" algn="ctr" defTabSz="457200" rtl="0" eaLnBrk="1" fontAlgn="ctr" latinLnBrk="0" hangingPunct="1"/>
                      <a:r>
                        <a:rPr lang="en-GB" sz="800" b="1" i="0" u="none" strike="noStrike" kern="1200">
                          <a:solidFill>
                            <a:schemeClr val="bg1"/>
                          </a:solidFill>
                          <a:effectLst/>
                          <a:latin typeface="+mj-lt"/>
                          <a:ea typeface="+mn-ea"/>
                          <a:cs typeface="+mn-cs"/>
                        </a:rPr>
                        <a:t>Factor to be applied</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tc>
                  <a:txBody>
                    <a:bodyPr/>
                    <a:lstStyle/>
                    <a:p>
                      <a:pPr marL="0" algn="ctr" defTabSz="457200" rtl="0" eaLnBrk="1" fontAlgn="ctr" latinLnBrk="0" hangingPunct="1"/>
                      <a:r>
                        <a:rPr lang="en-GB" sz="800" b="1" i="0" u="none" strike="noStrike" kern="1200" dirty="0">
                          <a:solidFill>
                            <a:schemeClr val="bg1"/>
                          </a:solidFill>
                          <a:effectLst/>
                          <a:latin typeface="+mj-lt"/>
                          <a:ea typeface="+mn-ea"/>
                          <a:cs typeface="+mn-cs"/>
                        </a:rPr>
                        <a:t>€</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extLst>
                  <a:ext uri="{0D108BD9-81ED-4DB2-BD59-A6C34878D82A}">
                    <a16:rowId xmlns:a16="http://schemas.microsoft.com/office/drawing/2014/main" val="1947105238"/>
                  </a:ext>
                </a:extLst>
              </a:tr>
              <a:tr h="141916">
                <a:tc>
                  <a:txBody>
                    <a:bodyPr/>
                    <a:lstStyle/>
                    <a:p>
                      <a:pPr algn="l" fontAlgn="b"/>
                      <a:r>
                        <a:rPr lang="en-GB" sz="800" b="1" i="0" u="none" strike="noStrike" dirty="0">
                          <a:solidFill>
                            <a:srgbClr val="000000"/>
                          </a:solidFill>
                          <a:effectLst/>
                          <a:latin typeface="+mj-lt"/>
                        </a:rPr>
                        <a:t>Undrawn commitments</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GB" sz="800" b="1" i="0" u="none" strike="noStrike" dirty="0">
                          <a:solidFill>
                            <a:srgbClr val="000000"/>
                          </a:solidFill>
                          <a:effectLst/>
                          <a:latin typeface="+mj-lt"/>
                        </a:rPr>
                        <a:t>200</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GB" sz="800" b="1" i="0" u="none" strike="noStrike" dirty="0">
                          <a:solidFill>
                            <a:srgbClr val="000000"/>
                          </a:solidFill>
                          <a:effectLst/>
                          <a:latin typeface="+mj-lt"/>
                        </a:rPr>
                        <a:t>5%</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800" b="1" i="0" u="none" strike="noStrike" dirty="0">
                          <a:solidFill>
                            <a:srgbClr val="000000"/>
                          </a:solidFill>
                          <a:effectLst/>
                          <a:latin typeface="+mj-lt"/>
                        </a:rPr>
                        <a:t>10</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6736534"/>
                  </a:ext>
                </a:extLst>
              </a:tr>
              <a:tr h="141916">
                <a:tc>
                  <a:txBody>
                    <a:bodyPr/>
                    <a:lstStyle/>
                    <a:p>
                      <a:pPr algn="l" fontAlgn="b"/>
                      <a:r>
                        <a:rPr lang="en-GB" sz="800" b="1" i="0" u="none" strike="noStrike" dirty="0">
                          <a:solidFill>
                            <a:srgbClr val="000000"/>
                          </a:solidFill>
                          <a:effectLst/>
                          <a:latin typeface="+mj-lt"/>
                        </a:rPr>
                        <a:t>Covered Bonds</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GB" sz="800" b="1" i="0" u="none" strike="noStrike">
                          <a:solidFill>
                            <a:srgbClr val="000000"/>
                          </a:solidFill>
                          <a:effectLst/>
                          <a:latin typeface="+mj-lt"/>
                        </a:rPr>
                        <a:t>50</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r>
                        <a:rPr lang="en-GB" sz="800" b="1" i="0" u="none" strike="noStrike">
                          <a:solidFill>
                            <a:srgbClr val="000000"/>
                          </a:solidFill>
                          <a:effectLst/>
                          <a:latin typeface="+mj-lt"/>
                        </a:rPr>
                        <a:t>15%</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800" b="1" i="0" u="none" strike="noStrike">
                          <a:solidFill>
                            <a:srgbClr val="000000"/>
                          </a:solidFill>
                          <a:effectLst/>
                          <a:latin typeface="+mj-lt"/>
                        </a:rPr>
                        <a:t>7.5</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5162071"/>
                  </a:ext>
                </a:extLst>
              </a:tr>
              <a:tr h="290590">
                <a:tc>
                  <a:txBody>
                    <a:bodyPr/>
                    <a:lstStyle/>
                    <a:p>
                      <a:pPr algn="l" fontAlgn="b"/>
                      <a:r>
                        <a:rPr lang="en-GB" sz="800" b="1" i="0" u="none" strike="noStrike" dirty="0">
                          <a:solidFill>
                            <a:srgbClr val="000000"/>
                          </a:solidFill>
                          <a:effectLst/>
                          <a:latin typeface="+mj-lt"/>
                        </a:rPr>
                        <a:t>Residential Mortgages (80%&gt;1 year 35% RWA, 20%&lt;1 year 35% RWA)</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b"/>
                      <a:r>
                        <a:rPr lang="en-GB" sz="800" b="1" i="0" u="none" strike="noStrike" dirty="0">
                          <a:solidFill>
                            <a:srgbClr val="000000"/>
                          </a:solidFill>
                          <a:effectLst/>
                          <a:latin typeface="+mj-lt"/>
                        </a:rPr>
                        <a:t>500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b"/>
                      <a:r>
                        <a:rPr lang="en-GB" sz="800" b="1" i="0" u="none" strike="noStrike">
                          <a:solidFill>
                            <a:srgbClr val="000000"/>
                          </a:solidFill>
                          <a:effectLst/>
                          <a:latin typeface="+mj-lt"/>
                        </a:rPr>
                        <a:t>65%/50%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310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8815610"/>
                  </a:ext>
                </a:extLst>
              </a:tr>
              <a:tr h="189222">
                <a:tc>
                  <a:txBody>
                    <a:bodyPr/>
                    <a:lstStyle/>
                    <a:p>
                      <a:pPr algn="l" fontAlgn="b"/>
                      <a:r>
                        <a:rPr lang="en-GB" sz="800" b="1" i="0" u="none" strike="noStrike">
                          <a:solidFill>
                            <a:srgbClr val="000000"/>
                          </a:solidFill>
                          <a:effectLst/>
                          <a:latin typeface="+mj-lt"/>
                        </a:rPr>
                        <a:t>Retail Credit Cards (&lt; 1 year)</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200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50%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100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4033082"/>
                  </a:ext>
                </a:extLst>
              </a:tr>
              <a:tr h="141916">
                <a:tc>
                  <a:txBody>
                    <a:bodyPr/>
                    <a:lstStyle/>
                    <a:p>
                      <a:pPr algn="l" fontAlgn="b"/>
                      <a:r>
                        <a:rPr lang="en-GB" sz="800" b="1" i="0" u="none" strike="noStrike" dirty="0">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dirty="0">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dirty="0">
                          <a:solidFill>
                            <a:srgbClr val="000000"/>
                          </a:solidFill>
                          <a:effectLst/>
                          <a:latin typeface="+mj-lt"/>
                        </a:rPr>
                        <a:t>427.5</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CCFF"/>
                    </a:solidFill>
                  </a:tcPr>
                </a:tc>
                <a:extLst>
                  <a:ext uri="{0D108BD9-81ED-4DB2-BD59-A6C34878D82A}">
                    <a16:rowId xmlns:a16="http://schemas.microsoft.com/office/drawing/2014/main" val="3895302023"/>
                  </a:ext>
                </a:extLst>
              </a:tr>
            </a:tbl>
          </a:graphicData>
        </a:graphic>
      </p:graphicFrame>
      <p:sp>
        <p:nvSpPr>
          <p:cNvPr id="4" name="Title 3">
            <a:extLst>
              <a:ext uri="{FF2B5EF4-FFF2-40B4-BE49-F238E27FC236}">
                <a16:creationId xmlns:a16="http://schemas.microsoft.com/office/drawing/2014/main" id="{23C3585C-7A23-48C4-8B6D-9B0586029F5C}"/>
              </a:ext>
            </a:extLst>
          </p:cNvPr>
          <p:cNvSpPr>
            <a:spLocks noGrp="1"/>
          </p:cNvSpPr>
          <p:nvPr>
            <p:ph type="title"/>
          </p:nvPr>
        </p:nvSpPr>
        <p:spPr/>
        <p:txBody>
          <a:bodyPr vert="horz"/>
          <a:lstStyle/>
          <a:p>
            <a:r>
              <a:rPr lang="en-GB" dirty="0"/>
              <a:t>Worked example of </a:t>
            </a:r>
            <a:r>
              <a:rPr lang="en-GB" dirty="0" err="1"/>
              <a:t>NSFR</a:t>
            </a:r>
            <a:r>
              <a:rPr lang="en-GB" dirty="0"/>
              <a:t> calculation</a:t>
            </a:r>
          </a:p>
        </p:txBody>
      </p:sp>
      <p:graphicFrame>
        <p:nvGraphicFramePr>
          <p:cNvPr id="8" name="Table 7">
            <a:extLst>
              <a:ext uri="{FF2B5EF4-FFF2-40B4-BE49-F238E27FC236}">
                <a16:creationId xmlns:a16="http://schemas.microsoft.com/office/drawing/2014/main" id="{CFF6A82B-62CB-4EA0-A72A-FC2B91C9D3C5}"/>
              </a:ext>
            </a:extLst>
          </p:cNvPr>
          <p:cNvGraphicFramePr>
            <a:graphicFrameLocks noGrp="1"/>
          </p:cNvGraphicFramePr>
          <p:nvPr/>
        </p:nvGraphicFramePr>
        <p:xfrm>
          <a:off x="2552253" y="1659783"/>
          <a:ext cx="7925247" cy="1477255"/>
        </p:xfrm>
        <a:graphic>
          <a:graphicData uri="http://schemas.openxmlformats.org/drawingml/2006/table">
            <a:tbl>
              <a:tblPr/>
              <a:tblGrid>
                <a:gridCol w="2829261">
                  <a:extLst>
                    <a:ext uri="{9D8B030D-6E8A-4147-A177-3AD203B41FA5}">
                      <a16:colId xmlns:a16="http://schemas.microsoft.com/office/drawing/2014/main" val="13485291"/>
                    </a:ext>
                  </a:extLst>
                </a:gridCol>
                <a:gridCol w="665938">
                  <a:extLst>
                    <a:ext uri="{9D8B030D-6E8A-4147-A177-3AD203B41FA5}">
                      <a16:colId xmlns:a16="http://schemas.microsoft.com/office/drawing/2014/main" val="3877568841"/>
                    </a:ext>
                  </a:extLst>
                </a:gridCol>
                <a:gridCol w="512017">
                  <a:extLst>
                    <a:ext uri="{9D8B030D-6E8A-4147-A177-3AD203B41FA5}">
                      <a16:colId xmlns:a16="http://schemas.microsoft.com/office/drawing/2014/main" val="4038536362"/>
                    </a:ext>
                  </a:extLst>
                </a:gridCol>
                <a:gridCol w="3243438">
                  <a:extLst>
                    <a:ext uri="{9D8B030D-6E8A-4147-A177-3AD203B41FA5}">
                      <a16:colId xmlns:a16="http://schemas.microsoft.com/office/drawing/2014/main" val="1360369286"/>
                    </a:ext>
                  </a:extLst>
                </a:gridCol>
                <a:gridCol w="674593">
                  <a:extLst>
                    <a:ext uri="{9D8B030D-6E8A-4147-A177-3AD203B41FA5}">
                      <a16:colId xmlns:a16="http://schemas.microsoft.com/office/drawing/2014/main" val="2809195089"/>
                    </a:ext>
                  </a:extLst>
                </a:gridCol>
              </a:tblGrid>
              <a:tr h="129316">
                <a:tc>
                  <a:txBody>
                    <a:bodyPr/>
                    <a:lstStyle/>
                    <a:p>
                      <a:pPr algn="ctr" fontAlgn="ctr"/>
                      <a:r>
                        <a:rPr lang="en-GB" sz="800" b="1" i="0" u="none" strike="noStrike">
                          <a:solidFill>
                            <a:srgbClr val="FFFFFF"/>
                          </a:solidFill>
                          <a:effectLst/>
                          <a:latin typeface="+mj-lt"/>
                        </a:rPr>
                        <a:t>Assets</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GB" sz="1000" b="1" i="0" u="none" strike="noStrike">
                          <a:solidFill>
                            <a:srgbClr val="FFFFFF"/>
                          </a:solidFill>
                          <a:effectLst/>
                          <a:latin typeface="+mj-lt"/>
                        </a:rPr>
                        <a:t>€</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GB" sz="1000" b="1" i="0" u="none" strike="noStrike">
                          <a:solidFill>
                            <a:srgbClr val="FFFFFF"/>
                          </a:solidFill>
                          <a:effectLst/>
                          <a:latin typeface="+mj-lt"/>
                        </a:rPr>
                        <a:t> </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GB" sz="800" b="1" i="0" u="none" strike="noStrike" dirty="0">
                          <a:solidFill>
                            <a:srgbClr val="FFFFFF"/>
                          </a:solidFill>
                          <a:effectLst/>
                          <a:latin typeface="+mj-lt"/>
                        </a:rPr>
                        <a:t>Liabilities</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GB" sz="1000" b="1" i="0" u="none" strike="noStrike">
                          <a:solidFill>
                            <a:srgbClr val="FFFFFF"/>
                          </a:solidFill>
                          <a:effectLst/>
                          <a:latin typeface="+mj-lt"/>
                        </a:rPr>
                        <a:t>€</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2930559797"/>
                  </a:ext>
                </a:extLst>
              </a:tr>
              <a:tr h="111928">
                <a:tc>
                  <a:txBody>
                    <a:bodyPr/>
                    <a:lstStyle/>
                    <a:p>
                      <a:pPr algn="l" fontAlgn="t"/>
                      <a:r>
                        <a:rPr lang="en-GB" sz="800" b="1" i="0" u="none" strike="noStrike" dirty="0">
                          <a:solidFill>
                            <a:srgbClr val="000000"/>
                          </a:solidFill>
                          <a:effectLst/>
                          <a:latin typeface="+mj-lt"/>
                        </a:rPr>
                        <a:t>Cash</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GB" sz="800" b="1" i="0" u="none" strike="noStrike">
                          <a:solidFill>
                            <a:srgbClr val="000000"/>
                          </a:solidFill>
                          <a:effectLst/>
                          <a:latin typeface="+mj-lt"/>
                        </a:rPr>
                        <a:t>50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GB" sz="800" b="1" i="0" u="none" strike="noStrike">
                          <a:solidFill>
                            <a:srgbClr val="000000"/>
                          </a:solidFill>
                          <a:effectLst/>
                          <a:latin typeface="+mj-lt"/>
                        </a:rPr>
                        <a:t> </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GB" sz="800" b="1" i="0" u="none" strike="noStrike" dirty="0">
                          <a:solidFill>
                            <a:srgbClr val="000000"/>
                          </a:solidFill>
                          <a:effectLst/>
                          <a:latin typeface="+mj-lt"/>
                        </a:rPr>
                        <a:t>Equity Capital</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t"/>
                      <a:r>
                        <a:rPr lang="en-GB" sz="800" b="1" i="0" u="none" strike="noStrike" dirty="0">
                          <a:solidFill>
                            <a:srgbClr val="000000"/>
                          </a:solidFill>
                          <a:effectLst/>
                          <a:latin typeface="+mj-lt"/>
                        </a:rPr>
                        <a:t>80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29205866"/>
                  </a:ext>
                </a:extLst>
              </a:tr>
              <a:tr h="171636">
                <a:tc>
                  <a:txBody>
                    <a:bodyPr/>
                    <a:lstStyle/>
                    <a:p>
                      <a:pPr algn="l" fontAlgn="t"/>
                      <a:r>
                        <a:rPr lang="en-GB" sz="800" b="1" i="0" u="none" strike="noStrike" dirty="0">
                          <a:solidFill>
                            <a:srgbClr val="000000"/>
                          </a:solidFill>
                          <a:effectLst/>
                          <a:latin typeface="+mj-lt"/>
                        </a:rPr>
                        <a:t>Government Securities</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GB" sz="800" b="1" i="0" u="none" strike="noStrike">
                          <a:solidFill>
                            <a:srgbClr val="000000"/>
                          </a:solidFill>
                          <a:effectLst/>
                          <a:latin typeface="+mj-lt"/>
                        </a:rPr>
                        <a:t>100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GB" sz="800" b="1" i="0" u="none" strike="noStrike">
                          <a:solidFill>
                            <a:srgbClr val="000000"/>
                          </a:solidFill>
                          <a:effectLst/>
                          <a:latin typeface="+mj-lt"/>
                        </a:rPr>
                        <a:t> </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GB" sz="800" b="1" i="0" u="none" strike="noStrike">
                          <a:solidFill>
                            <a:srgbClr val="000000"/>
                          </a:solidFill>
                          <a:effectLst/>
                          <a:latin typeface="+mj-lt"/>
                        </a:rPr>
                        <a:t>Tier 2 Capital maturing in 5 months</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GB" sz="800" b="1" i="0" u="none" strike="noStrike">
                          <a:solidFill>
                            <a:srgbClr val="000000"/>
                          </a:solidFill>
                          <a:effectLst/>
                          <a:latin typeface="+mj-lt"/>
                        </a:rPr>
                        <a:t>20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13609694"/>
                  </a:ext>
                </a:extLst>
              </a:tr>
              <a:tr h="111928">
                <a:tc>
                  <a:txBody>
                    <a:bodyPr/>
                    <a:lstStyle/>
                    <a:p>
                      <a:pPr algn="l" fontAlgn="t"/>
                      <a:r>
                        <a:rPr lang="en-GB" sz="800" b="1" i="0" u="none" strike="noStrike" dirty="0">
                          <a:solidFill>
                            <a:srgbClr val="000000"/>
                          </a:solidFill>
                          <a:effectLst/>
                          <a:latin typeface="+mj-lt"/>
                        </a:rPr>
                        <a:t>Covered Bonds rated AA-</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t"/>
                      <a:r>
                        <a:rPr lang="en-GB" sz="800" b="1" i="0" u="none" strike="noStrike" dirty="0">
                          <a:solidFill>
                            <a:srgbClr val="000000"/>
                          </a:solidFill>
                          <a:effectLst/>
                          <a:latin typeface="+mj-lt"/>
                        </a:rPr>
                        <a:t>50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t"/>
                      <a:r>
                        <a:rPr lang="en-GB" sz="800" b="1" i="0" u="none" strike="noStrike">
                          <a:solidFill>
                            <a:srgbClr val="000000"/>
                          </a:solidFill>
                          <a:effectLst/>
                          <a:latin typeface="+mj-lt"/>
                        </a:rPr>
                        <a:t> </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GB" sz="800" b="1" i="0" u="none" strike="noStrike" dirty="0">
                          <a:solidFill>
                            <a:srgbClr val="000000"/>
                          </a:solidFill>
                          <a:effectLst/>
                          <a:latin typeface="+mj-lt"/>
                        </a:rPr>
                        <a:t>Retail Deposits - Stable</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t"/>
                      <a:r>
                        <a:rPr lang="en-GB" sz="800" b="1" i="0" u="none" strike="noStrike" dirty="0">
                          <a:solidFill>
                            <a:srgbClr val="000000"/>
                          </a:solidFill>
                          <a:effectLst/>
                          <a:latin typeface="+mj-lt"/>
                        </a:rPr>
                        <a:t>100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335909289"/>
                  </a:ext>
                </a:extLst>
              </a:tr>
              <a:tr h="111928">
                <a:tc>
                  <a:txBody>
                    <a:bodyPr/>
                    <a:lstStyle/>
                    <a:p>
                      <a:pPr algn="l" fontAlgn="t"/>
                      <a:r>
                        <a:rPr lang="en-GB" sz="800" b="1" i="0" u="none" strike="noStrike" dirty="0">
                          <a:solidFill>
                            <a:srgbClr val="000000"/>
                          </a:solidFill>
                          <a:effectLst/>
                          <a:latin typeface="+mj-lt"/>
                        </a:rPr>
                        <a:t>Retail Credit Cards</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t"/>
                      <a:r>
                        <a:rPr lang="en-GB" sz="800" b="1" i="0" u="none" strike="noStrike" dirty="0">
                          <a:solidFill>
                            <a:srgbClr val="000000"/>
                          </a:solidFill>
                          <a:effectLst/>
                          <a:latin typeface="+mj-lt"/>
                        </a:rPr>
                        <a:t>200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t"/>
                      <a:r>
                        <a:rPr lang="en-GB" sz="800" b="1" i="0" u="none" strike="noStrike">
                          <a:solidFill>
                            <a:srgbClr val="000000"/>
                          </a:solidFill>
                          <a:effectLst/>
                          <a:latin typeface="+mj-lt"/>
                        </a:rPr>
                        <a:t> </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GB" sz="800" b="1" i="0" u="none" strike="noStrike" dirty="0">
                          <a:solidFill>
                            <a:srgbClr val="000000"/>
                          </a:solidFill>
                          <a:effectLst/>
                          <a:latin typeface="+mj-lt"/>
                        </a:rPr>
                        <a:t>Retail Deposits - Less Stable</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t"/>
                      <a:r>
                        <a:rPr lang="en-GB" sz="800" b="1" i="0" u="none" strike="noStrike" dirty="0">
                          <a:solidFill>
                            <a:srgbClr val="000000"/>
                          </a:solidFill>
                          <a:effectLst/>
                          <a:latin typeface="+mj-lt"/>
                        </a:rPr>
                        <a:t>300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961490591"/>
                  </a:ext>
                </a:extLst>
              </a:tr>
              <a:tr h="148063">
                <a:tc>
                  <a:txBody>
                    <a:bodyPr/>
                    <a:lstStyle/>
                    <a:p>
                      <a:pPr algn="l" fontAlgn="t"/>
                      <a:r>
                        <a:rPr lang="en-GB" sz="800" b="1" i="0" u="none" strike="noStrike" dirty="0">
                          <a:solidFill>
                            <a:srgbClr val="000000"/>
                          </a:solidFill>
                          <a:effectLst/>
                          <a:latin typeface="+mj-lt"/>
                        </a:rPr>
                        <a:t>Residential Mortgage Loans maturing in less than 1 year</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t"/>
                      <a:r>
                        <a:rPr lang="en-GB" sz="800" b="1" i="0" u="none" strike="noStrike" dirty="0">
                          <a:solidFill>
                            <a:srgbClr val="000000"/>
                          </a:solidFill>
                          <a:effectLst/>
                          <a:latin typeface="+mj-lt"/>
                        </a:rPr>
                        <a:t>100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t"/>
                      <a:r>
                        <a:rPr lang="en-GB" sz="800" b="1" i="0" u="none" strike="noStrike" dirty="0">
                          <a:solidFill>
                            <a:srgbClr val="000000"/>
                          </a:solidFill>
                          <a:effectLst/>
                          <a:latin typeface="+mj-lt"/>
                        </a:rPr>
                        <a:t> </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l" fontAlgn="t"/>
                      <a:r>
                        <a:rPr lang="en-GB" sz="800" b="1" i="0" u="none" strike="noStrike" dirty="0">
                          <a:solidFill>
                            <a:srgbClr val="000000"/>
                          </a:solidFill>
                          <a:effectLst/>
                          <a:latin typeface="+mj-lt"/>
                        </a:rPr>
                        <a:t>Wholesale Deposits from Financial Institutions maturing in 30 days</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a:txBody>
                    <a:bodyPr/>
                    <a:lstStyle/>
                    <a:p>
                      <a:pPr algn="ctr" fontAlgn="t"/>
                      <a:r>
                        <a:rPr lang="en-GB" sz="800" b="1" i="0" u="none" strike="noStrike" dirty="0">
                          <a:solidFill>
                            <a:srgbClr val="000000"/>
                          </a:solidFill>
                          <a:effectLst/>
                          <a:latin typeface="+mj-lt"/>
                        </a:rPr>
                        <a:t> 175</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3996182"/>
                  </a:ext>
                </a:extLst>
              </a:tr>
              <a:tr h="182880">
                <a:tc>
                  <a:txBody>
                    <a:bodyPr/>
                    <a:lstStyle/>
                    <a:p>
                      <a:pPr algn="l" fontAlgn="t"/>
                      <a:r>
                        <a:rPr lang="en-GB" sz="800" b="1" i="0" u="none" strike="noStrike" dirty="0">
                          <a:solidFill>
                            <a:srgbClr val="000000"/>
                          </a:solidFill>
                          <a:effectLst/>
                          <a:latin typeface="+mj-lt"/>
                        </a:rPr>
                        <a:t>Residential Mortgage Loans maturing in more than 1 year</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t"/>
                      <a:r>
                        <a:rPr lang="en-GB" sz="800" b="1" i="0" u="none" strike="noStrike" dirty="0">
                          <a:solidFill>
                            <a:srgbClr val="000000"/>
                          </a:solidFill>
                          <a:effectLst/>
                          <a:latin typeface="+mj-lt"/>
                        </a:rPr>
                        <a:t>400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t"/>
                      <a:r>
                        <a:rPr lang="en-GB" sz="800" b="1" i="0" u="none" strike="noStrike" dirty="0">
                          <a:solidFill>
                            <a:srgbClr val="000000"/>
                          </a:solidFill>
                          <a:effectLst/>
                          <a:latin typeface="+mj-lt"/>
                        </a:rPr>
                        <a:t> </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algn="l" fontAlgn="t"/>
                      <a:endParaRPr lang="en-GB" sz="800" b="1" i="0" u="none" strike="noStrike" dirty="0">
                        <a:solidFill>
                          <a:srgbClr val="000000"/>
                        </a:solidFill>
                        <a:effectLst/>
                        <a:latin typeface="+mj-lt"/>
                      </a:endParaRP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t"/>
                      <a:endParaRPr lang="en-GB" sz="800" b="1" i="0" u="none" strike="noStrike" dirty="0">
                        <a:solidFill>
                          <a:srgbClr val="000000"/>
                        </a:solidFill>
                        <a:effectLst/>
                        <a:latin typeface="+mj-lt"/>
                      </a:endParaRP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6713733"/>
                  </a:ext>
                </a:extLst>
              </a:tr>
              <a:tr h="172122">
                <a:tc>
                  <a:txBody>
                    <a:bodyPr/>
                    <a:lstStyle/>
                    <a:p>
                      <a:pPr algn="l" fontAlgn="t"/>
                      <a:r>
                        <a:rPr lang="en-GB" sz="800" b="1" i="0" u="none" strike="noStrike" dirty="0">
                          <a:solidFill>
                            <a:srgbClr val="000000"/>
                          </a:solidFill>
                          <a:effectLst/>
                          <a:latin typeface="+mj-lt"/>
                        </a:rPr>
                        <a:t>Wholesale loans maturing in 30 days</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GB" sz="800" b="1" i="0" u="none" strike="noStrike" dirty="0">
                          <a:solidFill>
                            <a:srgbClr val="000000"/>
                          </a:solidFill>
                          <a:effectLst/>
                          <a:latin typeface="+mj-lt"/>
                        </a:rPr>
                        <a:t>100</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GB" sz="800" b="1" i="0" u="none" strike="noStrike">
                          <a:solidFill>
                            <a:srgbClr val="000000"/>
                          </a:solidFill>
                          <a:effectLst/>
                          <a:latin typeface="+mj-lt"/>
                        </a:rPr>
                        <a:t> </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GB" sz="800" b="1" i="0" u="none" strike="noStrike" dirty="0">
                          <a:solidFill>
                            <a:srgbClr val="000000"/>
                          </a:solidFill>
                          <a:effectLst/>
                          <a:latin typeface="+mj-lt"/>
                        </a:rPr>
                        <a:t>Subordinated debt maturing between 30 days and 6 months</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GB" sz="800" b="1" i="0" u="none" strike="noStrike" dirty="0">
                          <a:solidFill>
                            <a:srgbClr val="000000"/>
                          </a:solidFill>
                          <a:effectLst/>
                          <a:latin typeface="+mj-lt"/>
                        </a:rPr>
                        <a:t>325</a:t>
                      </a:r>
                    </a:p>
                  </a:txBody>
                  <a:tcPr marL="9825" marR="9825" marT="675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4597381"/>
                  </a:ext>
                </a:extLst>
              </a:tr>
              <a:tr h="111928">
                <a:tc>
                  <a:txBody>
                    <a:bodyPr/>
                    <a:lstStyle/>
                    <a:p>
                      <a:pPr algn="l"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93546808"/>
                  </a:ext>
                </a:extLst>
              </a:tr>
              <a:tr h="117258">
                <a:tc>
                  <a:txBody>
                    <a:bodyPr/>
                    <a:lstStyle/>
                    <a:p>
                      <a:pPr algn="l"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1,000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mj-lt"/>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dirty="0">
                          <a:solidFill>
                            <a:srgbClr val="000000"/>
                          </a:solidFill>
                          <a:effectLst/>
                          <a:latin typeface="+mj-lt"/>
                        </a:rPr>
                        <a:t>1,000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03562431"/>
                  </a:ext>
                </a:extLst>
              </a:tr>
            </a:tbl>
          </a:graphicData>
        </a:graphic>
      </p:graphicFrame>
      <p:sp>
        <p:nvSpPr>
          <p:cNvPr id="9" name="TextBox 8">
            <a:extLst>
              <a:ext uri="{FF2B5EF4-FFF2-40B4-BE49-F238E27FC236}">
                <a16:creationId xmlns:a16="http://schemas.microsoft.com/office/drawing/2014/main" id="{7260D842-5BD0-45C7-8717-1821842B2A6B}"/>
              </a:ext>
            </a:extLst>
          </p:cNvPr>
          <p:cNvSpPr txBox="1"/>
          <p:nvPr/>
        </p:nvSpPr>
        <p:spPr>
          <a:xfrm>
            <a:off x="1600200" y="1295400"/>
            <a:ext cx="8991600" cy="339762"/>
          </a:xfrm>
          <a:prstGeom prst="rect">
            <a:avLst/>
          </a:prstGeom>
          <a:solidFill>
            <a:schemeClr val="tx2">
              <a:lumMod val="60000"/>
              <a:lumOff val="40000"/>
            </a:schemeClr>
          </a:solidFill>
          <a:scene3d>
            <a:camera prst="orthographicFront"/>
            <a:lightRig rig="threePt" dir="t"/>
          </a:scene3d>
          <a:sp3d>
            <a:bevelT/>
          </a:sp3d>
        </p:spPr>
        <p:txBody>
          <a:bodyPr wrap="square" rtlCol="0">
            <a:noAutofit/>
          </a:bodyPr>
          <a:lstStyle>
            <a:defPPr>
              <a:defRPr lang="en-US"/>
            </a:defPPr>
            <a:lvl1pPr algn="ctr">
              <a:defRPr sz="1600" b="1">
                <a:cs typeface="Trebuchet MS"/>
              </a:defRPr>
            </a:lvl1pPr>
          </a:lstStyle>
          <a:p>
            <a:r>
              <a:rPr lang="en-GB" dirty="0"/>
              <a:t>Balance Sheet of </a:t>
            </a:r>
            <a:r>
              <a:rPr lang="en-GB" dirty="0" err="1"/>
              <a:t>ChoudWest</a:t>
            </a:r>
            <a:r>
              <a:rPr lang="en-GB" dirty="0"/>
              <a:t> Bank</a:t>
            </a:r>
          </a:p>
        </p:txBody>
      </p:sp>
      <p:sp>
        <p:nvSpPr>
          <p:cNvPr id="21" name="TextBox 20">
            <a:extLst>
              <a:ext uri="{FF2B5EF4-FFF2-40B4-BE49-F238E27FC236}">
                <a16:creationId xmlns:a16="http://schemas.microsoft.com/office/drawing/2014/main" id="{CC73B028-4A3D-4E77-9EF0-54D2379FF31F}"/>
              </a:ext>
            </a:extLst>
          </p:cNvPr>
          <p:cNvSpPr txBox="1"/>
          <p:nvPr/>
        </p:nvSpPr>
        <p:spPr>
          <a:xfrm>
            <a:off x="6423209" y="4183592"/>
            <a:ext cx="805479" cy="546284"/>
          </a:xfrm>
          <a:prstGeom prst="rect">
            <a:avLst/>
          </a:prstGeom>
          <a:noFill/>
        </p:spPr>
        <p:txBody>
          <a:bodyPr wrap="square" rtlCol="0">
            <a:noAutofit/>
          </a:bodyPr>
          <a:lstStyle/>
          <a:p>
            <a:r>
              <a:rPr lang="en-GB" sz="1400" dirty="0" err="1">
                <a:cs typeface="Trebuchet MS"/>
              </a:rPr>
              <a:t>NSFR</a:t>
            </a:r>
            <a:r>
              <a:rPr lang="en-GB" sz="1400" dirty="0">
                <a:cs typeface="Trebuchet MS"/>
              </a:rPr>
              <a:t> =</a:t>
            </a:r>
          </a:p>
        </p:txBody>
      </p:sp>
      <p:cxnSp>
        <p:nvCxnSpPr>
          <p:cNvPr id="22" name="Straight Connector 21">
            <a:extLst>
              <a:ext uri="{FF2B5EF4-FFF2-40B4-BE49-F238E27FC236}">
                <a16:creationId xmlns:a16="http://schemas.microsoft.com/office/drawing/2014/main" id="{887A4A2D-C4BD-49CA-BBB8-63B743ED1DAD}"/>
              </a:ext>
            </a:extLst>
          </p:cNvPr>
          <p:cNvCxnSpPr>
            <a:cxnSpLocks/>
          </p:cNvCxnSpPr>
          <p:nvPr/>
        </p:nvCxnSpPr>
        <p:spPr>
          <a:xfrm>
            <a:off x="7067324" y="4344513"/>
            <a:ext cx="2305276"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3" name="Text Box 5">
            <a:extLst>
              <a:ext uri="{FF2B5EF4-FFF2-40B4-BE49-F238E27FC236}">
                <a16:creationId xmlns:a16="http://schemas.microsoft.com/office/drawing/2014/main" id="{3F95EB0E-19FF-4BE9-AC55-671BF8E377C8}"/>
              </a:ext>
            </a:extLst>
          </p:cNvPr>
          <p:cNvSpPr txBox="1">
            <a:spLocks noChangeArrowheads="1"/>
          </p:cNvSpPr>
          <p:nvPr/>
        </p:nvSpPr>
        <p:spPr bwMode="auto">
          <a:xfrm>
            <a:off x="7149628" y="3984332"/>
            <a:ext cx="2107174" cy="293642"/>
          </a:xfrm>
          <a:prstGeom prst="rect">
            <a:avLst/>
          </a:prstGeom>
          <a:noFill/>
          <a:ln w="25400" algn="ctr">
            <a:noFill/>
            <a:miter lim="800000"/>
            <a:headEnd/>
            <a:tailEnd/>
          </a:ln>
        </p:spPr>
        <p:txBody>
          <a:bodyPr wrap="square" lIns="77443" tIns="38721" rIns="77443" bIns="38721">
            <a:spAutoFit/>
          </a:bodyPr>
          <a:lstStyle/>
          <a:p>
            <a:pPr algn="ctr">
              <a:spcBef>
                <a:spcPct val="50000"/>
              </a:spcBef>
            </a:pPr>
            <a:r>
              <a:rPr lang="en-GB" sz="1400" dirty="0"/>
              <a:t>Available Stable Funding</a:t>
            </a:r>
          </a:p>
        </p:txBody>
      </p:sp>
      <p:sp>
        <p:nvSpPr>
          <p:cNvPr id="24" name="Text Box 19">
            <a:extLst>
              <a:ext uri="{FF2B5EF4-FFF2-40B4-BE49-F238E27FC236}">
                <a16:creationId xmlns:a16="http://schemas.microsoft.com/office/drawing/2014/main" id="{D6F92CFA-B1FF-4149-A3C4-E1FA464CD13F}"/>
              </a:ext>
            </a:extLst>
          </p:cNvPr>
          <p:cNvSpPr txBox="1">
            <a:spLocks noChangeArrowheads="1"/>
          </p:cNvSpPr>
          <p:nvPr/>
        </p:nvSpPr>
        <p:spPr bwMode="auto">
          <a:xfrm>
            <a:off x="6958526" y="4413979"/>
            <a:ext cx="2489378" cy="293642"/>
          </a:xfrm>
          <a:prstGeom prst="rect">
            <a:avLst/>
          </a:prstGeom>
          <a:noFill/>
          <a:ln w="25400" algn="ctr">
            <a:noFill/>
            <a:miter lim="800000"/>
            <a:headEnd/>
            <a:tailEnd/>
          </a:ln>
        </p:spPr>
        <p:txBody>
          <a:bodyPr wrap="square" lIns="77443" tIns="38721" rIns="77443" bIns="38721">
            <a:spAutoFit/>
          </a:bodyPr>
          <a:lstStyle/>
          <a:p>
            <a:pPr algn="ctr">
              <a:spcBef>
                <a:spcPct val="50000"/>
              </a:spcBef>
            </a:pPr>
            <a:r>
              <a:rPr lang="en-GB" sz="1400" dirty="0"/>
              <a:t>Required Stable Funding</a:t>
            </a:r>
          </a:p>
        </p:txBody>
      </p:sp>
      <p:sp>
        <p:nvSpPr>
          <p:cNvPr id="29" name="Arrow: Curved Down 28">
            <a:extLst>
              <a:ext uri="{FF2B5EF4-FFF2-40B4-BE49-F238E27FC236}">
                <a16:creationId xmlns:a16="http://schemas.microsoft.com/office/drawing/2014/main" id="{B8AE342C-7483-41CF-9C1E-97E806D0E9BD}"/>
              </a:ext>
            </a:extLst>
          </p:cNvPr>
          <p:cNvSpPr/>
          <p:nvPr/>
        </p:nvSpPr>
        <p:spPr>
          <a:xfrm>
            <a:off x="6661673" y="3399699"/>
            <a:ext cx="1784635" cy="543831"/>
          </a:xfrm>
          <a:prstGeom prst="curvedDownArrow">
            <a:avLst/>
          </a:prstGeom>
          <a:solidFill>
            <a:schemeClr val="accent2"/>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endParaRPr lang="en-GB" sz="1200" b="1" dirty="0">
              <a:solidFill>
                <a:srgbClr val="000000"/>
              </a:solidFill>
            </a:endParaRPr>
          </a:p>
        </p:txBody>
      </p:sp>
      <p:sp>
        <p:nvSpPr>
          <p:cNvPr id="33" name="TextBox 32">
            <a:extLst>
              <a:ext uri="{FF2B5EF4-FFF2-40B4-BE49-F238E27FC236}">
                <a16:creationId xmlns:a16="http://schemas.microsoft.com/office/drawing/2014/main" id="{D08B7401-BEEE-4925-8DCE-1C07F03FCCA0}"/>
              </a:ext>
            </a:extLst>
          </p:cNvPr>
          <p:cNvSpPr txBox="1"/>
          <p:nvPr/>
        </p:nvSpPr>
        <p:spPr>
          <a:xfrm>
            <a:off x="9313832" y="4186084"/>
            <a:ext cx="805479" cy="546284"/>
          </a:xfrm>
          <a:prstGeom prst="rect">
            <a:avLst/>
          </a:prstGeom>
          <a:noFill/>
        </p:spPr>
        <p:txBody>
          <a:bodyPr wrap="square" rtlCol="0">
            <a:noAutofit/>
          </a:bodyPr>
          <a:lstStyle/>
          <a:p>
            <a:r>
              <a:rPr lang="en-GB" sz="1400" dirty="0">
                <a:cs typeface="Trebuchet MS"/>
              </a:rPr>
              <a:t>=</a:t>
            </a:r>
          </a:p>
        </p:txBody>
      </p:sp>
      <p:cxnSp>
        <p:nvCxnSpPr>
          <p:cNvPr id="35" name="Straight Connector 34">
            <a:extLst>
              <a:ext uri="{FF2B5EF4-FFF2-40B4-BE49-F238E27FC236}">
                <a16:creationId xmlns:a16="http://schemas.microsoft.com/office/drawing/2014/main" id="{7C4A1065-0E96-47FD-8182-6DEE644AEA80}"/>
              </a:ext>
            </a:extLst>
          </p:cNvPr>
          <p:cNvCxnSpPr>
            <a:cxnSpLocks/>
          </p:cNvCxnSpPr>
          <p:nvPr/>
        </p:nvCxnSpPr>
        <p:spPr>
          <a:xfrm>
            <a:off x="9552339" y="4333972"/>
            <a:ext cx="656219"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7" name="Text Box 5">
            <a:extLst>
              <a:ext uri="{FF2B5EF4-FFF2-40B4-BE49-F238E27FC236}">
                <a16:creationId xmlns:a16="http://schemas.microsoft.com/office/drawing/2014/main" id="{78710832-A78F-4BB6-9D86-8CAC8A075625}"/>
              </a:ext>
            </a:extLst>
          </p:cNvPr>
          <p:cNvSpPr txBox="1">
            <a:spLocks noChangeArrowheads="1"/>
          </p:cNvSpPr>
          <p:nvPr/>
        </p:nvSpPr>
        <p:spPr bwMode="auto">
          <a:xfrm>
            <a:off x="9556723" y="4005144"/>
            <a:ext cx="651834" cy="293642"/>
          </a:xfrm>
          <a:prstGeom prst="rect">
            <a:avLst/>
          </a:prstGeom>
          <a:noFill/>
          <a:ln w="25400" algn="ctr">
            <a:noFill/>
            <a:miter lim="800000"/>
            <a:headEnd/>
            <a:tailEnd/>
          </a:ln>
        </p:spPr>
        <p:txBody>
          <a:bodyPr wrap="square" lIns="77443" tIns="38721" rIns="77443" bIns="38721">
            <a:spAutoFit/>
          </a:bodyPr>
          <a:lstStyle/>
          <a:p>
            <a:pPr algn="ctr">
              <a:spcBef>
                <a:spcPct val="50000"/>
              </a:spcBef>
            </a:pPr>
            <a:r>
              <a:rPr lang="en-GB" sz="1400" dirty="0"/>
              <a:t>445</a:t>
            </a:r>
          </a:p>
        </p:txBody>
      </p:sp>
      <p:sp>
        <p:nvSpPr>
          <p:cNvPr id="38" name="Text Box 5">
            <a:extLst>
              <a:ext uri="{FF2B5EF4-FFF2-40B4-BE49-F238E27FC236}">
                <a16:creationId xmlns:a16="http://schemas.microsoft.com/office/drawing/2014/main" id="{4ADF9E22-E2AE-4077-B554-D1B90ABD823C}"/>
              </a:ext>
            </a:extLst>
          </p:cNvPr>
          <p:cNvSpPr txBox="1">
            <a:spLocks noChangeArrowheads="1"/>
          </p:cNvSpPr>
          <p:nvPr/>
        </p:nvSpPr>
        <p:spPr bwMode="auto">
          <a:xfrm>
            <a:off x="9513691" y="4368756"/>
            <a:ext cx="801737" cy="293642"/>
          </a:xfrm>
          <a:prstGeom prst="rect">
            <a:avLst/>
          </a:prstGeom>
          <a:noFill/>
          <a:ln w="25400" algn="ctr">
            <a:noFill/>
            <a:miter lim="800000"/>
            <a:headEnd/>
            <a:tailEnd/>
          </a:ln>
        </p:spPr>
        <p:txBody>
          <a:bodyPr wrap="square" lIns="77443" tIns="38721" rIns="77443" bIns="38721">
            <a:spAutoFit/>
          </a:bodyPr>
          <a:lstStyle/>
          <a:p>
            <a:pPr algn="ctr">
              <a:spcBef>
                <a:spcPct val="50000"/>
              </a:spcBef>
            </a:pPr>
            <a:r>
              <a:rPr lang="en-GB" sz="1400" dirty="0"/>
              <a:t>427.5</a:t>
            </a:r>
          </a:p>
        </p:txBody>
      </p:sp>
      <p:sp>
        <p:nvSpPr>
          <p:cNvPr id="41" name="TextBox 40">
            <a:extLst>
              <a:ext uri="{FF2B5EF4-FFF2-40B4-BE49-F238E27FC236}">
                <a16:creationId xmlns:a16="http://schemas.microsoft.com/office/drawing/2014/main" id="{44108806-3A45-4E79-A81C-D0F0D00D1AA8}"/>
              </a:ext>
            </a:extLst>
          </p:cNvPr>
          <p:cNvSpPr txBox="1"/>
          <p:nvPr/>
        </p:nvSpPr>
        <p:spPr>
          <a:xfrm>
            <a:off x="10152748" y="4177199"/>
            <a:ext cx="805479" cy="546284"/>
          </a:xfrm>
          <a:prstGeom prst="rect">
            <a:avLst/>
          </a:prstGeom>
          <a:noFill/>
        </p:spPr>
        <p:txBody>
          <a:bodyPr wrap="square" rtlCol="0">
            <a:noAutofit/>
          </a:bodyPr>
          <a:lstStyle/>
          <a:p>
            <a:r>
              <a:rPr lang="en-GB" sz="1400" dirty="0">
                <a:cs typeface="Trebuchet MS"/>
              </a:rPr>
              <a:t>=</a:t>
            </a:r>
          </a:p>
        </p:txBody>
      </p:sp>
      <p:sp>
        <p:nvSpPr>
          <p:cNvPr id="42" name="Text Box 5">
            <a:extLst>
              <a:ext uri="{FF2B5EF4-FFF2-40B4-BE49-F238E27FC236}">
                <a16:creationId xmlns:a16="http://schemas.microsoft.com/office/drawing/2014/main" id="{FA7786F4-9034-4810-9C40-51AC6CC70D4E}"/>
              </a:ext>
            </a:extLst>
          </p:cNvPr>
          <p:cNvSpPr txBox="1">
            <a:spLocks noChangeArrowheads="1"/>
          </p:cNvSpPr>
          <p:nvPr/>
        </p:nvSpPr>
        <p:spPr bwMode="auto">
          <a:xfrm>
            <a:off x="10214280" y="4187151"/>
            <a:ext cx="651834" cy="293642"/>
          </a:xfrm>
          <a:prstGeom prst="rect">
            <a:avLst/>
          </a:prstGeom>
          <a:noFill/>
          <a:ln w="25400" algn="ctr">
            <a:noFill/>
            <a:miter lim="800000"/>
            <a:headEnd/>
            <a:tailEnd/>
          </a:ln>
        </p:spPr>
        <p:txBody>
          <a:bodyPr wrap="square" lIns="77443" tIns="38721" rIns="77443" bIns="38721">
            <a:spAutoFit/>
          </a:bodyPr>
          <a:lstStyle/>
          <a:p>
            <a:pPr algn="ctr">
              <a:spcBef>
                <a:spcPct val="50000"/>
              </a:spcBef>
            </a:pPr>
            <a:r>
              <a:rPr lang="en-GB" sz="1400" dirty="0"/>
              <a:t>104%</a:t>
            </a:r>
          </a:p>
        </p:txBody>
      </p:sp>
      <p:sp>
        <p:nvSpPr>
          <p:cNvPr id="43" name="Arrow: Curved Down 42">
            <a:extLst>
              <a:ext uri="{FF2B5EF4-FFF2-40B4-BE49-F238E27FC236}">
                <a16:creationId xmlns:a16="http://schemas.microsoft.com/office/drawing/2014/main" id="{586C0B9E-34E8-4BAB-8ECF-B5EAE1303BB5}"/>
              </a:ext>
            </a:extLst>
          </p:cNvPr>
          <p:cNvSpPr/>
          <p:nvPr/>
        </p:nvSpPr>
        <p:spPr>
          <a:xfrm rot="6159277" flipV="1">
            <a:off x="481537" y="3407435"/>
            <a:ext cx="2870265" cy="589820"/>
          </a:xfrm>
          <a:prstGeom prst="curvedDownArrow">
            <a:avLst/>
          </a:prstGeom>
          <a:solidFill>
            <a:schemeClr val="accent2"/>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endParaRPr lang="en-GB" sz="1200" b="1" dirty="0">
              <a:solidFill>
                <a:srgbClr val="000000"/>
              </a:solidFill>
            </a:endParaRPr>
          </a:p>
        </p:txBody>
      </p:sp>
      <p:cxnSp>
        <p:nvCxnSpPr>
          <p:cNvPr id="47" name="Connector: Curved 46">
            <a:extLst>
              <a:ext uri="{FF2B5EF4-FFF2-40B4-BE49-F238E27FC236}">
                <a16:creationId xmlns:a16="http://schemas.microsoft.com/office/drawing/2014/main" id="{68ADE906-3B56-427B-AE20-95D10BF4EA81}"/>
              </a:ext>
            </a:extLst>
          </p:cNvPr>
          <p:cNvCxnSpPr>
            <a:cxnSpLocks/>
          </p:cNvCxnSpPr>
          <p:nvPr/>
        </p:nvCxnSpPr>
        <p:spPr>
          <a:xfrm rot="10800000" flipV="1">
            <a:off x="4466683" y="2366788"/>
            <a:ext cx="2044214" cy="1354176"/>
          </a:xfrm>
          <a:prstGeom prst="curvedConnector3">
            <a:avLst>
              <a:gd name="adj1" fmla="val 16846"/>
            </a:avLst>
          </a:prstGeom>
          <a:ln w="57150">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pic>
        <p:nvPicPr>
          <p:cNvPr id="34" name="Picture 2" descr="http://ian.umces.edu/imagelibrary/albums/userpics/12789/normal_ian-symbol-positive.png">
            <a:extLst>
              <a:ext uri="{FF2B5EF4-FFF2-40B4-BE49-F238E27FC236}">
                <a16:creationId xmlns:a16="http://schemas.microsoft.com/office/drawing/2014/main" id="{C548DA2E-D3E0-4990-8D2E-67B62AD03E4F}"/>
              </a:ext>
            </a:extLst>
          </p:cNvPr>
          <p:cNvPicPr>
            <a:picLocks noChangeAspect="1" noChangeArrowheads="1"/>
          </p:cNvPicPr>
          <p:nvPr/>
        </p:nvPicPr>
        <p:blipFill>
          <a:blip r:embed="rId5" cstate="print"/>
          <a:srcRect/>
          <a:stretch>
            <a:fillRect/>
          </a:stretch>
        </p:blipFill>
        <p:spPr bwMode="auto">
          <a:xfrm>
            <a:off x="10309739" y="4539468"/>
            <a:ext cx="460916" cy="328401"/>
          </a:xfrm>
          <a:prstGeom prst="rect">
            <a:avLst/>
          </a:prstGeom>
          <a:noFill/>
        </p:spPr>
      </p:pic>
      <p:sp>
        <p:nvSpPr>
          <p:cNvPr id="36" name="Arrow: Curved Down 35">
            <a:extLst>
              <a:ext uri="{FF2B5EF4-FFF2-40B4-BE49-F238E27FC236}">
                <a16:creationId xmlns:a16="http://schemas.microsoft.com/office/drawing/2014/main" id="{BD6AF127-1A9F-40E8-A64B-785B88425CFA}"/>
              </a:ext>
            </a:extLst>
          </p:cNvPr>
          <p:cNvSpPr/>
          <p:nvPr/>
        </p:nvSpPr>
        <p:spPr>
          <a:xfrm rot="20334021" flipV="1">
            <a:off x="6737859" y="5141370"/>
            <a:ext cx="1784635" cy="543831"/>
          </a:xfrm>
          <a:prstGeom prst="curvedDownArrow">
            <a:avLst/>
          </a:prstGeom>
          <a:solidFill>
            <a:schemeClr val="accent2"/>
          </a:solidFill>
          <a:ln w="15875">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45719" rIns="36000" bIns="45719" numCol="1" spcCol="0" rtlCol="0" fromWordArt="0" anchor="t" anchorCtr="0" forceAA="0" compatLnSpc="1">
            <a:prstTxWarp prst="textNoShape">
              <a:avLst/>
            </a:prstTxWarp>
            <a:noAutofit/>
          </a:bodyPr>
          <a:lstStyle/>
          <a:p>
            <a:pPr algn="ctr"/>
            <a:endParaRPr lang="en-GB" sz="1200" b="1" dirty="0">
              <a:solidFill>
                <a:srgbClr val="000000"/>
              </a:solidFill>
            </a:endParaRPr>
          </a:p>
        </p:txBody>
      </p:sp>
      <p:graphicFrame>
        <p:nvGraphicFramePr>
          <p:cNvPr id="28" name="Table 27">
            <a:extLst>
              <a:ext uri="{FF2B5EF4-FFF2-40B4-BE49-F238E27FC236}">
                <a16:creationId xmlns:a16="http://schemas.microsoft.com/office/drawing/2014/main" id="{59CE9BD8-2974-4DA8-8C82-6C480D358180}"/>
              </a:ext>
            </a:extLst>
          </p:cNvPr>
          <p:cNvGraphicFramePr>
            <a:graphicFrameLocks noGrp="1"/>
          </p:cNvGraphicFramePr>
          <p:nvPr/>
        </p:nvGraphicFramePr>
        <p:xfrm>
          <a:off x="2120176" y="3451966"/>
          <a:ext cx="4357285" cy="731626"/>
        </p:xfrm>
        <a:graphic>
          <a:graphicData uri="http://schemas.openxmlformats.org/drawingml/2006/table">
            <a:tbl>
              <a:tblPr/>
              <a:tblGrid>
                <a:gridCol w="1839996">
                  <a:extLst>
                    <a:ext uri="{9D8B030D-6E8A-4147-A177-3AD203B41FA5}">
                      <a16:colId xmlns:a16="http://schemas.microsoft.com/office/drawing/2014/main" val="1272475920"/>
                    </a:ext>
                  </a:extLst>
                </a:gridCol>
                <a:gridCol w="548640">
                  <a:extLst>
                    <a:ext uri="{9D8B030D-6E8A-4147-A177-3AD203B41FA5}">
                      <a16:colId xmlns:a16="http://schemas.microsoft.com/office/drawing/2014/main" val="1589176127"/>
                    </a:ext>
                  </a:extLst>
                </a:gridCol>
                <a:gridCol w="1495313">
                  <a:extLst>
                    <a:ext uri="{9D8B030D-6E8A-4147-A177-3AD203B41FA5}">
                      <a16:colId xmlns:a16="http://schemas.microsoft.com/office/drawing/2014/main" val="3742969785"/>
                    </a:ext>
                  </a:extLst>
                </a:gridCol>
                <a:gridCol w="473336">
                  <a:extLst>
                    <a:ext uri="{9D8B030D-6E8A-4147-A177-3AD203B41FA5}">
                      <a16:colId xmlns:a16="http://schemas.microsoft.com/office/drawing/2014/main" val="3213854317"/>
                    </a:ext>
                  </a:extLst>
                </a:gridCol>
              </a:tblGrid>
              <a:tr h="163962">
                <a:tc>
                  <a:txBody>
                    <a:bodyPr/>
                    <a:lstStyle/>
                    <a:p>
                      <a:pPr algn="ctr" fontAlgn="ctr"/>
                      <a:r>
                        <a:rPr lang="en-GB" sz="800" b="1" i="0" u="none" strike="noStrike" dirty="0">
                          <a:solidFill>
                            <a:schemeClr val="bg1"/>
                          </a:solidFill>
                          <a:effectLst/>
                          <a:latin typeface="Arial" panose="020B0604020202020204" pitchFamily="34" charset="0"/>
                        </a:rPr>
                        <a:t>Available Stable Funding</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tc>
                  <a:txBody>
                    <a:bodyPr/>
                    <a:lstStyle/>
                    <a:p>
                      <a:pPr algn="ctr" fontAlgn="ctr"/>
                      <a:r>
                        <a:rPr lang="en-GB" sz="1000" b="1" i="0" u="none" strike="noStrike" dirty="0">
                          <a:solidFill>
                            <a:schemeClr val="bg1"/>
                          </a:solidFill>
                          <a:effectLst/>
                          <a:latin typeface="Arial" panose="020B0604020202020204" pitchFamily="34" charset="0"/>
                        </a:rPr>
                        <a:t>€</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tc>
                  <a:txBody>
                    <a:bodyPr/>
                    <a:lstStyle/>
                    <a:p>
                      <a:pPr algn="ctr" fontAlgn="ctr"/>
                      <a:r>
                        <a:rPr lang="en-GB" sz="800" b="1" i="0" u="none" strike="noStrike" dirty="0">
                          <a:solidFill>
                            <a:schemeClr val="bg1"/>
                          </a:solidFill>
                          <a:effectLst/>
                          <a:latin typeface="Arial" panose="020B0604020202020204" pitchFamily="34" charset="0"/>
                        </a:rPr>
                        <a:t>Factor to be applied</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tc>
                  <a:txBody>
                    <a:bodyPr/>
                    <a:lstStyle/>
                    <a:p>
                      <a:pPr algn="ctr" fontAlgn="ctr"/>
                      <a:r>
                        <a:rPr lang="en-GB" sz="1000" b="1" i="0" u="none" strike="noStrike" dirty="0">
                          <a:solidFill>
                            <a:schemeClr val="bg1"/>
                          </a:solidFill>
                          <a:effectLst/>
                          <a:latin typeface="Arial" panose="020B0604020202020204" pitchFamily="34" charset="0"/>
                        </a:rPr>
                        <a:t>€</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245A"/>
                    </a:solidFill>
                  </a:tcPr>
                </a:tc>
                <a:extLst>
                  <a:ext uri="{0D108BD9-81ED-4DB2-BD59-A6C34878D82A}">
                    <a16:rowId xmlns:a16="http://schemas.microsoft.com/office/drawing/2014/main" val="1821676183"/>
                  </a:ext>
                </a:extLst>
              </a:tr>
              <a:tr h="141916">
                <a:tc>
                  <a:txBody>
                    <a:bodyPr/>
                    <a:lstStyle/>
                    <a:p>
                      <a:pPr algn="l" fontAlgn="b"/>
                      <a:r>
                        <a:rPr lang="en-GB" sz="800" b="1" i="0" u="none" strike="noStrike" dirty="0">
                          <a:solidFill>
                            <a:srgbClr val="000000"/>
                          </a:solidFill>
                          <a:effectLst/>
                          <a:latin typeface="Arial" panose="020B0604020202020204" pitchFamily="34" charset="0"/>
                        </a:rPr>
                        <a:t>Equity capital</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GB" sz="800" b="1" i="0" u="none" strike="noStrike">
                          <a:solidFill>
                            <a:srgbClr val="000000"/>
                          </a:solidFill>
                          <a:effectLst/>
                          <a:latin typeface="Arial" panose="020B0604020202020204" pitchFamily="34" charset="0"/>
                        </a:rPr>
                        <a:t>80</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GB" sz="800" b="1" i="0" u="none" strike="noStrike">
                          <a:solidFill>
                            <a:srgbClr val="000000"/>
                          </a:solidFill>
                          <a:effectLst/>
                          <a:latin typeface="Arial" panose="020B0604020202020204" pitchFamily="34" charset="0"/>
                        </a:rPr>
                        <a:t>100%</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800" b="1" i="0" u="none" strike="noStrike">
                          <a:solidFill>
                            <a:srgbClr val="000000"/>
                          </a:solidFill>
                          <a:effectLst/>
                          <a:latin typeface="Arial" panose="020B0604020202020204" pitchFamily="34" charset="0"/>
                        </a:rPr>
                        <a:t>80</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77659015"/>
                  </a:ext>
                </a:extLst>
              </a:tr>
              <a:tr h="141916">
                <a:tc>
                  <a:txBody>
                    <a:bodyPr/>
                    <a:lstStyle/>
                    <a:p>
                      <a:pPr algn="l" fontAlgn="b"/>
                      <a:r>
                        <a:rPr lang="en-GB" sz="800" b="1" i="0" u="none" strike="noStrike" dirty="0">
                          <a:solidFill>
                            <a:srgbClr val="000000"/>
                          </a:solidFill>
                          <a:effectLst/>
                          <a:latin typeface="Arial" panose="020B0604020202020204" pitchFamily="34" charset="0"/>
                        </a:rPr>
                        <a:t>Retail Deposits - Stable</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GB" sz="800" b="1" i="0" u="none" strike="noStrike" dirty="0">
                          <a:solidFill>
                            <a:srgbClr val="000000"/>
                          </a:solidFill>
                          <a:effectLst/>
                          <a:latin typeface="Arial" panose="020B0604020202020204" pitchFamily="34" charset="0"/>
                        </a:rPr>
                        <a:t>100</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ctr"/>
                      <a:r>
                        <a:rPr lang="en-GB" sz="800" b="1" i="0" u="none" strike="noStrike">
                          <a:solidFill>
                            <a:srgbClr val="000000"/>
                          </a:solidFill>
                          <a:effectLst/>
                          <a:latin typeface="Arial" panose="020B0604020202020204" pitchFamily="34" charset="0"/>
                        </a:rPr>
                        <a:t>95%</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GB" sz="800" b="1" i="0" u="none" strike="noStrike">
                          <a:solidFill>
                            <a:srgbClr val="000000"/>
                          </a:solidFill>
                          <a:effectLst/>
                          <a:latin typeface="Arial" panose="020B0604020202020204" pitchFamily="34" charset="0"/>
                        </a:rPr>
                        <a:t>95</a:t>
                      </a:r>
                    </a:p>
                  </a:txBody>
                  <a:tcPr marL="9825" marR="9825"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8738406"/>
                  </a:ext>
                </a:extLst>
              </a:tr>
              <a:tr h="141916">
                <a:tc>
                  <a:txBody>
                    <a:bodyPr/>
                    <a:lstStyle/>
                    <a:p>
                      <a:pPr algn="l" fontAlgn="b"/>
                      <a:r>
                        <a:rPr lang="en-GB" sz="800" b="1" i="0" u="none" strike="noStrike">
                          <a:solidFill>
                            <a:srgbClr val="000000"/>
                          </a:solidFill>
                          <a:effectLst/>
                          <a:latin typeface="Arial" panose="020B0604020202020204" pitchFamily="34" charset="0"/>
                        </a:rPr>
                        <a:t>Retail Deposits - Less Stable</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
                      <a:r>
                        <a:rPr lang="en-GB" sz="800" b="1" i="0" u="none" strike="noStrike" dirty="0">
                          <a:solidFill>
                            <a:srgbClr val="000000"/>
                          </a:solidFill>
                          <a:effectLst/>
                          <a:latin typeface="Arial" panose="020B0604020202020204" pitchFamily="34" charset="0"/>
                        </a:rPr>
                        <a:t>300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fontAlgn="b"/>
                      <a:r>
                        <a:rPr lang="en-GB" sz="800" b="1" i="0" u="none" strike="noStrike">
                          <a:solidFill>
                            <a:srgbClr val="000000"/>
                          </a:solidFill>
                          <a:effectLst/>
                          <a:latin typeface="Arial" panose="020B0604020202020204" pitchFamily="34" charset="0"/>
                        </a:rPr>
                        <a:t>90%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Arial" panose="020B0604020202020204" pitchFamily="34" charset="0"/>
                        </a:rPr>
                        <a:t>270</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5933577"/>
                  </a:ext>
                </a:extLst>
              </a:tr>
              <a:tr h="141916">
                <a:tc>
                  <a:txBody>
                    <a:bodyPr/>
                    <a:lstStyle/>
                    <a:p>
                      <a:pPr algn="l" fontAlgn="b"/>
                      <a:r>
                        <a:rPr lang="en-GB" sz="800" b="1" i="0" u="none" strike="noStrike" dirty="0">
                          <a:solidFill>
                            <a:srgbClr val="000000"/>
                          </a:solidFill>
                          <a:effectLst/>
                          <a:latin typeface="Arial" panose="020B0604020202020204" pitchFamily="34" charset="0"/>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Arial" panose="020B0604020202020204" pitchFamily="34" charset="0"/>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a:solidFill>
                            <a:srgbClr val="000000"/>
                          </a:solidFill>
                          <a:effectLst/>
                          <a:latin typeface="Arial" panose="020B0604020202020204" pitchFamily="34" charset="0"/>
                        </a:rPr>
                        <a:t> </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800" b="1" i="0" u="none" strike="noStrike" dirty="0">
                          <a:solidFill>
                            <a:srgbClr val="000000"/>
                          </a:solidFill>
                          <a:effectLst/>
                          <a:latin typeface="Arial" panose="020B0604020202020204" pitchFamily="34" charset="0"/>
                        </a:rPr>
                        <a:t>445</a:t>
                      </a:r>
                    </a:p>
                  </a:txBody>
                  <a:tcPr marL="9825" marR="9825" marT="675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CCFF"/>
                    </a:solidFill>
                  </a:tcPr>
                </a:tc>
                <a:extLst>
                  <a:ext uri="{0D108BD9-81ED-4DB2-BD59-A6C34878D82A}">
                    <a16:rowId xmlns:a16="http://schemas.microsoft.com/office/drawing/2014/main" val="1871533751"/>
                  </a:ext>
                </a:extLst>
              </a:tr>
            </a:tbl>
          </a:graphicData>
        </a:graphic>
      </p:graphicFrame>
    </p:spTree>
    <p:extLst>
      <p:ext uri="{BB962C8B-B14F-4D97-AF65-F5344CB8AC3E}">
        <p14:creationId xmlns:p14="http://schemas.microsoft.com/office/powerpoint/2010/main" val="193054098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37AB12F8-4590-0A64-639F-4E47190CA832}"/>
              </a:ext>
            </a:extLst>
          </p:cNvPr>
          <p:cNvSpPr>
            <a:spLocks noGrp="1" noChangeArrowheads="1"/>
          </p:cNvSpPr>
          <p:nvPr>
            <p:ph type="title"/>
          </p:nvPr>
        </p:nvSpPr>
        <p:spPr/>
        <p:txBody>
          <a:bodyPr>
            <a:normAutofit/>
          </a:bodyPr>
          <a:lstStyle/>
          <a:p>
            <a:r>
              <a:rPr lang="en-GB" altLang="en-US" sz="3200" dirty="0"/>
              <a:t>IRRBB arises because…</a:t>
            </a:r>
          </a:p>
        </p:txBody>
      </p:sp>
      <p:sp>
        <p:nvSpPr>
          <p:cNvPr id="26627" name="Content Placeholder 2">
            <a:extLst>
              <a:ext uri="{FF2B5EF4-FFF2-40B4-BE49-F238E27FC236}">
                <a16:creationId xmlns:a16="http://schemas.microsoft.com/office/drawing/2014/main" id="{EB558ACB-1252-C57B-5436-6B7A7EE22A20}"/>
              </a:ext>
            </a:extLst>
          </p:cNvPr>
          <p:cNvSpPr>
            <a:spLocks noGrp="1" noChangeArrowheads="1"/>
          </p:cNvSpPr>
          <p:nvPr>
            <p:ph idx="1"/>
          </p:nvPr>
        </p:nvSpPr>
        <p:spPr>
          <a:xfrm>
            <a:off x="2202759" y="1883167"/>
            <a:ext cx="3666442" cy="4752129"/>
          </a:xfrm>
          <a:solidFill>
            <a:schemeClr val="bg1"/>
          </a:solidFill>
        </p:spPr>
        <p:txBody>
          <a:bodyPr/>
          <a:lstStyle/>
          <a:p>
            <a:r>
              <a:rPr lang="en-GB" altLang="en-US" sz="1135"/>
              <a:t>Banks are exposed to IRRBB primarily (but not wholly) due to the following:</a:t>
            </a:r>
          </a:p>
          <a:p>
            <a:pPr lvl="1"/>
            <a:r>
              <a:rPr lang="en-GB" altLang="en-US" sz="1135"/>
              <a:t>Writing fixed-rate assets funded by floating-rate liabilities</a:t>
            </a:r>
          </a:p>
          <a:p>
            <a:pPr lvl="1"/>
            <a:r>
              <a:rPr lang="en-GB" altLang="en-US" sz="1135"/>
              <a:t>Writing floating-rate assets funded by floating-rate liabilities referencing another index</a:t>
            </a:r>
          </a:p>
          <a:p>
            <a:pPr lvl="1"/>
            <a:r>
              <a:rPr lang="en-GB" altLang="en-US" sz="1135"/>
              <a:t>To lengthen the funding profile of the bank, term funding is raised across the curve at fixed-term deposit rates that reprice only on maturity</a:t>
            </a:r>
          </a:p>
          <a:p>
            <a:pPr lvl="1"/>
            <a:r>
              <a:rPr lang="en-GB" altLang="en-US" sz="1135"/>
              <a:t>Three-month repricing swaps and forward rate agreements are typically used in the risk management of term deposits and fixed-rate advances (now moving to overnight IRS)</a:t>
            </a:r>
          </a:p>
          <a:p>
            <a:pPr lvl="1"/>
            <a:r>
              <a:rPr lang="en-GB" altLang="en-US" sz="1135"/>
              <a:t>Short-term demand funding products reprice to different short-end base rates</a:t>
            </a:r>
          </a:p>
          <a:p>
            <a:pPr lvl="1"/>
            <a:r>
              <a:rPr lang="en-GB" altLang="en-US" sz="1135"/>
              <a:t>Certain non-repricing transactional deposit accounts are non-rate-sensitive</a:t>
            </a:r>
          </a:p>
          <a:p>
            <a:pPr lvl="1"/>
            <a:r>
              <a:rPr lang="en-GB" altLang="en-US" sz="1135"/>
              <a:t>The bank has a mismatch in net non-rate-sensitive balances, including shareholders' funds that do not reprice for interest rate changes</a:t>
            </a:r>
          </a:p>
          <a:p>
            <a:endParaRPr lang="en-GB" altLang="en-US"/>
          </a:p>
        </p:txBody>
      </p:sp>
      <p:sp>
        <p:nvSpPr>
          <p:cNvPr id="4" name="Rectangle 3">
            <a:extLst>
              <a:ext uri="{FF2B5EF4-FFF2-40B4-BE49-F238E27FC236}">
                <a16:creationId xmlns:a16="http://schemas.microsoft.com/office/drawing/2014/main" id="{A2F9A5ED-CCE3-1ABE-16CA-E55C08EC7782}"/>
              </a:ext>
            </a:extLst>
          </p:cNvPr>
          <p:cNvSpPr/>
          <p:nvPr/>
        </p:nvSpPr>
        <p:spPr>
          <a:xfrm>
            <a:off x="6697794" y="2136828"/>
            <a:ext cx="3042542" cy="553800"/>
          </a:xfrm>
          <a:prstGeom prst="rect">
            <a:avLst/>
          </a:prstGeom>
          <a:solidFill>
            <a:schemeClr val="accent5">
              <a:lumMod val="40000"/>
              <a:lumOff val="60000"/>
            </a:schemeClr>
          </a:solidFill>
          <a:ln w="635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marL="0" lvl="1">
              <a:defRPr/>
            </a:pPr>
            <a:r>
              <a:rPr lang="en-US" sz="963" dirty="0">
                <a:solidFill>
                  <a:prstClr val="black"/>
                </a:solidFill>
              </a:rPr>
              <a:t>Banking Book activities (lending and taking deposits) cause ‘structural’ risk. </a:t>
            </a:r>
            <a:r>
              <a:rPr lang="en-US" sz="963" dirty="0">
                <a:solidFill>
                  <a:srgbClr val="FF0000"/>
                </a:solidFill>
              </a:rPr>
              <a:t>Mismatches</a:t>
            </a:r>
            <a:r>
              <a:rPr lang="en-US" sz="963" dirty="0">
                <a:solidFill>
                  <a:prstClr val="black"/>
                </a:solidFill>
              </a:rPr>
              <a:t> arise from the structure of the deals that customers want.</a:t>
            </a:r>
          </a:p>
        </p:txBody>
      </p:sp>
      <p:pic>
        <p:nvPicPr>
          <p:cNvPr id="26629" name="Picture 4">
            <a:extLst>
              <a:ext uri="{FF2B5EF4-FFF2-40B4-BE49-F238E27FC236}">
                <a16:creationId xmlns:a16="http://schemas.microsoft.com/office/drawing/2014/main" id="{8A042A3D-22E3-4966-5512-3B8F977C47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9745" y="2941015"/>
            <a:ext cx="3666442" cy="215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D8232AE2-2186-7326-1DFE-F77E7F58C323}"/>
              </a:ext>
            </a:extLst>
          </p:cNvPr>
          <p:cNvSpPr>
            <a:spLocks noGrp="1" noChangeArrowheads="1"/>
          </p:cNvSpPr>
          <p:nvPr>
            <p:ph type="title"/>
          </p:nvPr>
        </p:nvSpPr>
        <p:spPr>
          <a:xfrm>
            <a:off x="819509" y="414068"/>
            <a:ext cx="9894499" cy="868461"/>
          </a:xfrm>
        </p:spPr>
        <p:txBody>
          <a:bodyPr>
            <a:noAutofit/>
          </a:bodyPr>
          <a:lstStyle/>
          <a:p>
            <a:r>
              <a:rPr lang="en-GB" altLang="en-US" sz="3200" dirty="0"/>
              <a:t>How Significant is Structural Interest Rate Risk for Banks?</a:t>
            </a:r>
          </a:p>
        </p:txBody>
      </p:sp>
      <p:pic>
        <p:nvPicPr>
          <p:cNvPr id="27651" name="Picture 3">
            <a:extLst>
              <a:ext uri="{FF2B5EF4-FFF2-40B4-BE49-F238E27FC236}">
                <a16:creationId xmlns:a16="http://schemas.microsoft.com/office/drawing/2014/main" id="{6F77A22F-2E62-B9D7-7DC0-09D96B8845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2222" y="3051635"/>
            <a:ext cx="3399524" cy="2043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3496C2B-C1FA-03B0-C7F4-E8BCD435D471}"/>
              </a:ext>
            </a:extLst>
          </p:cNvPr>
          <p:cNvSpPr txBox="1"/>
          <p:nvPr/>
        </p:nvSpPr>
        <p:spPr>
          <a:xfrm>
            <a:off x="2320106" y="1605069"/>
            <a:ext cx="7123281" cy="1124026"/>
          </a:xfrm>
          <a:prstGeom prst="rect">
            <a:avLst/>
          </a:prstGeom>
          <a:noFill/>
        </p:spPr>
        <p:txBody>
          <a:bodyPr>
            <a:spAutoFit/>
          </a:bodyPr>
          <a:lstStyle/>
          <a:p>
            <a:pPr marL="202732" indent="-202732">
              <a:buFont typeface="Wingdings" panose="05000000000000000000" pitchFamily="2" charset="2"/>
              <a:buChar char="Ø"/>
              <a:defRPr/>
            </a:pPr>
            <a:r>
              <a:rPr lang="en-GB" sz="1341" dirty="0">
                <a:solidFill>
                  <a:schemeClr val="accent2"/>
                </a:solidFill>
              </a:rPr>
              <a:t>It is rarely, if ever, likely to cause existential risk exposure but that doesn’t mean that structural interest rate risk doesn’t matter to banks</a:t>
            </a:r>
          </a:p>
          <a:p>
            <a:pPr marL="202732" indent="-202732">
              <a:buFont typeface="Wingdings" panose="05000000000000000000" pitchFamily="2" charset="2"/>
              <a:buChar char="Ø"/>
              <a:defRPr/>
            </a:pPr>
            <a:endParaRPr lang="en-GB" sz="1341" dirty="0">
              <a:solidFill>
                <a:schemeClr val="accent2"/>
              </a:solidFill>
            </a:endParaRPr>
          </a:p>
          <a:p>
            <a:pPr marL="202732" indent="-202732">
              <a:buFont typeface="Wingdings" panose="05000000000000000000" pitchFamily="2" charset="2"/>
              <a:buChar char="Ø"/>
              <a:defRPr/>
            </a:pPr>
            <a:r>
              <a:rPr lang="en-GB" sz="1341" dirty="0">
                <a:solidFill>
                  <a:schemeClr val="accent2"/>
                </a:solidFill>
              </a:rPr>
              <a:t>Yield curve/gap, basis and option (pipeline and prepayment) risks can all have a material adverse effect on profitability, and if well managed, represent a source of competitive advantage</a:t>
            </a:r>
          </a:p>
        </p:txBody>
      </p:sp>
      <p:sp>
        <p:nvSpPr>
          <p:cNvPr id="6" name="Speech Bubble: Oval 5">
            <a:extLst>
              <a:ext uri="{FF2B5EF4-FFF2-40B4-BE49-F238E27FC236}">
                <a16:creationId xmlns:a16="http://schemas.microsoft.com/office/drawing/2014/main" id="{D7A2BCF2-961D-8D68-A949-1838F585A4C6}"/>
              </a:ext>
            </a:extLst>
          </p:cNvPr>
          <p:cNvSpPr/>
          <p:nvPr/>
        </p:nvSpPr>
        <p:spPr bwMode="auto">
          <a:xfrm>
            <a:off x="6556139" y="3412259"/>
            <a:ext cx="2058383" cy="1295291"/>
          </a:xfrm>
          <a:prstGeom prst="wedgeEllipseCallout">
            <a:avLst>
              <a:gd name="adj1" fmla="val -86345"/>
              <a:gd name="adj2" fmla="val 47796"/>
            </a:avLst>
          </a:prstGeom>
          <a:solidFill>
            <a:schemeClr val="bg2">
              <a:lumMod val="20000"/>
              <a:lumOff val="80000"/>
            </a:schemeClr>
          </a:solidFill>
          <a:ln w="9525" cap="flat" cmpd="sng" algn="ctr">
            <a:solidFill>
              <a:schemeClr val="bg1"/>
            </a:solidFill>
            <a:prstDash val="solid"/>
            <a:round/>
            <a:headEnd type="none" w="med" len="med"/>
            <a:tailEnd type="none" w="med" len="med"/>
          </a:ln>
          <a:effectLst/>
        </p:spPr>
        <p:txBody>
          <a:bodyPr lIns="64876" tIns="32438" rIns="64876" bIns="32438"/>
          <a:lstStyle/>
          <a:p>
            <a:pPr defTabSz="648743">
              <a:defRPr/>
            </a:pPr>
            <a:r>
              <a:rPr lang="en-GB" sz="851" dirty="0">
                <a:solidFill>
                  <a:schemeClr val="accent2"/>
                </a:solidFill>
              </a:rPr>
              <a:t>Many banks suffered in the aftermath of the financial crisis due to mismatches between Assets and Liabilities re-pricing off Base Rate and LIBOR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62FEEE42-CE53-94C3-385C-D1F9FB160353}"/>
              </a:ext>
            </a:extLst>
          </p:cNvPr>
          <p:cNvSpPr/>
          <p:nvPr/>
        </p:nvSpPr>
        <p:spPr>
          <a:xfrm>
            <a:off x="4924343" y="1971593"/>
            <a:ext cx="2179560" cy="3366774"/>
          </a:xfrm>
          <a:prstGeom prst="rect">
            <a:avLst/>
          </a:prstGeom>
          <a:solidFill>
            <a:srgbClr val="F2F2F2">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cxnSp>
        <p:nvCxnSpPr>
          <p:cNvPr id="35" name="Straight Arrow Connector 34">
            <a:extLst>
              <a:ext uri="{FF2B5EF4-FFF2-40B4-BE49-F238E27FC236}">
                <a16:creationId xmlns:a16="http://schemas.microsoft.com/office/drawing/2014/main" id="{6AF28F08-EE0F-2CFB-4D3A-EADC96A50ED2}"/>
              </a:ext>
            </a:extLst>
          </p:cNvPr>
          <p:cNvCxnSpPr>
            <a:cxnSpLocks/>
          </p:cNvCxnSpPr>
          <p:nvPr/>
        </p:nvCxnSpPr>
        <p:spPr>
          <a:xfrm>
            <a:off x="3069015" y="2896801"/>
            <a:ext cx="1783277"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3F17DB17-1430-DECC-FEEC-1C1C3BB8C40D}"/>
              </a:ext>
            </a:extLst>
          </p:cNvPr>
          <p:cNvSpPr/>
          <p:nvPr/>
        </p:nvSpPr>
        <p:spPr>
          <a:xfrm>
            <a:off x="5222376" y="2380978"/>
            <a:ext cx="296393" cy="494536"/>
          </a:xfrm>
          <a:prstGeom prst="rect">
            <a:avLst/>
          </a:prstGeom>
          <a:solidFill>
            <a:srgbClr val="0072C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sp>
        <p:nvSpPr>
          <p:cNvPr id="37" name="Rectangle 36">
            <a:extLst>
              <a:ext uri="{FF2B5EF4-FFF2-40B4-BE49-F238E27FC236}">
                <a16:creationId xmlns:a16="http://schemas.microsoft.com/office/drawing/2014/main" id="{3ACC1F1E-C46B-D95C-223C-56D2CE5325BA}"/>
              </a:ext>
            </a:extLst>
          </p:cNvPr>
          <p:cNvSpPr/>
          <p:nvPr/>
        </p:nvSpPr>
        <p:spPr>
          <a:xfrm>
            <a:off x="5824989" y="2554556"/>
            <a:ext cx="296393" cy="320957"/>
          </a:xfrm>
          <a:prstGeom prst="rect">
            <a:avLst/>
          </a:prstGeom>
          <a:solidFill>
            <a:srgbClr val="0072C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sp>
        <p:nvSpPr>
          <p:cNvPr id="38" name="Rectangle 37">
            <a:extLst>
              <a:ext uri="{FF2B5EF4-FFF2-40B4-BE49-F238E27FC236}">
                <a16:creationId xmlns:a16="http://schemas.microsoft.com/office/drawing/2014/main" id="{BC201056-7C7A-8E49-51BE-7B19A5FE15A2}"/>
              </a:ext>
            </a:extLst>
          </p:cNvPr>
          <p:cNvSpPr/>
          <p:nvPr/>
        </p:nvSpPr>
        <p:spPr>
          <a:xfrm>
            <a:off x="6393213" y="2579120"/>
            <a:ext cx="298032" cy="296393"/>
          </a:xfrm>
          <a:prstGeom prst="rect">
            <a:avLst/>
          </a:prstGeom>
          <a:solidFill>
            <a:srgbClr val="0072C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cxnSp>
        <p:nvCxnSpPr>
          <p:cNvPr id="39" name="Straight Arrow Connector 38">
            <a:extLst>
              <a:ext uri="{FF2B5EF4-FFF2-40B4-BE49-F238E27FC236}">
                <a16:creationId xmlns:a16="http://schemas.microsoft.com/office/drawing/2014/main" id="{3679EDCA-4381-ADFE-5F62-810910DFAD15}"/>
              </a:ext>
            </a:extLst>
          </p:cNvPr>
          <p:cNvCxnSpPr>
            <a:cxnSpLocks/>
          </p:cNvCxnSpPr>
          <p:nvPr/>
        </p:nvCxnSpPr>
        <p:spPr>
          <a:xfrm>
            <a:off x="5122485" y="2896801"/>
            <a:ext cx="1783277"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316F8492-8D70-52A9-4C1B-60AD96869930}"/>
              </a:ext>
            </a:extLst>
          </p:cNvPr>
          <p:cNvSpPr/>
          <p:nvPr/>
        </p:nvSpPr>
        <p:spPr>
          <a:xfrm>
            <a:off x="5222376" y="2916452"/>
            <a:ext cx="296393" cy="49617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sp>
        <p:nvSpPr>
          <p:cNvPr id="41" name="Rectangle 40">
            <a:extLst>
              <a:ext uri="{FF2B5EF4-FFF2-40B4-BE49-F238E27FC236}">
                <a16:creationId xmlns:a16="http://schemas.microsoft.com/office/drawing/2014/main" id="{C2081534-CC5F-69DD-F34A-A65C33EC13CA}"/>
              </a:ext>
            </a:extLst>
          </p:cNvPr>
          <p:cNvSpPr/>
          <p:nvPr/>
        </p:nvSpPr>
        <p:spPr>
          <a:xfrm>
            <a:off x="5824989" y="2916452"/>
            <a:ext cx="296393" cy="32259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sp>
        <p:nvSpPr>
          <p:cNvPr id="42" name="Rectangle 41">
            <a:extLst>
              <a:ext uri="{FF2B5EF4-FFF2-40B4-BE49-F238E27FC236}">
                <a16:creationId xmlns:a16="http://schemas.microsoft.com/office/drawing/2014/main" id="{7483B039-03B2-7B7A-ECFD-CEF6198FCB11}"/>
              </a:ext>
            </a:extLst>
          </p:cNvPr>
          <p:cNvSpPr/>
          <p:nvPr/>
        </p:nvSpPr>
        <p:spPr>
          <a:xfrm>
            <a:off x="3167267" y="2380978"/>
            <a:ext cx="224343" cy="494536"/>
          </a:xfrm>
          <a:prstGeom prst="rect">
            <a:avLst/>
          </a:prstGeom>
          <a:solidFill>
            <a:srgbClr val="0072C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sp>
        <p:nvSpPr>
          <p:cNvPr id="43" name="Rectangle 42">
            <a:extLst>
              <a:ext uri="{FF2B5EF4-FFF2-40B4-BE49-F238E27FC236}">
                <a16:creationId xmlns:a16="http://schemas.microsoft.com/office/drawing/2014/main" id="{E464A01A-68D7-E6B5-2AFB-197D4F4A86E0}"/>
              </a:ext>
            </a:extLst>
          </p:cNvPr>
          <p:cNvSpPr/>
          <p:nvPr/>
        </p:nvSpPr>
        <p:spPr>
          <a:xfrm>
            <a:off x="3596301" y="2554556"/>
            <a:ext cx="222705" cy="320957"/>
          </a:xfrm>
          <a:prstGeom prst="rect">
            <a:avLst/>
          </a:prstGeom>
          <a:solidFill>
            <a:srgbClr val="0072C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sp>
        <p:nvSpPr>
          <p:cNvPr id="44" name="Rectangle 43">
            <a:extLst>
              <a:ext uri="{FF2B5EF4-FFF2-40B4-BE49-F238E27FC236}">
                <a16:creationId xmlns:a16="http://schemas.microsoft.com/office/drawing/2014/main" id="{F94356E4-D039-BF60-78F9-DE77C522E019}"/>
              </a:ext>
            </a:extLst>
          </p:cNvPr>
          <p:cNvSpPr/>
          <p:nvPr/>
        </p:nvSpPr>
        <p:spPr>
          <a:xfrm>
            <a:off x="4023699" y="2579120"/>
            <a:ext cx="222705" cy="296393"/>
          </a:xfrm>
          <a:prstGeom prst="rect">
            <a:avLst/>
          </a:prstGeom>
          <a:solidFill>
            <a:srgbClr val="0072C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sp>
        <p:nvSpPr>
          <p:cNvPr id="45" name="Rectangle 44">
            <a:extLst>
              <a:ext uri="{FF2B5EF4-FFF2-40B4-BE49-F238E27FC236}">
                <a16:creationId xmlns:a16="http://schemas.microsoft.com/office/drawing/2014/main" id="{FCDB719B-6D93-47DB-A180-9C67B7294E05}"/>
              </a:ext>
            </a:extLst>
          </p:cNvPr>
          <p:cNvSpPr/>
          <p:nvPr/>
        </p:nvSpPr>
        <p:spPr>
          <a:xfrm>
            <a:off x="3167267" y="2916452"/>
            <a:ext cx="224343" cy="49617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sp>
        <p:nvSpPr>
          <p:cNvPr id="46" name="Rectangle 45">
            <a:extLst>
              <a:ext uri="{FF2B5EF4-FFF2-40B4-BE49-F238E27FC236}">
                <a16:creationId xmlns:a16="http://schemas.microsoft.com/office/drawing/2014/main" id="{E237CD1C-90B3-14C1-81AF-E6AF8E34B7AB}"/>
              </a:ext>
            </a:extLst>
          </p:cNvPr>
          <p:cNvSpPr/>
          <p:nvPr/>
        </p:nvSpPr>
        <p:spPr>
          <a:xfrm>
            <a:off x="3596301" y="2916452"/>
            <a:ext cx="222705" cy="32259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sp>
        <p:nvSpPr>
          <p:cNvPr id="47" name="Rectangle 46">
            <a:extLst>
              <a:ext uri="{FF2B5EF4-FFF2-40B4-BE49-F238E27FC236}">
                <a16:creationId xmlns:a16="http://schemas.microsoft.com/office/drawing/2014/main" id="{7C56BF60-CD65-CB82-D923-0E42F5D78F0C}"/>
              </a:ext>
            </a:extLst>
          </p:cNvPr>
          <p:cNvSpPr/>
          <p:nvPr/>
        </p:nvSpPr>
        <p:spPr>
          <a:xfrm>
            <a:off x="4023699" y="2916452"/>
            <a:ext cx="222705" cy="29803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sp>
        <p:nvSpPr>
          <p:cNvPr id="48" name="Rectangle 47">
            <a:extLst>
              <a:ext uri="{FF2B5EF4-FFF2-40B4-BE49-F238E27FC236}">
                <a16:creationId xmlns:a16="http://schemas.microsoft.com/office/drawing/2014/main" id="{88FC61A4-4096-7F96-5F77-B90B9D0AF2EA}"/>
              </a:ext>
            </a:extLst>
          </p:cNvPr>
          <p:cNvSpPr/>
          <p:nvPr/>
        </p:nvSpPr>
        <p:spPr>
          <a:xfrm>
            <a:off x="7275845" y="2380978"/>
            <a:ext cx="298032" cy="494536"/>
          </a:xfrm>
          <a:prstGeom prst="rect">
            <a:avLst/>
          </a:prstGeom>
          <a:solidFill>
            <a:srgbClr val="0072C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sp>
        <p:nvSpPr>
          <p:cNvPr id="49" name="Rectangle 48">
            <a:extLst>
              <a:ext uri="{FF2B5EF4-FFF2-40B4-BE49-F238E27FC236}">
                <a16:creationId xmlns:a16="http://schemas.microsoft.com/office/drawing/2014/main" id="{250A0DBD-FCE9-6178-91CF-301B11F563C3}"/>
              </a:ext>
            </a:extLst>
          </p:cNvPr>
          <p:cNvSpPr/>
          <p:nvPr/>
        </p:nvSpPr>
        <p:spPr>
          <a:xfrm>
            <a:off x="7845708" y="2554556"/>
            <a:ext cx="296393" cy="320957"/>
          </a:xfrm>
          <a:prstGeom prst="rect">
            <a:avLst/>
          </a:prstGeom>
          <a:solidFill>
            <a:srgbClr val="0072C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sp>
        <p:nvSpPr>
          <p:cNvPr id="50" name="Rectangle 49">
            <a:extLst>
              <a:ext uri="{FF2B5EF4-FFF2-40B4-BE49-F238E27FC236}">
                <a16:creationId xmlns:a16="http://schemas.microsoft.com/office/drawing/2014/main" id="{4391558A-D580-74A6-8D7B-F6A81092489F}"/>
              </a:ext>
            </a:extLst>
          </p:cNvPr>
          <p:cNvSpPr/>
          <p:nvPr/>
        </p:nvSpPr>
        <p:spPr>
          <a:xfrm>
            <a:off x="8415570" y="2579120"/>
            <a:ext cx="296393" cy="296393"/>
          </a:xfrm>
          <a:prstGeom prst="rect">
            <a:avLst/>
          </a:prstGeom>
          <a:solidFill>
            <a:srgbClr val="0072C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cxnSp>
        <p:nvCxnSpPr>
          <p:cNvPr id="51" name="Straight Arrow Connector 50">
            <a:extLst>
              <a:ext uri="{FF2B5EF4-FFF2-40B4-BE49-F238E27FC236}">
                <a16:creationId xmlns:a16="http://schemas.microsoft.com/office/drawing/2014/main" id="{B05C55D4-9178-8E6B-7FA2-A5A5B33809E3}"/>
              </a:ext>
            </a:extLst>
          </p:cNvPr>
          <p:cNvCxnSpPr>
            <a:cxnSpLocks/>
          </p:cNvCxnSpPr>
          <p:nvPr/>
        </p:nvCxnSpPr>
        <p:spPr>
          <a:xfrm>
            <a:off x="7177593" y="2896801"/>
            <a:ext cx="1783276"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6A90433D-DA9F-623C-197D-5957B0E32904}"/>
              </a:ext>
            </a:extLst>
          </p:cNvPr>
          <p:cNvSpPr/>
          <p:nvPr/>
        </p:nvSpPr>
        <p:spPr>
          <a:xfrm>
            <a:off x="7279121" y="2916452"/>
            <a:ext cx="296393" cy="49617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sp>
        <p:nvSpPr>
          <p:cNvPr id="53" name="Rectangle 52">
            <a:extLst>
              <a:ext uri="{FF2B5EF4-FFF2-40B4-BE49-F238E27FC236}">
                <a16:creationId xmlns:a16="http://schemas.microsoft.com/office/drawing/2014/main" id="{028BDDF8-1B03-2764-9A2B-32DC2148F492}"/>
              </a:ext>
            </a:extLst>
          </p:cNvPr>
          <p:cNvSpPr/>
          <p:nvPr/>
        </p:nvSpPr>
        <p:spPr>
          <a:xfrm>
            <a:off x="7845708" y="2916452"/>
            <a:ext cx="296393" cy="32259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sp>
        <p:nvSpPr>
          <p:cNvPr id="54" name="Rectangle 53">
            <a:extLst>
              <a:ext uri="{FF2B5EF4-FFF2-40B4-BE49-F238E27FC236}">
                <a16:creationId xmlns:a16="http://schemas.microsoft.com/office/drawing/2014/main" id="{C90E2EBA-A82D-7016-5CD6-D9125DFF782F}"/>
              </a:ext>
            </a:extLst>
          </p:cNvPr>
          <p:cNvSpPr/>
          <p:nvPr/>
        </p:nvSpPr>
        <p:spPr>
          <a:xfrm>
            <a:off x="8415570" y="2916452"/>
            <a:ext cx="296393" cy="29803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sp>
        <p:nvSpPr>
          <p:cNvPr id="55" name="Rectangle 54">
            <a:extLst>
              <a:ext uri="{FF2B5EF4-FFF2-40B4-BE49-F238E27FC236}">
                <a16:creationId xmlns:a16="http://schemas.microsoft.com/office/drawing/2014/main" id="{7DCB85F2-0BA4-0E63-2317-8B619AD4115D}"/>
              </a:ext>
            </a:extLst>
          </p:cNvPr>
          <p:cNvSpPr/>
          <p:nvPr/>
        </p:nvSpPr>
        <p:spPr>
          <a:xfrm>
            <a:off x="3014977" y="2151722"/>
            <a:ext cx="966146" cy="1486883"/>
          </a:xfrm>
          <a:prstGeom prst="rect">
            <a:avLst/>
          </a:prstGeom>
          <a:noFill/>
          <a:ln w="19050">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lgn="ctr">
              <a:defRPr/>
            </a:pPr>
            <a:endParaRPr lang="en-GB" sz="825" dirty="0">
              <a:solidFill>
                <a:schemeClr val="bg1"/>
              </a:solidFill>
            </a:endParaRPr>
          </a:p>
        </p:txBody>
      </p:sp>
      <p:cxnSp>
        <p:nvCxnSpPr>
          <p:cNvPr id="56" name="Straight Arrow Connector 55">
            <a:extLst>
              <a:ext uri="{FF2B5EF4-FFF2-40B4-BE49-F238E27FC236}">
                <a16:creationId xmlns:a16="http://schemas.microsoft.com/office/drawing/2014/main" id="{423413EF-6117-DE08-4F8B-77BBF7EC0A05}"/>
              </a:ext>
            </a:extLst>
          </p:cNvPr>
          <p:cNvCxnSpPr>
            <a:cxnSpLocks/>
          </p:cNvCxnSpPr>
          <p:nvPr/>
        </p:nvCxnSpPr>
        <p:spPr>
          <a:xfrm>
            <a:off x="3101766" y="2325301"/>
            <a:ext cx="792567" cy="0"/>
          </a:xfrm>
          <a:prstGeom prst="straightConnector1">
            <a:avLst/>
          </a:prstGeom>
          <a:ln w="12700">
            <a:solidFill>
              <a:schemeClr val="tx1"/>
            </a:solidFill>
            <a:prstDash val="dash"/>
            <a:tailEnd type="triangle" w="med"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124A72F-6F0E-1116-CEC0-F70CBEF35126}"/>
              </a:ext>
            </a:extLst>
          </p:cNvPr>
          <p:cNvCxnSpPr>
            <a:cxnSpLocks/>
          </p:cNvCxnSpPr>
          <p:nvPr/>
        </p:nvCxnSpPr>
        <p:spPr>
          <a:xfrm>
            <a:off x="3101766" y="2264713"/>
            <a:ext cx="792567" cy="0"/>
          </a:xfrm>
          <a:prstGeom prst="straightConnector1">
            <a:avLst/>
          </a:prstGeom>
          <a:ln w="12700">
            <a:solidFill>
              <a:schemeClr val="tx1"/>
            </a:solidFill>
            <a:prstDash val="solid"/>
            <a:tailEnd type="triangle" w="med" len="med"/>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0029BF56-96AD-148C-3079-F860A5498FBA}"/>
              </a:ext>
            </a:extLst>
          </p:cNvPr>
          <p:cNvSpPr/>
          <p:nvPr/>
        </p:nvSpPr>
        <p:spPr>
          <a:xfrm>
            <a:off x="4963644" y="3620592"/>
            <a:ext cx="149015" cy="14901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en-GB" sz="825" dirty="0">
              <a:solidFill>
                <a:schemeClr val="bg1"/>
              </a:solidFill>
            </a:endParaRPr>
          </a:p>
        </p:txBody>
      </p:sp>
      <p:cxnSp>
        <p:nvCxnSpPr>
          <p:cNvPr id="59" name="Straight Arrow Connector 53">
            <a:extLst>
              <a:ext uri="{FF2B5EF4-FFF2-40B4-BE49-F238E27FC236}">
                <a16:creationId xmlns:a16="http://schemas.microsoft.com/office/drawing/2014/main" id="{E8015C50-71DC-6DB7-C925-88170DECB100}"/>
              </a:ext>
            </a:extLst>
          </p:cNvPr>
          <p:cNvCxnSpPr>
            <a:cxnSpLocks/>
          </p:cNvCxnSpPr>
          <p:nvPr/>
        </p:nvCxnSpPr>
        <p:spPr>
          <a:xfrm rot="16200000" flipH="1" flipV="1">
            <a:off x="4949725" y="3130150"/>
            <a:ext cx="545299" cy="222705"/>
          </a:xfrm>
          <a:prstGeom prst="bentConnector3">
            <a:avLst>
              <a:gd name="adj1" fmla="val 99952"/>
            </a:avLst>
          </a:prstGeom>
          <a:ln w="12700">
            <a:solidFill>
              <a:schemeClr val="tx1"/>
            </a:solidFill>
            <a:prstDash val="solid"/>
            <a:tailEnd type="triangle" w="med" len="med"/>
          </a:ln>
        </p:spPr>
        <p:style>
          <a:lnRef idx="1">
            <a:schemeClr val="accent1"/>
          </a:lnRef>
          <a:fillRef idx="0">
            <a:schemeClr val="accent1"/>
          </a:fillRef>
          <a:effectRef idx="0">
            <a:schemeClr val="accent1"/>
          </a:effectRef>
          <a:fontRef idx="minor">
            <a:schemeClr val="tx1"/>
          </a:fontRef>
        </p:style>
      </p:cxnSp>
      <p:cxnSp>
        <p:nvCxnSpPr>
          <p:cNvPr id="60" name="Straight Arrow Connector 53">
            <a:extLst>
              <a:ext uri="{FF2B5EF4-FFF2-40B4-BE49-F238E27FC236}">
                <a16:creationId xmlns:a16="http://schemas.microsoft.com/office/drawing/2014/main" id="{81663680-F8A7-37AD-4B25-3B8EC60B4DCC}"/>
              </a:ext>
            </a:extLst>
          </p:cNvPr>
          <p:cNvCxnSpPr>
            <a:cxnSpLocks/>
          </p:cNvCxnSpPr>
          <p:nvPr/>
        </p:nvCxnSpPr>
        <p:spPr>
          <a:xfrm rot="16200000" flipH="1" flipV="1">
            <a:off x="4950544" y="3129332"/>
            <a:ext cx="618989" cy="298032"/>
          </a:xfrm>
          <a:prstGeom prst="bentConnector3">
            <a:avLst>
              <a:gd name="adj1" fmla="val 99952"/>
            </a:avLst>
          </a:prstGeom>
          <a:ln w="12700">
            <a:solidFill>
              <a:schemeClr val="tx1"/>
            </a:solidFill>
            <a:prstDash val="dash"/>
            <a:tailEnd type="triangle" w="med" len="med"/>
          </a:ln>
        </p:spPr>
        <p:style>
          <a:lnRef idx="1">
            <a:schemeClr val="accent1"/>
          </a:lnRef>
          <a:fillRef idx="0">
            <a:schemeClr val="accent1"/>
          </a:fillRef>
          <a:effectRef idx="0">
            <a:schemeClr val="accent1"/>
          </a:effectRef>
          <a:fontRef idx="minor">
            <a:schemeClr val="tx1"/>
          </a:fontRef>
        </p:style>
      </p:cxnSp>
      <p:cxnSp>
        <p:nvCxnSpPr>
          <p:cNvPr id="61" name="Straight Arrow Connector 53">
            <a:extLst>
              <a:ext uri="{FF2B5EF4-FFF2-40B4-BE49-F238E27FC236}">
                <a16:creationId xmlns:a16="http://schemas.microsoft.com/office/drawing/2014/main" id="{BFCB4C70-217F-29AE-DC17-43E92FB05A1C}"/>
              </a:ext>
            </a:extLst>
          </p:cNvPr>
          <p:cNvCxnSpPr>
            <a:cxnSpLocks/>
          </p:cNvCxnSpPr>
          <p:nvPr/>
        </p:nvCxnSpPr>
        <p:spPr>
          <a:xfrm rot="16200000" flipH="1" flipV="1">
            <a:off x="5173249" y="2906627"/>
            <a:ext cx="692677" cy="817130"/>
          </a:xfrm>
          <a:prstGeom prst="bentConnector3">
            <a:avLst>
              <a:gd name="adj1" fmla="val 99952"/>
            </a:avLst>
          </a:prstGeom>
          <a:ln w="12700">
            <a:solidFill>
              <a:schemeClr val="tx1"/>
            </a:solidFill>
            <a:prstDash val="soli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53">
            <a:extLst>
              <a:ext uri="{FF2B5EF4-FFF2-40B4-BE49-F238E27FC236}">
                <a16:creationId xmlns:a16="http://schemas.microsoft.com/office/drawing/2014/main" id="{3449F0BE-F0F3-E863-4AC9-1EF0D14A26CF}"/>
              </a:ext>
            </a:extLst>
          </p:cNvPr>
          <p:cNvCxnSpPr>
            <a:cxnSpLocks/>
          </p:cNvCxnSpPr>
          <p:nvPr/>
        </p:nvCxnSpPr>
        <p:spPr>
          <a:xfrm rot="16200000" flipH="1" flipV="1">
            <a:off x="5173249" y="2906627"/>
            <a:ext cx="768004" cy="892457"/>
          </a:xfrm>
          <a:prstGeom prst="bentConnector3">
            <a:avLst>
              <a:gd name="adj1" fmla="val 99952"/>
            </a:avLst>
          </a:prstGeom>
          <a:ln w="12700">
            <a:solidFill>
              <a:schemeClr val="tx1"/>
            </a:solidFill>
            <a:prstDash val="dash"/>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Straight Arrow Connector 53">
            <a:extLst>
              <a:ext uri="{FF2B5EF4-FFF2-40B4-BE49-F238E27FC236}">
                <a16:creationId xmlns:a16="http://schemas.microsoft.com/office/drawing/2014/main" id="{2A053388-BF8A-5822-210D-87F26165564A}"/>
              </a:ext>
            </a:extLst>
          </p:cNvPr>
          <p:cNvCxnSpPr>
            <a:cxnSpLocks/>
          </p:cNvCxnSpPr>
          <p:nvPr/>
        </p:nvCxnSpPr>
        <p:spPr>
          <a:xfrm rot="16200000" flipH="1" flipV="1">
            <a:off x="5395954" y="2683922"/>
            <a:ext cx="841693" cy="1411556"/>
          </a:xfrm>
          <a:prstGeom prst="bentConnector3">
            <a:avLst>
              <a:gd name="adj1" fmla="val 99952"/>
            </a:avLst>
          </a:prstGeom>
          <a:ln w="12700">
            <a:solidFill>
              <a:schemeClr val="tx1"/>
            </a:solidFill>
            <a:prstDash val="soli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53">
            <a:extLst>
              <a:ext uri="{FF2B5EF4-FFF2-40B4-BE49-F238E27FC236}">
                <a16:creationId xmlns:a16="http://schemas.microsoft.com/office/drawing/2014/main" id="{24956554-4353-DDA9-B731-8FCF3F1C6DA8}"/>
              </a:ext>
            </a:extLst>
          </p:cNvPr>
          <p:cNvCxnSpPr>
            <a:cxnSpLocks/>
          </p:cNvCxnSpPr>
          <p:nvPr/>
        </p:nvCxnSpPr>
        <p:spPr>
          <a:xfrm rot="16200000" flipH="1" flipV="1">
            <a:off x="5395954" y="2683922"/>
            <a:ext cx="915382" cy="1485244"/>
          </a:xfrm>
          <a:prstGeom prst="bentConnector3">
            <a:avLst>
              <a:gd name="adj1" fmla="val 99952"/>
            </a:avLst>
          </a:prstGeom>
          <a:ln w="12700">
            <a:solidFill>
              <a:schemeClr val="tx1"/>
            </a:solidFill>
            <a:prstDash val="dash"/>
            <a:tailEnd type="triangle" w="med" len="med"/>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28B7388A-3AEF-10EF-9BF2-134C2B435B12}"/>
              </a:ext>
            </a:extLst>
          </p:cNvPr>
          <p:cNvSpPr txBox="1"/>
          <p:nvPr/>
        </p:nvSpPr>
        <p:spPr>
          <a:xfrm>
            <a:off x="3014977" y="1806203"/>
            <a:ext cx="1909367" cy="218398"/>
          </a:xfrm>
          <a:prstGeom prst="rect">
            <a:avLst/>
          </a:prstGeom>
          <a:noFill/>
        </p:spPr>
        <p:txBody>
          <a:bodyPr lIns="0" tIns="0" rIns="0" bIns="0">
            <a:spAutoFit/>
          </a:bodyPr>
          <a:lstStyle/>
          <a:p>
            <a:pPr>
              <a:defRPr/>
            </a:pPr>
            <a:r>
              <a:rPr lang="en-GB" sz="1376" dirty="0"/>
              <a:t>Income View</a:t>
            </a:r>
          </a:p>
        </p:txBody>
      </p:sp>
      <p:sp>
        <p:nvSpPr>
          <p:cNvPr id="66" name="TextBox 65">
            <a:extLst>
              <a:ext uri="{FF2B5EF4-FFF2-40B4-BE49-F238E27FC236}">
                <a16:creationId xmlns:a16="http://schemas.microsoft.com/office/drawing/2014/main" id="{69CD37DD-FC39-5AC1-5A4E-8E632671EB47}"/>
              </a:ext>
            </a:extLst>
          </p:cNvPr>
          <p:cNvSpPr txBox="1"/>
          <p:nvPr/>
        </p:nvSpPr>
        <p:spPr>
          <a:xfrm>
            <a:off x="5034058" y="1806203"/>
            <a:ext cx="1847140" cy="218398"/>
          </a:xfrm>
          <a:prstGeom prst="rect">
            <a:avLst/>
          </a:prstGeom>
          <a:noFill/>
        </p:spPr>
        <p:txBody>
          <a:bodyPr lIns="0" tIns="0" rIns="0" bIns="0">
            <a:spAutoFit/>
          </a:bodyPr>
          <a:lstStyle/>
          <a:p>
            <a:pPr>
              <a:defRPr/>
            </a:pPr>
            <a:r>
              <a:rPr lang="en-GB" sz="1376" dirty="0"/>
              <a:t>Economic View</a:t>
            </a:r>
          </a:p>
        </p:txBody>
      </p:sp>
      <p:sp>
        <p:nvSpPr>
          <p:cNvPr id="67" name="TextBox 66">
            <a:extLst>
              <a:ext uri="{FF2B5EF4-FFF2-40B4-BE49-F238E27FC236}">
                <a16:creationId xmlns:a16="http://schemas.microsoft.com/office/drawing/2014/main" id="{12A92729-622C-86C8-C7A4-B514A9D31C1C}"/>
              </a:ext>
            </a:extLst>
          </p:cNvPr>
          <p:cNvSpPr txBox="1"/>
          <p:nvPr/>
        </p:nvSpPr>
        <p:spPr>
          <a:xfrm>
            <a:off x="7262744" y="1806203"/>
            <a:ext cx="1550746" cy="218398"/>
          </a:xfrm>
          <a:prstGeom prst="rect">
            <a:avLst/>
          </a:prstGeom>
          <a:noFill/>
        </p:spPr>
        <p:txBody>
          <a:bodyPr lIns="0" tIns="0" rIns="0" bIns="0">
            <a:spAutoFit/>
          </a:bodyPr>
          <a:lstStyle/>
          <a:p>
            <a:pPr>
              <a:defRPr/>
            </a:pPr>
            <a:r>
              <a:rPr lang="en-GB" sz="1376" dirty="0"/>
              <a:t>Accounting View</a:t>
            </a:r>
          </a:p>
        </p:txBody>
      </p:sp>
      <p:sp>
        <p:nvSpPr>
          <p:cNvPr id="68" name="Oval 67">
            <a:extLst>
              <a:ext uri="{FF2B5EF4-FFF2-40B4-BE49-F238E27FC236}">
                <a16:creationId xmlns:a16="http://schemas.microsoft.com/office/drawing/2014/main" id="{DC0E3731-BDB3-AD6C-CD4D-50EF3F3E512F}"/>
              </a:ext>
            </a:extLst>
          </p:cNvPr>
          <p:cNvSpPr/>
          <p:nvPr/>
        </p:nvSpPr>
        <p:spPr>
          <a:xfrm>
            <a:off x="3905796" y="2816562"/>
            <a:ext cx="149015" cy="14901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en-GB" sz="825" dirty="0">
              <a:solidFill>
                <a:schemeClr val="bg1"/>
              </a:solidFill>
            </a:endParaRPr>
          </a:p>
        </p:txBody>
      </p:sp>
      <p:sp>
        <p:nvSpPr>
          <p:cNvPr id="69" name="TextBox 68">
            <a:extLst>
              <a:ext uri="{FF2B5EF4-FFF2-40B4-BE49-F238E27FC236}">
                <a16:creationId xmlns:a16="http://schemas.microsoft.com/office/drawing/2014/main" id="{3F04BDC5-1375-CF94-D814-0109C3FBF69E}"/>
              </a:ext>
            </a:extLst>
          </p:cNvPr>
          <p:cNvSpPr txBox="1"/>
          <p:nvPr/>
        </p:nvSpPr>
        <p:spPr>
          <a:xfrm>
            <a:off x="2821748" y="4167529"/>
            <a:ext cx="2212310" cy="949619"/>
          </a:xfrm>
          <a:prstGeom prst="rect">
            <a:avLst/>
          </a:prstGeom>
          <a:noFill/>
        </p:spPr>
        <p:txBody>
          <a:bodyPr lIns="0" tIns="0" rIns="0" bIns="0">
            <a:spAutoFit/>
          </a:bodyPr>
          <a:lstStyle/>
          <a:p>
            <a:pPr marL="123810" indent="-123810">
              <a:spcAft>
                <a:spcPts val="413"/>
              </a:spcAft>
              <a:buFont typeface="Wingdings" panose="05000000000000000000" pitchFamily="2" charset="2"/>
              <a:buChar char="§"/>
              <a:defRPr/>
            </a:pPr>
            <a:r>
              <a:rPr lang="en-GB" sz="1101" dirty="0"/>
              <a:t>Interest Accrual measured to point in the future</a:t>
            </a:r>
          </a:p>
          <a:p>
            <a:pPr marL="123810" indent="-123810">
              <a:spcAft>
                <a:spcPts val="413"/>
              </a:spcAft>
              <a:buFont typeface="Wingdings" panose="05000000000000000000" pitchFamily="2" charset="2"/>
              <a:buChar char="§"/>
              <a:defRPr/>
            </a:pPr>
            <a:r>
              <a:rPr lang="en-GB" sz="1101" dirty="0"/>
              <a:t>Short-/mid term view (e.g. 1 year)</a:t>
            </a:r>
          </a:p>
          <a:p>
            <a:pPr marL="123810" indent="-123810">
              <a:spcAft>
                <a:spcPts val="413"/>
              </a:spcAft>
              <a:buFont typeface="Wingdings" panose="05000000000000000000" pitchFamily="2" charset="2"/>
              <a:buChar char="§"/>
              <a:defRPr/>
            </a:pPr>
            <a:r>
              <a:rPr lang="en-GB" sz="1101" dirty="0"/>
              <a:t>Use of behavioural maturity assumptions (e.g. demand deposits)</a:t>
            </a:r>
          </a:p>
        </p:txBody>
      </p:sp>
      <p:sp>
        <p:nvSpPr>
          <p:cNvPr id="70" name="TextBox 69">
            <a:extLst>
              <a:ext uri="{FF2B5EF4-FFF2-40B4-BE49-F238E27FC236}">
                <a16:creationId xmlns:a16="http://schemas.microsoft.com/office/drawing/2014/main" id="{E82F9A1A-851A-0373-6B3B-DF8705DF1535}"/>
              </a:ext>
            </a:extLst>
          </p:cNvPr>
          <p:cNvSpPr txBox="1"/>
          <p:nvPr/>
        </p:nvSpPr>
        <p:spPr>
          <a:xfrm>
            <a:off x="5148685" y="4167530"/>
            <a:ext cx="1932292" cy="979550"/>
          </a:xfrm>
          <a:prstGeom prst="rect">
            <a:avLst/>
          </a:prstGeom>
          <a:noFill/>
        </p:spPr>
        <p:txBody>
          <a:bodyPr lIns="0" tIns="0" rIns="0" bIns="0">
            <a:spAutoFit/>
          </a:bodyPr>
          <a:lstStyle/>
          <a:p>
            <a:pPr marL="123810" indent="-123810">
              <a:spcAft>
                <a:spcPts val="413"/>
              </a:spcAft>
              <a:buFont typeface="Wingdings" panose="05000000000000000000" pitchFamily="2" charset="2"/>
              <a:buChar char="§"/>
              <a:defRPr/>
            </a:pPr>
            <a:r>
              <a:rPr lang="en-GB" sz="1101" dirty="0"/>
              <a:t>(Net Present) Value discounted to today</a:t>
            </a:r>
          </a:p>
          <a:p>
            <a:pPr marL="123810" indent="-123810">
              <a:spcAft>
                <a:spcPts val="413"/>
              </a:spcAft>
              <a:buFont typeface="Wingdings" panose="05000000000000000000" pitchFamily="2" charset="2"/>
              <a:buChar char="§"/>
              <a:defRPr/>
            </a:pPr>
            <a:r>
              <a:rPr lang="en-GB" sz="1101" dirty="0"/>
              <a:t>All cashflows over the lifetime </a:t>
            </a:r>
          </a:p>
          <a:p>
            <a:pPr marL="123810" indent="-123810">
              <a:spcAft>
                <a:spcPts val="413"/>
              </a:spcAft>
              <a:buFont typeface="Wingdings" panose="05000000000000000000" pitchFamily="2" charset="2"/>
              <a:buChar char="§"/>
              <a:defRPr/>
            </a:pPr>
            <a:r>
              <a:rPr lang="en-GB" sz="1101" dirty="0"/>
              <a:t>Use of behavioural maturity assumptions</a:t>
            </a:r>
          </a:p>
        </p:txBody>
      </p:sp>
      <p:sp>
        <p:nvSpPr>
          <p:cNvPr id="47143" name="TextBox 71">
            <a:extLst>
              <a:ext uri="{FF2B5EF4-FFF2-40B4-BE49-F238E27FC236}">
                <a16:creationId xmlns:a16="http://schemas.microsoft.com/office/drawing/2014/main" id="{38F15A02-A159-E92B-2901-93BCD5FA3F38}"/>
              </a:ext>
            </a:extLst>
          </p:cNvPr>
          <p:cNvSpPr txBox="1">
            <a:spLocks noChangeArrowheads="1"/>
          </p:cNvSpPr>
          <p:nvPr/>
        </p:nvSpPr>
        <p:spPr bwMode="auto">
          <a:xfrm>
            <a:off x="7626278" y="2628246"/>
            <a:ext cx="705777" cy="523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pPr>
              <a:buClr>
                <a:srgbClr val="91867E"/>
              </a:buClr>
            </a:pPr>
            <a:r>
              <a:rPr lang="en-US" altLang="en-US" sz="3301"/>
              <a:t>???</a:t>
            </a:r>
          </a:p>
        </p:txBody>
      </p:sp>
      <p:sp>
        <p:nvSpPr>
          <p:cNvPr id="73" name="Rectangle 72">
            <a:extLst>
              <a:ext uri="{FF2B5EF4-FFF2-40B4-BE49-F238E27FC236}">
                <a16:creationId xmlns:a16="http://schemas.microsoft.com/office/drawing/2014/main" id="{3F3A5AA5-A8D2-2533-31CF-118C635EC8BD}"/>
              </a:ext>
            </a:extLst>
          </p:cNvPr>
          <p:cNvSpPr/>
          <p:nvPr/>
        </p:nvSpPr>
        <p:spPr>
          <a:xfrm>
            <a:off x="7177593" y="2151722"/>
            <a:ext cx="2025631" cy="1719413"/>
          </a:xfrm>
          <a:prstGeom prst="rect">
            <a:avLst/>
          </a:prstGeom>
          <a:solidFill>
            <a:schemeClr val="bg1">
              <a:lumMod val="75000"/>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963"/>
          </a:p>
        </p:txBody>
      </p:sp>
      <p:sp>
        <p:nvSpPr>
          <p:cNvPr id="47145" name="TextBox 73">
            <a:extLst>
              <a:ext uri="{FF2B5EF4-FFF2-40B4-BE49-F238E27FC236}">
                <a16:creationId xmlns:a16="http://schemas.microsoft.com/office/drawing/2014/main" id="{590C8910-186A-D3A0-F1E4-6A24FA7FB6E8}"/>
              </a:ext>
            </a:extLst>
          </p:cNvPr>
          <p:cNvSpPr txBox="1">
            <a:spLocks noChangeArrowheads="1"/>
          </p:cNvSpPr>
          <p:nvPr/>
        </p:nvSpPr>
        <p:spPr bwMode="auto">
          <a:xfrm>
            <a:off x="4059725" y="2173010"/>
            <a:ext cx="361895" cy="393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pPr>
              <a:buClr>
                <a:srgbClr val="91867E"/>
              </a:buClr>
            </a:pPr>
            <a:r>
              <a:rPr lang="el-GR" altLang="en-US" sz="1238"/>
              <a:t>Δ</a:t>
            </a:r>
            <a:r>
              <a:rPr lang="en-GB" altLang="en-US" sz="1238"/>
              <a:t> NII</a:t>
            </a:r>
            <a:endParaRPr lang="en-US" altLang="en-US" sz="1238"/>
          </a:p>
        </p:txBody>
      </p:sp>
      <p:sp>
        <p:nvSpPr>
          <p:cNvPr id="47146" name="TextBox 74">
            <a:extLst>
              <a:ext uri="{FF2B5EF4-FFF2-40B4-BE49-F238E27FC236}">
                <a16:creationId xmlns:a16="http://schemas.microsoft.com/office/drawing/2014/main" id="{EA5AA7CD-FB18-4760-59C8-90DA1FAC3FD0}"/>
              </a:ext>
            </a:extLst>
          </p:cNvPr>
          <p:cNvSpPr txBox="1">
            <a:spLocks noChangeArrowheads="1"/>
          </p:cNvSpPr>
          <p:nvPr/>
        </p:nvSpPr>
        <p:spPr bwMode="auto">
          <a:xfrm>
            <a:off x="4654149" y="3758146"/>
            <a:ext cx="484711" cy="19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400" b="1">
                <a:solidFill>
                  <a:schemeClr val="tx1"/>
                </a:solidFill>
                <a:latin typeface="Times" panose="02020603050405020304" pitchFamily="18" charset="0"/>
              </a:defRPr>
            </a:lvl1pPr>
            <a:lvl2pPr marL="742950" indent="-285750">
              <a:defRPr sz="2400" b="1">
                <a:solidFill>
                  <a:schemeClr val="tx1"/>
                </a:solidFill>
                <a:latin typeface="Times" panose="02020603050405020304" pitchFamily="18" charset="0"/>
              </a:defRPr>
            </a:lvl2pPr>
            <a:lvl3pPr marL="1143000" indent="-228600">
              <a:defRPr sz="2400" b="1">
                <a:solidFill>
                  <a:schemeClr val="tx1"/>
                </a:solidFill>
                <a:latin typeface="Times" panose="02020603050405020304" pitchFamily="18" charset="0"/>
              </a:defRPr>
            </a:lvl3pPr>
            <a:lvl4pPr marL="1600200" indent="-228600">
              <a:defRPr sz="2400" b="1">
                <a:solidFill>
                  <a:schemeClr val="tx1"/>
                </a:solidFill>
                <a:latin typeface="Times" panose="02020603050405020304" pitchFamily="18" charset="0"/>
              </a:defRPr>
            </a:lvl4pPr>
            <a:lvl5pPr marL="2057400" indent="-228600">
              <a:defRPr sz="2400" b="1">
                <a:solidFill>
                  <a:schemeClr val="tx1"/>
                </a:solidFill>
                <a:latin typeface="Times" panose="02020603050405020304" pitchFamily="18" charset="0"/>
              </a:defRPr>
            </a:lvl5pPr>
            <a:lvl6pPr marL="2514600" indent="-228600" eaLnBrk="0" fontAlgn="base" hangingPunct="0">
              <a:spcBef>
                <a:spcPct val="0"/>
              </a:spcBef>
              <a:spcAft>
                <a:spcPct val="0"/>
              </a:spcAft>
              <a:defRPr sz="2400" b="1">
                <a:solidFill>
                  <a:schemeClr val="tx1"/>
                </a:solidFill>
                <a:latin typeface="Times" panose="02020603050405020304" pitchFamily="18" charset="0"/>
              </a:defRPr>
            </a:lvl6pPr>
            <a:lvl7pPr marL="2971800" indent="-228600" eaLnBrk="0" fontAlgn="base" hangingPunct="0">
              <a:spcBef>
                <a:spcPct val="0"/>
              </a:spcBef>
              <a:spcAft>
                <a:spcPct val="0"/>
              </a:spcAft>
              <a:defRPr sz="2400" b="1">
                <a:solidFill>
                  <a:schemeClr val="tx1"/>
                </a:solidFill>
                <a:latin typeface="Times" panose="02020603050405020304" pitchFamily="18" charset="0"/>
              </a:defRPr>
            </a:lvl7pPr>
            <a:lvl8pPr marL="3429000" indent="-228600" eaLnBrk="0" fontAlgn="base" hangingPunct="0">
              <a:spcBef>
                <a:spcPct val="0"/>
              </a:spcBef>
              <a:spcAft>
                <a:spcPct val="0"/>
              </a:spcAft>
              <a:defRPr sz="2400" b="1">
                <a:solidFill>
                  <a:schemeClr val="tx1"/>
                </a:solidFill>
                <a:latin typeface="Times" panose="02020603050405020304" pitchFamily="18" charset="0"/>
              </a:defRPr>
            </a:lvl8pPr>
            <a:lvl9pPr marL="3886200" indent="-228600" eaLnBrk="0" fontAlgn="base" hangingPunct="0">
              <a:spcBef>
                <a:spcPct val="0"/>
              </a:spcBef>
              <a:spcAft>
                <a:spcPct val="0"/>
              </a:spcAft>
              <a:defRPr sz="2400" b="1">
                <a:solidFill>
                  <a:schemeClr val="tx1"/>
                </a:solidFill>
                <a:latin typeface="Times" panose="02020603050405020304" pitchFamily="18" charset="0"/>
              </a:defRPr>
            </a:lvl9pPr>
          </a:lstStyle>
          <a:p>
            <a:pPr>
              <a:buClr>
                <a:srgbClr val="91867E"/>
              </a:buClr>
            </a:pPr>
            <a:r>
              <a:rPr lang="el-GR" altLang="en-US" sz="1238"/>
              <a:t>Δ</a:t>
            </a:r>
            <a:r>
              <a:rPr lang="en-GB" altLang="en-US" sz="1238"/>
              <a:t> NPV</a:t>
            </a:r>
            <a:endParaRPr lang="en-US" altLang="en-US" sz="1238"/>
          </a:p>
        </p:txBody>
      </p:sp>
      <p:sp>
        <p:nvSpPr>
          <p:cNvPr id="84" name="Title 1">
            <a:extLst>
              <a:ext uri="{FF2B5EF4-FFF2-40B4-BE49-F238E27FC236}">
                <a16:creationId xmlns:a16="http://schemas.microsoft.com/office/drawing/2014/main" id="{3EE45549-6674-64DA-4609-1C527F7AB18F}"/>
              </a:ext>
            </a:extLst>
          </p:cNvPr>
          <p:cNvSpPr txBox="1">
            <a:spLocks/>
          </p:cNvSpPr>
          <p:nvPr/>
        </p:nvSpPr>
        <p:spPr>
          <a:xfrm>
            <a:off x="2901986" y="535475"/>
            <a:ext cx="6438791" cy="564949"/>
          </a:xfrm>
          <a:prstGeom prst="rect">
            <a:avLst/>
          </a:prstGeom>
        </p:spPr>
        <p:txBody>
          <a:bodyPr lIns="0" tIns="0" rIns="0" bIns="0" anchor="b">
            <a:normAutofit/>
          </a:bodyPr>
          <a:lstStyle>
            <a:lvl1pPr algn="l" defTabSz="914400" rtl="0" eaLnBrk="1" latinLnBrk="0" hangingPunct="1">
              <a:spcBef>
                <a:spcPct val="0"/>
              </a:spcBef>
              <a:buNone/>
              <a:defRPr sz="2600" b="1" kern="1200">
                <a:solidFill>
                  <a:srgbClr val="003868"/>
                </a:solidFill>
                <a:latin typeface="+mj-lt"/>
                <a:ea typeface="+mj-ea"/>
                <a:cs typeface="+mj-cs"/>
              </a:defRPr>
            </a:lvl1pPr>
          </a:lstStyle>
          <a:p>
            <a:pPr>
              <a:defRPr/>
            </a:pPr>
            <a:r>
              <a:rPr lang="en-GB" sz="3200" b="0" dirty="0">
                <a:solidFill>
                  <a:schemeClr val="tx1"/>
                </a:solidFill>
              </a:rPr>
              <a:t>Interest Rate Risk in the Banking Book</a:t>
            </a:r>
          </a:p>
        </p:txBody>
      </p:sp>
      <p:sp>
        <p:nvSpPr>
          <p:cNvPr id="87" name="TextBox 86">
            <a:extLst>
              <a:ext uri="{FF2B5EF4-FFF2-40B4-BE49-F238E27FC236}">
                <a16:creationId xmlns:a16="http://schemas.microsoft.com/office/drawing/2014/main" id="{5E7FD077-6DC5-F551-DE60-8E211B84ED0C}"/>
              </a:ext>
            </a:extLst>
          </p:cNvPr>
          <p:cNvSpPr txBox="1"/>
          <p:nvPr/>
        </p:nvSpPr>
        <p:spPr>
          <a:xfrm>
            <a:off x="7257832" y="4149516"/>
            <a:ext cx="2253249" cy="1434865"/>
          </a:xfrm>
          <a:prstGeom prst="rect">
            <a:avLst/>
          </a:prstGeom>
          <a:noFill/>
        </p:spPr>
        <p:txBody>
          <a:bodyPr lIns="0" tIns="0" rIns="0" bIns="0">
            <a:spAutoFit/>
          </a:bodyPr>
          <a:lstStyle/>
          <a:p>
            <a:pPr marL="123810" indent="-123810">
              <a:spcAft>
                <a:spcPts val="413"/>
              </a:spcAft>
              <a:buFont typeface="Wingdings" panose="05000000000000000000" pitchFamily="2" charset="2"/>
              <a:buChar char="§"/>
              <a:defRPr/>
            </a:pPr>
            <a:r>
              <a:rPr lang="en-GB" sz="1101" dirty="0"/>
              <a:t>Loans and deposits are accrual accounted</a:t>
            </a:r>
          </a:p>
          <a:p>
            <a:pPr marL="123810" indent="-123810">
              <a:spcAft>
                <a:spcPts val="413"/>
              </a:spcAft>
              <a:buFont typeface="Wingdings" panose="05000000000000000000" pitchFamily="2" charset="2"/>
              <a:buChar char="§"/>
              <a:defRPr/>
            </a:pPr>
            <a:r>
              <a:rPr lang="en-GB" sz="1101" dirty="0"/>
              <a:t>Derivatives are marked to market</a:t>
            </a:r>
          </a:p>
          <a:p>
            <a:pPr marL="123810" indent="-123810">
              <a:spcAft>
                <a:spcPts val="413"/>
              </a:spcAft>
              <a:buFont typeface="Wingdings" panose="05000000000000000000" pitchFamily="2" charset="2"/>
              <a:buChar char="§"/>
              <a:defRPr/>
            </a:pPr>
            <a:r>
              <a:rPr lang="en-GB" sz="1101" dirty="0"/>
              <a:t>Bonds portfolio (e.g. </a:t>
            </a:r>
            <a:r>
              <a:rPr lang="en-GB" sz="1101" dirty="0" err="1"/>
              <a:t>HtM</a:t>
            </a:r>
            <a:r>
              <a:rPr lang="en-GB" sz="1101" dirty="0"/>
              <a:t>, FVOCI)</a:t>
            </a:r>
          </a:p>
          <a:p>
            <a:pPr marL="123810" indent="-123810">
              <a:spcAft>
                <a:spcPts val="413"/>
              </a:spcAft>
              <a:buFont typeface="Wingdings" panose="05000000000000000000" pitchFamily="2" charset="2"/>
              <a:buChar char="§"/>
              <a:defRPr/>
            </a:pPr>
            <a:r>
              <a:rPr lang="en-GB" sz="1101" dirty="0"/>
              <a:t>Use of contractual maturity (demand deposit)</a:t>
            </a:r>
          </a:p>
          <a:p>
            <a:pPr marL="123810" indent="-123810">
              <a:spcAft>
                <a:spcPts val="413"/>
              </a:spcAft>
              <a:buFont typeface="Wingdings" panose="05000000000000000000" pitchFamily="2" charset="2"/>
              <a:buChar char="§"/>
              <a:defRPr/>
            </a:pPr>
            <a:r>
              <a:rPr lang="en-GB" sz="1101" dirty="0"/>
              <a:t>Hedge accounting rules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1">
            <a:extLst>
              <a:ext uri="{FF2B5EF4-FFF2-40B4-BE49-F238E27FC236}">
                <a16:creationId xmlns:a16="http://schemas.microsoft.com/office/drawing/2014/main" id="{14256A05-401D-0F27-41CD-78F7551D80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3670"/>
          <a:stretch>
            <a:fillRect/>
          </a:stretch>
        </p:blipFill>
        <p:spPr bwMode="auto">
          <a:xfrm>
            <a:off x="2515528" y="2171373"/>
            <a:ext cx="7160945" cy="3340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F4796E47-2FAE-67C1-FCA1-DC9F3F5B2E6A}"/>
              </a:ext>
            </a:extLst>
          </p:cNvPr>
          <p:cNvSpPr/>
          <p:nvPr/>
        </p:nvSpPr>
        <p:spPr>
          <a:xfrm>
            <a:off x="2004587" y="1254915"/>
            <a:ext cx="7924035" cy="290561"/>
          </a:xfrm>
          <a:prstGeom prst="rect">
            <a:avLst/>
          </a:prstGeom>
          <a:solidFill>
            <a:schemeClr val="accent5">
              <a:lumMod val="40000"/>
              <a:lumOff val="60000"/>
            </a:schemeClr>
          </a:solidFill>
          <a:ln w="635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1464" tIns="35733" rIns="71464" bIns="35733" anchor="ctr">
            <a:spAutoFit/>
          </a:bodyPr>
          <a:lstStyle/>
          <a:p>
            <a:pPr marL="0" lvl="1" algn="ctr">
              <a:defRPr/>
            </a:pPr>
            <a:r>
              <a:rPr lang="en-US" sz="1376" dirty="0">
                <a:solidFill>
                  <a:prstClr val="black"/>
                </a:solidFill>
              </a:rPr>
              <a:t>     Items in scope,      definition,       challenges and       metrics.</a:t>
            </a:r>
          </a:p>
        </p:txBody>
      </p:sp>
      <p:sp>
        <p:nvSpPr>
          <p:cNvPr id="7" name="Flowchart: Connector 6">
            <a:extLst>
              <a:ext uri="{FF2B5EF4-FFF2-40B4-BE49-F238E27FC236}">
                <a16:creationId xmlns:a16="http://schemas.microsoft.com/office/drawing/2014/main" id="{7B94ADC0-6553-11F8-402F-2436205B3981}"/>
              </a:ext>
            </a:extLst>
          </p:cNvPr>
          <p:cNvSpPr/>
          <p:nvPr/>
        </p:nvSpPr>
        <p:spPr>
          <a:xfrm>
            <a:off x="2487690" y="4467198"/>
            <a:ext cx="304582" cy="247268"/>
          </a:xfrm>
          <a:prstGeom prst="flowChartConnector">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464" tIns="35733" rIns="71464" bIns="35733" anchor="ctr"/>
          <a:lstStyle/>
          <a:p>
            <a:pPr algn="ctr">
              <a:defRPr/>
            </a:pPr>
            <a:r>
              <a:rPr lang="en-GB" sz="1101" dirty="0"/>
              <a:t>1</a:t>
            </a:r>
            <a:endParaRPr lang="de-DE" sz="1101" dirty="0"/>
          </a:p>
        </p:txBody>
      </p:sp>
      <p:sp>
        <p:nvSpPr>
          <p:cNvPr id="8" name="Flowchart: Connector 7">
            <a:extLst>
              <a:ext uri="{FF2B5EF4-FFF2-40B4-BE49-F238E27FC236}">
                <a16:creationId xmlns:a16="http://schemas.microsoft.com/office/drawing/2014/main" id="{37BFD92E-95CD-6169-ED8E-1F6B3531AB37}"/>
              </a:ext>
            </a:extLst>
          </p:cNvPr>
          <p:cNvSpPr/>
          <p:nvPr/>
        </p:nvSpPr>
        <p:spPr>
          <a:xfrm>
            <a:off x="2487690" y="2271263"/>
            <a:ext cx="304582" cy="247267"/>
          </a:xfrm>
          <a:prstGeom prst="flowChartConnector">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464" tIns="35733" rIns="71464" bIns="35733" anchor="ctr"/>
          <a:lstStyle/>
          <a:p>
            <a:pPr algn="ctr">
              <a:defRPr/>
            </a:pPr>
            <a:r>
              <a:rPr lang="en-GB" sz="1101" dirty="0"/>
              <a:t>2</a:t>
            </a:r>
            <a:endParaRPr lang="de-DE" sz="1101" dirty="0"/>
          </a:p>
        </p:txBody>
      </p:sp>
      <p:sp>
        <p:nvSpPr>
          <p:cNvPr id="9" name="Flowchart: Connector 8">
            <a:extLst>
              <a:ext uri="{FF2B5EF4-FFF2-40B4-BE49-F238E27FC236}">
                <a16:creationId xmlns:a16="http://schemas.microsoft.com/office/drawing/2014/main" id="{68E8FBC5-D60D-3203-7105-76F77FDE218D}"/>
              </a:ext>
            </a:extLst>
          </p:cNvPr>
          <p:cNvSpPr/>
          <p:nvPr/>
        </p:nvSpPr>
        <p:spPr>
          <a:xfrm>
            <a:off x="4889955" y="2271263"/>
            <a:ext cx="304582" cy="247267"/>
          </a:xfrm>
          <a:prstGeom prst="flowChartConnector">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464" tIns="35733" rIns="71464" bIns="35733" anchor="ctr"/>
          <a:lstStyle/>
          <a:p>
            <a:pPr algn="ctr">
              <a:defRPr/>
            </a:pPr>
            <a:r>
              <a:rPr lang="en-GB" sz="1101" dirty="0"/>
              <a:t>3</a:t>
            </a:r>
            <a:endParaRPr lang="de-DE" sz="1101" dirty="0"/>
          </a:p>
        </p:txBody>
      </p:sp>
      <p:sp>
        <p:nvSpPr>
          <p:cNvPr id="10" name="Flowchart: Connector 9">
            <a:extLst>
              <a:ext uri="{FF2B5EF4-FFF2-40B4-BE49-F238E27FC236}">
                <a16:creationId xmlns:a16="http://schemas.microsoft.com/office/drawing/2014/main" id="{65D1264E-B10B-2C78-66E9-B2B079A2179B}"/>
              </a:ext>
            </a:extLst>
          </p:cNvPr>
          <p:cNvSpPr/>
          <p:nvPr/>
        </p:nvSpPr>
        <p:spPr>
          <a:xfrm>
            <a:off x="7274207" y="2271263"/>
            <a:ext cx="304582" cy="247267"/>
          </a:xfrm>
          <a:prstGeom prst="flowChartConnector">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464" tIns="35733" rIns="71464" bIns="35733" anchor="ctr"/>
          <a:lstStyle/>
          <a:p>
            <a:pPr algn="ctr">
              <a:defRPr/>
            </a:pPr>
            <a:r>
              <a:rPr lang="en-GB" sz="1101" dirty="0"/>
              <a:t>4</a:t>
            </a:r>
            <a:endParaRPr lang="de-DE" sz="1101" dirty="0"/>
          </a:p>
        </p:txBody>
      </p:sp>
      <p:sp>
        <p:nvSpPr>
          <p:cNvPr id="11" name="Flowchart: Connector 10">
            <a:extLst>
              <a:ext uri="{FF2B5EF4-FFF2-40B4-BE49-F238E27FC236}">
                <a16:creationId xmlns:a16="http://schemas.microsoft.com/office/drawing/2014/main" id="{D6313ADC-2B08-7806-19F0-089E01906FCB}"/>
              </a:ext>
            </a:extLst>
          </p:cNvPr>
          <p:cNvSpPr>
            <a:spLocks noChangeAspect="1"/>
          </p:cNvSpPr>
          <p:nvPr/>
        </p:nvSpPr>
        <p:spPr>
          <a:xfrm>
            <a:off x="4267692" y="1555661"/>
            <a:ext cx="243993" cy="198141"/>
          </a:xfrm>
          <a:prstGeom prst="flowChartConnector">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464" tIns="35733" rIns="71464" bIns="35733" anchor="ctr"/>
          <a:lstStyle/>
          <a:p>
            <a:pPr algn="ctr">
              <a:defRPr/>
            </a:pPr>
            <a:r>
              <a:rPr lang="en-GB" sz="1101" dirty="0"/>
              <a:t>1</a:t>
            </a:r>
            <a:endParaRPr lang="de-DE" sz="1101" dirty="0"/>
          </a:p>
        </p:txBody>
      </p:sp>
      <p:sp>
        <p:nvSpPr>
          <p:cNvPr id="12" name="Flowchart: Connector 11">
            <a:extLst>
              <a:ext uri="{FF2B5EF4-FFF2-40B4-BE49-F238E27FC236}">
                <a16:creationId xmlns:a16="http://schemas.microsoft.com/office/drawing/2014/main" id="{9BAA6D05-7A9B-15A0-50EB-84C8A07E33C7}"/>
              </a:ext>
            </a:extLst>
          </p:cNvPr>
          <p:cNvSpPr>
            <a:spLocks noChangeAspect="1"/>
          </p:cNvSpPr>
          <p:nvPr/>
        </p:nvSpPr>
        <p:spPr>
          <a:xfrm>
            <a:off x="5496112" y="1570039"/>
            <a:ext cx="243992" cy="198141"/>
          </a:xfrm>
          <a:prstGeom prst="flowChartConnector">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464" tIns="35733" rIns="71464" bIns="35733" anchor="ctr"/>
          <a:lstStyle/>
          <a:p>
            <a:pPr algn="ctr">
              <a:defRPr/>
            </a:pPr>
            <a:r>
              <a:rPr lang="en-GB" sz="1101" dirty="0"/>
              <a:t>2</a:t>
            </a:r>
            <a:endParaRPr lang="de-DE" sz="1101" dirty="0"/>
          </a:p>
        </p:txBody>
      </p:sp>
      <p:sp>
        <p:nvSpPr>
          <p:cNvPr id="13" name="Flowchart: Connector 12">
            <a:extLst>
              <a:ext uri="{FF2B5EF4-FFF2-40B4-BE49-F238E27FC236}">
                <a16:creationId xmlns:a16="http://schemas.microsoft.com/office/drawing/2014/main" id="{C12D3A2D-2C3A-C46E-0919-8F04C7680D2F}"/>
              </a:ext>
            </a:extLst>
          </p:cNvPr>
          <p:cNvSpPr>
            <a:spLocks noChangeAspect="1"/>
          </p:cNvSpPr>
          <p:nvPr/>
        </p:nvSpPr>
        <p:spPr>
          <a:xfrm>
            <a:off x="6588214" y="1570039"/>
            <a:ext cx="243992" cy="198141"/>
          </a:xfrm>
          <a:prstGeom prst="flowChartConnector">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464" tIns="35733" rIns="71464" bIns="35733" anchor="ctr"/>
          <a:lstStyle/>
          <a:p>
            <a:pPr algn="ctr">
              <a:defRPr/>
            </a:pPr>
            <a:r>
              <a:rPr lang="en-GB" sz="1101" dirty="0"/>
              <a:t>3</a:t>
            </a:r>
            <a:endParaRPr lang="de-DE" sz="1101" dirty="0"/>
          </a:p>
        </p:txBody>
      </p:sp>
      <p:sp>
        <p:nvSpPr>
          <p:cNvPr id="14" name="Flowchart: Connector 13">
            <a:extLst>
              <a:ext uri="{FF2B5EF4-FFF2-40B4-BE49-F238E27FC236}">
                <a16:creationId xmlns:a16="http://schemas.microsoft.com/office/drawing/2014/main" id="{1916DB9B-6A7B-8499-18C5-8DCC79F7A371}"/>
              </a:ext>
            </a:extLst>
          </p:cNvPr>
          <p:cNvSpPr>
            <a:spLocks noChangeAspect="1"/>
          </p:cNvSpPr>
          <p:nvPr/>
        </p:nvSpPr>
        <p:spPr>
          <a:xfrm>
            <a:off x="7766580" y="1570039"/>
            <a:ext cx="243993" cy="198141"/>
          </a:xfrm>
          <a:prstGeom prst="flowChartConnector">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1464" tIns="35733" rIns="71464" bIns="35733" anchor="ctr"/>
          <a:lstStyle/>
          <a:p>
            <a:pPr algn="ctr">
              <a:defRPr/>
            </a:pPr>
            <a:r>
              <a:rPr lang="en-GB" sz="1101" dirty="0"/>
              <a:t>4</a:t>
            </a:r>
            <a:endParaRPr lang="de-DE" sz="1101" dirty="0"/>
          </a:p>
        </p:txBody>
      </p:sp>
      <p:sp>
        <p:nvSpPr>
          <p:cNvPr id="23" name="Title 1">
            <a:extLst>
              <a:ext uri="{FF2B5EF4-FFF2-40B4-BE49-F238E27FC236}">
                <a16:creationId xmlns:a16="http://schemas.microsoft.com/office/drawing/2014/main" id="{2BF3EE68-75FB-A2E5-DD95-60A4E4700658}"/>
              </a:ext>
            </a:extLst>
          </p:cNvPr>
          <p:cNvSpPr txBox="1">
            <a:spLocks/>
          </p:cNvSpPr>
          <p:nvPr/>
        </p:nvSpPr>
        <p:spPr>
          <a:xfrm>
            <a:off x="1383485" y="183585"/>
            <a:ext cx="7924035" cy="496174"/>
          </a:xfrm>
          <a:prstGeom prst="rect">
            <a:avLst/>
          </a:prstGeom>
        </p:spPr>
        <p:txBody>
          <a:bodyPr lIns="0" tIns="0" rIns="0" bIns="0" anchor="b">
            <a:normAutofit fontScale="77500" lnSpcReduction="20000"/>
          </a:bodyPr>
          <a:lstStyle>
            <a:lvl1pPr algn="l" defTabSz="914400" rtl="0" eaLnBrk="1" latinLnBrk="0" hangingPunct="1">
              <a:spcBef>
                <a:spcPct val="0"/>
              </a:spcBef>
              <a:buNone/>
              <a:defRPr sz="2600" b="1" kern="1200">
                <a:solidFill>
                  <a:srgbClr val="003868"/>
                </a:solidFill>
                <a:latin typeface="+mj-lt"/>
                <a:ea typeface="+mj-ea"/>
                <a:cs typeface="+mj-cs"/>
              </a:defRPr>
            </a:lvl1pPr>
          </a:lstStyle>
          <a:p>
            <a:pPr>
              <a:defRPr/>
            </a:pPr>
            <a:endParaRPr lang="en-GB" sz="1742" dirty="0"/>
          </a:p>
          <a:p>
            <a:pPr>
              <a:defRPr/>
            </a:pPr>
            <a:r>
              <a:rPr lang="en-US" sz="3200" b="0" dirty="0">
                <a:solidFill>
                  <a:schemeClr val="tx1"/>
                </a:solidFill>
              </a:rPr>
              <a:t>Interest Rate Risk in the Banking Book metrics</a:t>
            </a:r>
            <a:endParaRPr lang="en-GB" sz="3200" b="0" dirty="0">
              <a:solidFill>
                <a:schemeClr val="tx1"/>
              </a:solidFill>
            </a:endParaRPr>
          </a:p>
        </p:txBody>
      </p:sp>
      <p:sp>
        <p:nvSpPr>
          <p:cNvPr id="24" name="Rectangle 5">
            <a:extLst>
              <a:ext uri="{FF2B5EF4-FFF2-40B4-BE49-F238E27FC236}">
                <a16:creationId xmlns:a16="http://schemas.microsoft.com/office/drawing/2014/main" id="{A9F08643-883F-951C-3C4B-8720E1F35670}"/>
              </a:ext>
            </a:extLst>
          </p:cNvPr>
          <p:cNvSpPr>
            <a:spLocks noChangeArrowheads="1"/>
          </p:cNvSpPr>
          <p:nvPr/>
        </p:nvSpPr>
        <p:spPr bwMode="auto">
          <a:xfrm>
            <a:off x="2278086" y="5675699"/>
            <a:ext cx="722153" cy="101924"/>
          </a:xfrm>
          <a:prstGeom prst="rect">
            <a:avLst/>
          </a:prstGeom>
          <a:noFill/>
          <a:ln w="9525">
            <a:noFill/>
            <a:miter lim="800000"/>
            <a:headEnd/>
            <a:tailEnd/>
          </a:ln>
          <a:effectLst/>
        </p:spPr>
        <p:txBody>
          <a:bodyPr lIns="0" tIns="0" rIns="0" bIns="0">
            <a:spAutoFit/>
          </a:bodyPr>
          <a:lstStyle/>
          <a:p>
            <a:pPr>
              <a:defRPr/>
            </a:pPr>
            <a:r>
              <a:rPr lang="de-DE" sz="642" dirty="0">
                <a:latin typeface="+mj-lt"/>
              </a:rPr>
              <a:t>Source: ECB, 2017</a:t>
            </a:r>
            <a:endParaRPr lang="en-US" sz="642" dirty="0">
              <a:latin typeface="+mj-lt"/>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E7B42-28F2-45BC-FA55-5C15F46C444A}"/>
              </a:ext>
            </a:extLst>
          </p:cNvPr>
          <p:cNvSpPr>
            <a:spLocks noGrp="1"/>
          </p:cNvSpPr>
          <p:nvPr>
            <p:ph type="title"/>
          </p:nvPr>
        </p:nvSpPr>
        <p:spPr>
          <a:xfrm>
            <a:off x="2159396" y="454493"/>
            <a:ext cx="7344284" cy="471610"/>
          </a:xfrm>
        </p:spPr>
        <p:txBody>
          <a:bodyPr>
            <a:noAutofit/>
          </a:bodyPr>
          <a:lstStyle/>
          <a:p>
            <a:pPr>
              <a:defRPr/>
            </a:pPr>
            <a:r>
              <a:rPr lang="en-GB" sz="3200" dirty="0"/>
              <a:t>Steps to Calculating NII Sensitivity</a:t>
            </a:r>
          </a:p>
        </p:txBody>
      </p:sp>
      <p:sp>
        <p:nvSpPr>
          <p:cNvPr id="3" name="TextBox 2">
            <a:extLst>
              <a:ext uri="{FF2B5EF4-FFF2-40B4-BE49-F238E27FC236}">
                <a16:creationId xmlns:a16="http://schemas.microsoft.com/office/drawing/2014/main" id="{C56CFE80-0C42-47C5-6BE6-2578D2CA6707}"/>
              </a:ext>
            </a:extLst>
          </p:cNvPr>
          <p:cNvSpPr txBox="1"/>
          <p:nvPr/>
        </p:nvSpPr>
        <p:spPr>
          <a:xfrm>
            <a:off x="3812457" y="2045283"/>
            <a:ext cx="5269590" cy="949964"/>
          </a:xfrm>
          <a:prstGeom prst="rect">
            <a:avLst/>
          </a:prstGeom>
          <a:noFill/>
        </p:spPr>
        <p:txBody>
          <a:bodyPr lIns="59913" tIns="29956" rIns="59913" bIns="29956">
            <a:spAutoFit/>
          </a:bodyPr>
          <a:lstStyle/>
          <a:p>
            <a:pPr>
              <a:defRPr/>
            </a:pPr>
            <a:endParaRPr lang="en-GB" sz="1206" dirty="0"/>
          </a:p>
          <a:p>
            <a:pPr>
              <a:defRPr/>
            </a:pPr>
            <a:endParaRPr lang="en-GB" sz="1206" dirty="0"/>
          </a:p>
          <a:p>
            <a:pPr>
              <a:defRPr/>
            </a:pPr>
            <a:endParaRPr lang="en-GB" sz="1206" dirty="0"/>
          </a:p>
          <a:p>
            <a:pPr>
              <a:defRPr/>
            </a:pPr>
            <a:endParaRPr lang="en-GB" sz="993" dirty="0"/>
          </a:p>
          <a:p>
            <a:pPr>
              <a:defRPr/>
            </a:pPr>
            <a:endParaRPr lang="en-GB" sz="993" dirty="0"/>
          </a:p>
        </p:txBody>
      </p:sp>
      <p:sp>
        <p:nvSpPr>
          <p:cNvPr id="4" name="Rectangle 3">
            <a:extLst>
              <a:ext uri="{FF2B5EF4-FFF2-40B4-BE49-F238E27FC236}">
                <a16:creationId xmlns:a16="http://schemas.microsoft.com/office/drawing/2014/main" id="{33EF69D6-D94C-3BD8-1C08-9F92CE391F5B}"/>
              </a:ext>
            </a:extLst>
          </p:cNvPr>
          <p:cNvSpPr/>
          <p:nvPr/>
        </p:nvSpPr>
        <p:spPr>
          <a:xfrm>
            <a:off x="2085674" y="1423018"/>
            <a:ext cx="7281304" cy="1449577"/>
          </a:xfrm>
          <a:prstGeom prst="rect">
            <a:avLst/>
          </a:prstGeom>
          <a:solidFill>
            <a:srgbClr val="03B7A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9913" tIns="29956" rIns="59913" bIns="29956" anchor="ctr"/>
          <a:lstStyle/>
          <a:p>
            <a:pPr algn="just">
              <a:defRPr/>
            </a:pPr>
            <a:endParaRPr lang="en-GB" sz="922" u="sng" dirty="0">
              <a:solidFill>
                <a:schemeClr val="tx1"/>
              </a:solidFill>
            </a:endParaRPr>
          </a:p>
          <a:p>
            <a:pPr algn="just">
              <a:defRPr/>
            </a:pPr>
            <a:endParaRPr lang="en-GB" sz="922" u="sng" dirty="0">
              <a:solidFill>
                <a:schemeClr val="tx1"/>
              </a:solidFill>
            </a:endParaRPr>
          </a:p>
          <a:p>
            <a:pPr algn="just">
              <a:defRPr/>
            </a:pPr>
            <a:endParaRPr lang="en-GB" sz="922" u="sng" dirty="0">
              <a:solidFill>
                <a:schemeClr val="tx1"/>
              </a:solidFill>
            </a:endParaRPr>
          </a:p>
          <a:p>
            <a:pPr algn="just">
              <a:defRPr/>
            </a:pPr>
            <a:r>
              <a:rPr lang="en-GB" sz="922" u="sng" dirty="0">
                <a:solidFill>
                  <a:schemeClr val="bg1"/>
                </a:solidFill>
              </a:rPr>
              <a:t>Step 1</a:t>
            </a:r>
            <a:r>
              <a:rPr lang="en-GB" sz="922" dirty="0">
                <a:solidFill>
                  <a:schemeClr val="bg1"/>
                </a:solidFill>
              </a:rPr>
              <a:t> – Project all notional re-pricing cash flows arising from </a:t>
            </a:r>
            <a:r>
              <a:rPr lang="en-GB" sz="922" i="1" dirty="0">
                <a:solidFill>
                  <a:schemeClr val="bg1"/>
                </a:solidFill>
              </a:rPr>
              <a:t>current </a:t>
            </a:r>
            <a:r>
              <a:rPr lang="en-GB" sz="922" dirty="0">
                <a:solidFill>
                  <a:schemeClr val="bg1"/>
                </a:solidFill>
              </a:rPr>
              <a:t>balance sheet interest rate sensitive assets, liabilities and off-balance sheet instruments for the next 12 months.</a:t>
            </a:r>
          </a:p>
          <a:p>
            <a:pPr algn="just">
              <a:defRPr/>
            </a:pPr>
            <a:r>
              <a:rPr lang="en-GB" sz="922" dirty="0">
                <a:solidFill>
                  <a:schemeClr val="bg1"/>
                </a:solidFill>
              </a:rPr>
              <a:t>Assume BAU projected balance sheet growth over next 12 months and slot the interest income and interest expense from this assumed future business into the relevant bucket for next 12 months</a:t>
            </a:r>
          </a:p>
          <a:p>
            <a:pPr algn="just">
              <a:defRPr/>
            </a:pPr>
            <a:r>
              <a:rPr lang="en-GB" sz="922" dirty="0">
                <a:solidFill>
                  <a:schemeClr val="bg1"/>
                </a:solidFill>
              </a:rPr>
              <a:t>A notional re-pricing cash flow is any repayment of principal, any re-pricing of principal or any interest payment on a tranche of principal that has not yet been repaid or re-priced, arising from the </a:t>
            </a:r>
            <a:r>
              <a:rPr lang="en-GB" sz="922" i="1" dirty="0">
                <a:solidFill>
                  <a:schemeClr val="bg1"/>
                </a:solidFill>
              </a:rPr>
              <a:t>current </a:t>
            </a:r>
            <a:r>
              <a:rPr lang="en-GB" sz="922" dirty="0">
                <a:solidFill>
                  <a:schemeClr val="bg1"/>
                </a:solidFill>
              </a:rPr>
              <a:t>balance sheet position and expected future balance sheet items in next 12 months</a:t>
            </a:r>
          </a:p>
          <a:p>
            <a:pPr algn="just">
              <a:defRPr/>
            </a:pPr>
            <a:endParaRPr lang="en-GB" sz="922" dirty="0">
              <a:solidFill>
                <a:schemeClr val="bg1"/>
              </a:solidFill>
            </a:endParaRPr>
          </a:p>
          <a:p>
            <a:pPr algn="just">
              <a:defRPr/>
            </a:pPr>
            <a:endParaRPr lang="en-GB" sz="922" dirty="0">
              <a:solidFill>
                <a:schemeClr val="bg1"/>
              </a:solidFill>
            </a:endParaRPr>
          </a:p>
          <a:p>
            <a:pPr algn="just">
              <a:defRPr/>
            </a:pPr>
            <a:endParaRPr lang="en-GB" sz="922" dirty="0">
              <a:solidFill>
                <a:schemeClr val="tx1"/>
              </a:solidFill>
            </a:endParaRPr>
          </a:p>
        </p:txBody>
      </p:sp>
      <p:sp>
        <p:nvSpPr>
          <p:cNvPr id="5" name="Down Arrow 4">
            <a:extLst>
              <a:ext uri="{FF2B5EF4-FFF2-40B4-BE49-F238E27FC236}">
                <a16:creationId xmlns:a16="http://schemas.microsoft.com/office/drawing/2014/main" id="{8C77EA1A-42CA-D373-C334-F04993AF89FC}"/>
              </a:ext>
            </a:extLst>
          </p:cNvPr>
          <p:cNvSpPr/>
          <p:nvPr/>
        </p:nvSpPr>
        <p:spPr>
          <a:xfrm>
            <a:off x="5515493" y="2934633"/>
            <a:ext cx="316045" cy="306219"/>
          </a:xfrm>
          <a:prstGeom prst="downArrow">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9913" tIns="29956" rIns="59913" bIns="29956" anchor="ctr"/>
          <a:lstStyle/>
          <a:p>
            <a:pPr algn="ctr">
              <a:defRPr/>
            </a:pPr>
            <a:endParaRPr lang="en-GB" sz="993" dirty="0"/>
          </a:p>
        </p:txBody>
      </p:sp>
      <p:sp>
        <p:nvSpPr>
          <p:cNvPr id="6" name="Rectangle 5">
            <a:extLst>
              <a:ext uri="{FF2B5EF4-FFF2-40B4-BE49-F238E27FC236}">
                <a16:creationId xmlns:a16="http://schemas.microsoft.com/office/drawing/2014/main" id="{D2BEBB4F-E3D6-0F4D-3277-2876E7FA8072}"/>
              </a:ext>
            </a:extLst>
          </p:cNvPr>
          <p:cNvSpPr/>
          <p:nvPr/>
        </p:nvSpPr>
        <p:spPr>
          <a:xfrm>
            <a:off x="2085674" y="3273628"/>
            <a:ext cx="7281304" cy="554956"/>
          </a:xfrm>
          <a:prstGeom prst="rect">
            <a:avLst/>
          </a:prstGeom>
          <a:solidFill>
            <a:srgbClr val="03B7A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9913" tIns="29956" rIns="59913" bIns="29956" anchor="ctr"/>
          <a:lstStyle/>
          <a:p>
            <a:pPr algn="just">
              <a:defRPr/>
            </a:pPr>
            <a:r>
              <a:rPr lang="en-GB" sz="922" u="sng" dirty="0">
                <a:solidFill>
                  <a:schemeClr val="bg1"/>
                </a:solidFill>
              </a:rPr>
              <a:t>Step 2</a:t>
            </a:r>
            <a:r>
              <a:rPr lang="en-GB" sz="922" dirty="0">
                <a:solidFill>
                  <a:schemeClr val="bg1"/>
                </a:solidFill>
              </a:rPr>
              <a:t> – Slot the Cash flows into the month in which they occur, and sum the net interest income (NII). This is the baseline NII</a:t>
            </a:r>
          </a:p>
        </p:txBody>
      </p:sp>
      <p:sp>
        <p:nvSpPr>
          <p:cNvPr id="7" name="Rectangle 6">
            <a:extLst>
              <a:ext uri="{FF2B5EF4-FFF2-40B4-BE49-F238E27FC236}">
                <a16:creationId xmlns:a16="http://schemas.microsoft.com/office/drawing/2014/main" id="{11AE9EF8-D6B2-9BBA-E10D-F0C55F781F77}"/>
              </a:ext>
            </a:extLst>
          </p:cNvPr>
          <p:cNvSpPr/>
          <p:nvPr/>
        </p:nvSpPr>
        <p:spPr>
          <a:xfrm>
            <a:off x="2085673" y="4133716"/>
            <a:ext cx="7281304" cy="857494"/>
          </a:xfrm>
          <a:prstGeom prst="rect">
            <a:avLst/>
          </a:prstGeom>
          <a:solidFill>
            <a:srgbClr val="03B7A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9913" tIns="29956" rIns="59913" bIns="29956" anchor="ctr"/>
          <a:lstStyle/>
          <a:p>
            <a:pPr algn="just">
              <a:defRPr/>
            </a:pPr>
            <a:r>
              <a:rPr lang="en-GB" sz="922" u="sng" dirty="0">
                <a:solidFill>
                  <a:schemeClr val="bg1"/>
                </a:solidFill>
              </a:rPr>
              <a:t>Step 3</a:t>
            </a:r>
            <a:r>
              <a:rPr lang="en-GB" sz="922" dirty="0">
                <a:solidFill>
                  <a:schemeClr val="bg1"/>
                </a:solidFill>
              </a:rPr>
              <a:t> – Apply the yield curve shock, which will impact all floating-rate cashflows, to determine the new NII value. Make  and apply assumptions on (</a:t>
            </a:r>
            <a:r>
              <a:rPr lang="en-GB" sz="922" dirty="0" err="1">
                <a:solidFill>
                  <a:schemeClr val="bg1"/>
                </a:solidFill>
              </a:rPr>
              <a:t>i</a:t>
            </a:r>
            <a:r>
              <a:rPr lang="en-GB" sz="922" dirty="0">
                <a:solidFill>
                  <a:schemeClr val="bg1"/>
                </a:solidFill>
              </a:rPr>
              <a:t>) time lag and magnitude of interest rate changes feeding through to customer products (ii) behavioural assumptions regards impact on volume </a:t>
            </a:r>
            <a:r>
              <a:rPr lang="en-GB" sz="922" dirty="0" err="1">
                <a:solidFill>
                  <a:schemeClr val="bg1"/>
                </a:solidFill>
              </a:rPr>
              <a:t>notionals</a:t>
            </a:r>
            <a:r>
              <a:rPr lang="en-GB" sz="922" dirty="0">
                <a:solidFill>
                  <a:schemeClr val="bg1"/>
                </a:solidFill>
              </a:rPr>
              <a:t> (</a:t>
            </a:r>
            <a:r>
              <a:rPr lang="en-GB" sz="922" dirty="0" err="1">
                <a:solidFill>
                  <a:schemeClr val="bg1"/>
                </a:solidFill>
              </a:rPr>
              <a:t>eg.</a:t>
            </a:r>
            <a:r>
              <a:rPr lang="en-GB" sz="922" dirty="0">
                <a:solidFill>
                  <a:schemeClr val="bg1"/>
                </a:solidFill>
              </a:rPr>
              <a:t>, prepayment of floating rate loans)</a:t>
            </a:r>
          </a:p>
        </p:txBody>
      </p:sp>
      <p:sp>
        <p:nvSpPr>
          <p:cNvPr id="8" name="Down Arrow 7">
            <a:extLst>
              <a:ext uri="{FF2B5EF4-FFF2-40B4-BE49-F238E27FC236}">
                <a16:creationId xmlns:a16="http://schemas.microsoft.com/office/drawing/2014/main" id="{4D5A2E88-00B3-19F3-C7FD-A5C4DFAF0637}"/>
              </a:ext>
            </a:extLst>
          </p:cNvPr>
          <p:cNvSpPr/>
          <p:nvPr/>
        </p:nvSpPr>
        <p:spPr>
          <a:xfrm>
            <a:off x="5515492" y="3811802"/>
            <a:ext cx="316045" cy="306220"/>
          </a:xfrm>
          <a:prstGeom prst="downArrow">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9913" tIns="29956" rIns="59913" bIns="29956" anchor="ctr"/>
          <a:lstStyle/>
          <a:p>
            <a:pPr algn="ctr">
              <a:defRPr/>
            </a:pPr>
            <a:endParaRPr lang="en-GB" sz="993" dirty="0"/>
          </a:p>
        </p:txBody>
      </p:sp>
      <p:sp>
        <p:nvSpPr>
          <p:cNvPr id="9" name="Rectangle 8">
            <a:extLst>
              <a:ext uri="{FF2B5EF4-FFF2-40B4-BE49-F238E27FC236}">
                <a16:creationId xmlns:a16="http://schemas.microsoft.com/office/drawing/2014/main" id="{AD383882-FE82-DC39-1003-EE62031CB626}"/>
              </a:ext>
            </a:extLst>
          </p:cNvPr>
          <p:cNvSpPr/>
          <p:nvPr/>
        </p:nvSpPr>
        <p:spPr>
          <a:xfrm>
            <a:off x="2085673" y="5379142"/>
            <a:ext cx="7281304" cy="573083"/>
          </a:xfrm>
          <a:prstGeom prst="rect">
            <a:avLst/>
          </a:prstGeom>
          <a:solidFill>
            <a:srgbClr val="03B7A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9913" tIns="29956" rIns="59913" bIns="29956" anchor="ctr"/>
          <a:lstStyle/>
          <a:p>
            <a:pPr algn="just">
              <a:defRPr/>
            </a:pPr>
            <a:r>
              <a:rPr lang="en-GB" sz="922" u="sng" dirty="0">
                <a:solidFill>
                  <a:schemeClr val="bg1"/>
                </a:solidFill>
              </a:rPr>
              <a:t>Step 4</a:t>
            </a:r>
            <a:r>
              <a:rPr lang="en-GB" sz="922" dirty="0">
                <a:solidFill>
                  <a:schemeClr val="bg1"/>
                </a:solidFill>
              </a:rPr>
              <a:t> – The NII sensitivity is the difference between the Baseline NII and Shock Scenario NII. </a:t>
            </a:r>
          </a:p>
        </p:txBody>
      </p:sp>
      <p:sp>
        <p:nvSpPr>
          <p:cNvPr id="10" name="Down Arrow 9">
            <a:extLst>
              <a:ext uri="{FF2B5EF4-FFF2-40B4-BE49-F238E27FC236}">
                <a16:creationId xmlns:a16="http://schemas.microsoft.com/office/drawing/2014/main" id="{692B5070-6DD3-9562-6E41-D7BA378C71D1}"/>
              </a:ext>
            </a:extLst>
          </p:cNvPr>
          <p:cNvSpPr/>
          <p:nvPr/>
        </p:nvSpPr>
        <p:spPr>
          <a:xfrm>
            <a:off x="5515493" y="4991210"/>
            <a:ext cx="316045" cy="306220"/>
          </a:xfrm>
          <a:prstGeom prst="downArrow">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9913" tIns="29956" rIns="59913" bIns="29956" anchor="ctr"/>
          <a:lstStyle/>
          <a:p>
            <a:pPr algn="ctr">
              <a:defRPr/>
            </a:pPr>
            <a:endParaRPr lang="en-GB" sz="993"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C54412A6-F96D-A485-40BE-B128BCD7B74C}"/>
              </a:ext>
            </a:extLst>
          </p:cNvPr>
          <p:cNvGraphicFramePr>
            <a:graphicFrameLocks noGrp="1"/>
          </p:cNvGraphicFramePr>
          <p:nvPr/>
        </p:nvGraphicFramePr>
        <p:xfrm>
          <a:off x="2133983" y="1843865"/>
          <a:ext cx="7924037" cy="4152787"/>
        </p:xfrm>
        <a:graphic>
          <a:graphicData uri="http://schemas.openxmlformats.org/drawingml/2006/table">
            <a:tbl>
              <a:tblPr firstRow="1" bandRow="1">
                <a:tableStyleId>{5C22544A-7EE6-4342-B048-85BDC9FD1C3A}</a:tableStyleId>
              </a:tblPr>
              <a:tblGrid>
                <a:gridCol w="1446553">
                  <a:extLst>
                    <a:ext uri="{9D8B030D-6E8A-4147-A177-3AD203B41FA5}">
                      <a16:colId xmlns:a16="http://schemas.microsoft.com/office/drawing/2014/main" val="20000"/>
                    </a:ext>
                  </a:extLst>
                </a:gridCol>
                <a:gridCol w="1029849">
                  <a:extLst>
                    <a:ext uri="{9D8B030D-6E8A-4147-A177-3AD203B41FA5}">
                      <a16:colId xmlns:a16="http://schemas.microsoft.com/office/drawing/2014/main" val="20001"/>
                    </a:ext>
                  </a:extLst>
                </a:gridCol>
                <a:gridCol w="1857301">
                  <a:extLst>
                    <a:ext uri="{9D8B030D-6E8A-4147-A177-3AD203B41FA5}">
                      <a16:colId xmlns:a16="http://schemas.microsoft.com/office/drawing/2014/main" val="20002"/>
                    </a:ext>
                  </a:extLst>
                </a:gridCol>
                <a:gridCol w="1052471">
                  <a:extLst>
                    <a:ext uri="{9D8B030D-6E8A-4147-A177-3AD203B41FA5}">
                      <a16:colId xmlns:a16="http://schemas.microsoft.com/office/drawing/2014/main" val="20003"/>
                    </a:ext>
                  </a:extLst>
                </a:gridCol>
                <a:gridCol w="2537863">
                  <a:extLst>
                    <a:ext uri="{9D8B030D-6E8A-4147-A177-3AD203B41FA5}">
                      <a16:colId xmlns:a16="http://schemas.microsoft.com/office/drawing/2014/main" val="20004"/>
                    </a:ext>
                  </a:extLst>
                </a:gridCol>
              </a:tblGrid>
              <a:tr h="540465">
                <a:tc>
                  <a:txBody>
                    <a:bodyPr/>
                    <a:lstStyle/>
                    <a:p>
                      <a:pPr algn="ctr"/>
                      <a:r>
                        <a:rPr lang="en-US" sz="1300" dirty="0"/>
                        <a:t>TIME</a:t>
                      </a:r>
                      <a:r>
                        <a:rPr lang="en-US" sz="1300" baseline="0" dirty="0"/>
                        <a:t> BUCKET</a:t>
                      </a:r>
                      <a:endParaRPr lang="en-US" sz="1300" dirty="0"/>
                    </a:p>
                  </a:txBody>
                  <a:tcPr marL="77411" marR="77411" marT="38704" marB="38704"/>
                </a:tc>
                <a:tc>
                  <a:txBody>
                    <a:bodyPr/>
                    <a:lstStyle/>
                    <a:p>
                      <a:pPr algn="ctr"/>
                      <a:r>
                        <a:rPr lang="en-US" sz="1300" dirty="0"/>
                        <a:t>AVERAGE</a:t>
                      </a:r>
                      <a:r>
                        <a:rPr lang="en-US" sz="1300" baseline="0" dirty="0"/>
                        <a:t> TERM</a:t>
                      </a:r>
                      <a:endParaRPr lang="en-US" sz="1300" dirty="0"/>
                    </a:p>
                  </a:txBody>
                  <a:tcPr marL="77411" marR="77411" marT="38704" marB="38704"/>
                </a:tc>
                <a:tc>
                  <a:txBody>
                    <a:bodyPr/>
                    <a:lstStyle/>
                    <a:p>
                      <a:pPr algn="ctr"/>
                      <a:r>
                        <a:rPr lang="en-US" sz="1300" dirty="0"/>
                        <a:t>RESIDUAL</a:t>
                      </a:r>
                      <a:r>
                        <a:rPr lang="en-US" sz="1300" baseline="0" dirty="0"/>
                        <a:t> TERM IN YEARS</a:t>
                      </a:r>
                      <a:endParaRPr lang="en-US" sz="1300" dirty="0"/>
                    </a:p>
                  </a:txBody>
                  <a:tcPr marL="77411" marR="77411" marT="38704" marB="38704"/>
                </a:tc>
                <a:tc>
                  <a:txBody>
                    <a:bodyPr/>
                    <a:lstStyle/>
                    <a:p>
                      <a:pPr algn="ctr"/>
                      <a:r>
                        <a:rPr lang="en-US" sz="1300" dirty="0"/>
                        <a:t>GAP (BN)</a:t>
                      </a:r>
                    </a:p>
                  </a:txBody>
                  <a:tcPr marL="77411" marR="77411" marT="38704" marB="38704"/>
                </a:tc>
                <a:tc>
                  <a:txBody>
                    <a:bodyPr/>
                    <a:lstStyle/>
                    <a:p>
                      <a:pPr algn="ctr"/>
                      <a:r>
                        <a:rPr lang="en-US" sz="1300" dirty="0"/>
                        <a:t>EFFECT IN  NET INTEREST INCOME (MIO)</a:t>
                      </a:r>
                    </a:p>
                  </a:txBody>
                  <a:tcPr marL="77411" marR="77411" marT="38704" marB="38704"/>
                </a:tc>
                <a:extLst>
                  <a:ext uri="{0D108BD9-81ED-4DB2-BD59-A6C34878D82A}">
                    <a16:rowId xmlns:a16="http://schemas.microsoft.com/office/drawing/2014/main" val="10000"/>
                  </a:ext>
                </a:extLst>
              </a:tr>
              <a:tr h="258023">
                <a:tc>
                  <a:txBody>
                    <a:bodyPr/>
                    <a:lstStyle/>
                    <a:p>
                      <a:pPr algn="ctr"/>
                      <a:r>
                        <a:rPr lang="en-US" sz="1100" b="1" dirty="0"/>
                        <a:t>Sight</a:t>
                      </a:r>
                    </a:p>
                  </a:txBody>
                  <a:tcPr marL="77411" marR="77411" marT="38704" marB="38704"/>
                </a:tc>
                <a:tc>
                  <a:txBody>
                    <a:bodyPr/>
                    <a:lstStyle/>
                    <a:p>
                      <a:pPr algn="ctr"/>
                      <a:r>
                        <a:rPr lang="en-US" sz="1100" b="1" dirty="0"/>
                        <a:t>0</a:t>
                      </a:r>
                    </a:p>
                  </a:txBody>
                  <a:tcPr marL="77411" marR="77411" marT="38704" marB="38704"/>
                </a:tc>
                <a:tc>
                  <a:txBody>
                    <a:bodyPr/>
                    <a:lstStyle/>
                    <a:p>
                      <a:pPr algn="ctr"/>
                      <a:r>
                        <a:rPr lang="en-US" sz="1100" b="1" dirty="0">
                          <a:solidFill>
                            <a:srgbClr val="FF0000"/>
                          </a:solidFill>
                        </a:rPr>
                        <a:t>1</a:t>
                      </a:r>
                    </a:p>
                  </a:txBody>
                  <a:tcPr marL="77411" marR="77411" marT="38704" marB="38704"/>
                </a:tc>
                <a:tc>
                  <a:txBody>
                    <a:bodyPr/>
                    <a:lstStyle/>
                    <a:p>
                      <a:pPr algn="ctr"/>
                      <a:r>
                        <a:rPr lang="en-US" sz="1100" b="1" dirty="0">
                          <a:solidFill>
                            <a:srgbClr val="FF0000"/>
                          </a:solidFill>
                        </a:rPr>
                        <a:t>-100</a:t>
                      </a:r>
                    </a:p>
                  </a:txBody>
                  <a:tcPr marL="77411" marR="77411" marT="38704" marB="38704"/>
                </a:tc>
                <a:tc>
                  <a:txBody>
                    <a:bodyPr/>
                    <a:lstStyle/>
                    <a:p>
                      <a:pPr algn="ctr"/>
                      <a:r>
                        <a:rPr lang="en-US" sz="1100" b="1" dirty="0"/>
                        <a:t>-100 x 1 x 0.50% = </a:t>
                      </a:r>
                      <a:r>
                        <a:rPr lang="en-US" sz="1100" b="1" dirty="0">
                          <a:solidFill>
                            <a:srgbClr val="FF0000"/>
                          </a:solidFill>
                        </a:rPr>
                        <a:t>-500</a:t>
                      </a:r>
                    </a:p>
                  </a:txBody>
                  <a:tcPr marL="77411" marR="77411" marT="38704" marB="38704"/>
                </a:tc>
                <a:extLst>
                  <a:ext uri="{0D108BD9-81ED-4DB2-BD59-A6C34878D82A}">
                    <a16:rowId xmlns:a16="http://schemas.microsoft.com/office/drawing/2014/main" val="10001"/>
                  </a:ext>
                </a:extLst>
              </a:tr>
              <a:tr h="258023">
                <a:tc>
                  <a:txBody>
                    <a:bodyPr/>
                    <a:lstStyle/>
                    <a:p>
                      <a:pPr algn="ctr"/>
                      <a:r>
                        <a:rPr lang="en-US" sz="1100" b="1" dirty="0"/>
                        <a:t>Sight</a:t>
                      </a:r>
                      <a:r>
                        <a:rPr lang="en-US" sz="1100" b="1" baseline="0" dirty="0"/>
                        <a:t> </a:t>
                      </a:r>
                      <a:r>
                        <a:rPr lang="mr-IN" sz="1100" b="1" baseline="0" dirty="0"/>
                        <a:t>–</a:t>
                      </a:r>
                      <a:r>
                        <a:rPr lang="en-US" sz="1100" b="1" baseline="0" dirty="0"/>
                        <a:t> 1 month</a:t>
                      </a:r>
                      <a:endParaRPr lang="en-US" sz="1100" b="1" dirty="0"/>
                    </a:p>
                  </a:txBody>
                  <a:tcPr marL="77411" marR="77411" marT="38704" marB="38704"/>
                </a:tc>
                <a:tc>
                  <a:txBody>
                    <a:bodyPr/>
                    <a:lstStyle/>
                    <a:p>
                      <a:pPr algn="ctr"/>
                      <a:r>
                        <a:rPr lang="en-US" sz="1100" b="1" dirty="0"/>
                        <a:t>0.5 months</a:t>
                      </a:r>
                    </a:p>
                  </a:txBody>
                  <a:tcPr marL="77411" marR="77411" marT="38704" marB="38704"/>
                </a:tc>
                <a:tc>
                  <a:txBody>
                    <a:bodyPr/>
                    <a:lstStyle/>
                    <a:p>
                      <a:pPr algn="ctr"/>
                      <a:r>
                        <a:rPr lang="en-US" sz="1100" b="1" dirty="0"/>
                        <a:t>0.96</a:t>
                      </a:r>
                      <a:r>
                        <a:rPr lang="en-US" sz="1100" b="1" baseline="0" dirty="0"/>
                        <a:t> (=11.5/12)</a:t>
                      </a:r>
                      <a:endParaRPr lang="en-US" sz="1100" b="1" dirty="0"/>
                    </a:p>
                  </a:txBody>
                  <a:tcPr marL="77411" marR="77411" marT="38704" marB="38704"/>
                </a:tc>
                <a:tc>
                  <a:txBody>
                    <a:bodyPr/>
                    <a:lstStyle/>
                    <a:p>
                      <a:pPr algn="ctr"/>
                      <a:r>
                        <a:rPr lang="en-US" sz="1100" b="1" dirty="0"/>
                        <a:t>-10</a:t>
                      </a:r>
                    </a:p>
                  </a:txBody>
                  <a:tcPr marL="77411" marR="77411" marT="38704" marB="38704"/>
                </a:tc>
                <a:tc>
                  <a:txBody>
                    <a:bodyPr/>
                    <a:lstStyle/>
                    <a:p>
                      <a:pPr marL="0" marR="0" indent="0" algn="ctr" defTabSz="1072866" rtl="0" eaLnBrk="1" fontAlgn="auto" latinLnBrk="0" hangingPunct="1">
                        <a:lnSpc>
                          <a:spcPct val="100000"/>
                        </a:lnSpc>
                        <a:spcBef>
                          <a:spcPts val="0"/>
                        </a:spcBef>
                        <a:spcAft>
                          <a:spcPts val="0"/>
                        </a:spcAft>
                        <a:buClrTx/>
                        <a:buSzTx/>
                        <a:buFontTx/>
                        <a:buNone/>
                        <a:tabLst/>
                        <a:defRPr/>
                      </a:pPr>
                      <a:r>
                        <a:rPr lang="en-US" sz="1100" b="1" dirty="0"/>
                        <a:t>-10 x 0.96 x 0.50% = -48</a:t>
                      </a:r>
                    </a:p>
                  </a:txBody>
                  <a:tcPr marL="77411" marR="77411" marT="38704" marB="38704"/>
                </a:tc>
                <a:extLst>
                  <a:ext uri="{0D108BD9-81ED-4DB2-BD59-A6C34878D82A}">
                    <a16:rowId xmlns:a16="http://schemas.microsoft.com/office/drawing/2014/main" val="10002"/>
                  </a:ext>
                </a:extLst>
              </a:tr>
              <a:tr h="258023">
                <a:tc>
                  <a:txBody>
                    <a:bodyPr/>
                    <a:lstStyle/>
                    <a:p>
                      <a:pPr algn="ctr"/>
                      <a:r>
                        <a:rPr lang="en-US" sz="1100" b="1" dirty="0"/>
                        <a:t>1 </a:t>
                      </a:r>
                      <a:r>
                        <a:rPr lang="mr-IN" sz="1100" b="1" dirty="0"/>
                        <a:t>–</a:t>
                      </a:r>
                      <a:r>
                        <a:rPr lang="en-US" sz="1100" b="1" dirty="0"/>
                        <a:t> 2 months</a:t>
                      </a:r>
                    </a:p>
                  </a:txBody>
                  <a:tcPr marL="77411" marR="77411" marT="38704" marB="38704"/>
                </a:tc>
                <a:tc>
                  <a:txBody>
                    <a:bodyPr/>
                    <a:lstStyle/>
                    <a:p>
                      <a:pPr algn="ctr"/>
                      <a:r>
                        <a:rPr lang="en-US" sz="1100" b="1" dirty="0"/>
                        <a:t>1.5</a:t>
                      </a:r>
                      <a:r>
                        <a:rPr lang="en-US" sz="1100" b="1" baseline="0" dirty="0"/>
                        <a:t> months</a:t>
                      </a:r>
                      <a:endParaRPr lang="en-US" sz="1100" b="1" dirty="0"/>
                    </a:p>
                  </a:txBody>
                  <a:tcPr marL="77411" marR="77411" marT="38704" marB="38704"/>
                </a:tc>
                <a:tc>
                  <a:txBody>
                    <a:bodyPr/>
                    <a:lstStyle/>
                    <a:p>
                      <a:pPr algn="ctr"/>
                      <a:r>
                        <a:rPr lang="en-US" sz="1100" b="1" dirty="0"/>
                        <a:t>0.88</a:t>
                      </a:r>
                      <a:r>
                        <a:rPr lang="en-US" sz="1100" b="1" baseline="0" dirty="0"/>
                        <a:t> (=10.5/12)</a:t>
                      </a:r>
                      <a:endParaRPr lang="en-US" sz="1100" b="1" dirty="0"/>
                    </a:p>
                  </a:txBody>
                  <a:tcPr marL="77411" marR="77411" marT="38704" marB="38704"/>
                </a:tc>
                <a:tc>
                  <a:txBody>
                    <a:bodyPr/>
                    <a:lstStyle/>
                    <a:p>
                      <a:pPr algn="ctr"/>
                      <a:r>
                        <a:rPr lang="en-US" sz="1100" b="1" dirty="0"/>
                        <a:t>-5</a:t>
                      </a:r>
                    </a:p>
                  </a:txBody>
                  <a:tcPr marL="77411" marR="77411" marT="38704" marB="38704"/>
                </a:tc>
                <a:tc>
                  <a:txBody>
                    <a:bodyPr/>
                    <a:lstStyle/>
                    <a:p>
                      <a:pPr marL="0" marR="0" indent="0" algn="ctr" defTabSz="1072866" rtl="0" eaLnBrk="1" fontAlgn="auto" latinLnBrk="0" hangingPunct="1">
                        <a:lnSpc>
                          <a:spcPct val="100000"/>
                        </a:lnSpc>
                        <a:spcBef>
                          <a:spcPts val="0"/>
                        </a:spcBef>
                        <a:spcAft>
                          <a:spcPts val="0"/>
                        </a:spcAft>
                        <a:buClrTx/>
                        <a:buSzTx/>
                        <a:buFontTx/>
                        <a:buNone/>
                        <a:tabLst/>
                        <a:defRPr/>
                      </a:pPr>
                      <a:r>
                        <a:rPr lang="en-US" sz="1100" b="1" dirty="0"/>
                        <a:t>-5 x 0.88 x 0.50% = -22</a:t>
                      </a:r>
                    </a:p>
                  </a:txBody>
                  <a:tcPr marL="77411" marR="77411" marT="38704" marB="38704"/>
                </a:tc>
                <a:extLst>
                  <a:ext uri="{0D108BD9-81ED-4DB2-BD59-A6C34878D82A}">
                    <a16:rowId xmlns:a16="http://schemas.microsoft.com/office/drawing/2014/main" val="10003"/>
                  </a:ext>
                </a:extLst>
              </a:tr>
              <a:tr h="258023">
                <a:tc>
                  <a:txBody>
                    <a:bodyPr/>
                    <a:lstStyle/>
                    <a:p>
                      <a:pPr algn="ctr"/>
                      <a:r>
                        <a:rPr lang="en-US" sz="1100" b="1" dirty="0"/>
                        <a:t>2 </a:t>
                      </a:r>
                      <a:r>
                        <a:rPr lang="mr-IN" sz="1100" b="1" dirty="0"/>
                        <a:t>–</a:t>
                      </a:r>
                      <a:r>
                        <a:rPr lang="en-US" sz="1100" b="1" dirty="0"/>
                        <a:t> 3 months</a:t>
                      </a:r>
                    </a:p>
                  </a:txBody>
                  <a:tcPr marL="77411" marR="77411" marT="38704" marB="38704"/>
                </a:tc>
                <a:tc>
                  <a:txBody>
                    <a:bodyPr/>
                    <a:lstStyle/>
                    <a:p>
                      <a:pPr algn="ctr"/>
                      <a:r>
                        <a:rPr lang="en-US" sz="1100" b="1" dirty="0"/>
                        <a:t>2.5</a:t>
                      </a:r>
                      <a:r>
                        <a:rPr lang="en-US" sz="1100" b="1" baseline="0" dirty="0"/>
                        <a:t> months</a:t>
                      </a:r>
                      <a:endParaRPr lang="en-US" sz="1100" b="1" dirty="0"/>
                    </a:p>
                  </a:txBody>
                  <a:tcPr marL="77411" marR="77411" marT="38704" marB="38704"/>
                </a:tc>
                <a:tc>
                  <a:txBody>
                    <a:bodyPr/>
                    <a:lstStyle/>
                    <a:p>
                      <a:pPr algn="ctr"/>
                      <a:r>
                        <a:rPr lang="en-US" sz="1100" b="1" dirty="0"/>
                        <a:t>0.79</a:t>
                      </a:r>
                    </a:p>
                  </a:txBody>
                  <a:tcPr marL="77411" marR="77411" marT="38704" marB="38704"/>
                </a:tc>
                <a:tc>
                  <a:txBody>
                    <a:bodyPr/>
                    <a:lstStyle/>
                    <a:p>
                      <a:pPr algn="ctr"/>
                      <a:r>
                        <a:rPr lang="en-US" sz="1100" b="1" dirty="0"/>
                        <a:t>20</a:t>
                      </a:r>
                    </a:p>
                  </a:txBody>
                  <a:tcPr marL="77411" marR="77411" marT="38704" marB="38704"/>
                </a:tc>
                <a:tc>
                  <a:txBody>
                    <a:bodyPr/>
                    <a:lstStyle/>
                    <a:p>
                      <a:pPr marL="0" marR="0" indent="0" algn="ctr" defTabSz="1072866" rtl="0" eaLnBrk="1" fontAlgn="auto" latinLnBrk="0" hangingPunct="1">
                        <a:lnSpc>
                          <a:spcPct val="100000"/>
                        </a:lnSpc>
                        <a:spcBef>
                          <a:spcPts val="0"/>
                        </a:spcBef>
                        <a:spcAft>
                          <a:spcPts val="0"/>
                        </a:spcAft>
                        <a:buClrTx/>
                        <a:buSzTx/>
                        <a:buFontTx/>
                        <a:buNone/>
                        <a:tabLst/>
                        <a:defRPr/>
                      </a:pPr>
                      <a:r>
                        <a:rPr lang="en-US" sz="1100" b="1" dirty="0"/>
                        <a:t>20 x 0.79 x 0.50% = 79</a:t>
                      </a:r>
                    </a:p>
                  </a:txBody>
                  <a:tcPr marL="77411" marR="77411" marT="38704" marB="38704"/>
                </a:tc>
                <a:extLst>
                  <a:ext uri="{0D108BD9-81ED-4DB2-BD59-A6C34878D82A}">
                    <a16:rowId xmlns:a16="http://schemas.microsoft.com/office/drawing/2014/main" val="10004"/>
                  </a:ext>
                </a:extLst>
              </a:tr>
              <a:tr h="258023">
                <a:tc>
                  <a:txBody>
                    <a:bodyPr/>
                    <a:lstStyle/>
                    <a:p>
                      <a:pPr algn="ctr"/>
                      <a:r>
                        <a:rPr lang="en-US" sz="1100" b="1" dirty="0"/>
                        <a:t>3 </a:t>
                      </a:r>
                      <a:r>
                        <a:rPr lang="mr-IN" sz="1100" b="1" dirty="0"/>
                        <a:t>–</a:t>
                      </a:r>
                      <a:r>
                        <a:rPr lang="en-US" sz="1100" b="1" dirty="0"/>
                        <a:t> 4 months</a:t>
                      </a:r>
                    </a:p>
                  </a:txBody>
                  <a:tcPr marL="77411" marR="77411" marT="38704" marB="38704"/>
                </a:tc>
                <a:tc>
                  <a:txBody>
                    <a:bodyPr/>
                    <a:lstStyle/>
                    <a:p>
                      <a:pPr algn="ctr"/>
                      <a:r>
                        <a:rPr lang="en-US" sz="1100" b="1" dirty="0"/>
                        <a:t>3.5</a:t>
                      </a:r>
                      <a:r>
                        <a:rPr lang="en-US" sz="1100" b="1" baseline="0" dirty="0"/>
                        <a:t> months</a:t>
                      </a:r>
                      <a:endParaRPr lang="en-US" sz="1100" b="1" dirty="0"/>
                    </a:p>
                  </a:txBody>
                  <a:tcPr marL="77411" marR="77411" marT="38704" marB="38704"/>
                </a:tc>
                <a:tc>
                  <a:txBody>
                    <a:bodyPr/>
                    <a:lstStyle/>
                    <a:p>
                      <a:pPr algn="ctr"/>
                      <a:r>
                        <a:rPr lang="en-US" sz="1100" b="1" dirty="0"/>
                        <a:t>0.71</a:t>
                      </a:r>
                    </a:p>
                  </a:txBody>
                  <a:tcPr marL="77411" marR="77411" marT="38704" marB="38704"/>
                </a:tc>
                <a:tc>
                  <a:txBody>
                    <a:bodyPr/>
                    <a:lstStyle/>
                    <a:p>
                      <a:pPr algn="ctr"/>
                      <a:r>
                        <a:rPr lang="en-US" sz="1100" b="1" dirty="0"/>
                        <a:t>15</a:t>
                      </a:r>
                    </a:p>
                  </a:txBody>
                  <a:tcPr marL="77411" marR="77411" marT="38704" marB="38704"/>
                </a:tc>
                <a:tc>
                  <a:txBody>
                    <a:bodyPr/>
                    <a:lstStyle/>
                    <a:p>
                      <a:pPr marL="0" marR="0" indent="0" algn="ctr" defTabSz="1072866" rtl="0" eaLnBrk="1" fontAlgn="auto" latinLnBrk="0" hangingPunct="1">
                        <a:lnSpc>
                          <a:spcPct val="100000"/>
                        </a:lnSpc>
                        <a:spcBef>
                          <a:spcPts val="0"/>
                        </a:spcBef>
                        <a:spcAft>
                          <a:spcPts val="0"/>
                        </a:spcAft>
                        <a:buClrTx/>
                        <a:buSzTx/>
                        <a:buFontTx/>
                        <a:buNone/>
                        <a:tabLst/>
                        <a:defRPr/>
                      </a:pPr>
                      <a:r>
                        <a:rPr lang="en-US" sz="1100" b="1" dirty="0"/>
                        <a:t>15 x 0.71 x 0.50% = 53.25</a:t>
                      </a:r>
                    </a:p>
                  </a:txBody>
                  <a:tcPr marL="77411" marR="77411" marT="38704" marB="38704"/>
                </a:tc>
                <a:extLst>
                  <a:ext uri="{0D108BD9-81ED-4DB2-BD59-A6C34878D82A}">
                    <a16:rowId xmlns:a16="http://schemas.microsoft.com/office/drawing/2014/main" val="10005"/>
                  </a:ext>
                </a:extLst>
              </a:tr>
              <a:tr h="258023">
                <a:tc>
                  <a:txBody>
                    <a:bodyPr/>
                    <a:lstStyle/>
                    <a:p>
                      <a:pPr algn="ctr"/>
                      <a:r>
                        <a:rPr lang="en-US" sz="1100" b="1" dirty="0"/>
                        <a:t>4 </a:t>
                      </a:r>
                      <a:r>
                        <a:rPr lang="mr-IN" sz="1100" b="1" dirty="0"/>
                        <a:t>–</a:t>
                      </a:r>
                      <a:r>
                        <a:rPr lang="en-US" sz="1100" b="1" dirty="0"/>
                        <a:t> 5 months</a:t>
                      </a:r>
                    </a:p>
                  </a:txBody>
                  <a:tcPr marL="77411" marR="77411" marT="38704" marB="38704"/>
                </a:tc>
                <a:tc>
                  <a:txBody>
                    <a:bodyPr/>
                    <a:lstStyle/>
                    <a:p>
                      <a:pPr algn="ctr"/>
                      <a:r>
                        <a:rPr lang="en-US" sz="1100" b="1" dirty="0"/>
                        <a:t>4.5</a:t>
                      </a:r>
                      <a:r>
                        <a:rPr lang="en-US" sz="1100" b="1" baseline="0" dirty="0"/>
                        <a:t> months</a:t>
                      </a:r>
                      <a:endParaRPr lang="en-US" sz="1100" b="1" dirty="0"/>
                    </a:p>
                  </a:txBody>
                  <a:tcPr marL="77411" marR="77411" marT="38704" marB="38704"/>
                </a:tc>
                <a:tc>
                  <a:txBody>
                    <a:bodyPr/>
                    <a:lstStyle/>
                    <a:p>
                      <a:pPr algn="ctr"/>
                      <a:r>
                        <a:rPr lang="en-US" sz="1100" b="1" dirty="0"/>
                        <a:t>0.63</a:t>
                      </a:r>
                    </a:p>
                  </a:txBody>
                  <a:tcPr marL="77411" marR="77411" marT="38704" marB="38704"/>
                </a:tc>
                <a:tc>
                  <a:txBody>
                    <a:bodyPr/>
                    <a:lstStyle/>
                    <a:p>
                      <a:pPr algn="ctr"/>
                      <a:r>
                        <a:rPr lang="en-US" sz="1100" b="1" dirty="0"/>
                        <a:t>-12</a:t>
                      </a:r>
                    </a:p>
                  </a:txBody>
                  <a:tcPr marL="77411" marR="77411" marT="38704" marB="38704"/>
                </a:tc>
                <a:tc>
                  <a:txBody>
                    <a:bodyPr/>
                    <a:lstStyle/>
                    <a:p>
                      <a:pPr marL="0" marR="0" indent="0" algn="ctr" defTabSz="1072866" rtl="0" eaLnBrk="1" fontAlgn="auto" latinLnBrk="0" hangingPunct="1">
                        <a:lnSpc>
                          <a:spcPct val="100000"/>
                        </a:lnSpc>
                        <a:spcBef>
                          <a:spcPts val="0"/>
                        </a:spcBef>
                        <a:spcAft>
                          <a:spcPts val="0"/>
                        </a:spcAft>
                        <a:buClrTx/>
                        <a:buSzTx/>
                        <a:buFontTx/>
                        <a:buNone/>
                        <a:tabLst/>
                        <a:defRPr/>
                      </a:pPr>
                      <a:r>
                        <a:rPr lang="en-US" sz="1100" b="1" dirty="0"/>
                        <a:t>-12 x 0.63 x 0.50% = -37.8</a:t>
                      </a:r>
                    </a:p>
                  </a:txBody>
                  <a:tcPr marL="77411" marR="77411" marT="38704" marB="38704"/>
                </a:tc>
                <a:extLst>
                  <a:ext uri="{0D108BD9-81ED-4DB2-BD59-A6C34878D82A}">
                    <a16:rowId xmlns:a16="http://schemas.microsoft.com/office/drawing/2014/main" val="10006"/>
                  </a:ext>
                </a:extLst>
              </a:tr>
              <a:tr h="258023">
                <a:tc>
                  <a:txBody>
                    <a:bodyPr/>
                    <a:lstStyle/>
                    <a:p>
                      <a:pPr algn="ctr"/>
                      <a:r>
                        <a:rPr lang="en-US" sz="1100" b="1" dirty="0"/>
                        <a:t>5 </a:t>
                      </a:r>
                      <a:r>
                        <a:rPr lang="mr-IN" sz="1100" b="1" dirty="0"/>
                        <a:t>–</a:t>
                      </a:r>
                      <a:r>
                        <a:rPr lang="en-US" sz="1100" b="1" dirty="0"/>
                        <a:t>  6 months</a:t>
                      </a:r>
                    </a:p>
                  </a:txBody>
                  <a:tcPr marL="77411" marR="77411" marT="38704" marB="38704"/>
                </a:tc>
                <a:tc>
                  <a:txBody>
                    <a:bodyPr/>
                    <a:lstStyle/>
                    <a:p>
                      <a:pPr algn="ctr"/>
                      <a:r>
                        <a:rPr lang="en-US" sz="1100" b="1" dirty="0"/>
                        <a:t>5.5</a:t>
                      </a:r>
                      <a:r>
                        <a:rPr lang="en-US" sz="1100" b="1" baseline="0" dirty="0"/>
                        <a:t> months</a:t>
                      </a:r>
                      <a:endParaRPr lang="en-US" sz="1100" b="1" dirty="0"/>
                    </a:p>
                  </a:txBody>
                  <a:tcPr marL="77411" marR="77411" marT="38704" marB="38704"/>
                </a:tc>
                <a:tc>
                  <a:txBody>
                    <a:bodyPr/>
                    <a:lstStyle/>
                    <a:p>
                      <a:pPr algn="ctr"/>
                      <a:r>
                        <a:rPr lang="en-US" sz="1100" b="1" dirty="0"/>
                        <a:t>0.54</a:t>
                      </a:r>
                    </a:p>
                  </a:txBody>
                  <a:tcPr marL="77411" marR="77411" marT="38704" marB="38704"/>
                </a:tc>
                <a:tc>
                  <a:txBody>
                    <a:bodyPr/>
                    <a:lstStyle/>
                    <a:p>
                      <a:pPr algn="ctr"/>
                      <a:r>
                        <a:rPr lang="en-US" sz="1100" b="1" dirty="0"/>
                        <a:t>10</a:t>
                      </a:r>
                    </a:p>
                  </a:txBody>
                  <a:tcPr marL="77411" marR="77411" marT="38704" marB="38704"/>
                </a:tc>
                <a:tc>
                  <a:txBody>
                    <a:bodyPr/>
                    <a:lstStyle/>
                    <a:p>
                      <a:pPr marL="0" marR="0" indent="0" algn="ctr" defTabSz="1072866" rtl="0" eaLnBrk="1" fontAlgn="auto" latinLnBrk="0" hangingPunct="1">
                        <a:lnSpc>
                          <a:spcPct val="100000"/>
                        </a:lnSpc>
                        <a:spcBef>
                          <a:spcPts val="0"/>
                        </a:spcBef>
                        <a:spcAft>
                          <a:spcPts val="0"/>
                        </a:spcAft>
                        <a:buClrTx/>
                        <a:buSzTx/>
                        <a:buFontTx/>
                        <a:buNone/>
                        <a:tabLst/>
                        <a:defRPr/>
                      </a:pPr>
                      <a:r>
                        <a:rPr lang="en-US" sz="1100" b="1" dirty="0"/>
                        <a:t>10 x 0.54 x 0.50% = 27</a:t>
                      </a:r>
                    </a:p>
                  </a:txBody>
                  <a:tcPr marL="77411" marR="77411" marT="38704" marB="38704"/>
                </a:tc>
                <a:extLst>
                  <a:ext uri="{0D108BD9-81ED-4DB2-BD59-A6C34878D82A}">
                    <a16:rowId xmlns:a16="http://schemas.microsoft.com/office/drawing/2014/main" val="10007"/>
                  </a:ext>
                </a:extLst>
              </a:tr>
              <a:tr h="258023">
                <a:tc>
                  <a:txBody>
                    <a:bodyPr/>
                    <a:lstStyle/>
                    <a:p>
                      <a:pPr algn="ctr"/>
                      <a:r>
                        <a:rPr lang="en-US" sz="1100" b="1" dirty="0"/>
                        <a:t>6 </a:t>
                      </a:r>
                      <a:r>
                        <a:rPr lang="mr-IN" sz="1100" b="1" dirty="0"/>
                        <a:t>–</a:t>
                      </a:r>
                      <a:r>
                        <a:rPr lang="en-US" sz="1100" b="1" dirty="0"/>
                        <a:t> 7 months</a:t>
                      </a:r>
                    </a:p>
                  </a:txBody>
                  <a:tcPr marL="77411" marR="77411" marT="38704" marB="38704"/>
                </a:tc>
                <a:tc>
                  <a:txBody>
                    <a:bodyPr/>
                    <a:lstStyle/>
                    <a:p>
                      <a:pPr algn="ctr"/>
                      <a:r>
                        <a:rPr lang="en-US" sz="1100" b="1" dirty="0"/>
                        <a:t>6.5</a:t>
                      </a:r>
                      <a:r>
                        <a:rPr lang="en-US" sz="1100" b="1" baseline="0" dirty="0"/>
                        <a:t> months</a:t>
                      </a:r>
                      <a:endParaRPr lang="en-US" sz="1100" b="1" dirty="0"/>
                    </a:p>
                  </a:txBody>
                  <a:tcPr marL="77411" marR="77411" marT="38704" marB="38704"/>
                </a:tc>
                <a:tc>
                  <a:txBody>
                    <a:bodyPr/>
                    <a:lstStyle/>
                    <a:p>
                      <a:pPr algn="ctr"/>
                      <a:r>
                        <a:rPr lang="en-US" sz="1100" b="1" dirty="0"/>
                        <a:t>0.46</a:t>
                      </a:r>
                    </a:p>
                  </a:txBody>
                  <a:tcPr marL="77411" marR="77411" marT="38704" marB="38704"/>
                </a:tc>
                <a:tc>
                  <a:txBody>
                    <a:bodyPr/>
                    <a:lstStyle/>
                    <a:p>
                      <a:pPr algn="ctr"/>
                      <a:r>
                        <a:rPr lang="en-US" sz="1100" b="1" dirty="0"/>
                        <a:t>14</a:t>
                      </a:r>
                    </a:p>
                  </a:txBody>
                  <a:tcPr marL="77411" marR="77411" marT="38704" marB="38704"/>
                </a:tc>
                <a:tc>
                  <a:txBody>
                    <a:bodyPr/>
                    <a:lstStyle/>
                    <a:p>
                      <a:pPr marL="0" marR="0" indent="0" algn="ctr" defTabSz="1072866" rtl="0" eaLnBrk="1" fontAlgn="auto" latinLnBrk="0" hangingPunct="1">
                        <a:lnSpc>
                          <a:spcPct val="100000"/>
                        </a:lnSpc>
                        <a:spcBef>
                          <a:spcPts val="0"/>
                        </a:spcBef>
                        <a:spcAft>
                          <a:spcPts val="0"/>
                        </a:spcAft>
                        <a:buClrTx/>
                        <a:buSzTx/>
                        <a:buFontTx/>
                        <a:buNone/>
                        <a:tabLst/>
                        <a:defRPr/>
                      </a:pPr>
                      <a:r>
                        <a:rPr lang="en-US" sz="1100" b="1" dirty="0"/>
                        <a:t>14 x 0.46 x 0.50% = 32.2</a:t>
                      </a:r>
                    </a:p>
                  </a:txBody>
                  <a:tcPr marL="77411" marR="77411" marT="38704" marB="38704"/>
                </a:tc>
                <a:extLst>
                  <a:ext uri="{0D108BD9-81ED-4DB2-BD59-A6C34878D82A}">
                    <a16:rowId xmlns:a16="http://schemas.microsoft.com/office/drawing/2014/main" val="10008"/>
                  </a:ext>
                </a:extLst>
              </a:tr>
              <a:tr h="258023">
                <a:tc>
                  <a:txBody>
                    <a:bodyPr/>
                    <a:lstStyle/>
                    <a:p>
                      <a:pPr marL="0" marR="0" indent="0" algn="ctr" defTabSz="1072866" rtl="0" eaLnBrk="1" fontAlgn="auto" latinLnBrk="0" hangingPunct="1">
                        <a:lnSpc>
                          <a:spcPct val="100000"/>
                        </a:lnSpc>
                        <a:spcBef>
                          <a:spcPts val="0"/>
                        </a:spcBef>
                        <a:spcAft>
                          <a:spcPts val="0"/>
                        </a:spcAft>
                        <a:buClrTx/>
                        <a:buSzTx/>
                        <a:buFontTx/>
                        <a:buNone/>
                        <a:tabLst/>
                        <a:defRPr/>
                      </a:pPr>
                      <a:r>
                        <a:rPr lang="en-US" sz="1100" b="1" dirty="0"/>
                        <a:t>7 </a:t>
                      </a:r>
                      <a:r>
                        <a:rPr lang="mr-IN" sz="1100" b="1" dirty="0"/>
                        <a:t>–</a:t>
                      </a:r>
                      <a:r>
                        <a:rPr lang="en-US" sz="1100" b="1" dirty="0"/>
                        <a:t> 8 months</a:t>
                      </a:r>
                    </a:p>
                  </a:txBody>
                  <a:tcPr marL="77411" marR="77411" marT="38704" marB="38704"/>
                </a:tc>
                <a:tc>
                  <a:txBody>
                    <a:bodyPr/>
                    <a:lstStyle/>
                    <a:p>
                      <a:pPr algn="ctr"/>
                      <a:r>
                        <a:rPr lang="en-US" sz="1100" b="1" dirty="0"/>
                        <a:t>7.5</a:t>
                      </a:r>
                      <a:r>
                        <a:rPr lang="en-US" sz="1100" b="1" baseline="0" dirty="0"/>
                        <a:t> months</a:t>
                      </a:r>
                      <a:endParaRPr lang="en-US" sz="1100" b="1" dirty="0"/>
                    </a:p>
                  </a:txBody>
                  <a:tcPr marL="77411" marR="77411" marT="38704" marB="38704"/>
                </a:tc>
                <a:tc>
                  <a:txBody>
                    <a:bodyPr/>
                    <a:lstStyle/>
                    <a:p>
                      <a:pPr algn="ctr"/>
                      <a:r>
                        <a:rPr lang="en-US" sz="1100" b="1" dirty="0"/>
                        <a:t>0.38</a:t>
                      </a:r>
                    </a:p>
                  </a:txBody>
                  <a:tcPr marL="77411" marR="77411" marT="38704" marB="38704"/>
                </a:tc>
                <a:tc>
                  <a:txBody>
                    <a:bodyPr/>
                    <a:lstStyle/>
                    <a:p>
                      <a:pPr algn="ctr"/>
                      <a:r>
                        <a:rPr lang="en-US" sz="1100" b="1" dirty="0"/>
                        <a:t>-7</a:t>
                      </a:r>
                    </a:p>
                  </a:txBody>
                  <a:tcPr marL="77411" marR="77411" marT="38704" marB="38704"/>
                </a:tc>
                <a:tc>
                  <a:txBody>
                    <a:bodyPr/>
                    <a:lstStyle/>
                    <a:p>
                      <a:pPr marL="0" marR="0" indent="0" algn="ctr" defTabSz="1072866" rtl="0" eaLnBrk="1" fontAlgn="auto" latinLnBrk="0" hangingPunct="1">
                        <a:lnSpc>
                          <a:spcPct val="100000"/>
                        </a:lnSpc>
                        <a:spcBef>
                          <a:spcPts val="0"/>
                        </a:spcBef>
                        <a:spcAft>
                          <a:spcPts val="0"/>
                        </a:spcAft>
                        <a:buClrTx/>
                        <a:buSzTx/>
                        <a:buFontTx/>
                        <a:buNone/>
                        <a:tabLst/>
                        <a:defRPr/>
                      </a:pPr>
                      <a:r>
                        <a:rPr lang="en-US" sz="1100" b="1" dirty="0"/>
                        <a:t>-7 x 0.38 x 0.50% = -13.3</a:t>
                      </a:r>
                    </a:p>
                  </a:txBody>
                  <a:tcPr marL="77411" marR="77411" marT="38704" marB="38704"/>
                </a:tc>
                <a:extLst>
                  <a:ext uri="{0D108BD9-81ED-4DB2-BD59-A6C34878D82A}">
                    <a16:rowId xmlns:a16="http://schemas.microsoft.com/office/drawing/2014/main" val="10009"/>
                  </a:ext>
                </a:extLst>
              </a:tr>
              <a:tr h="258023">
                <a:tc>
                  <a:txBody>
                    <a:bodyPr/>
                    <a:lstStyle/>
                    <a:p>
                      <a:pPr marL="0" marR="0" indent="0" algn="ctr" defTabSz="1072866" rtl="0" eaLnBrk="1" fontAlgn="auto" latinLnBrk="0" hangingPunct="1">
                        <a:lnSpc>
                          <a:spcPct val="100000"/>
                        </a:lnSpc>
                        <a:spcBef>
                          <a:spcPts val="0"/>
                        </a:spcBef>
                        <a:spcAft>
                          <a:spcPts val="0"/>
                        </a:spcAft>
                        <a:buClrTx/>
                        <a:buSzTx/>
                        <a:buFontTx/>
                        <a:buNone/>
                        <a:tabLst/>
                        <a:defRPr/>
                      </a:pPr>
                      <a:r>
                        <a:rPr lang="en-US" sz="1100" b="1" dirty="0"/>
                        <a:t>8 </a:t>
                      </a:r>
                      <a:r>
                        <a:rPr lang="mr-IN" sz="1100" b="1" dirty="0"/>
                        <a:t>–</a:t>
                      </a:r>
                      <a:r>
                        <a:rPr lang="en-US" sz="1100" b="1" dirty="0"/>
                        <a:t> 9 months</a:t>
                      </a:r>
                    </a:p>
                  </a:txBody>
                  <a:tcPr marL="77411" marR="77411" marT="38704" marB="38704"/>
                </a:tc>
                <a:tc>
                  <a:txBody>
                    <a:bodyPr/>
                    <a:lstStyle/>
                    <a:p>
                      <a:pPr algn="ctr"/>
                      <a:r>
                        <a:rPr lang="en-US" sz="1100" b="1" dirty="0"/>
                        <a:t>8.5</a:t>
                      </a:r>
                      <a:r>
                        <a:rPr lang="en-US" sz="1100" b="1" baseline="0" dirty="0"/>
                        <a:t> months</a:t>
                      </a:r>
                      <a:endParaRPr lang="en-US" sz="1100" b="1" dirty="0"/>
                    </a:p>
                  </a:txBody>
                  <a:tcPr marL="77411" marR="77411" marT="38704" marB="38704"/>
                </a:tc>
                <a:tc>
                  <a:txBody>
                    <a:bodyPr/>
                    <a:lstStyle/>
                    <a:p>
                      <a:pPr algn="ctr"/>
                      <a:r>
                        <a:rPr lang="en-US" sz="1100" b="1" dirty="0"/>
                        <a:t>0.29</a:t>
                      </a:r>
                    </a:p>
                  </a:txBody>
                  <a:tcPr marL="77411" marR="77411" marT="38704" marB="38704"/>
                </a:tc>
                <a:tc>
                  <a:txBody>
                    <a:bodyPr/>
                    <a:lstStyle/>
                    <a:p>
                      <a:pPr algn="ctr"/>
                      <a:r>
                        <a:rPr lang="en-US" sz="1100" b="1" dirty="0"/>
                        <a:t>-4</a:t>
                      </a:r>
                    </a:p>
                  </a:txBody>
                  <a:tcPr marL="77411" marR="77411" marT="38704" marB="38704"/>
                </a:tc>
                <a:tc>
                  <a:txBody>
                    <a:bodyPr/>
                    <a:lstStyle/>
                    <a:p>
                      <a:pPr marL="0" marR="0" indent="0" algn="ctr" defTabSz="1072866" rtl="0" eaLnBrk="1" fontAlgn="auto" latinLnBrk="0" hangingPunct="1">
                        <a:lnSpc>
                          <a:spcPct val="100000"/>
                        </a:lnSpc>
                        <a:spcBef>
                          <a:spcPts val="0"/>
                        </a:spcBef>
                        <a:spcAft>
                          <a:spcPts val="0"/>
                        </a:spcAft>
                        <a:buClrTx/>
                        <a:buSzTx/>
                        <a:buFontTx/>
                        <a:buNone/>
                        <a:tabLst/>
                        <a:defRPr/>
                      </a:pPr>
                      <a:r>
                        <a:rPr lang="en-US" sz="1100" b="1" dirty="0"/>
                        <a:t>-4 x 0.29 x 0.50% = -5.8</a:t>
                      </a:r>
                    </a:p>
                  </a:txBody>
                  <a:tcPr marL="77411" marR="77411" marT="38704" marB="38704"/>
                </a:tc>
                <a:extLst>
                  <a:ext uri="{0D108BD9-81ED-4DB2-BD59-A6C34878D82A}">
                    <a16:rowId xmlns:a16="http://schemas.microsoft.com/office/drawing/2014/main" val="10010"/>
                  </a:ext>
                </a:extLst>
              </a:tr>
              <a:tr h="258023">
                <a:tc>
                  <a:txBody>
                    <a:bodyPr/>
                    <a:lstStyle/>
                    <a:p>
                      <a:pPr marL="0" marR="0" indent="0" algn="ctr" defTabSz="1072866" rtl="0" eaLnBrk="1" fontAlgn="auto" latinLnBrk="0" hangingPunct="1">
                        <a:lnSpc>
                          <a:spcPct val="100000"/>
                        </a:lnSpc>
                        <a:spcBef>
                          <a:spcPts val="0"/>
                        </a:spcBef>
                        <a:spcAft>
                          <a:spcPts val="0"/>
                        </a:spcAft>
                        <a:buClrTx/>
                        <a:buSzTx/>
                        <a:buFontTx/>
                        <a:buNone/>
                        <a:tabLst/>
                        <a:defRPr/>
                      </a:pPr>
                      <a:r>
                        <a:rPr lang="en-US" sz="1100" b="1" dirty="0"/>
                        <a:t>9 </a:t>
                      </a:r>
                      <a:r>
                        <a:rPr lang="mr-IN" sz="1100" b="1" dirty="0"/>
                        <a:t>–</a:t>
                      </a:r>
                      <a:r>
                        <a:rPr lang="en-US" sz="1100" b="1" dirty="0"/>
                        <a:t> 10 months</a:t>
                      </a:r>
                    </a:p>
                  </a:txBody>
                  <a:tcPr marL="77411" marR="77411" marT="38704" marB="38704"/>
                </a:tc>
                <a:tc>
                  <a:txBody>
                    <a:bodyPr/>
                    <a:lstStyle/>
                    <a:p>
                      <a:pPr algn="ctr"/>
                      <a:r>
                        <a:rPr lang="en-US" sz="1100" b="1" dirty="0"/>
                        <a:t>9.5</a:t>
                      </a:r>
                      <a:r>
                        <a:rPr lang="en-US" sz="1100" b="1" baseline="0" dirty="0"/>
                        <a:t> months</a:t>
                      </a:r>
                      <a:endParaRPr lang="en-US" sz="1100" b="1" dirty="0"/>
                    </a:p>
                  </a:txBody>
                  <a:tcPr marL="77411" marR="77411" marT="38704" marB="38704"/>
                </a:tc>
                <a:tc>
                  <a:txBody>
                    <a:bodyPr/>
                    <a:lstStyle/>
                    <a:p>
                      <a:pPr algn="ctr"/>
                      <a:r>
                        <a:rPr lang="en-US" sz="1100" b="1" dirty="0"/>
                        <a:t>0.21</a:t>
                      </a:r>
                    </a:p>
                  </a:txBody>
                  <a:tcPr marL="77411" marR="77411" marT="38704" marB="38704"/>
                </a:tc>
                <a:tc>
                  <a:txBody>
                    <a:bodyPr/>
                    <a:lstStyle/>
                    <a:p>
                      <a:pPr algn="ctr"/>
                      <a:r>
                        <a:rPr lang="en-US" sz="1100" b="1" dirty="0"/>
                        <a:t>3</a:t>
                      </a:r>
                    </a:p>
                  </a:txBody>
                  <a:tcPr marL="77411" marR="77411" marT="38704" marB="38704"/>
                </a:tc>
                <a:tc>
                  <a:txBody>
                    <a:bodyPr/>
                    <a:lstStyle/>
                    <a:p>
                      <a:pPr marL="0" marR="0" indent="0" algn="ctr" defTabSz="1072866" rtl="0" eaLnBrk="1" fontAlgn="auto" latinLnBrk="0" hangingPunct="1">
                        <a:lnSpc>
                          <a:spcPct val="100000"/>
                        </a:lnSpc>
                        <a:spcBef>
                          <a:spcPts val="0"/>
                        </a:spcBef>
                        <a:spcAft>
                          <a:spcPts val="0"/>
                        </a:spcAft>
                        <a:buClrTx/>
                        <a:buSzTx/>
                        <a:buFontTx/>
                        <a:buNone/>
                        <a:tabLst/>
                        <a:defRPr/>
                      </a:pPr>
                      <a:r>
                        <a:rPr lang="en-US" sz="1100" b="1" dirty="0"/>
                        <a:t>3 x 0.21 x 0.50% = 3.15</a:t>
                      </a:r>
                    </a:p>
                  </a:txBody>
                  <a:tcPr marL="77411" marR="77411" marT="38704" marB="38704"/>
                </a:tc>
                <a:extLst>
                  <a:ext uri="{0D108BD9-81ED-4DB2-BD59-A6C34878D82A}">
                    <a16:rowId xmlns:a16="http://schemas.microsoft.com/office/drawing/2014/main" val="10011"/>
                  </a:ext>
                </a:extLst>
              </a:tr>
              <a:tr h="258023">
                <a:tc>
                  <a:txBody>
                    <a:bodyPr/>
                    <a:lstStyle/>
                    <a:p>
                      <a:pPr marL="0" marR="0" indent="0" algn="ctr" defTabSz="1072866" rtl="0" eaLnBrk="1" fontAlgn="auto" latinLnBrk="0" hangingPunct="1">
                        <a:lnSpc>
                          <a:spcPct val="100000"/>
                        </a:lnSpc>
                        <a:spcBef>
                          <a:spcPts val="0"/>
                        </a:spcBef>
                        <a:spcAft>
                          <a:spcPts val="0"/>
                        </a:spcAft>
                        <a:buClrTx/>
                        <a:buSzTx/>
                        <a:buFontTx/>
                        <a:buNone/>
                        <a:tabLst/>
                        <a:defRPr/>
                      </a:pPr>
                      <a:r>
                        <a:rPr lang="en-US" sz="1100" b="1" dirty="0"/>
                        <a:t>10 </a:t>
                      </a:r>
                      <a:r>
                        <a:rPr lang="mr-IN" sz="1100" b="1" dirty="0"/>
                        <a:t>–</a:t>
                      </a:r>
                      <a:r>
                        <a:rPr lang="en-US" sz="1100" b="1" dirty="0"/>
                        <a:t> 11 months</a:t>
                      </a:r>
                    </a:p>
                  </a:txBody>
                  <a:tcPr marL="77411" marR="77411" marT="38704" marB="38704"/>
                </a:tc>
                <a:tc>
                  <a:txBody>
                    <a:bodyPr/>
                    <a:lstStyle/>
                    <a:p>
                      <a:pPr algn="ctr"/>
                      <a:r>
                        <a:rPr lang="en-US" sz="1100" b="1" dirty="0"/>
                        <a:t>10.5 months</a:t>
                      </a:r>
                    </a:p>
                  </a:txBody>
                  <a:tcPr marL="77411" marR="77411" marT="38704" marB="38704"/>
                </a:tc>
                <a:tc>
                  <a:txBody>
                    <a:bodyPr/>
                    <a:lstStyle/>
                    <a:p>
                      <a:pPr algn="ctr"/>
                      <a:r>
                        <a:rPr lang="en-US" sz="1100" b="1" dirty="0"/>
                        <a:t>0.12</a:t>
                      </a:r>
                    </a:p>
                  </a:txBody>
                  <a:tcPr marL="77411" marR="77411" marT="38704" marB="38704"/>
                </a:tc>
                <a:tc>
                  <a:txBody>
                    <a:bodyPr/>
                    <a:lstStyle/>
                    <a:p>
                      <a:pPr algn="ctr"/>
                      <a:r>
                        <a:rPr lang="en-US" sz="1100" b="1" dirty="0"/>
                        <a:t>-2</a:t>
                      </a:r>
                    </a:p>
                  </a:txBody>
                  <a:tcPr marL="77411" marR="77411" marT="38704" marB="38704"/>
                </a:tc>
                <a:tc>
                  <a:txBody>
                    <a:bodyPr/>
                    <a:lstStyle/>
                    <a:p>
                      <a:pPr marL="0" marR="0" indent="0" algn="ctr" defTabSz="1072866" rtl="0" eaLnBrk="1" fontAlgn="auto" latinLnBrk="0" hangingPunct="1">
                        <a:lnSpc>
                          <a:spcPct val="100000"/>
                        </a:lnSpc>
                        <a:spcBef>
                          <a:spcPts val="0"/>
                        </a:spcBef>
                        <a:spcAft>
                          <a:spcPts val="0"/>
                        </a:spcAft>
                        <a:buClrTx/>
                        <a:buSzTx/>
                        <a:buFontTx/>
                        <a:buNone/>
                        <a:tabLst/>
                        <a:defRPr/>
                      </a:pPr>
                      <a:r>
                        <a:rPr lang="en-US" sz="1100" b="1" dirty="0"/>
                        <a:t>-2 x 0.12 x 0.50% = -1.2</a:t>
                      </a:r>
                    </a:p>
                  </a:txBody>
                  <a:tcPr marL="77411" marR="77411" marT="38704" marB="38704"/>
                </a:tc>
                <a:extLst>
                  <a:ext uri="{0D108BD9-81ED-4DB2-BD59-A6C34878D82A}">
                    <a16:rowId xmlns:a16="http://schemas.microsoft.com/office/drawing/2014/main" val="10012"/>
                  </a:ext>
                </a:extLst>
              </a:tr>
              <a:tr h="258023">
                <a:tc>
                  <a:txBody>
                    <a:bodyPr/>
                    <a:lstStyle/>
                    <a:p>
                      <a:pPr marL="0" marR="0" indent="0" algn="ctr" defTabSz="1072866" rtl="0" eaLnBrk="1" fontAlgn="auto" latinLnBrk="0" hangingPunct="1">
                        <a:lnSpc>
                          <a:spcPct val="100000"/>
                        </a:lnSpc>
                        <a:spcBef>
                          <a:spcPts val="0"/>
                        </a:spcBef>
                        <a:spcAft>
                          <a:spcPts val="0"/>
                        </a:spcAft>
                        <a:buClrTx/>
                        <a:buSzTx/>
                        <a:buFontTx/>
                        <a:buNone/>
                        <a:tabLst/>
                        <a:defRPr/>
                      </a:pPr>
                      <a:r>
                        <a:rPr lang="en-US" sz="1100" b="1" dirty="0"/>
                        <a:t>11 </a:t>
                      </a:r>
                      <a:r>
                        <a:rPr lang="mr-IN" sz="1100" b="1" dirty="0"/>
                        <a:t>–</a:t>
                      </a:r>
                      <a:r>
                        <a:rPr lang="en-US" sz="1100" b="1" dirty="0"/>
                        <a:t> 12 months</a:t>
                      </a:r>
                    </a:p>
                  </a:txBody>
                  <a:tcPr marL="77411" marR="77411" marT="38704" marB="38704"/>
                </a:tc>
                <a:tc>
                  <a:txBody>
                    <a:bodyPr/>
                    <a:lstStyle/>
                    <a:p>
                      <a:pPr algn="ctr"/>
                      <a:r>
                        <a:rPr lang="en-US" sz="1100" b="1" dirty="0"/>
                        <a:t>11.5 months</a:t>
                      </a:r>
                    </a:p>
                  </a:txBody>
                  <a:tcPr marL="77411" marR="77411" marT="38704" marB="38704"/>
                </a:tc>
                <a:tc>
                  <a:txBody>
                    <a:bodyPr/>
                    <a:lstStyle/>
                    <a:p>
                      <a:pPr algn="ctr"/>
                      <a:r>
                        <a:rPr lang="en-US" sz="1100" b="1" dirty="0"/>
                        <a:t>0.04</a:t>
                      </a:r>
                    </a:p>
                  </a:txBody>
                  <a:tcPr marL="77411" marR="77411" marT="38704" marB="38704"/>
                </a:tc>
                <a:tc>
                  <a:txBody>
                    <a:bodyPr/>
                    <a:lstStyle/>
                    <a:p>
                      <a:pPr algn="ctr"/>
                      <a:r>
                        <a:rPr lang="en-US" sz="1100" b="1" dirty="0"/>
                        <a:t>2</a:t>
                      </a:r>
                    </a:p>
                  </a:txBody>
                  <a:tcPr marL="77411" marR="77411" marT="38704" marB="38704"/>
                </a:tc>
                <a:tc>
                  <a:txBody>
                    <a:bodyPr/>
                    <a:lstStyle/>
                    <a:p>
                      <a:pPr marL="0" marR="0" indent="0" algn="ctr" defTabSz="1072866" rtl="0" eaLnBrk="1" fontAlgn="auto" latinLnBrk="0" hangingPunct="1">
                        <a:lnSpc>
                          <a:spcPct val="100000"/>
                        </a:lnSpc>
                        <a:spcBef>
                          <a:spcPts val="0"/>
                        </a:spcBef>
                        <a:spcAft>
                          <a:spcPts val="0"/>
                        </a:spcAft>
                        <a:buClrTx/>
                        <a:buSzTx/>
                        <a:buFontTx/>
                        <a:buNone/>
                        <a:tabLst/>
                        <a:defRPr/>
                      </a:pPr>
                      <a:r>
                        <a:rPr lang="en-US" sz="1100" b="1" dirty="0"/>
                        <a:t>2 x 0.04 x 0.50% = 0.4</a:t>
                      </a:r>
                    </a:p>
                  </a:txBody>
                  <a:tcPr marL="77411" marR="77411" marT="38704" marB="38704"/>
                </a:tc>
                <a:extLst>
                  <a:ext uri="{0D108BD9-81ED-4DB2-BD59-A6C34878D82A}">
                    <a16:rowId xmlns:a16="http://schemas.microsoft.com/office/drawing/2014/main" val="10013"/>
                  </a:ext>
                </a:extLst>
              </a:tr>
              <a:tr h="258023">
                <a:tc>
                  <a:txBody>
                    <a:bodyPr/>
                    <a:lstStyle/>
                    <a:p>
                      <a:pPr algn="ctr"/>
                      <a:endParaRPr lang="en-US" sz="1100" b="1" dirty="0"/>
                    </a:p>
                  </a:txBody>
                  <a:tcPr marL="77411" marR="77411" marT="38704" marB="38704"/>
                </a:tc>
                <a:tc>
                  <a:txBody>
                    <a:bodyPr/>
                    <a:lstStyle/>
                    <a:p>
                      <a:pPr algn="ctr"/>
                      <a:endParaRPr lang="en-US" sz="1100" b="1" dirty="0"/>
                    </a:p>
                  </a:txBody>
                  <a:tcPr marL="77411" marR="77411" marT="38704" marB="38704"/>
                </a:tc>
                <a:tc>
                  <a:txBody>
                    <a:bodyPr/>
                    <a:lstStyle/>
                    <a:p>
                      <a:pPr algn="ctr"/>
                      <a:endParaRPr lang="en-US" sz="1100" b="1" dirty="0"/>
                    </a:p>
                  </a:txBody>
                  <a:tcPr marL="77411" marR="77411" marT="38704" marB="38704"/>
                </a:tc>
                <a:tc>
                  <a:txBody>
                    <a:bodyPr/>
                    <a:lstStyle/>
                    <a:p>
                      <a:pPr algn="ctr"/>
                      <a:endParaRPr lang="en-US" sz="1100" b="1" dirty="0"/>
                    </a:p>
                  </a:txBody>
                  <a:tcPr marL="77411" marR="77411" marT="38704" marB="38704"/>
                </a:tc>
                <a:tc>
                  <a:txBody>
                    <a:bodyPr/>
                    <a:lstStyle/>
                    <a:p>
                      <a:pPr algn="ctr"/>
                      <a:r>
                        <a:rPr lang="en-US" sz="1100" b="1" u="sng" dirty="0"/>
                        <a:t>-433.1</a:t>
                      </a:r>
                    </a:p>
                  </a:txBody>
                  <a:tcPr marL="77411" marR="77411" marT="38704" marB="38704"/>
                </a:tc>
                <a:extLst>
                  <a:ext uri="{0D108BD9-81ED-4DB2-BD59-A6C34878D82A}">
                    <a16:rowId xmlns:a16="http://schemas.microsoft.com/office/drawing/2014/main" val="10014"/>
                  </a:ext>
                </a:extLst>
              </a:tr>
            </a:tbl>
          </a:graphicData>
        </a:graphic>
      </p:graphicFrame>
      <p:grpSp>
        <p:nvGrpSpPr>
          <p:cNvPr id="64612" name="Group 7">
            <a:extLst>
              <a:ext uri="{FF2B5EF4-FFF2-40B4-BE49-F238E27FC236}">
                <a16:creationId xmlns:a16="http://schemas.microsoft.com/office/drawing/2014/main" id="{1D342A19-5A18-20B4-A1F4-C9DD29E0190E}"/>
              </a:ext>
            </a:extLst>
          </p:cNvPr>
          <p:cNvGrpSpPr>
            <a:grpSpLocks/>
          </p:cNvGrpSpPr>
          <p:nvPr/>
        </p:nvGrpSpPr>
        <p:grpSpPr bwMode="auto">
          <a:xfrm>
            <a:off x="7375734" y="578051"/>
            <a:ext cx="2828025" cy="121178"/>
            <a:chOff x="6465168" y="376836"/>
            <a:chExt cx="3340822" cy="144000"/>
          </a:xfrm>
        </p:grpSpPr>
        <p:sp>
          <p:nvSpPr>
            <p:cNvPr id="10" name="Rectangle 9">
              <a:extLst>
                <a:ext uri="{FF2B5EF4-FFF2-40B4-BE49-F238E27FC236}">
                  <a16:creationId xmlns:a16="http://schemas.microsoft.com/office/drawing/2014/main" id="{6AAAA495-81DD-496A-66B7-043230DA6C4F}"/>
                </a:ext>
              </a:extLst>
            </p:cNvPr>
            <p:cNvSpPr/>
            <p:nvPr/>
          </p:nvSpPr>
          <p:spPr>
            <a:xfrm>
              <a:off x="6587040" y="376836"/>
              <a:ext cx="971102" cy="144000"/>
            </a:xfrm>
            <a:prstGeom prst="rect">
              <a:avLst/>
            </a:prstGeom>
            <a:solidFill>
              <a:schemeClr val="accent5">
                <a:lumMod val="20000"/>
                <a:lumOff val="80000"/>
              </a:schemeClr>
            </a:solid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sz="678" dirty="0">
                  <a:solidFill>
                    <a:sysClr val="windowText" lastClr="000000"/>
                  </a:solidFill>
                </a:rPr>
                <a:t>Introduction</a:t>
              </a:r>
            </a:p>
          </p:txBody>
        </p:sp>
        <p:sp>
          <p:nvSpPr>
            <p:cNvPr id="12" name="Rectangle 11">
              <a:extLst>
                <a:ext uri="{FF2B5EF4-FFF2-40B4-BE49-F238E27FC236}">
                  <a16:creationId xmlns:a16="http://schemas.microsoft.com/office/drawing/2014/main" id="{0FB90140-2079-4B08-D2F2-E5D27C5554DD}"/>
                </a:ext>
              </a:extLst>
            </p:cNvPr>
            <p:cNvSpPr/>
            <p:nvPr/>
          </p:nvSpPr>
          <p:spPr>
            <a:xfrm>
              <a:off x="7683881" y="376836"/>
              <a:ext cx="973037" cy="144000"/>
            </a:xfrm>
            <a:prstGeom prst="rect">
              <a:avLst/>
            </a:prstGeom>
            <a:solidFill>
              <a:schemeClr val="accent6"/>
            </a:solid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sz="678" dirty="0">
                  <a:solidFill>
                    <a:schemeClr val="bg1"/>
                  </a:solidFill>
                </a:rPr>
                <a:t>Measuring IRRBB</a:t>
              </a:r>
            </a:p>
          </p:txBody>
        </p:sp>
        <p:sp>
          <p:nvSpPr>
            <p:cNvPr id="13" name="Rectangle 12">
              <a:extLst>
                <a:ext uri="{FF2B5EF4-FFF2-40B4-BE49-F238E27FC236}">
                  <a16:creationId xmlns:a16="http://schemas.microsoft.com/office/drawing/2014/main" id="{39BB3806-B53C-3252-C5E6-38589A606685}"/>
                </a:ext>
              </a:extLst>
            </p:cNvPr>
            <p:cNvSpPr/>
            <p:nvPr/>
          </p:nvSpPr>
          <p:spPr>
            <a:xfrm>
              <a:off x="8782657" y="376836"/>
              <a:ext cx="971102" cy="144000"/>
            </a:xfrm>
            <a:prstGeom prst="rect">
              <a:avLst/>
            </a:prstGeom>
            <a:solidFill>
              <a:schemeClr val="accent5">
                <a:lumMod val="20000"/>
                <a:lumOff val="80000"/>
              </a:schemeClr>
            </a:solid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sz="678" dirty="0">
                  <a:solidFill>
                    <a:sysClr val="windowText" lastClr="000000"/>
                  </a:solidFill>
                </a:rPr>
                <a:t>Case studies</a:t>
              </a:r>
            </a:p>
          </p:txBody>
        </p:sp>
        <p:sp>
          <p:nvSpPr>
            <p:cNvPr id="14" name="Oval 13">
              <a:extLst>
                <a:ext uri="{FF2B5EF4-FFF2-40B4-BE49-F238E27FC236}">
                  <a16:creationId xmlns:a16="http://schemas.microsoft.com/office/drawing/2014/main" id="{34220833-5232-BB9A-7E40-99BA6AB4B85D}"/>
                </a:ext>
              </a:extLst>
            </p:cNvPr>
            <p:cNvSpPr/>
            <p:nvPr/>
          </p:nvSpPr>
          <p:spPr>
            <a:xfrm>
              <a:off x="6517399" y="376836"/>
              <a:ext cx="143150" cy="144000"/>
            </a:xfrm>
            <a:prstGeom prst="ellipse">
              <a:avLst/>
            </a:prstGeom>
            <a:solidFill>
              <a:schemeClr val="accent5">
                <a:lumMod val="20000"/>
                <a:lumOff val="80000"/>
              </a:schemeClr>
            </a:solid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de-CH" sz="678" dirty="0">
                  <a:solidFill>
                    <a:schemeClr val="tx1"/>
                  </a:solidFill>
                </a:rPr>
                <a:t>1</a:t>
              </a:r>
              <a:endParaRPr lang="en-US" sz="678" dirty="0">
                <a:solidFill>
                  <a:schemeClr val="tx1"/>
                </a:solidFill>
              </a:endParaRPr>
            </a:p>
          </p:txBody>
        </p:sp>
        <p:sp>
          <p:nvSpPr>
            <p:cNvPr id="15" name="Oval 14">
              <a:extLst>
                <a:ext uri="{FF2B5EF4-FFF2-40B4-BE49-F238E27FC236}">
                  <a16:creationId xmlns:a16="http://schemas.microsoft.com/office/drawing/2014/main" id="{0D21F2D5-BB14-E14F-F6B4-D8E9EFF1955B}"/>
                </a:ext>
              </a:extLst>
            </p:cNvPr>
            <p:cNvSpPr/>
            <p:nvPr/>
          </p:nvSpPr>
          <p:spPr>
            <a:xfrm>
              <a:off x="7612306" y="376836"/>
              <a:ext cx="143150" cy="144000"/>
            </a:xfrm>
            <a:prstGeom prst="ellipse">
              <a:avLst/>
            </a:prstGeom>
            <a:solidFill>
              <a:schemeClr val="accent6"/>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de-CH" sz="678" dirty="0">
                  <a:solidFill>
                    <a:schemeClr val="bg1"/>
                  </a:solidFill>
                </a:rPr>
                <a:t>2</a:t>
              </a:r>
              <a:endParaRPr lang="en-US" sz="678" dirty="0">
                <a:solidFill>
                  <a:schemeClr val="bg1"/>
                </a:solidFill>
              </a:endParaRPr>
            </a:p>
          </p:txBody>
        </p:sp>
        <p:sp>
          <p:nvSpPr>
            <p:cNvPr id="16" name="Oval 15">
              <a:extLst>
                <a:ext uri="{FF2B5EF4-FFF2-40B4-BE49-F238E27FC236}">
                  <a16:creationId xmlns:a16="http://schemas.microsoft.com/office/drawing/2014/main" id="{1EACC905-CE84-03CB-C34A-21C20A579D5B}"/>
                </a:ext>
              </a:extLst>
            </p:cNvPr>
            <p:cNvSpPr/>
            <p:nvPr/>
          </p:nvSpPr>
          <p:spPr>
            <a:xfrm>
              <a:off x="8711083" y="376836"/>
              <a:ext cx="143150" cy="144000"/>
            </a:xfrm>
            <a:prstGeom prst="ellipse">
              <a:avLst/>
            </a:prstGeom>
            <a:solidFill>
              <a:schemeClr val="accent5">
                <a:lumMod val="20000"/>
                <a:lumOff val="80000"/>
              </a:schemeClr>
            </a:solid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de-CH" sz="678" dirty="0">
                  <a:solidFill>
                    <a:schemeClr val="tx1"/>
                  </a:solidFill>
                </a:rPr>
                <a:t>3</a:t>
              </a:r>
              <a:endParaRPr lang="en-US" sz="678" dirty="0">
                <a:solidFill>
                  <a:schemeClr val="tx1"/>
                </a:solidFill>
              </a:endParaRPr>
            </a:p>
          </p:txBody>
        </p:sp>
        <p:cxnSp>
          <p:nvCxnSpPr>
            <p:cNvPr id="17" name="Straight Connector 16">
              <a:extLst>
                <a:ext uri="{FF2B5EF4-FFF2-40B4-BE49-F238E27FC236}">
                  <a16:creationId xmlns:a16="http://schemas.microsoft.com/office/drawing/2014/main" id="{9F0F9902-0634-C4E7-CC69-36F6DD00F635}"/>
                </a:ext>
              </a:extLst>
            </p:cNvPr>
            <p:cNvCxnSpPr/>
            <p:nvPr/>
          </p:nvCxnSpPr>
          <p:spPr>
            <a:xfrm>
              <a:off x="6465168" y="520836"/>
              <a:ext cx="3340822" cy="0"/>
            </a:xfrm>
            <a:prstGeom prst="line">
              <a:avLst/>
            </a:prstGeom>
            <a:ln w="635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18" name="Rectangle 5">
            <a:extLst>
              <a:ext uri="{FF2B5EF4-FFF2-40B4-BE49-F238E27FC236}">
                <a16:creationId xmlns:a16="http://schemas.microsoft.com/office/drawing/2014/main" id="{D69EAECE-7325-E4C3-0F01-60E5D3CC94DC}"/>
              </a:ext>
            </a:extLst>
          </p:cNvPr>
          <p:cNvSpPr>
            <a:spLocks noChangeArrowheads="1"/>
          </p:cNvSpPr>
          <p:nvPr/>
        </p:nvSpPr>
        <p:spPr bwMode="auto">
          <a:xfrm>
            <a:off x="2235510" y="5824715"/>
            <a:ext cx="2762522" cy="107612"/>
          </a:xfrm>
          <a:prstGeom prst="rect">
            <a:avLst/>
          </a:prstGeom>
          <a:noFill/>
          <a:ln w="9525">
            <a:noFill/>
            <a:miter lim="800000"/>
            <a:headEnd/>
            <a:tailEnd/>
          </a:ln>
          <a:effectLst/>
        </p:spPr>
        <p:txBody>
          <a:bodyPr lIns="0" tIns="0" rIns="0" bIns="0">
            <a:spAutoFit/>
          </a:bodyPr>
          <a:lstStyle/>
          <a:p>
            <a:pPr>
              <a:defRPr/>
            </a:pPr>
            <a:r>
              <a:rPr lang="de-DE" sz="678" dirty="0">
                <a:latin typeface="+mj-lt"/>
              </a:rPr>
              <a:t>Source: </a:t>
            </a:r>
            <a:r>
              <a:rPr lang="de-DE" sz="678" dirty="0" err="1">
                <a:latin typeface="+mj-lt"/>
              </a:rPr>
              <a:t>L.v.d</a:t>
            </a:r>
            <a:r>
              <a:rPr lang="de-DE" sz="678" dirty="0">
                <a:latin typeface="+mj-lt"/>
              </a:rPr>
              <a:t>. </a:t>
            </a:r>
            <a:r>
              <a:rPr lang="de-DE" sz="678" dirty="0" err="1">
                <a:latin typeface="+mj-lt"/>
              </a:rPr>
              <a:t>Wielen</a:t>
            </a:r>
            <a:r>
              <a:rPr lang="de-DE" sz="678" dirty="0">
                <a:latin typeface="+mj-lt"/>
              </a:rPr>
              <a:t>, 2016, p.109</a:t>
            </a:r>
          </a:p>
        </p:txBody>
      </p:sp>
      <p:sp>
        <p:nvSpPr>
          <p:cNvPr id="19" name="Rectangle 18">
            <a:extLst>
              <a:ext uri="{FF2B5EF4-FFF2-40B4-BE49-F238E27FC236}">
                <a16:creationId xmlns:a16="http://schemas.microsoft.com/office/drawing/2014/main" id="{CEC5BD6B-CA42-73D6-3C2F-7AB8BE40FA55}"/>
              </a:ext>
            </a:extLst>
          </p:cNvPr>
          <p:cNvSpPr/>
          <p:nvPr/>
        </p:nvSpPr>
        <p:spPr>
          <a:xfrm>
            <a:off x="2133983" y="1218605"/>
            <a:ext cx="7924035" cy="579132"/>
          </a:xfrm>
          <a:prstGeom prst="rect">
            <a:avLst/>
          </a:prstGeom>
          <a:solidFill>
            <a:schemeClr val="accent5">
              <a:lumMod val="40000"/>
              <a:lumOff val="60000"/>
            </a:schemeClr>
          </a:solidFill>
          <a:ln w="635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marL="0" lvl="1">
              <a:defRPr/>
            </a:pPr>
            <a:r>
              <a:rPr lang="en-US" sz="1524" dirty="0">
                <a:solidFill>
                  <a:srgbClr val="FF0000"/>
                </a:solidFill>
              </a:rPr>
              <a:t>Example: </a:t>
            </a:r>
            <a:r>
              <a:rPr lang="en-US" sz="1524" dirty="0">
                <a:solidFill>
                  <a:prstClr val="black"/>
                </a:solidFill>
              </a:rPr>
              <a:t>Impact of instantaneous parallel upward move in rates by 50 bps for the next coming year?</a:t>
            </a:r>
          </a:p>
        </p:txBody>
      </p:sp>
      <p:sp>
        <p:nvSpPr>
          <p:cNvPr id="20" name="Title 1">
            <a:extLst>
              <a:ext uri="{FF2B5EF4-FFF2-40B4-BE49-F238E27FC236}">
                <a16:creationId xmlns:a16="http://schemas.microsoft.com/office/drawing/2014/main" id="{01370F00-1613-6448-39D8-C60C7E5A8600}"/>
              </a:ext>
            </a:extLst>
          </p:cNvPr>
          <p:cNvSpPr txBox="1">
            <a:spLocks/>
          </p:cNvSpPr>
          <p:nvPr/>
        </p:nvSpPr>
        <p:spPr>
          <a:xfrm>
            <a:off x="2133983" y="563313"/>
            <a:ext cx="7924035" cy="610801"/>
          </a:xfrm>
          <a:prstGeom prst="rect">
            <a:avLst/>
          </a:prstGeom>
          <a:solidFill>
            <a:schemeClr val="bg1"/>
          </a:solidFill>
        </p:spPr>
        <p:txBody>
          <a:bodyPr lIns="0" tIns="0" rIns="0" bIns="0" anchor="b">
            <a:normAutofit/>
          </a:bodyPr>
          <a:lstStyle>
            <a:lvl1pPr algn="l" defTabSz="914400" rtl="0" eaLnBrk="1" latinLnBrk="0" hangingPunct="1">
              <a:spcBef>
                <a:spcPct val="0"/>
              </a:spcBef>
              <a:buNone/>
              <a:defRPr sz="2600" b="1" kern="1200">
                <a:solidFill>
                  <a:srgbClr val="003868"/>
                </a:solidFill>
                <a:latin typeface="+mj-lt"/>
                <a:ea typeface="+mj-ea"/>
                <a:cs typeface="+mj-cs"/>
              </a:defRPr>
            </a:lvl1pPr>
          </a:lstStyle>
          <a:p>
            <a:pPr>
              <a:defRPr/>
            </a:pPr>
            <a:r>
              <a:rPr lang="en-GB" sz="1863" dirty="0"/>
              <a:t>Interest Rate Risk in the Banking Book</a:t>
            </a:r>
          </a:p>
          <a:p>
            <a:pPr>
              <a:defRPr/>
            </a:pPr>
            <a:r>
              <a:rPr lang="en-US" sz="1863" b="0" dirty="0">
                <a:solidFill>
                  <a:schemeClr val="bg1">
                    <a:lumMod val="50000"/>
                  </a:schemeClr>
                </a:solidFill>
              </a:rPr>
              <a:t>Delta Net Interest Income</a:t>
            </a:r>
            <a:endParaRPr lang="en-GB" sz="1863" b="0" dirty="0">
              <a:solidFill>
                <a:schemeClr val="bg1">
                  <a:lumMod val="50000"/>
                </a:schemeClr>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5" name="Rectangle 21">
            <a:extLst>
              <a:ext uri="{FF2B5EF4-FFF2-40B4-BE49-F238E27FC236}">
                <a16:creationId xmlns:a16="http://schemas.microsoft.com/office/drawing/2014/main" id="{467B423B-0152-A1E5-70C7-2D7F56FE0A7D}"/>
              </a:ext>
            </a:extLst>
          </p:cNvPr>
          <p:cNvSpPr>
            <a:spLocks noChangeArrowheads="1"/>
          </p:cNvSpPr>
          <p:nvPr/>
        </p:nvSpPr>
        <p:spPr bwMode="auto">
          <a:xfrm>
            <a:off x="3039540" y="3196471"/>
            <a:ext cx="2505430" cy="1437756"/>
          </a:xfrm>
          <a:prstGeom prst="rect">
            <a:avLst/>
          </a:prstGeom>
          <a:solidFill>
            <a:schemeClr val="accent3">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lIns="71464" tIns="35733" rIns="71464" bIns="35733" anchor="ctr"/>
          <a:lstStyle/>
          <a:p>
            <a:pPr>
              <a:defRPr/>
            </a:pPr>
            <a:r>
              <a:rPr lang="de-DE" sz="1444" dirty="0">
                <a:sym typeface="Symbol" pitchFamily="-65" charset="2"/>
              </a:rPr>
              <a:t>Σ </a:t>
            </a:r>
            <a:r>
              <a:rPr lang="de-DE" sz="1444" dirty="0" err="1">
                <a:sym typeface="Symbol" pitchFamily="-65" charset="2"/>
              </a:rPr>
              <a:t>present</a:t>
            </a:r>
            <a:r>
              <a:rPr lang="de-DE" sz="1444" dirty="0">
                <a:sym typeface="Symbol" pitchFamily="-65" charset="2"/>
              </a:rPr>
              <a:t> </a:t>
            </a:r>
            <a:r>
              <a:rPr lang="de-DE" sz="1444" dirty="0" err="1">
                <a:sym typeface="Symbol" pitchFamily="-65" charset="2"/>
              </a:rPr>
              <a:t>value</a:t>
            </a:r>
            <a:r>
              <a:rPr lang="de-DE" sz="1444" dirty="0">
                <a:sym typeface="Symbol" pitchFamily="-65" charset="2"/>
              </a:rPr>
              <a:t> of </a:t>
            </a:r>
            <a:r>
              <a:rPr lang="de-DE" sz="1444" dirty="0" err="1">
                <a:sym typeface="Symbol" pitchFamily="-65" charset="2"/>
              </a:rPr>
              <a:t>assets</a:t>
            </a:r>
            <a:r>
              <a:rPr lang="de-DE" sz="1444" dirty="0">
                <a:sym typeface="Symbol" pitchFamily="-65" charset="2"/>
              </a:rPr>
              <a:t> (</a:t>
            </a:r>
            <a:r>
              <a:rPr lang="de-DE" sz="1444" dirty="0" err="1">
                <a:sym typeface="Symbol" pitchFamily="-65" charset="2"/>
              </a:rPr>
              <a:t>includes</a:t>
            </a:r>
            <a:r>
              <a:rPr lang="de-DE" sz="1444" dirty="0">
                <a:sym typeface="Symbol" pitchFamily="-65" charset="2"/>
              </a:rPr>
              <a:t> </a:t>
            </a:r>
            <a:r>
              <a:rPr lang="de-DE" sz="1444" dirty="0" err="1">
                <a:sym typeface="Symbol" pitchFamily="-65" charset="2"/>
              </a:rPr>
              <a:t>unrealised</a:t>
            </a:r>
            <a:r>
              <a:rPr lang="de-DE" sz="1444" dirty="0">
                <a:sym typeface="Symbol" pitchFamily="-65" charset="2"/>
              </a:rPr>
              <a:t> </a:t>
            </a:r>
            <a:r>
              <a:rPr lang="de-DE" sz="1444" dirty="0" err="1">
                <a:sym typeface="Symbol" pitchFamily="-65" charset="2"/>
              </a:rPr>
              <a:t>gains</a:t>
            </a:r>
            <a:r>
              <a:rPr lang="de-DE" sz="1444" dirty="0">
                <a:sym typeface="Symbol" pitchFamily="-65" charset="2"/>
              </a:rPr>
              <a:t>)</a:t>
            </a:r>
          </a:p>
        </p:txBody>
      </p:sp>
      <p:sp>
        <p:nvSpPr>
          <p:cNvPr id="23567" name="Text Box 22">
            <a:extLst>
              <a:ext uri="{FF2B5EF4-FFF2-40B4-BE49-F238E27FC236}">
                <a16:creationId xmlns:a16="http://schemas.microsoft.com/office/drawing/2014/main" id="{0AADE363-40EB-9291-80C8-325FF7D95D31}"/>
              </a:ext>
            </a:extLst>
          </p:cNvPr>
          <p:cNvSpPr txBox="1">
            <a:spLocks noChangeArrowheads="1"/>
          </p:cNvSpPr>
          <p:nvPr/>
        </p:nvSpPr>
        <p:spPr bwMode="auto">
          <a:xfrm>
            <a:off x="3039539" y="4696453"/>
            <a:ext cx="6111284" cy="334082"/>
          </a:xfrm>
          <a:prstGeom prst="rect">
            <a:avLst/>
          </a:prstGeom>
          <a:solidFill>
            <a:schemeClr val="bg1">
              <a:lumMod val="85000"/>
            </a:schemeClr>
          </a:solidFill>
          <a:ln w="9525">
            <a:solidFill>
              <a:schemeClr val="tx1"/>
            </a:solidFill>
            <a:miter lim="800000"/>
            <a:headEnd/>
            <a:tailEnd/>
          </a:ln>
          <a:effectLst>
            <a:outerShdw blurRad="50800" dist="38100" dir="2700000" algn="tl" rotWithShape="0">
              <a:prstClr val="black">
                <a:alpha val="40000"/>
              </a:prstClr>
            </a:outerShdw>
          </a:effectLst>
        </p:spPr>
        <p:txBody>
          <a:bodyPr lIns="71464" tIns="35733" rIns="71464" bIns="35733">
            <a:spAutoFit/>
          </a:bodyPr>
          <a:lstStyle>
            <a:defPPr>
              <a:defRPr lang="en-US"/>
            </a:defPPr>
            <a:lvl1pPr algn="ctr">
              <a:defRPr sz="1600">
                <a:latin typeface="+mj-lt"/>
              </a:defRPr>
            </a:lvl1pPr>
          </a:lstStyle>
          <a:p>
            <a:pPr>
              <a:defRPr/>
            </a:pPr>
            <a:r>
              <a:rPr lang="de-DE" sz="1650" dirty="0">
                <a:latin typeface="+mn-lt"/>
                <a:sym typeface="Symbol" pitchFamily="-65" charset="2"/>
              </a:rPr>
              <a:t> Σ </a:t>
            </a:r>
            <a:r>
              <a:rPr lang="de-DE" sz="1650" dirty="0" err="1">
                <a:latin typeface="+mn-lt"/>
                <a:sym typeface="Symbol" pitchFamily="-65" charset="2"/>
              </a:rPr>
              <a:t>present</a:t>
            </a:r>
            <a:r>
              <a:rPr lang="de-DE" sz="1650" dirty="0">
                <a:latin typeface="+mn-lt"/>
                <a:sym typeface="Symbol" pitchFamily="-65" charset="2"/>
              </a:rPr>
              <a:t> </a:t>
            </a:r>
            <a:r>
              <a:rPr lang="de-DE" sz="1650" dirty="0" err="1">
                <a:latin typeface="+mn-lt"/>
                <a:sym typeface="Symbol" pitchFamily="-65" charset="2"/>
              </a:rPr>
              <a:t>value</a:t>
            </a:r>
            <a:r>
              <a:rPr lang="de-DE" sz="1650" dirty="0">
                <a:latin typeface="+mn-lt"/>
                <a:sym typeface="Symbol" pitchFamily="-65" charset="2"/>
              </a:rPr>
              <a:t> o</a:t>
            </a:r>
            <a:r>
              <a:rPr lang="de-DE" sz="1650" dirty="0">
                <a:latin typeface="+mn-lt"/>
              </a:rPr>
              <a:t>ff </a:t>
            </a:r>
            <a:r>
              <a:rPr lang="de-DE" sz="1650" dirty="0" err="1">
                <a:latin typeface="+mn-lt"/>
              </a:rPr>
              <a:t>balance</a:t>
            </a:r>
            <a:r>
              <a:rPr lang="de-DE" sz="1650" dirty="0">
                <a:latin typeface="+mn-lt"/>
              </a:rPr>
              <a:t> </a:t>
            </a:r>
            <a:r>
              <a:rPr lang="de-DE" sz="1650" dirty="0" err="1">
                <a:latin typeface="+mn-lt"/>
              </a:rPr>
              <a:t>sheet</a:t>
            </a:r>
            <a:endParaRPr lang="de-DE" sz="1650" dirty="0">
              <a:latin typeface="+mn-lt"/>
            </a:endParaRPr>
          </a:p>
        </p:txBody>
      </p:sp>
      <p:sp>
        <p:nvSpPr>
          <p:cNvPr id="15" name="Rectangle 21">
            <a:extLst>
              <a:ext uri="{FF2B5EF4-FFF2-40B4-BE49-F238E27FC236}">
                <a16:creationId xmlns:a16="http://schemas.microsoft.com/office/drawing/2014/main" id="{FA8F1A96-C4D1-F8BD-318A-1F7AF0F62E9F}"/>
              </a:ext>
            </a:extLst>
          </p:cNvPr>
          <p:cNvSpPr>
            <a:spLocks noChangeArrowheads="1"/>
          </p:cNvSpPr>
          <p:nvPr/>
        </p:nvSpPr>
        <p:spPr bwMode="auto">
          <a:xfrm>
            <a:off x="6645393" y="3196471"/>
            <a:ext cx="2505430" cy="876082"/>
          </a:xfrm>
          <a:prstGeom prst="rect">
            <a:avLst/>
          </a:prstGeom>
          <a:solidFill>
            <a:schemeClr val="accent4">
              <a:lumMod val="40000"/>
              <a:lumOff val="6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lIns="71464" tIns="35733" rIns="71464" bIns="35733" anchor="ctr"/>
          <a:lstStyle/>
          <a:p>
            <a:pPr>
              <a:lnSpc>
                <a:spcPct val="120000"/>
              </a:lnSpc>
              <a:defRPr/>
            </a:pPr>
            <a:r>
              <a:rPr lang="de-DE" sz="1444" dirty="0">
                <a:sym typeface="Symbol" pitchFamily="-65" charset="2"/>
              </a:rPr>
              <a:t>Σ </a:t>
            </a:r>
            <a:r>
              <a:rPr lang="de-DE" sz="1444" dirty="0" err="1">
                <a:sym typeface="Symbol" pitchFamily="-65" charset="2"/>
              </a:rPr>
              <a:t>present</a:t>
            </a:r>
            <a:r>
              <a:rPr lang="de-DE" sz="1444" dirty="0">
                <a:sym typeface="Symbol" pitchFamily="-65" charset="2"/>
              </a:rPr>
              <a:t> </a:t>
            </a:r>
            <a:r>
              <a:rPr lang="de-DE" sz="1444" dirty="0" err="1">
                <a:sym typeface="Symbol" pitchFamily="-65" charset="2"/>
              </a:rPr>
              <a:t>value</a:t>
            </a:r>
            <a:r>
              <a:rPr lang="de-DE" sz="1444" dirty="0">
                <a:sym typeface="Symbol" pitchFamily="-65" charset="2"/>
              </a:rPr>
              <a:t> </a:t>
            </a:r>
            <a:r>
              <a:rPr lang="de-DE" sz="1444" dirty="0" err="1">
                <a:sym typeface="Symbol" pitchFamily="-65" charset="2"/>
              </a:rPr>
              <a:t>of</a:t>
            </a:r>
            <a:r>
              <a:rPr lang="de-DE" sz="1444" dirty="0">
                <a:sym typeface="Symbol" pitchFamily="-65" charset="2"/>
              </a:rPr>
              <a:t> </a:t>
            </a:r>
            <a:r>
              <a:rPr lang="de-DE" sz="1444" dirty="0" err="1">
                <a:sym typeface="Symbol" pitchFamily="-65" charset="2"/>
              </a:rPr>
              <a:t>liabilities</a:t>
            </a:r>
            <a:endParaRPr lang="de-DE" sz="1444" dirty="0">
              <a:sym typeface="Symbol" pitchFamily="-65" charset="2"/>
            </a:endParaRPr>
          </a:p>
        </p:txBody>
      </p:sp>
      <p:sp>
        <p:nvSpPr>
          <p:cNvPr id="22" name="Text Box 15">
            <a:extLst>
              <a:ext uri="{FF2B5EF4-FFF2-40B4-BE49-F238E27FC236}">
                <a16:creationId xmlns:a16="http://schemas.microsoft.com/office/drawing/2014/main" id="{99A2D4F1-9E89-76AD-A8DB-5DB313C6127C}"/>
              </a:ext>
            </a:extLst>
          </p:cNvPr>
          <p:cNvSpPr txBox="1">
            <a:spLocks noChangeArrowheads="1"/>
          </p:cNvSpPr>
          <p:nvPr/>
        </p:nvSpPr>
        <p:spPr bwMode="auto">
          <a:xfrm>
            <a:off x="6645393" y="4120041"/>
            <a:ext cx="2505430" cy="514186"/>
          </a:xfrm>
          <a:prstGeom prst="rect">
            <a:avLst/>
          </a:prstGeom>
          <a:solidFill>
            <a:schemeClr val="bg2">
              <a:lumMod val="60000"/>
              <a:lumOff val="4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lIns="71464" tIns="35733" rIns="71464" bIns="35733" anchor="ctr"/>
          <a:lstStyle/>
          <a:p>
            <a:pPr>
              <a:defRPr/>
            </a:pPr>
            <a:r>
              <a:rPr lang="de-DE" sz="1444" dirty="0"/>
              <a:t>Equity (Surplus)</a:t>
            </a:r>
          </a:p>
        </p:txBody>
      </p:sp>
      <p:sp>
        <p:nvSpPr>
          <p:cNvPr id="29" name="Rectangle 28">
            <a:extLst>
              <a:ext uri="{FF2B5EF4-FFF2-40B4-BE49-F238E27FC236}">
                <a16:creationId xmlns:a16="http://schemas.microsoft.com/office/drawing/2014/main" id="{3D16F51E-5E59-6F13-BD89-71EAE3816497}"/>
              </a:ext>
            </a:extLst>
          </p:cNvPr>
          <p:cNvSpPr/>
          <p:nvPr/>
        </p:nvSpPr>
        <p:spPr>
          <a:xfrm>
            <a:off x="2106144" y="1672199"/>
            <a:ext cx="7924035" cy="508960"/>
          </a:xfrm>
          <a:prstGeom prst="rect">
            <a:avLst/>
          </a:prstGeom>
          <a:solidFill>
            <a:schemeClr val="accent5">
              <a:lumMod val="40000"/>
              <a:lumOff val="60000"/>
            </a:schemeClr>
          </a:solidFill>
          <a:ln w="635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1464" tIns="35733" rIns="71464" bIns="35733" anchor="ctr">
            <a:spAutoFit/>
          </a:bodyPr>
          <a:lstStyle/>
          <a:p>
            <a:pPr marL="0" lvl="1" algn="ctr">
              <a:defRPr/>
            </a:pPr>
            <a:r>
              <a:rPr lang="en-US" sz="1376" dirty="0">
                <a:solidFill>
                  <a:prstClr val="black"/>
                </a:solidFill>
              </a:rPr>
              <a:t> EVE defined as difference between the present value of assets and liabilities (and off balance sheet exposures).</a:t>
            </a:r>
          </a:p>
        </p:txBody>
      </p:sp>
      <p:sp>
        <p:nvSpPr>
          <p:cNvPr id="31" name="Rectangle 5">
            <a:extLst>
              <a:ext uri="{FF2B5EF4-FFF2-40B4-BE49-F238E27FC236}">
                <a16:creationId xmlns:a16="http://schemas.microsoft.com/office/drawing/2014/main" id="{2B59E230-82E4-7A6F-5595-2484CB32B5D9}"/>
              </a:ext>
            </a:extLst>
          </p:cNvPr>
          <p:cNvSpPr>
            <a:spLocks noChangeArrowheads="1"/>
          </p:cNvSpPr>
          <p:nvPr/>
        </p:nvSpPr>
        <p:spPr bwMode="auto">
          <a:xfrm>
            <a:off x="3206568" y="2785449"/>
            <a:ext cx="883714" cy="421521"/>
          </a:xfrm>
          <a:prstGeom prst="rect">
            <a:avLst/>
          </a:prstGeom>
          <a:noFill/>
          <a:ln w="9525">
            <a:noFill/>
            <a:miter lim="800000"/>
            <a:headEnd/>
            <a:tailEnd/>
          </a:ln>
        </p:spPr>
        <p:txBody>
          <a:bodyPr wrap="none" lIns="71464" tIns="35733" rIns="71464" bIns="35733">
            <a:spAutoFit/>
          </a:bodyPr>
          <a:lstStyle/>
          <a:p>
            <a:pPr>
              <a:defRPr/>
            </a:pPr>
            <a:r>
              <a:rPr lang="de-DE" sz="2201" dirty="0" err="1">
                <a:latin typeface="+mj-lt"/>
              </a:rPr>
              <a:t>Assets</a:t>
            </a:r>
            <a:endParaRPr lang="de-DE" sz="2201" dirty="0">
              <a:latin typeface="+mj-lt"/>
            </a:endParaRPr>
          </a:p>
        </p:txBody>
      </p:sp>
      <p:sp>
        <p:nvSpPr>
          <p:cNvPr id="32" name="Rectangle 6">
            <a:extLst>
              <a:ext uri="{FF2B5EF4-FFF2-40B4-BE49-F238E27FC236}">
                <a16:creationId xmlns:a16="http://schemas.microsoft.com/office/drawing/2014/main" id="{CA79EB92-73BD-4591-C481-646938DDBAD1}"/>
              </a:ext>
            </a:extLst>
          </p:cNvPr>
          <p:cNvSpPr>
            <a:spLocks noChangeArrowheads="1"/>
          </p:cNvSpPr>
          <p:nvPr/>
        </p:nvSpPr>
        <p:spPr bwMode="auto">
          <a:xfrm>
            <a:off x="6645393" y="2744510"/>
            <a:ext cx="1229037" cy="421521"/>
          </a:xfrm>
          <a:prstGeom prst="rect">
            <a:avLst/>
          </a:prstGeom>
          <a:noFill/>
          <a:ln w="9525">
            <a:noFill/>
            <a:miter lim="800000"/>
            <a:headEnd/>
            <a:tailEnd/>
          </a:ln>
        </p:spPr>
        <p:txBody>
          <a:bodyPr wrap="none" lIns="71464" tIns="35733" rIns="71464" bIns="35733">
            <a:spAutoFit/>
          </a:bodyPr>
          <a:lstStyle/>
          <a:p>
            <a:pPr>
              <a:defRPr/>
            </a:pPr>
            <a:r>
              <a:rPr lang="de-DE" sz="2201" dirty="0" err="1">
                <a:latin typeface="+mj-lt"/>
              </a:rPr>
              <a:t>Liabilities</a:t>
            </a:r>
            <a:endParaRPr lang="de-DE" sz="2201" dirty="0">
              <a:latin typeface="+mj-lt"/>
            </a:endParaRPr>
          </a:p>
        </p:txBody>
      </p:sp>
      <p:sp>
        <p:nvSpPr>
          <p:cNvPr id="33" name="Line 17">
            <a:extLst>
              <a:ext uri="{FF2B5EF4-FFF2-40B4-BE49-F238E27FC236}">
                <a16:creationId xmlns:a16="http://schemas.microsoft.com/office/drawing/2014/main" id="{E91579CB-B0C6-D6F4-0012-ACCE5CA28623}"/>
              </a:ext>
            </a:extLst>
          </p:cNvPr>
          <p:cNvSpPr>
            <a:spLocks noChangeShapeType="1"/>
          </p:cNvSpPr>
          <p:nvPr/>
        </p:nvSpPr>
        <p:spPr bwMode="auto">
          <a:xfrm>
            <a:off x="2707120" y="3114593"/>
            <a:ext cx="6777760" cy="0"/>
          </a:xfrm>
          <a:prstGeom prst="line">
            <a:avLst/>
          </a:prstGeom>
          <a:noFill/>
          <a:ln w="9525">
            <a:solidFill>
              <a:schemeClr val="tx1"/>
            </a:solidFill>
            <a:round/>
            <a:headEnd/>
            <a:tailEnd/>
          </a:ln>
        </p:spPr>
        <p:txBody>
          <a:bodyPr wrap="none" lIns="71464" tIns="35733" rIns="71464" bIns="35733" anchor="ctr"/>
          <a:lstStyle/>
          <a:p>
            <a:pPr>
              <a:defRPr/>
            </a:pPr>
            <a:endParaRPr lang="en-US" sz="2201">
              <a:latin typeface="+mj-lt"/>
            </a:endParaRPr>
          </a:p>
        </p:txBody>
      </p:sp>
      <p:sp>
        <p:nvSpPr>
          <p:cNvPr id="34" name="Line 18">
            <a:extLst>
              <a:ext uri="{FF2B5EF4-FFF2-40B4-BE49-F238E27FC236}">
                <a16:creationId xmlns:a16="http://schemas.microsoft.com/office/drawing/2014/main" id="{29A82FAF-787A-4FA3-5D3F-6B1175E32C8F}"/>
              </a:ext>
            </a:extLst>
          </p:cNvPr>
          <p:cNvSpPr>
            <a:spLocks noChangeShapeType="1"/>
          </p:cNvSpPr>
          <p:nvPr/>
        </p:nvSpPr>
        <p:spPr bwMode="auto">
          <a:xfrm>
            <a:off x="6096819" y="3114593"/>
            <a:ext cx="0" cy="1581860"/>
          </a:xfrm>
          <a:prstGeom prst="line">
            <a:avLst/>
          </a:prstGeom>
          <a:noFill/>
          <a:ln w="9525">
            <a:solidFill>
              <a:schemeClr val="tx1"/>
            </a:solidFill>
            <a:round/>
            <a:headEnd/>
            <a:tailEnd/>
          </a:ln>
        </p:spPr>
        <p:txBody>
          <a:bodyPr wrap="none" lIns="71464" tIns="35733" rIns="71464" bIns="35733" anchor="ctr"/>
          <a:lstStyle/>
          <a:p>
            <a:pPr>
              <a:defRPr/>
            </a:pPr>
            <a:endParaRPr lang="en-US" sz="2201">
              <a:latin typeface="+mj-lt"/>
            </a:endParaRPr>
          </a:p>
        </p:txBody>
      </p:sp>
      <p:sp>
        <p:nvSpPr>
          <p:cNvPr id="35" name="Rectangle 5">
            <a:extLst>
              <a:ext uri="{FF2B5EF4-FFF2-40B4-BE49-F238E27FC236}">
                <a16:creationId xmlns:a16="http://schemas.microsoft.com/office/drawing/2014/main" id="{E6BDFAEC-3B9A-5203-214C-CD098EBFCA01}"/>
              </a:ext>
            </a:extLst>
          </p:cNvPr>
          <p:cNvSpPr>
            <a:spLocks noChangeArrowheads="1"/>
          </p:cNvSpPr>
          <p:nvPr/>
        </p:nvSpPr>
        <p:spPr bwMode="auto">
          <a:xfrm>
            <a:off x="2142170" y="5430069"/>
            <a:ext cx="2762523" cy="101924"/>
          </a:xfrm>
          <a:prstGeom prst="rect">
            <a:avLst/>
          </a:prstGeom>
          <a:noFill/>
          <a:ln w="9525">
            <a:noFill/>
            <a:miter lim="800000"/>
            <a:headEnd/>
            <a:tailEnd/>
          </a:ln>
          <a:effectLst/>
        </p:spPr>
        <p:txBody>
          <a:bodyPr lIns="0" tIns="0" rIns="0" bIns="0">
            <a:spAutoFit/>
          </a:bodyPr>
          <a:lstStyle/>
          <a:p>
            <a:pPr>
              <a:defRPr/>
            </a:pPr>
            <a:r>
              <a:rPr lang="de-DE" sz="642" dirty="0">
                <a:latin typeface="+mj-lt"/>
              </a:rPr>
              <a:t>Source: </a:t>
            </a:r>
            <a:r>
              <a:rPr lang="de-DE" sz="642" dirty="0" err="1">
                <a:latin typeface="+mj-lt"/>
              </a:rPr>
              <a:t>based</a:t>
            </a:r>
            <a:r>
              <a:rPr lang="de-DE" sz="642" dirty="0">
                <a:latin typeface="+mj-lt"/>
              </a:rPr>
              <a:t> on Lukas, Witte, Universität Kassel, 2008</a:t>
            </a:r>
            <a:endParaRPr lang="en-US" sz="642" dirty="0">
              <a:latin typeface="+mj-lt"/>
            </a:endParaRPr>
          </a:p>
        </p:txBody>
      </p:sp>
      <p:sp>
        <p:nvSpPr>
          <p:cNvPr id="36" name="Title 1">
            <a:extLst>
              <a:ext uri="{FF2B5EF4-FFF2-40B4-BE49-F238E27FC236}">
                <a16:creationId xmlns:a16="http://schemas.microsoft.com/office/drawing/2014/main" id="{8108751B-F6DE-217C-9F29-55A5E94FE93F}"/>
              </a:ext>
            </a:extLst>
          </p:cNvPr>
          <p:cNvSpPr txBox="1">
            <a:spLocks/>
          </p:cNvSpPr>
          <p:nvPr/>
        </p:nvSpPr>
        <p:spPr>
          <a:xfrm>
            <a:off x="2021400" y="189781"/>
            <a:ext cx="8416123" cy="1013809"/>
          </a:xfrm>
          <a:prstGeom prst="rect">
            <a:avLst/>
          </a:prstGeom>
        </p:spPr>
        <p:txBody>
          <a:bodyPr lIns="0" tIns="0" rIns="0" bIns="0" anchor="b">
            <a:noAutofit/>
          </a:bodyPr>
          <a:lstStyle>
            <a:lvl1pPr algn="l" defTabSz="914400" rtl="0" eaLnBrk="1" latinLnBrk="0" hangingPunct="1">
              <a:spcBef>
                <a:spcPct val="0"/>
              </a:spcBef>
              <a:buNone/>
              <a:defRPr sz="2600" b="1" kern="1200">
                <a:solidFill>
                  <a:srgbClr val="003868"/>
                </a:solidFill>
                <a:latin typeface="+mj-lt"/>
                <a:ea typeface="+mj-ea"/>
                <a:cs typeface="+mj-cs"/>
              </a:defRPr>
            </a:lvl1pPr>
          </a:lstStyle>
          <a:p>
            <a:pPr>
              <a:defRPr/>
            </a:pPr>
            <a:r>
              <a:rPr lang="en-GB" sz="3200" dirty="0">
                <a:solidFill>
                  <a:schemeClr val="tx1"/>
                </a:solidFill>
              </a:rPr>
              <a:t>Interest Rate Risk in the Banking Book</a:t>
            </a:r>
          </a:p>
          <a:p>
            <a:pPr>
              <a:defRPr/>
            </a:pPr>
            <a:r>
              <a:rPr lang="en-US" sz="3200" b="0" dirty="0">
                <a:solidFill>
                  <a:schemeClr val="tx1"/>
                </a:solidFill>
              </a:rPr>
              <a:t>Economic Value of Equity (EVE</a:t>
            </a:r>
            <a:r>
              <a:rPr lang="en-US" sz="3200" b="0" dirty="0"/>
              <a:t>)</a:t>
            </a:r>
            <a:endParaRPr lang="en-GB" sz="3200" b="0" dirty="0"/>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561BD-A710-919A-1081-EA8258F0F758}"/>
              </a:ext>
            </a:extLst>
          </p:cNvPr>
          <p:cNvSpPr>
            <a:spLocks noGrp="1"/>
          </p:cNvSpPr>
          <p:nvPr>
            <p:ph type="title"/>
          </p:nvPr>
        </p:nvSpPr>
        <p:spPr>
          <a:xfrm>
            <a:off x="2165095" y="218860"/>
            <a:ext cx="7715220" cy="471610"/>
          </a:xfrm>
        </p:spPr>
        <p:txBody>
          <a:bodyPr>
            <a:noAutofit/>
          </a:bodyPr>
          <a:lstStyle/>
          <a:p>
            <a:pPr>
              <a:defRPr/>
            </a:pPr>
            <a:r>
              <a:rPr lang="en-GB" sz="3200" dirty="0"/>
              <a:t>Steps to Calculating EVE Sensitivity</a:t>
            </a:r>
          </a:p>
        </p:txBody>
      </p:sp>
      <p:sp>
        <p:nvSpPr>
          <p:cNvPr id="3" name="TextBox 2">
            <a:extLst>
              <a:ext uri="{FF2B5EF4-FFF2-40B4-BE49-F238E27FC236}">
                <a16:creationId xmlns:a16="http://schemas.microsoft.com/office/drawing/2014/main" id="{049F4E17-3B0D-9DE0-8B97-84E01B10C653}"/>
              </a:ext>
            </a:extLst>
          </p:cNvPr>
          <p:cNvSpPr txBox="1"/>
          <p:nvPr/>
        </p:nvSpPr>
        <p:spPr>
          <a:xfrm>
            <a:off x="3789531" y="1901180"/>
            <a:ext cx="5094374" cy="949964"/>
          </a:xfrm>
          <a:prstGeom prst="rect">
            <a:avLst/>
          </a:prstGeom>
          <a:noFill/>
        </p:spPr>
        <p:txBody>
          <a:bodyPr lIns="59913" tIns="29956" rIns="59913" bIns="29956">
            <a:spAutoFit/>
          </a:bodyPr>
          <a:lstStyle/>
          <a:p>
            <a:pPr>
              <a:defRPr/>
            </a:pPr>
            <a:endParaRPr lang="en-GB" sz="1206" dirty="0"/>
          </a:p>
          <a:p>
            <a:pPr>
              <a:defRPr/>
            </a:pPr>
            <a:endParaRPr lang="en-GB" sz="1206" dirty="0"/>
          </a:p>
          <a:p>
            <a:pPr>
              <a:defRPr/>
            </a:pPr>
            <a:endParaRPr lang="en-GB" sz="1206" dirty="0"/>
          </a:p>
          <a:p>
            <a:pPr>
              <a:defRPr/>
            </a:pPr>
            <a:endParaRPr lang="en-GB" sz="993" dirty="0"/>
          </a:p>
          <a:p>
            <a:pPr>
              <a:defRPr/>
            </a:pPr>
            <a:endParaRPr lang="en-GB" sz="993" dirty="0"/>
          </a:p>
        </p:txBody>
      </p:sp>
      <p:sp>
        <p:nvSpPr>
          <p:cNvPr id="4" name="Rectangle 3">
            <a:extLst>
              <a:ext uri="{FF2B5EF4-FFF2-40B4-BE49-F238E27FC236}">
                <a16:creationId xmlns:a16="http://schemas.microsoft.com/office/drawing/2014/main" id="{8B671182-0286-4C15-E2C9-0C4418474ECE}"/>
              </a:ext>
            </a:extLst>
          </p:cNvPr>
          <p:cNvSpPr/>
          <p:nvPr/>
        </p:nvSpPr>
        <p:spPr>
          <a:xfrm>
            <a:off x="2177376" y="1189384"/>
            <a:ext cx="7042223" cy="1484805"/>
          </a:xfrm>
          <a:prstGeom prst="rect">
            <a:avLst/>
          </a:prstGeom>
          <a:solidFill>
            <a:srgbClr val="03B7A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9913" tIns="29956" rIns="59913" bIns="29956" anchor="ctr"/>
          <a:lstStyle/>
          <a:p>
            <a:pPr algn="just">
              <a:defRPr/>
            </a:pPr>
            <a:r>
              <a:rPr lang="en-GB" sz="1200" u="sng" dirty="0">
                <a:solidFill>
                  <a:schemeClr val="bg1"/>
                </a:solidFill>
              </a:rPr>
              <a:t>Step 1</a:t>
            </a:r>
            <a:r>
              <a:rPr lang="en-GB" sz="1200" dirty="0">
                <a:solidFill>
                  <a:schemeClr val="bg1"/>
                </a:solidFill>
              </a:rPr>
              <a:t> – Project all notional re-pricing cash flows arising from </a:t>
            </a:r>
            <a:r>
              <a:rPr lang="en-GB" sz="1200" i="1" dirty="0">
                <a:solidFill>
                  <a:schemeClr val="bg1"/>
                </a:solidFill>
              </a:rPr>
              <a:t>current </a:t>
            </a:r>
            <a:r>
              <a:rPr lang="en-GB" sz="1200" dirty="0">
                <a:solidFill>
                  <a:schemeClr val="bg1"/>
                </a:solidFill>
              </a:rPr>
              <a:t>balance sheet interest rate sensitive assets, liabilities and off-balance sheet instruments. Note, BCBS suggest excluding fixed assets, equity exposures in the banking book and capital</a:t>
            </a:r>
          </a:p>
          <a:p>
            <a:pPr algn="just">
              <a:defRPr/>
            </a:pPr>
            <a:r>
              <a:rPr lang="en-GB" sz="1200" dirty="0">
                <a:solidFill>
                  <a:schemeClr val="bg1"/>
                </a:solidFill>
              </a:rPr>
              <a:t>A notional re-pricing cash flow is any repayment of principal, any re-pricing of principal or any interest payment on a tranche of principal that has not yet been repaid or re-priced, arising from the </a:t>
            </a:r>
            <a:r>
              <a:rPr lang="en-GB" sz="1200" i="1" dirty="0">
                <a:solidFill>
                  <a:schemeClr val="bg1"/>
                </a:solidFill>
              </a:rPr>
              <a:t>current </a:t>
            </a:r>
            <a:r>
              <a:rPr lang="en-GB" sz="1200" dirty="0">
                <a:solidFill>
                  <a:schemeClr val="bg1"/>
                </a:solidFill>
              </a:rPr>
              <a:t>balance sheet position </a:t>
            </a:r>
          </a:p>
          <a:p>
            <a:pPr algn="just">
              <a:defRPr/>
            </a:pPr>
            <a:endParaRPr lang="en-GB" sz="1200" dirty="0">
              <a:solidFill>
                <a:schemeClr val="bg1"/>
              </a:solidFill>
            </a:endParaRPr>
          </a:p>
          <a:p>
            <a:pPr algn="just">
              <a:defRPr/>
            </a:pPr>
            <a:endParaRPr lang="en-GB" sz="922" dirty="0">
              <a:solidFill>
                <a:schemeClr val="tx1"/>
              </a:solidFill>
            </a:endParaRPr>
          </a:p>
        </p:txBody>
      </p:sp>
      <p:sp>
        <p:nvSpPr>
          <p:cNvPr id="5" name="Down Arrow 4">
            <a:extLst>
              <a:ext uri="{FF2B5EF4-FFF2-40B4-BE49-F238E27FC236}">
                <a16:creationId xmlns:a16="http://schemas.microsoft.com/office/drawing/2014/main" id="{8FF2A065-7109-B4FE-57DA-798FE3ED6DBA}"/>
              </a:ext>
            </a:extLst>
          </p:cNvPr>
          <p:cNvSpPr/>
          <p:nvPr/>
        </p:nvSpPr>
        <p:spPr>
          <a:xfrm>
            <a:off x="5492568" y="2686694"/>
            <a:ext cx="306220" cy="262006"/>
          </a:xfrm>
          <a:prstGeom prst="downArrow">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9913" tIns="29956" rIns="59913" bIns="29956" anchor="ctr"/>
          <a:lstStyle/>
          <a:p>
            <a:pPr algn="ctr">
              <a:defRPr/>
            </a:pPr>
            <a:endParaRPr lang="en-GB" sz="993" dirty="0"/>
          </a:p>
        </p:txBody>
      </p:sp>
      <p:sp>
        <p:nvSpPr>
          <p:cNvPr id="6" name="Rectangle 5">
            <a:extLst>
              <a:ext uri="{FF2B5EF4-FFF2-40B4-BE49-F238E27FC236}">
                <a16:creationId xmlns:a16="http://schemas.microsoft.com/office/drawing/2014/main" id="{F6C2979D-FF50-9DFC-142B-C3CE2460145C}"/>
              </a:ext>
            </a:extLst>
          </p:cNvPr>
          <p:cNvSpPr/>
          <p:nvPr/>
        </p:nvSpPr>
        <p:spPr>
          <a:xfrm>
            <a:off x="2177377" y="3031074"/>
            <a:ext cx="7042222" cy="599344"/>
          </a:xfrm>
          <a:prstGeom prst="rect">
            <a:avLst/>
          </a:prstGeom>
          <a:solidFill>
            <a:srgbClr val="03B7A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9913" tIns="29956" rIns="59913" bIns="29956" anchor="ctr"/>
          <a:lstStyle/>
          <a:p>
            <a:pPr algn="just">
              <a:defRPr/>
            </a:pPr>
            <a:r>
              <a:rPr lang="en-GB" sz="1200" u="sng" dirty="0">
                <a:solidFill>
                  <a:schemeClr val="bg1"/>
                </a:solidFill>
              </a:rPr>
              <a:t>Step 2</a:t>
            </a:r>
            <a:r>
              <a:rPr lang="en-GB" sz="1200" dirty="0">
                <a:solidFill>
                  <a:schemeClr val="bg1"/>
                </a:solidFill>
              </a:rPr>
              <a:t> – Slot the Cash flows into the re-pricing maturity gap schedule time buckets</a:t>
            </a:r>
          </a:p>
        </p:txBody>
      </p:sp>
      <p:sp>
        <p:nvSpPr>
          <p:cNvPr id="7" name="Rectangle 6">
            <a:extLst>
              <a:ext uri="{FF2B5EF4-FFF2-40B4-BE49-F238E27FC236}">
                <a16:creationId xmlns:a16="http://schemas.microsoft.com/office/drawing/2014/main" id="{64D927EC-2027-386B-0678-7797D18162CB}"/>
              </a:ext>
            </a:extLst>
          </p:cNvPr>
          <p:cNvSpPr/>
          <p:nvPr/>
        </p:nvSpPr>
        <p:spPr>
          <a:xfrm>
            <a:off x="2177377" y="3946288"/>
            <a:ext cx="7042222" cy="807841"/>
          </a:xfrm>
          <a:prstGeom prst="rect">
            <a:avLst/>
          </a:prstGeom>
          <a:solidFill>
            <a:srgbClr val="03B7A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9913" tIns="29956" rIns="59913" bIns="29956" anchor="ctr"/>
          <a:lstStyle/>
          <a:p>
            <a:pPr algn="just">
              <a:defRPr/>
            </a:pPr>
            <a:r>
              <a:rPr lang="en-GB" sz="1200" u="sng" dirty="0">
                <a:solidFill>
                  <a:schemeClr val="bg1"/>
                </a:solidFill>
              </a:rPr>
              <a:t>Step 3</a:t>
            </a:r>
            <a:r>
              <a:rPr lang="en-GB" sz="1200" dirty="0">
                <a:solidFill>
                  <a:schemeClr val="bg1"/>
                </a:solidFill>
              </a:rPr>
              <a:t> – Net the notional re-pricing cash flows in each time bucket and weight them by a continuously compounded discount factor (representing the existing level of interest rates). Sum the weighted net positions to determine the EVE</a:t>
            </a:r>
          </a:p>
        </p:txBody>
      </p:sp>
      <p:sp>
        <p:nvSpPr>
          <p:cNvPr id="8" name="Down Arrow 7">
            <a:extLst>
              <a:ext uri="{FF2B5EF4-FFF2-40B4-BE49-F238E27FC236}">
                <a16:creationId xmlns:a16="http://schemas.microsoft.com/office/drawing/2014/main" id="{ABC6B2E3-70B1-EF00-C779-16356A8234D9}"/>
              </a:ext>
            </a:extLst>
          </p:cNvPr>
          <p:cNvSpPr/>
          <p:nvPr/>
        </p:nvSpPr>
        <p:spPr>
          <a:xfrm>
            <a:off x="5492568" y="3644616"/>
            <a:ext cx="306220" cy="262006"/>
          </a:xfrm>
          <a:prstGeom prst="downArrow">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9913" tIns="29956" rIns="59913" bIns="29956" anchor="ctr"/>
          <a:lstStyle/>
          <a:p>
            <a:pPr algn="ctr">
              <a:defRPr/>
            </a:pPr>
            <a:endParaRPr lang="en-GB" sz="993" dirty="0"/>
          </a:p>
        </p:txBody>
      </p:sp>
      <p:sp>
        <p:nvSpPr>
          <p:cNvPr id="9" name="Rectangle 8">
            <a:extLst>
              <a:ext uri="{FF2B5EF4-FFF2-40B4-BE49-F238E27FC236}">
                <a16:creationId xmlns:a16="http://schemas.microsoft.com/office/drawing/2014/main" id="{0E7676DB-8A4B-D7BF-C109-F243A0F05DFE}"/>
              </a:ext>
            </a:extLst>
          </p:cNvPr>
          <p:cNvSpPr/>
          <p:nvPr/>
        </p:nvSpPr>
        <p:spPr>
          <a:xfrm>
            <a:off x="2177376" y="5006042"/>
            <a:ext cx="7054504" cy="687688"/>
          </a:xfrm>
          <a:prstGeom prst="rect">
            <a:avLst/>
          </a:prstGeom>
          <a:solidFill>
            <a:srgbClr val="03B7A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9913" tIns="29956" rIns="59913" bIns="29956" anchor="ctr"/>
          <a:lstStyle/>
          <a:p>
            <a:pPr algn="just">
              <a:defRPr/>
            </a:pPr>
            <a:r>
              <a:rPr lang="en-GB" sz="1200" u="sng" dirty="0">
                <a:solidFill>
                  <a:schemeClr val="bg1"/>
                </a:solidFill>
              </a:rPr>
              <a:t>Step 4</a:t>
            </a:r>
            <a:r>
              <a:rPr lang="en-GB" sz="1200" dirty="0">
                <a:solidFill>
                  <a:schemeClr val="bg1"/>
                </a:solidFill>
              </a:rPr>
              <a:t> – Repeat the process for each interest rate shock scenario. Compare the results to the base case to establish EVE sensitivity </a:t>
            </a:r>
          </a:p>
        </p:txBody>
      </p:sp>
      <p:sp>
        <p:nvSpPr>
          <p:cNvPr id="10" name="Down Arrow 9">
            <a:extLst>
              <a:ext uri="{FF2B5EF4-FFF2-40B4-BE49-F238E27FC236}">
                <a16:creationId xmlns:a16="http://schemas.microsoft.com/office/drawing/2014/main" id="{1D6CA25A-7216-8958-509A-B520ED7B6A35}"/>
              </a:ext>
            </a:extLst>
          </p:cNvPr>
          <p:cNvSpPr/>
          <p:nvPr/>
        </p:nvSpPr>
        <p:spPr>
          <a:xfrm>
            <a:off x="5492568" y="4735753"/>
            <a:ext cx="306220" cy="262006"/>
          </a:xfrm>
          <a:prstGeom prst="downArrow">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9913" tIns="29956" rIns="59913" bIns="29956" anchor="ctr"/>
          <a:lstStyle/>
          <a:p>
            <a:pPr algn="ctr">
              <a:defRPr/>
            </a:pPr>
            <a:endParaRPr lang="en-GB" sz="993" dirty="0"/>
          </a:p>
        </p:txBody>
      </p:sp>
      <p:sp>
        <p:nvSpPr>
          <p:cNvPr id="11" name="Oval 10">
            <a:extLst>
              <a:ext uri="{FF2B5EF4-FFF2-40B4-BE49-F238E27FC236}">
                <a16:creationId xmlns:a16="http://schemas.microsoft.com/office/drawing/2014/main" id="{C3F24E88-2D76-8AAD-F76C-84D67C3C6C96}"/>
              </a:ext>
            </a:extLst>
          </p:cNvPr>
          <p:cNvSpPr/>
          <p:nvPr/>
        </p:nvSpPr>
        <p:spPr bwMode="auto">
          <a:xfrm>
            <a:off x="1907183" y="3807883"/>
            <a:ext cx="7476989" cy="1048023"/>
          </a:xfrm>
          <a:prstGeom prst="ellipse">
            <a:avLst/>
          </a:prstGeom>
          <a:noFill/>
          <a:ln w="12700" cap="flat" cmpd="sng" algn="ctr">
            <a:solidFill>
              <a:srgbClr val="FF0000"/>
            </a:solidFill>
            <a:prstDash val="solid"/>
            <a:round/>
            <a:headEnd type="none" w="med" len="med"/>
            <a:tailEnd type="none" w="med" len="med"/>
          </a:ln>
          <a:effectLst/>
        </p:spPr>
        <p:txBody>
          <a:bodyPr wrap="none" lIns="83858" tIns="41929" rIns="83858" bIns="41929"/>
          <a:lstStyle/>
          <a:p>
            <a:pPr defTabSz="838602">
              <a:lnSpc>
                <a:spcPct val="85000"/>
              </a:lnSpc>
              <a:spcAft>
                <a:spcPts val="1101"/>
              </a:spcAft>
              <a:defRPr/>
            </a:pPr>
            <a:endParaRPr lang="en-GB" sz="1834" dirty="0">
              <a:solidFill>
                <a:srgbClr val="5F5F5F"/>
              </a:solidFill>
            </a:endParaRPr>
          </a:p>
        </p:txBody>
      </p:sp>
      <p:sp>
        <p:nvSpPr>
          <p:cNvPr id="12" name="Oval 11">
            <a:extLst>
              <a:ext uri="{FF2B5EF4-FFF2-40B4-BE49-F238E27FC236}">
                <a16:creationId xmlns:a16="http://schemas.microsoft.com/office/drawing/2014/main" id="{C4030879-4C47-964D-6970-F746C77F1CD0}"/>
              </a:ext>
            </a:extLst>
          </p:cNvPr>
          <p:cNvSpPr/>
          <p:nvPr/>
        </p:nvSpPr>
        <p:spPr bwMode="auto">
          <a:xfrm>
            <a:off x="9219600" y="1167579"/>
            <a:ext cx="2371152" cy="1113524"/>
          </a:xfrm>
          <a:prstGeom prst="ellipse">
            <a:avLst/>
          </a:prstGeom>
          <a:noFill/>
          <a:ln w="12700" cap="flat" cmpd="sng" algn="ctr">
            <a:solidFill>
              <a:schemeClr val="accent6">
                <a:lumMod val="75000"/>
              </a:schemeClr>
            </a:solidFill>
            <a:prstDash val="solid"/>
            <a:round/>
            <a:headEnd type="none" w="med" len="med"/>
            <a:tailEnd type="none" w="med" len="med"/>
          </a:ln>
          <a:effectLst/>
        </p:spPr>
        <p:txBody>
          <a:bodyPr wrap="none" lIns="83858" tIns="41929" rIns="83858" bIns="41929"/>
          <a:lstStyle/>
          <a:p>
            <a:pPr defTabSz="838602">
              <a:lnSpc>
                <a:spcPct val="85000"/>
              </a:lnSpc>
              <a:spcAft>
                <a:spcPts val="1101"/>
              </a:spcAft>
              <a:defRPr/>
            </a:pPr>
            <a:endParaRPr lang="en-GB" sz="1834" dirty="0">
              <a:solidFill>
                <a:srgbClr val="5F5F5F"/>
              </a:solidFill>
            </a:endParaRPr>
          </a:p>
        </p:txBody>
      </p:sp>
      <p:sp>
        <p:nvSpPr>
          <p:cNvPr id="13" name="TextBox 12">
            <a:extLst>
              <a:ext uri="{FF2B5EF4-FFF2-40B4-BE49-F238E27FC236}">
                <a16:creationId xmlns:a16="http://schemas.microsoft.com/office/drawing/2014/main" id="{BC43FAF6-259A-588F-D7E2-531F88278F0E}"/>
              </a:ext>
            </a:extLst>
          </p:cNvPr>
          <p:cNvSpPr txBox="1"/>
          <p:nvPr/>
        </p:nvSpPr>
        <p:spPr>
          <a:xfrm>
            <a:off x="9531696" y="1323129"/>
            <a:ext cx="1896266" cy="802423"/>
          </a:xfrm>
          <a:prstGeom prst="rect">
            <a:avLst/>
          </a:prstGeom>
        </p:spPr>
        <p:txBody>
          <a:bodyPr>
            <a:spAutoFit/>
          </a:bodyPr>
          <a:lstStyle/>
          <a:p>
            <a:pPr defTabSz="838602">
              <a:spcBef>
                <a:spcPct val="20000"/>
              </a:spcBef>
              <a:buClr>
                <a:schemeClr val="folHlink"/>
              </a:buClr>
              <a:defRPr/>
            </a:pPr>
            <a:r>
              <a:rPr lang="en-GB" sz="825" kern="0" dirty="0">
                <a:solidFill>
                  <a:srgbClr val="FF0000"/>
                </a:solidFill>
              </a:rPr>
              <a:t>Note that EVE measure requires:</a:t>
            </a:r>
          </a:p>
          <a:p>
            <a:pPr defTabSz="838602">
              <a:spcBef>
                <a:spcPct val="20000"/>
              </a:spcBef>
              <a:buClr>
                <a:schemeClr val="folHlink"/>
              </a:buClr>
              <a:defRPr/>
            </a:pPr>
            <a:r>
              <a:rPr lang="en-GB" sz="825" kern="0" dirty="0">
                <a:solidFill>
                  <a:srgbClr val="FF0000"/>
                </a:solidFill>
              </a:rPr>
              <a:t>-- Static balance sheet, no future business assumptions</a:t>
            </a:r>
          </a:p>
          <a:p>
            <a:pPr defTabSz="838602">
              <a:spcBef>
                <a:spcPct val="20000"/>
              </a:spcBef>
              <a:buClr>
                <a:schemeClr val="folHlink"/>
              </a:buClr>
              <a:defRPr/>
            </a:pPr>
            <a:r>
              <a:rPr lang="en-GB" sz="825" kern="0" dirty="0">
                <a:solidFill>
                  <a:srgbClr val="FF0000"/>
                </a:solidFill>
              </a:rPr>
              <a:t>-- Positive changes to EVE Delta from rate moves are to be weighted by 50%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D387A-4C58-C95C-C8B9-FD0F5CBDC34D}"/>
              </a:ext>
            </a:extLst>
          </p:cNvPr>
          <p:cNvSpPr>
            <a:spLocks noGrp="1"/>
          </p:cNvSpPr>
          <p:nvPr>
            <p:ph type="title"/>
          </p:nvPr>
        </p:nvSpPr>
        <p:spPr>
          <a:xfrm>
            <a:off x="1492371" y="616317"/>
            <a:ext cx="8711388" cy="778863"/>
          </a:xfrm>
        </p:spPr>
        <p:txBody>
          <a:bodyPr>
            <a:noAutofit/>
          </a:bodyPr>
          <a:lstStyle/>
          <a:p>
            <a:pPr>
              <a:defRPr/>
            </a:pPr>
            <a:r>
              <a:rPr lang="en-GB" sz="3200" dirty="0"/>
              <a:t>Illustrative Maturity Schedule Time Buckets for EVE Calculation</a:t>
            </a:r>
          </a:p>
        </p:txBody>
      </p:sp>
      <p:sp>
        <p:nvSpPr>
          <p:cNvPr id="3" name="TextBox 2">
            <a:extLst>
              <a:ext uri="{FF2B5EF4-FFF2-40B4-BE49-F238E27FC236}">
                <a16:creationId xmlns:a16="http://schemas.microsoft.com/office/drawing/2014/main" id="{3C52BC29-1680-EE7A-0428-5F2626EDB7A5}"/>
              </a:ext>
            </a:extLst>
          </p:cNvPr>
          <p:cNvSpPr txBox="1"/>
          <p:nvPr/>
        </p:nvSpPr>
        <p:spPr>
          <a:xfrm>
            <a:off x="3753505" y="2695384"/>
            <a:ext cx="5096011" cy="1107578"/>
          </a:xfrm>
          <a:prstGeom prst="rect">
            <a:avLst/>
          </a:prstGeom>
          <a:noFill/>
        </p:spPr>
        <p:txBody>
          <a:bodyPr lIns="59913" tIns="29956" rIns="59913" bIns="29956">
            <a:spAutoFit/>
          </a:bodyPr>
          <a:lstStyle/>
          <a:p>
            <a:pPr>
              <a:defRPr/>
            </a:pPr>
            <a:endParaRPr lang="en-GB" sz="1206" dirty="0"/>
          </a:p>
          <a:p>
            <a:pPr>
              <a:defRPr/>
            </a:pPr>
            <a:endParaRPr lang="en-GB" sz="1206" dirty="0"/>
          </a:p>
          <a:p>
            <a:pPr>
              <a:defRPr/>
            </a:pPr>
            <a:endParaRPr lang="en-GB" sz="993" dirty="0"/>
          </a:p>
          <a:p>
            <a:pPr>
              <a:defRPr/>
            </a:pPr>
            <a:endParaRPr lang="en-GB" sz="993" dirty="0"/>
          </a:p>
          <a:p>
            <a:pPr>
              <a:defRPr/>
            </a:pPr>
            <a:endParaRPr lang="en-GB" sz="993" dirty="0"/>
          </a:p>
          <a:p>
            <a:pPr marL="112333" indent="-112333">
              <a:defRPr/>
            </a:pPr>
            <a:r>
              <a:rPr lang="en-GB" sz="1206" dirty="0"/>
              <a:t> </a:t>
            </a:r>
            <a:endParaRPr lang="en-GB" sz="993" dirty="0"/>
          </a:p>
        </p:txBody>
      </p:sp>
      <p:graphicFrame>
        <p:nvGraphicFramePr>
          <p:cNvPr id="77828" name="Object 3">
            <a:extLst>
              <a:ext uri="{FF2B5EF4-FFF2-40B4-BE49-F238E27FC236}">
                <a16:creationId xmlns:a16="http://schemas.microsoft.com/office/drawing/2014/main" id="{01CA1FEA-DE71-A8C0-EC6A-59C9A3D1EDEA}"/>
              </a:ext>
            </a:extLst>
          </p:cNvPr>
          <p:cNvGraphicFramePr>
            <a:graphicFrameLocks noChangeAspect="1"/>
          </p:cNvGraphicFramePr>
          <p:nvPr/>
        </p:nvGraphicFramePr>
        <p:xfrm>
          <a:off x="1749832" y="1762609"/>
          <a:ext cx="5195395" cy="3102699"/>
        </p:xfrm>
        <a:graphic>
          <a:graphicData uri="http://schemas.openxmlformats.org/presentationml/2006/ole">
            <mc:AlternateContent xmlns:mc="http://schemas.openxmlformats.org/markup-compatibility/2006">
              <mc:Choice xmlns:v="urn:schemas-microsoft-com:vml" Requires="v">
                <p:oleObj name="Worksheet" r:id="rId2" imgW="7353429" imgH="4391070" progId="Excel.Sheet.12">
                  <p:embed/>
                </p:oleObj>
              </mc:Choice>
              <mc:Fallback>
                <p:oleObj name="Worksheet" r:id="rId2" imgW="7353429" imgH="4391070" progId="Excel.Sheet.12">
                  <p:embed/>
                  <p:pic>
                    <p:nvPicPr>
                      <p:cNvPr id="77828" name="Object 3">
                        <a:extLst>
                          <a:ext uri="{FF2B5EF4-FFF2-40B4-BE49-F238E27FC236}">
                            <a16:creationId xmlns:a16="http://schemas.microsoft.com/office/drawing/2014/main" id="{01CA1FEA-DE71-A8C0-EC6A-59C9A3D1ED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832" y="1762609"/>
                        <a:ext cx="5195395" cy="3102699"/>
                      </a:xfrm>
                      <a:prstGeom prst="rect">
                        <a:avLst/>
                      </a:prstGeom>
                      <a:noFill/>
                      <a:ln>
                        <a:noFill/>
                      </a:ln>
                    </p:spPr>
                  </p:pic>
                </p:oleObj>
              </mc:Fallback>
            </mc:AlternateContent>
          </a:graphicData>
        </a:graphic>
      </p:graphicFrame>
      <p:sp>
        <p:nvSpPr>
          <p:cNvPr id="6" name="Oval Callout 6">
            <a:extLst>
              <a:ext uri="{FF2B5EF4-FFF2-40B4-BE49-F238E27FC236}">
                <a16:creationId xmlns:a16="http://schemas.microsoft.com/office/drawing/2014/main" id="{59DF95CA-66BA-DCB4-6A67-58D0A6409464}"/>
              </a:ext>
            </a:extLst>
          </p:cNvPr>
          <p:cNvSpPr/>
          <p:nvPr/>
        </p:nvSpPr>
        <p:spPr bwMode="auto">
          <a:xfrm>
            <a:off x="3403837" y="2912143"/>
            <a:ext cx="1224877" cy="890819"/>
          </a:xfrm>
          <a:prstGeom prst="wedgeEllipseCallout">
            <a:avLst>
              <a:gd name="adj1" fmla="val 106566"/>
              <a:gd name="adj2" fmla="val -61400"/>
            </a:avLst>
          </a:prstGeom>
          <a:solidFill>
            <a:srgbClr val="03B7A3"/>
          </a:solidFill>
          <a:ln w="9525" cap="flat" cmpd="sng" algn="ctr">
            <a:solidFill>
              <a:schemeClr val="bg1"/>
            </a:solidFill>
            <a:prstDash val="solid"/>
            <a:round/>
            <a:headEnd type="none" w="med" len="med"/>
            <a:tailEnd type="none" w="med" len="med"/>
          </a:ln>
          <a:effectLst/>
        </p:spPr>
        <p:txBody>
          <a:bodyPr lIns="64876" tIns="32438" rIns="64876" bIns="32438"/>
          <a:lstStyle/>
          <a:p>
            <a:pPr defTabSz="648743">
              <a:defRPr/>
            </a:pPr>
            <a:r>
              <a:rPr lang="en-GB" sz="851" dirty="0">
                <a:solidFill>
                  <a:schemeClr val="bg1"/>
                </a:solidFill>
              </a:rPr>
              <a:t>Discount factors based upon 3% interest rates at all tenors</a:t>
            </a:r>
          </a:p>
        </p:txBody>
      </p:sp>
      <p:pic>
        <p:nvPicPr>
          <p:cNvPr id="77830" name="Picture 4">
            <a:extLst>
              <a:ext uri="{FF2B5EF4-FFF2-40B4-BE49-F238E27FC236}">
                <a16:creationId xmlns:a16="http://schemas.microsoft.com/office/drawing/2014/main" id="{1373397F-E654-0BB5-637A-8B6562BFF7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4585" t="28520" r="26926" b="26990"/>
          <a:stretch>
            <a:fillRect/>
          </a:stretch>
        </p:blipFill>
        <p:spPr bwMode="auto">
          <a:xfrm>
            <a:off x="7710103" y="1719413"/>
            <a:ext cx="2526229" cy="3419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val 6">
            <a:extLst>
              <a:ext uri="{FF2B5EF4-FFF2-40B4-BE49-F238E27FC236}">
                <a16:creationId xmlns:a16="http://schemas.microsoft.com/office/drawing/2014/main" id="{F5CC9E22-DCAD-C579-76FE-A424BE7DF7D7}"/>
              </a:ext>
            </a:extLst>
          </p:cNvPr>
          <p:cNvSpPr/>
          <p:nvPr/>
        </p:nvSpPr>
        <p:spPr bwMode="auto">
          <a:xfrm>
            <a:off x="6065705" y="2864051"/>
            <a:ext cx="1842228" cy="1344416"/>
          </a:xfrm>
          <a:prstGeom prst="ellipse">
            <a:avLst/>
          </a:prstGeom>
          <a:solidFill>
            <a:schemeClr val="accent4">
              <a:lumMod val="75000"/>
            </a:schemeClr>
          </a:solidFill>
          <a:ln w="12700" cap="flat" cmpd="sng" algn="ctr">
            <a:noFill/>
            <a:prstDash val="solid"/>
            <a:round/>
            <a:headEnd type="none" w="med" len="med"/>
            <a:tailEnd type="none" w="med" len="med"/>
          </a:ln>
          <a:effectLst/>
        </p:spPr>
        <p:txBody>
          <a:bodyPr wrap="none" lIns="83858" tIns="41929" rIns="83858" bIns="41929"/>
          <a:lstStyle/>
          <a:p>
            <a:pPr defTabSz="838602">
              <a:defRPr/>
            </a:pPr>
            <a:endParaRPr lang="en-GB" sz="1834" dirty="0">
              <a:solidFill>
                <a:srgbClr val="5F5F5F"/>
              </a:solidFill>
            </a:endParaRPr>
          </a:p>
        </p:txBody>
      </p:sp>
      <p:sp>
        <p:nvSpPr>
          <p:cNvPr id="8" name="TextBox 7">
            <a:extLst>
              <a:ext uri="{FF2B5EF4-FFF2-40B4-BE49-F238E27FC236}">
                <a16:creationId xmlns:a16="http://schemas.microsoft.com/office/drawing/2014/main" id="{A45F9BF4-77D3-3BEE-AE39-33D1971AEF87}"/>
              </a:ext>
            </a:extLst>
          </p:cNvPr>
          <p:cNvSpPr txBox="1"/>
          <p:nvPr/>
        </p:nvSpPr>
        <p:spPr>
          <a:xfrm>
            <a:off x="6298236" y="3024529"/>
            <a:ext cx="1529458" cy="1114279"/>
          </a:xfrm>
          <a:prstGeom prst="rect">
            <a:avLst/>
          </a:prstGeom>
        </p:spPr>
        <p:txBody>
          <a:bodyPr>
            <a:spAutoFit/>
          </a:bodyPr>
          <a:lstStyle/>
          <a:p>
            <a:pPr defTabSz="838602">
              <a:spcBef>
                <a:spcPct val="20000"/>
              </a:spcBef>
              <a:buClr>
                <a:schemeClr val="folHlink"/>
              </a:buClr>
              <a:defRPr/>
            </a:pPr>
            <a:r>
              <a:rPr lang="en-GB" sz="917" kern="0" dirty="0">
                <a:solidFill>
                  <a:schemeClr val="bg1"/>
                </a:solidFill>
              </a:rPr>
              <a:t>When a shock is applied to the level of interest rates, the discount factors change and, if interest rate risk is present, will  result in a movement in the calculated EVE</a:t>
            </a:r>
          </a:p>
        </p:txBody>
      </p:sp>
      <p:sp>
        <p:nvSpPr>
          <p:cNvPr id="9" name="Oval Callout 6">
            <a:extLst>
              <a:ext uri="{FF2B5EF4-FFF2-40B4-BE49-F238E27FC236}">
                <a16:creationId xmlns:a16="http://schemas.microsoft.com/office/drawing/2014/main" id="{1AA98073-5849-82EE-6B10-081149EE6273}"/>
              </a:ext>
            </a:extLst>
          </p:cNvPr>
          <p:cNvSpPr/>
          <p:nvPr/>
        </p:nvSpPr>
        <p:spPr bwMode="auto">
          <a:xfrm>
            <a:off x="9824271" y="3527714"/>
            <a:ext cx="1224877" cy="974333"/>
          </a:xfrm>
          <a:prstGeom prst="wedgeEllipseCallout">
            <a:avLst>
              <a:gd name="adj1" fmla="val -95451"/>
              <a:gd name="adj2" fmla="val -89677"/>
            </a:avLst>
          </a:prstGeom>
          <a:solidFill>
            <a:srgbClr val="03B7A3"/>
          </a:solidFill>
          <a:ln w="9525" cap="flat" cmpd="sng" algn="ctr">
            <a:solidFill>
              <a:schemeClr val="bg1"/>
            </a:solidFill>
            <a:prstDash val="solid"/>
            <a:round/>
            <a:headEnd type="none" w="med" len="med"/>
            <a:tailEnd type="none" w="med" len="med"/>
          </a:ln>
          <a:effectLst/>
        </p:spPr>
        <p:txBody>
          <a:bodyPr lIns="64876" tIns="32438" rIns="64876" bIns="32438"/>
          <a:lstStyle/>
          <a:p>
            <a:pPr defTabSz="648743">
              <a:defRPr/>
            </a:pPr>
            <a:r>
              <a:rPr lang="en-GB" sz="851" dirty="0">
                <a:solidFill>
                  <a:schemeClr val="bg1"/>
                </a:solidFill>
              </a:rPr>
              <a:t>Discount factors based upon 5% interest </a:t>
            </a:r>
            <a:r>
              <a:rPr lang="en-GB" sz="851" b="1" dirty="0">
                <a:solidFill>
                  <a:schemeClr val="bg1"/>
                </a:solidFill>
              </a:rPr>
              <a:t>rates at </a:t>
            </a:r>
            <a:r>
              <a:rPr lang="en-GB" sz="851" dirty="0">
                <a:solidFill>
                  <a:schemeClr val="bg1"/>
                </a:solidFill>
              </a:rPr>
              <a:t>all tenors</a:t>
            </a:r>
          </a:p>
        </p:txBody>
      </p:sp>
      <p:sp>
        <p:nvSpPr>
          <p:cNvPr id="4" name="TextBox 3">
            <a:extLst>
              <a:ext uri="{FF2B5EF4-FFF2-40B4-BE49-F238E27FC236}">
                <a16:creationId xmlns:a16="http://schemas.microsoft.com/office/drawing/2014/main" id="{D235BAB6-6567-AA7B-E6CA-A01EBA3DEE44}"/>
              </a:ext>
            </a:extLst>
          </p:cNvPr>
          <p:cNvSpPr txBox="1"/>
          <p:nvPr/>
        </p:nvSpPr>
        <p:spPr>
          <a:xfrm>
            <a:off x="2258435" y="5138587"/>
            <a:ext cx="6934964" cy="1012223"/>
          </a:xfrm>
          <a:prstGeom prst="rect">
            <a:avLst/>
          </a:prstGeom>
          <a:noFill/>
          <a:ln w="12700">
            <a:solidFill>
              <a:srgbClr val="FF0000"/>
            </a:solidFill>
          </a:ln>
        </p:spPr>
        <p:txBody>
          <a:bodyPr>
            <a:spAutoFit/>
          </a:bodyPr>
          <a:lstStyle/>
          <a:p>
            <a:pPr marL="176851" indent="-176851">
              <a:buFont typeface="Arial" panose="020B0604020202020204" pitchFamily="34" charset="0"/>
              <a:buChar char="•"/>
              <a:defRPr/>
            </a:pPr>
            <a:r>
              <a:rPr lang="en-GB" sz="1444" dirty="0">
                <a:solidFill>
                  <a:schemeClr val="accent6">
                    <a:lumMod val="75000"/>
                  </a:schemeClr>
                </a:solidFill>
              </a:rPr>
              <a:t>The general (typical) position is for a bank’s balance sheet to show a decline in EVE for a rise in interest rates</a:t>
            </a:r>
          </a:p>
          <a:p>
            <a:pPr marL="176851" indent="-176851">
              <a:buFont typeface="Arial" panose="020B0604020202020204" pitchFamily="34" charset="0"/>
              <a:buChar char="•"/>
              <a:defRPr/>
            </a:pPr>
            <a:r>
              <a:rPr lang="en-GB" sz="1444" dirty="0">
                <a:solidFill>
                  <a:schemeClr val="accent6">
                    <a:lumMod val="75000"/>
                  </a:schemeClr>
                </a:solidFill>
              </a:rPr>
              <a:t>This reflects time value of money (discounting) principles and the fact that banks fixed-rate assets are longer dated than their fixed rate liabilities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1000" fill="hold"/>
                                        <p:tgtEl>
                                          <p:spTgt spid="7"/>
                                        </p:tgtEl>
                                        <p:attrNameLst>
                                          <p:attrName>ppt_w</p:attrName>
                                        </p:attrNameLst>
                                      </p:cBhvr>
                                      <p:tavLst>
                                        <p:tav tm="0">
                                          <p:val>
                                            <p:fltVal val="0"/>
                                          </p:val>
                                        </p:tav>
                                        <p:tav tm="100000">
                                          <p:val>
                                            <p:strVal val="#ppt_w"/>
                                          </p:val>
                                        </p:tav>
                                      </p:tavLst>
                                    </p:anim>
                                    <p:anim calcmode="lin" valueType="num">
                                      <p:cBhvr>
                                        <p:cTn id="20" dur="1000" fill="hold"/>
                                        <p:tgtEl>
                                          <p:spTgt spid="7"/>
                                        </p:tgtEl>
                                        <p:attrNameLst>
                                          <p:attrName>ppt_h</p:attrName>
                                        </p:attrNameLst>
                                      </p:cBhvr>
                                      <p:tavLst>
                                        <p:tav tm="0">
                                          <p:val>
                                            <p:fltVal val="0"/>
                                          </p:val>
                                        </p:tav>
                                        <p:tav tm="100000">
                                          <p:val>
                                            <p:strVal val="#ppt_h"/>
                                          </p:val>
                                        </p:tav>
                                      </p:tavLst>
                                    </p:anim>
                                    <p:anim calcmode="lin" valueType="num">
                                      <p:cBhvr>
                                        <p:cTn id="21" dur="1000" fill="hold"/>
                                        <p:tgtEl>
                                          <p:spTgt spid="7"/>
                                        </p:tgtEl>
                                        <p:attrNameLst>
                                          <p:attrName>style.rotation</p:attrName>
                                        </p:attrNameLst>
                                      </p:cBhvr>
                                      <p:tavLst>
                                        <p:tav tm="0">
                                          <p:val>
                                            <p:fltVal val="90"/>
                                          </p:val>
                                        </p:tav>
                                        <p:tav tm="100000">
                                          <p:val>
                                            <p:fltVal val="0"/>
                                          </p:val>
                                        </p:tav>
                                      </p:tavLst>
                                    </p:anim>
                                    <p:animEffect transition="in" filter="fade">
                                      <p:cBhvr>
                                        <p:cTn id="2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1">
            <a:extLst>
              <a:ext uri="{FF2B5EF4-FFF2-40B4-BE49-F238E27FC236}">
                <a16:creationId xmlns:a16="http://schemas.microsoft.com/office/drawing/2014/main" id="{9746D037-BF91-046B-232E-D6BEADF976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0372"/>
          <a:stretch>
            <a:fillRect/>
          </a:stretch>
        </p:blipFill>
        <p:spPr bwMode="auto">
          <a:xfrm>
            <a:off x="2517166" y="2289275"/>
            <a:ext cx="7157669" cy="3004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14">
            <a:extLst>
              <a:ext uri="{FF2B5EF4-FFF2-40B4-BE49-F238E27FC236}">
                <a16:creationId xmlns:a16="http://schemas.microsoft.com/office/drawing/2014/main" id="{D886B700-3AE9-6500-5B72-13D1024C55F8}"/>
              </a:ext>
            </a:extLst>
          </p:cNvPr>
          <p:cNvSpPr/>
          <p:nvPr/>
        </p:nvSpPr>
        <p:spPr>
          <a:xfrm>
            <a:off x="2133983" y="1705955"/>
            <a:ext cx="7924035" cy="290561"/>
          </a:xfrm>
          <a:prstGeom prst="rect">
            <a:avLst/>
          </a:prstGeom>
          <a:solidFill>
            <a:schemeClr val="accent5">
              <a:lumMod val="40000"/>
              <a:lumOff val="60000"/>
            </a:schemeClr>
          </a:solidFill>
          <a:ln w="635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1464" tIns="35733" rIns="71464" bIns="35733" anchor="ctr">
            <a:spAutoFit/>
          </a:bodyPr>
          <a:lstStyle/>
          <a:p>
            <a:pPr marL="0" lvl="1" algn="ctr">
              <a:defRPr/>
            </a:pPr>
            <a:r>
              <a:rPr lang="en-US" sz="1376" dirty="0">
                <a:solidFill>
                  <a:prstClr val="black"/>
                </a:solidFill>
              </a:rPr>
              <a:t> Interest rate shifts have effect on the earnings as well as the value of a bank.</a:t>
            </a:r>
          </a:p>
        </p:txBody>
      </p:sp>
      <p:sp>
        <p:nvSpPr>
          <p:cNvPr id="16" name="Title 1">
            <a:extLst>
              <a:ext uri="{FF2B5EF4-FFF2-40B4-BE49-F238E27FC236}">
                <a16:creationId xmlns:a16="http://schemas.microsoft.com/office/drawing/2014/main" id="{718F01F1-35CB-9103-EA26-63E51BA21FF8}"/>
              </a:ext>
            </a:extLst>
          </p:cNvPr>
          <p:cNvSpPr txBox="1">
            <a:spLocks/>
          </p:cNvSpPr>
          <p:nvPr/>
        </p:nvSpPr>
        <p:spPr>
          <a:xfrm>
            <a:off x="1155940" y="229235"/>
            <a:ext cx="9514935" cy="496174"/>
          </a:xfrm>
          <a:prstGeom prst="rect">
            <a:avLst/>
          </a:prstGeom>
        </p:spPr>
        <p:txBody>
          <a:bodyPr lIns="0" tIns="0" rIns="0" bIns="0" anchor="b">
            <a:noAutofit/>
          </a:bodyPr>
          <a:lstStyle>
            <a:lvl1pPr algn="l" defTabSz="914400" rtl="0" eaLnBrk="1" latinLnBrk="0" hangingPunct="1">
              <a:spcBef>
                <a:spcPct val="0"/>
              </a:spcBef>
              <a:buNone/>
              <a:defRPr sz="2600" b="1" kern="1200">
                <a:solidFill>
                  <a:srgbClr val="003868"/>
                </a:solidFill>
                <a:latin typeface="+mj-lt"/>
                <a:ea typeface="+mj-ea"/>
                <a:cs typeface="+mj-cs"/>
              </a:defRPr>
            </a:lvl1pPr>
          </a:lstStyle>
          <a:p>
            <a:pPr>
              <a:defRPr/>
            </a:pPr>
            <a:endParaRPr lang="en-GB" sz="3200" dirty="0"/>
          </a:p>
          <a:p>
            <a:pPr>
              <a:defRPr/>
            </a:pPr>
            <a:r>
              <a:rPr lang="en-US" sz="3200" b="0" dirty="0">
                <a:solidFill>
                  <a:schemeClr val="tx1"/>
                </a:solidFill>
              </a:rPr>
              <a:t>Why is IRRBB measured through two different metrics?</a:t>
            </a:r>
            <a:endParaRPr lang="en-GB" sz="3200" b="0" dirty="0">
              <a:solidFill>
                <a:schemeClr val="tx1"/>
              </a:solidFill>
            </a:endParaRPr>
          </a:p>
        </p:txBody>
      </p:sp>
      <p:sp>
        <p:nvSpPr>
          <p:cNvPr id="17" name="Rectangle 5">
            <a:extLst>
              <a:ext uri="{FF2B5EF4-FFF2-40B4-BE49-F238E27FC236}">
                <a16:creationId xmlns:a16="http://schemas.microsoft.com/office/drawing/2014/main" id="{9B490BFC-522E-9CA6-0073-27D46BF1C6FA}"/>
              </a:ext>
            </a:extLst>
          </p:cNvPr>
          <p:cNvSpPr>
            <a:spLocks noChangeArrowheads="1"/>
          </p:cNvSpPr>
          <p:nvPr/>
        </p:nvSpPr>
        <p:spPr bwMode="auto">
          <a:xfrm>
            <a:off x="2155270" y="5592186"/>
            <a:ext cx="723791" cy="101924"/>
          </a:xfrm>
          <a:prstGeom prst="rect">
            <a:avLst/>
          </a:prstGeom>
          <a:noFill/>
          <a:ln w="9525">
            <a:noFill/>
            <a:miter lim="800000"/>
            <a:headEnd/>
            <a:tailEnd/>
          </a:ln>
          <a:effectLst/>
        </p:spPr>
        <p:txBody>
          <a:bodyPr lIns="0" tIns="0" rIns="0" bIns="0">
            <a:spAutoFit/>
          </a:bodyPr>
          <a:lstStyle/>
          <a:p>
            <a:pPr>
              <a:defRPr/>
            </a:pPr>
            <a:r>
              <a:rPr lang="de-DE" sz="642" dirty="0">
                <a:latin typeface="+mj-lt"/>
              </a:rPr>
              <a:t>Source: ECB, 2017</a:t>
            </a:r>
            <a:endParaRPr lang="en-US" sz="642" dirty="0">
              <a:latin typeface="+mj-lt"/>
            </a:endParaRPr>
          </a:p>
        </p:txBody>
      </p:sp>
      <p:sp>
        <p:nvSpPr>
          <p:cNvPr id="3" name="TextBox 2">
            <a:extLst>
              <a:ext uri="{FF2B5EF4-FFF2-40B4-BE49-F238E27FC236}">
                <a16:creationId xmlns:a16="http://schemas.microsoft.com/office/drawing/2014/main" id="{3AD7C740-816B-4A90-3C74-A93311D4522A}"/>
              </a:ext>
            </a:extLst>
          </p:cNvPr>
          <p:cNvSpPr txBox="1"/>
          <p:nvPr/>
        </p:nvSpPr>
        <p:spPr>
          <a:xfrm>
            <a:off x="4172714" y="2882063"/>
            <a:ext cx="2023994" cy="255437"/>
          </a:xfrm>
          <a:prstGeom prst="rect">
            <a:avLst/>
          </a:prstGeom>
          <a:solidFill>
            <a:schemeClr val="bg1"/>
          </a:solidFill>
        </p:spPr>
        <p:txBody>
          <a:bodyPr>
            <a:spAutoFit/>
          </a:bodyPr>
          <a:lstStyle/>
          <a:p>
            <a:pPr defTabSz="838602">
              <a:spcBef>
                <a:spcPct val="20000"/>
              </a:spcBef>
              <a:buClr>
                <a:schemeClr val="folHlink"/>
              </a:buClr>
              <a:defRPr/>
            </a:pPr>
            <a:r>
              <a:rPr lang="en-GB" sz="1009" kern="0" dirty="0">
                <a:solidFill>
                  <a:schemeClr val="bg2">
                    <a:lumMod val="25000"/>
                  </a:schemeClr>
                </a:solidFill>
              </a:rPr>
              <a:t>next 12 months assuming BAU</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1">
            <a:extLst>
              <a:ext uri="{FF2B5EF4-FFF2-40B4-BE49-F238E27FC236}">
                <a16:creationId xmlns:a16="http://schemas.microsoft.com/office/drawing/2014/main" id="{830D17A5-CDB3-6D25-35D6-071640882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97" t="19051" r="1112" b="1564"/>
          <a:stretch>
            <a:fillRect/>
          </a:stretch>
        </p:blipFill>
        <p:spPr bwMode="auto">
          <a:xfrm>
            <a:off x="2644894" y="2289275"/>
            <a:ext cx="6902213" cy="2968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F87D947E-6433-02FC-B915-872D2A90FFAD}"/>
              </a:ext>
            </a:extLst>
          </p:cNvPr>
          <p:cNvSpPr/>
          <p:nvPr/>
        </p:nvSpPr>
        <p:spPr>
          <a:xfrm>
            <a:off x="2133983" y="1691732"/>
            <a:ext cx="7924035" cy="508960"/>
          </a:xfrm>
          <a:prstGeom prst="rect">
            <a:avLst/>
          </a:prstGeom>
          <a:solidFill>
            <a:schemeClr val="accent5">
              <a:lumMod val="40000"/>
              <a:lumOff val="60000"/>
            </a:schemeClr>
          </a:solidFill>
          <a:ln w="635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1464" tIns="35733" rIns="71464" bIns="35733" anchor="ctr">
            <a:spAutoFit/>
          </a:bodyPr>
          <a:lstStyle/>
          <a:p>
            <a:pPr marL="0" lvl="1" algn="ctr">
              <a:defRPr/>
            </a:pPr>
            <a:r>
              <a:rPr lang="en-US" sz="1376" dirty="0">
                <a:solidFill>
                  <a:prstClr val="black"/>
                </a:solidFill>
              </a:rPr>
              <a:t>   ECB 2017: “An interest rate increase would be beneficial for NII but have a negative EVE impact for most banks.”</a:t>
            </a:r>
          </a:p>
        </p:txBody>
      </p:sp>
      <p:sp>
        <p:nvSpPr>
          <p:cNvPr id="15" name="Title 1">
            <a:extLst>
              <a:ext uri="{FF2B5EF4-FFF2-40B4-BE49-F238E27FC236}">
                <a16:creationId xmlns:a16="http://schemas.microsoft.com/office/drawing/2014/main" id="{39B9E429-38BA-F509-38AC-397A107A4D16}"/>
              </a:ext>
            </a:extLst>
          </p:cNvPr>
          <p:cNvSpPr txBox="1">
            <a:spLocks/>
          </p:cNvSpPr>
          <p:nvPr/>
        </p:nvSpPr>
        <p:spPr>
          <a:xfrm>
            <a:off x="2142170" y="563302"/>
            <a:ext cx="7924035" cy="496174"/>
          </a:xfrm>
          <a:prstGeom prst="rect">
            <a:avLst/>
          </a:prstGeom>
        </p:spPr>
        <p:txBody>
          <a:bodyPr lIns="0" tIns="0" rIns="0" bIns="0" anchor="b">
            <a:normAutofit/>
          </a:bodyPr>
          <a:lstStyle>
            <a:lvl1pPr algn="l" defTabSz="914400" rtl="0" eaLnBrk="1" latinLnBrk="0" hangingPunct="1">
              <a:spcBef>
                <a:spcPct val="0"/>
              </a:spcBef>
              <a:buNone/>
              <a:defRPr sz="2600" b="1" kern="1200">
                <a:solidFill>
                  <a:srgbClr val="003868"/>
                </a:solidFill>
                <a:latin typeface="+mj-lt"/>
                <a:ea typeface="+mj-ea"/>
                <a:cs typeface="+mj-cs"/>
              </a:defRPr>
            </a:lvl1pPr>
          </a:lstStyle>
          <a:p>
            <a:pPr>
              <a:defRPr/>
            </a:pPr>
            <a:r>
              <a:rPr lang="en-US" sz="3200" b="0" dirty="0">
                <a:solidFill>
                  <a:schemeClr val="tx1"/>
                </a:solidFill>
              </a:rPr>
              <a:t>A generalized risk position of most banks…..!</a:t>
            </a:r>
            <a:endParaRPr lang="en-GB" sz="3200" b="0" dirty="0">
              <a:solidFill>
                <a:schemeClr val="tx1"/>
              </a:solidFill>
            </a:endParaRPr>
          </a:p>
        </p:txBody>
      </p:sp>
      <p:sp>
        <p:nvSpPr>
          <p:cNvPr id="16" name="Rectangle 5">
            <a:extLst>
              <a:ext uri="{FF2B5EF4-FFF2-40B4-BE49-F238E27FC236}">
                <a16:creationId xmlns:a16="http://schemas.microsoft.com/office/drawing/2014/main" id="{9725AA90-2500-4E9B-4724-8CE4292D6794}"/>
              </a:ext>
            </a:extLst>
          </p:cNvPr>
          <p:cNvSpPr>
            <a:spLocks noChangeArrowheads="1"/>
          </p:cNvSpPr>
          <p:nvPr/>
        </p:nvSpPr>
        <p:spPr bwMode="auto">
          <a:xfrm>
            <a:off x="2142170" y="5430069"/>
            <a:ext cx="723791" cy="101924"/>
          </a:xfrm>
          <a:prstGeom prst="rect">
            <a:avLst/>
          </a:prstGeom>
          <a:noFill/>
          <a:ln w="9525">
            <a:noFill/>
            <a:miter lim="800000"/>
            <a:headEnd/>
            <a:tailEnd/>
          </a:ln>
          <a:effectLst/>
        </p:spPr>
        <p:txBody>
          <a:bodyPr lIns="0" tIns="0" rIns="0" bIns="0">
            <a:spAutoFit/>
          </a:bodyPr>
          <a:lstStyle/>
          <a:p>
            <a:pPr>
              <a:defRPr/>
            </a:pPr>
            <a:r>
              <a:rPr lang="de-DE" sz="642" dirty="0">
                <a:latin typeface="+mj-lt"/>
              </a:rPr>
              <a:t>Source: ECB, 2017</a:t>
            </a:r>
            <a:endParaRPr lang="en-US" sz="642" dirty="0">
              <a:latin typeface="+mj-lt"/>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12097</TotalTime>
  <Words>10408</Words>
  <Application>Microsoft Office PowerPoint</Application>
  <PresentationFormat>Szélesvásznú</PresentationFormat>
  <Paragraphs>1885</Paragraphs>
  <Slides>97</Slides>
  <Notes>18</Notes>
  <HiddenSlides>0</HiddenSlides>
  <MMClips>0</MMClips>
  <ScaleCrop>false</ScaleCrop>
  <HeadingPairs>
    <vt:vector size="8" baseType="variant">
      <vt:variant>
        <vt:lpstr>Használt betűtípusok</vt:lpstr>
      </vt:variant>
      <vt:variant>
        <vt:i4>10</vt:i4>
      </vt:variant>
      <vt:variant>
        <vt:lpstr>Téma</vt:lpstr>
      </vt:variant>
      <vt:variant>
        <vt:i4>1</vt:i4>
      </vt:variant>
      <vt:variant>
        <vt:lpstr>Beágyazott OLE kiszolgálók</vt:lpstr>
      </vt:variant>
      <vt:variant>
        <vt:i4>5</vt:i4>
      </vt:variant>
      <vt:variant>
        <vt:lpstr>Diacímek</vt:lpstr>
      </vt:variant>
      <vt:variant>
        <vt:i4>97</vt:i4>
      </vt:variant>
    </vt:vector>
  </HeadingPairs>
  <TitlesOfParts>
    <vt:vector size="113" baseType="lpstr">
      <vt:lpstr>ＭＳ Ｐゴシック</vt:lpstr>
      <vt:lpstr>Arial</vt:lpstr>
      <vt:lpstr>Calibri</vt:lpstr>
      <vt:lpstr>Calibri Light</vt:lpstr>
      <vt:lpstr>Cambria Math</vt:lpstr>
      <vt:lpstr>Symbol</vt:lpstr>
      <vt:lpstr>Times New Roman</vt:lpstr>
      <vt:lpstr>Trebuchet MS</vt:lpstr>
      <vt:lpstr>Univers 45 Light</vt:lpstr>
      <vt:lpstr>Wingdings</vt:lpstr>
      <vt:lpstr>Office-téma</vt:lpstr>
      <vt:lpstr>think-cell Slide</vt:lpstr>
      <vt:lpstr>Equation</vt:lpstr>
      <vt:lpstr>Chart</vt:lpstr>
      <vt:lpstr>Egyenlet</vt:lpstr>
      <vt:lpstr>Worksheet</vt:lpstr>
      <vt:lpstr>Banking 2024</vt:lpstr>
      <vt:lpstr>Topics for discussion:</vt:lpstr>
      <vt:lpstr>Suggested readings:</vt:lpstr>
      <vt:lpstr>Crises history</vt:lpstr>
      <vt:lpstr>What banks do?</vt:lpstr>
      <vt:lpstr>PowerPoint-bemutató</vt:lpstr>
      <vt:lpstr>PowerPoint-bemutató</vt:lpstr>
      <vt:lpstr>Banks in GE (Arrow-Debreu model)</vt:lpstr>
      <vt:lpstr>Banks in Arrow-Debreu model</vt:lpstr>
      <vt:lpstr>Why does the economy need banks in theory?</vt:lpstr>
      <vt:lpstr>Banks as liquidity providers</vt:lpstr>
      <vt:lpstr>Az ex ante optimal allocation (autarky)</vt:lpstr>
      <vt:lpstr>First case – No market</vt:lpstr>
      <vt:lpstr>Second case – Money market</vt:lpstr>
      <vt:lpstr>Third case – Financial Intermediation</vt:lpstr>
      <vt:lpstr>Notes:</vt:lpstr>
      <vt:lpstr>Answers</vt:lpstr>
      <vt:lpstr>What have we learned so far:</vt:lpstr>
      <vt:lpstr>Financial Institutions from an </vt:lpstr>
      <vt:lpstr>PowerPoint-bemutató</vt:lpstr>
      <vt:lpstr>Organization of a bank</vt:lpstr>
      <vt:lpstr>PowerPoint-bemutató</vt:lpstr>
      <vt:lpstr>PowerPoint-bemutató</vt:lpstr>
      <vt:lpstr>PowerPoint-bemutató</vt:lpstr>
      <vt:lpstr>PowerPoint-bemutató</vt:lpstr>
      <vt:lpstr>PowerPoint-bemutató</vt:lpstr>
      <vt:lpstr>PowerPoint-bemutató</vt:lpstr>
      <vt:lpstr>PowerPoint-bemutató</vt:lpstr>
      <vt:lpstr>Credit risk undertaking process</vt:lpstr>
      <vt:lpstr>Assessment</vt:lpstr>
      <vt:lpstr>Assessment of client’s risk – steps to standardization</vt:lpstr>
      <vt:lpstr>NPL ratios and CDS spread in Hungary</vt:lpstr>
      <vt:lpstr>Corporate-lending</vt:lpstr>
      <vt:lpstr>PowerPoint-bemutató</vt:lpstr>
      <vt:lpstr>Equity-based corporate assessment</vt:lpstr>
      <vt:lpstr>PowerPoint-bemutató</vt:lpstr>
      <vt:lpstr>PowerPoint-bemutató</vt:lpstr>
      <vt:lpstr>PowerPoint-bemutató</vt:lpstr>
      <vt:lpstr>Retail lending</vt:lpstr>
      <vt:lpstr>Statistical methods in client assessment: Naiv Bayes estimation</vt:lpstr>
      <vt:lpstr>Monitoring</vt:lpstr>
      <vt:lpstr>Payment systems: concepts and the legal framework</vt:lpstr>
      <vt:lpstr>Core Payment systems</vt:lpstr>
      <vt:lpstr>Elements of payment systems (open-loop)</vt:lpstr>
      <vt:lpstr>Example: Cards</vt:lpstr>
      <vt:lpstr>  Example: Hungarian payment system (2021)</vt:lpstr>
      <vt:lpstr>International payment system</vt:lpstr>
      <vt:lpstr>Money-flower</vt:lpstr>
      <vt:lpstr>Recognize these?</vt:lpstr>
      <vt:lpstr>From the Herstatt Bank failure to the Basel Committee on Banking Supervision</vt:lpstr>
      <vt:lpstr>Why regulate banks?</vt:lpstr>
      <vt:lpstr>Regulation of Banks</vt:lpstr>
      <vt:lpstr>What is capital and why is it important?</vt:lpstr>
      <vt:lpstr>Capital components for regulatory capital</vt:lpstr>
      <vt:lpstr>The 1988 Basle Capital Accord (Basel I)</vt:lpstr>
      <vt:lpstr>The 1996 Market Risk Amendment</vt:lpstr>
      <vt:lpstr>From Basel I to Basel II</vt:lpstr>
      <vt:lpstr>Well, the objectives were not quite achieved…</vt:lpstr>
      <vt:lpstr>And Basel III arrived a lot faster than expected…</vt:lpstr>
      <vt:lpstr>Basel III is an extension, not a replacement of Basel II</vt:lpstr>
      <vt:lpstr>The core structure of Basel II and Basel III</vt:lpstr>
      <vt:lpstr>From Basel III in 2010 to Basel III in 2017 – </vt:lpstr>
      <vt:lpstr>Are we (already) heading for a Basel 5?</vt:lpstr>
      <vt:lpstr>PowerPoint-bemutató</vt:lpstr>
      <vt:lpstr>Result of SREP</vt:lpstr>
      <vt:lpstr>Pillar 1 – Minimum Capital Requirements Approaches per risk type</vt:lpstr>
      <vt:lpstr>Pillar 2 – Self assessment &amp; supervisory review Core principles</vt:lpstr>
      <vt:lpstr>Pillar 3 – Market discipline Quantitative and qualitative disclosures</vt:lpstr>
      <vt:lpstr>Basel capital standards are the sum of various risk types and additional buffers</vt:lpstr>
      <vt:lpstr>Pillar 1: Credit Risk</vt:lpstr>
      <vt:lpstr>Pillar 1: Credit Risk A look under the bonnet</vt:lpstr>
      <vt:lpstr>Credit Risk measurement based on tail-risk</vt:lpstr>
      <vt:lpstr>General framework of latent variable credit risk models</vt:lpstr>
      <vt:lpstr>Latent variable credit risk models – a special case</vt:lpstr>
      <vt:lpstr>CRR specification</vt:lpstr>
      <vt:lpstr>Pillar 1: Market risk capital standards (‘FRTB’)</vt:lpstr>
      <vt:lpstr>Pillar 1: Operational Risk</vt:lpstr>
      <vt:lpstr>Basel III introduced explicit liquidity capital standards (a bit late, but better late than never…)</vt:lpstr>
      <vt:lpstr>What is liquidity risk?</vt:lpstr>
      <vt:lpstr>What does funding liquidity mean and what are its causes?</vt:lpstr>
      <vt:lpstr>Basel III liquidity risk standards The Liquidity Coverage Ratio (LCR)</vt:lpstr>
      <vt:lpstr>Basel III liquidity risk standards The Liquidity Coverage Ratio (LCR)</vt:lpstr>
      <vt:lpstr>Basel III liquidity risk standards The Net Stable Funding Ratio (NSFR)</vt:lpstr>
      <vt:lpstr>Basel III liquidity risk standards The Net Stable Funding Ratio (NSFR)</vt:lpstr>
      <vt:lpstr>Worked example of LCR calculation</vt:lpstr>
      <vt:lpstr>Worked example of NSFR calculation</vt:lpstr>
      <vt:lpstr>IRRBB arises because…</vt:lpstr>
      <vt:lpstr>How Significant is Structural Interest Rate Risk for Banks?</vt:lpstr>
      <vt:lpstr>PowerPoint-bemutató</vt:lpstr>
      <vt:lpstr>PowerPoint-bemutató</vt:lpstr>
      <vt:lpstr>Steps to Calculating NII Sensitivity</vt:lpstr>
      <vt:lpstr>PowerPoint-bemutató</vt:lpstr>
      <vt:lpstr>PowerPoint-bemutató</vt:lpstr>
      <vt:lpstr>Steps to Calculating EVE Sensitivity</vt:lpstr>
      <vt:lpstr>Illustrative Maturity Schedule Time Buckets for EVE Calculation</vt:lpstr>
      <vt:lpstr>PowerPoint-bemutató</vt:lpstr>
      <vt:lpstr>PowerPoint-bemutató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PowerPoint-bemutató</dc:title>
  <dc:creator>András Mikolasek</dc:creator>
  <cp:lastModifiedBy>MIKOLASEK, Andras</cp:lastModifiedBy>
  <cp:revision>81</cp:revision>
  <dcterms:created xsi:type="dcterms:W3CDTF">2023-02-10T15:53:47Z</dcterms:created>
  <dcterms:modified xsi:type="dcterms:W3CDTF">2024-03-25T06:10:15Z</dcterms:modified>
</cp:coreProperties>
</file>