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84" r:id="rId1"/>
  </p:sldMasterIdLst>
  <p:notesMasterIdLst>
    <p:notesMasterId r:id="rId29"/>
  </p:notesMasterIdLst>
  <p:handoutMasterIdLst>
    <p:handoutMasterId r:id="rId30"/>
  </p:handoutMasterIdLst>
  <p:sldIdLst>
    <p:sldId id="272" r:id="rId2"/>
    <p:sldId id="277" r:id="rId3"/>
    <p:sldId id="278" r:id="rId4"/>
    <p:sldId id="259" r:id="rId5"/>
    <p:sldId id="261" r:id="rId6"/>
    <p:sldId id="263" r:id="rId7"/>
    <p:sldId id="264" r:id="rId8"/>
    <p:sldId id="273" r:id="rId9"/>
    <p:sldId id="274" r:id="rId10"/>
    <p:sldId id="266" r:id="rId11"/>
    <p:sldId id="275" r:id="rId12"/>
    <p:sldId id="276" r:id="rId13"/>
    <p:sldId id="270" r:id="rId14"/>
    <p:sldId id="271" r:id="rId15"/>
    <p:sldId id="256" r:id="rId16"/>
    <p:sldId id="25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91" r:id="rId26"/>
    <p:sldId id="287" r:id="rId27"/>
    <p:sldId id="288" r:id="rId28"/>
  </p:sldIdLst>
  <p:sldSz cx="9144000" cy="6858000" type="letter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5" autoAdjust="0"/>
    <p:restoredTop sz="94681" autoAdjust="0"/>
  </p:normalViewPr>
  <p:slideViewPr>
    <p:cSldViewPr>
      <p:cViewPr varScale="1">
        <p:scale>
          <a:sx n="105" d="100"/>
          <a:sy n="105" d="100"/>
        </p:scale>
        <p:origin x="180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5162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25603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7829996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BEE113E-EF4B-462A-861A-61F469C2919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8E9902-A1D6-47BC-AAC9-98C02C2DD6AB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D81B84-E55F-4D85-A18D-7AA5C366755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2DF2F7D-0F93-4E01-80CD-5CABB3A607D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A017EA-DE9D-4226-8EE2-51284CB3389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057710F-44B0-4699-B430-EF811782E33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A8A9B8-9884-459E-9273-ABBC44682CD1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A9A5A6-D288-46D3-A86E-30CAB901374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3F931B-A6B0-421F-BE07-C8CA7D261C2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D29D39-1DE5-4E40-8524-FB363D0BD983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F23B81-F920-4361-80D1-571CF66A3B5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B178F6-24A2-45A2-86FF-C0CA253248C5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6A8722-EBAF-4589-85EF-BD7B2A25C9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Options, Futures, and Other Derivatives,  11th Edition,  Copyright © John  C. Hull 2021</a:t>
            </a:r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B7BC4D-4C49-4F77-9A4E-7334A531DA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04896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Options, Futures, and Other Derivatives,  11th Edition,  Copyright © John  C. Hull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029AFC-85B7-4B8D-81E7-0EDB7A3D278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74524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Options, Futures, and Other Derivatives,  11th Edition,  Copyright © John  C. Hull 2021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43BFB9-CA5C-4459-9BFA-47372AD5C67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06308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Options, Futures, and Other Derivatives,  11th Edition,  Copyright © John  C. Hull 2021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A16F71-061B-4DFD-8A08-DBDA63F68BC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2735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Options, Futures, and Other Derivatives,  11th Edition,  Copyright © John  C. Hull 2021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F2881-1774-4A7F-8271-82D4B746310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0704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Options, Futures, and Other Derivatives,  11th Edition,  Copyright © John  C. Hull 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1F4D2-5694-42E4-8FEB-798CBABC473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91010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Options, Futures, and Other Derivatives,  11th Edition,  Copyright © John  C. Hull 2021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49C5D-3629-4800-8B70-0D1E9A79E40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57053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Options, Futures, and Other Derivatives,  11th Edition,  Copyright © John  C. Hull 2021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884D3-5FCF-416F-B0A4-B548C57521D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008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Options, Futures, and Other Derivatives,  11th Edition,  Copyright © John  C. Hull 2021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42856-5AAD-45B3-A8AA-359A6EAE7E5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6867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Options, Futures, and Other Derivatives,  11th Edition,  Copyright © John  C. Hull 2021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9BAF92-3EFC-4FB6-9098-88E6C9741EB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7331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Options, Futures, and Other Derivatives,  11th Edition,  Copyright © John  C. Hull 2021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9F0FE-7490-4622-A4AA-E2FAC09011B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301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en-US"/>
              <a:t>Options, Futures, and Other Derivatives,  11th Edition,  Copyright © John  C. Hull 2021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2ABFAED-7EA5-4725-A4FF-74732D80E5F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27" r:id="rId3"/>
    <p:sldLayoutId id="2147483828" r:id="rId4"/>
    <p:sldLayoutId id="2147483829" r:id="rId5"/>
    <p:sldLayoutId id="2147483837" r:id="rId6"/>
    <p:sldLayoutId id="2147483830" r:id="rId7"/>
    <p:sldLayoutId id="2147483831" r:id="rId8"/>
    <p:sldLayoutId id="2147483832" r:id="rId9"/>
    <p:sldLayoutId id="2147483833" r:id="rId10"/>
    <p:sldLayoutId id="214748383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828800" y="2060575"/>
            <a:ext cx="6934200" cy="2130425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11 </a:t>
            </a:r>
            <a:br>
              <a:rPr lang="en-US" altLang="en-US" dirty="0"/>
            </a:br>
            <a:r>
              <a:rPr lang="en-US" altLang="en-US" dirty="0"/>
              <a:t>Properties of Stock Options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95536" y="6096000"/>
            <a:ext cx="79629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 Copyright © John 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A3CC405-E561-4E77-9190-9C704895632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dirty="0">
              <a:latin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5"/>
          <p:cNvSpPr>
            <a:spLocks noGrp="1"/>
          </p:cNvSpPr>
          <p:nvPr>
            <p:ph type="title"/>
          </p:nvPr>
        </p:nvSpPr>
        <p:spPr>
          <a:xfrm>
            <a:off x="457200" y="620713"/>
            <a:ext cx="8229600" cy="1152525"/>
          </a:xfrm>
        </p:spPr>
        <p:txBody>
          <a:bodyPr/>
          <a:lstStyle/>
          <a:p>
            <a:pPr eaLnBrk="1" hangingPunct="1"/>
            <a:r>
              <a:rPr lang="en-CA" altLang="en-US"/>
              <a:t>Notation</a:t>
            </a:r>
            <a:endParaRPr lang="en-US" altLang="en-US"/>
          </a:p>
        </p:txBody>
      </p:sp>
      <p:sp>
        <p:nvSpPr>
          <p:cNvPr id="614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 </a:t>
            </a:r>
            <a:endParaRPr lang="en-US" altLang="en-US"/>
          </a:p>
        </p:txBody>
      </p:sp>
      <p:sp>
        <p:nvSpPr>
          <p:cNvPr id="614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CA" altLang="en-US"/>
              <a:t> </a:t>
            </a:r>
            <a:endParaRPr lang="en-US" altLang="en-US"/>
          </a:p>
        </p:txBody>
      </p:sp>
      <p:sp>
        <p:nvSpPr>
          <p:cNvPr id="614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 </a:t>
            </a:r>
            <a:endParaRPr lang="en-US" altLang="en-US"/>
          </a:p>
        </p:txBody>
      </p:sp>
      <p:sp>
        <p:nvSpPr>
          <p:cNvPr id="6150" name="Content Placeholder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CA" altLang="en-US"/>
              <a:t> </a:t>
            </a:r>
            <a:endParaRPr lang="en-US" altLang="en-US"/>
          </a:p>
        </p:txBody>
      </p:sp>
      <p:sp>
        <p:nvSpPr>
          <p:cNvPr id="615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 Copyright © John  C. Hull 2021</a:t>
            </a:r>
          </a:p>
        </p:txBody>
      </p:sp>
      <p:sp>
        <p:nvSpPr>
          <p:cNvPr id="61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BA21096-81B1-4A1F-8809-FEBC6E10021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71550" y="1773238"/>
          <a:ext cx="2952750" cy="33924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1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6002">
                <a:tc>
                  <a:txBody>
                    <a:bodyPr/>
                    <a:lstStyle/>
                    <a:p>
                      <a:r>
                        <a:rPr lang="en-CA" sz="1800" i="1" dirty="0">
                          <a:latin typeface="+mj-lt"/>
                        </a:rPr>
                        <a:t>c: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European call option price</a:t>
                      </a: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002">
                <a:tc>
                  <a:txBody>
                    <a:bodyPr/>
                    <a:lstStyle/>
                    <a:p>
                      <a:r>
                        <a:rPr lang="en-CA" sz="1800" i="1" dirty="0">
                          <a:latin typeface="+mj-lt"/>
                        </a:rPr>
                        <a:t>p: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European put option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dirty="0"/>
                        <a:t>price</a:t>
                      </a: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827">
                <a:tc>
                  <a:txBody>
                    <a:bodyPr/>
                    <a:lstStyle/>
                    <a:p>
                      <a:r>
                        <a:rPr lang="en-CA" sz="1800" i="1" dirty="0">
                          <a:latin typeface="+mj-lt"/>
                        </a:rPr>
                        <a:t>S</a:t>
                      </a:r>
                      <a:r>
                        <a:rPr lang="en-CA" sz="1800" i="0" baseline="-25000" dirty="0">
                          <a:latin typeface="+mj-lt"/>
                        </a:rPr>
                        <a:t>0</a:t>
                      </a:r>
                      <a:r>
                        <a:rPr lang="en-CA" sz="1800" i="1" baseline="0" dirty="0">
                          <a:latin typeface="+mj-lt"/>
                        </a:rPr>
                        <a:t>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Stock price today</a:t>
                      </a: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827">
                <a:tc>
                  <a:txBody>
                    <a:bodyPr/>
                    <a:lstStyle/>
                    <a:p>
                      <a:r>
                        <a:rPr lang="en-CA" sz="1800" i="1" dirty="0">
                          <a:latin typeface="+mj-lt"/>
                        </a:rPr>
                        <a:t>K: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Strike price</a:t>
                      </a: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827">
                <a:tc>
                  <a:txBody>
                    <a:bodyPr/>
                    <a:lstStyle/>
                    <a:p>
                      <a:r>
                        <a:rPr lang="en-CA" sz="1800" i="1" dirty="0">
                          <a:latin typeface="+mj-lt"/>
                        </a:rPr>
                        <a:t>T: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Life of option </a:t>
                      </a: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002">
                <a:tc>
                  <a:txBody>
                    <a:bodyPr/>
                    <a:lstStyle/>
                    <a:p>
                      <a:r>
                        <a:rPr lang="en-CA" sz="1800" i="0" dirty="0">
                          <a:latin typeface="Symbol" pitchFamily="18" charset="2"/>
                        </a:rPr>
                        <a:t>s</a:t>
                      </a:r>
                      <a:r>
                        <a:rPr lang="en-CA" sz="1800" i="1" dirty="0">
                          <a:latin typeface="+mj-lt"/>
                        </a:rPr>
                        <a:t>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Volatility of stock price</a:t>
                      </a:r>
                    </a:p>
                  </a:txBody>
                  <a:tcPr marL="91453" marR="91453" marT="45716" marB="4571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32363" y="1844675"/>
          <a:ext cx="3095625" cy="3865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9361">
                <a:tc>
                  <a:txBody>
                    <a:bodyPr/>
                    <a:lstStyle/>
                    <a:p>
                      <a:r>
                        <a:rPr lang="en-CA" sz="1800" i="1" dirty="0">
                          <a:latin typeface="+mj-lt"/>
                        </a:rPr>
                        <a:t>C: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American call option price</a:t>
                      </a:r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361">
                <a:tc>
                  <a:txBody>
                    <a:bodyPr/>
                    <a:lstStyle/>
                    <a:p>
                      <a:r>
                        <a:rPr lang="en-CA" sz="1800" i="1" dirty="0">
                          <a:latin typeface="+mj-lt"/>
                        </a:rPr>
                        <a:t>P: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American put option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dirty="0"/>
                        <a:t>price</a:t>
                      </a:r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361">
                <a:tc>
                  <a:txBody>
                    <a:bodyPr/>
                    <a:lstStyle/>
                    <a:p>
                      <a:r>
                        <a:rPr lang="en-CA" sz="1800" i="1" dirty="0">
                          <a:latin typeface="+mj-lt"/>
                        </a:rPr>
                        <a:t>S</a:t>
                      </a:r>
                      <a:r>
                        <a:rPr lang="en-CA" sz="1800" i="1" baseline="-25000" dirty="0">
                          <a:latin typeface="+mj-lt"/>
                        </a:rPr>
                        <a:t>T</a:t>
                      </a:r>
                      <a:r>
                        <a:rPr lang="en-CA" sz="1800" i="1" baseline="0" dirty="0">
                          <a:latin typeface="+mj-lt"/>
                        </a:rPr>
                        <a:t>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Stock price at</a:t>
                      </a:r>
                      <a:r>
                        <a:rPr lang="en-US" sz="1800" baseline="0" dirty="0"/>
                        <a:t> option maturity</a:t>
                      </a:r>
                      <a:endParaRPr lang="en-US" sz="1800" dirty="0"/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676">
                <a:tc>
                  <a:txBody>
                    <a:bodyPr/>
                    <a:lstStyle/>
                    <a:p>
                      <a:r>
                        <a:rPr lang="en-CA" sz="1800" i="1" dirty="0">
                          <a:latin typeface="+mj-lt"/>
                        </a:rPr>
                        <a:t>D: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PV</a:t>
                      </a:r>
                      <a:r>
                        <a:rPr lang="en-CA" sz="1800" baseline="0" dirty="0"/>
                        <a:t> of dividends paid during life of option</a:t>
                      </a:r>
                      <a:endParaRPr lang="en-US" sz="1800" dirty="0"/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4803">
                <a:tc>
                  <a:txBody>
                    <a:bodyPr/>
                    <a:lstStyle/>
                    <a:p>
                      <a:r>
                        <a:rPr lang="en-CA" sz="1800" i="1" dirty="0">
                          <a:latin typeface="+mj-lt"/>
                        </a:rPr>
                        <a:t>r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Risk-free rate for maturity </a:t>
                      </a:r>
                      <a:r>
                        <a:rPr lang="en-US" sz="1800" i="1" dirty="0">
                          <a:latin typeface="Times New Roman" pitchFamily="18" charset="0"/>
                        </a:rPr>
                        <a:t>T</a:t>
                      </a:r>
                      <a:r>
                        <a:rPr lang="en-US" sz="1800" i="1" dirty="0"/>
                        <a:t> </a:t>
                      </a:r>
                      <a:r>
                        <a:rPr lang="en-US" sz="1800" dirty="0"/>
                        <a:t>with cont. comp.</a:t>
                      </a:r>
                    </a:p>
                  </a:txBody>
                  <a:tcPr marL="91419" marR="91419" marT="45727" marB="457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Effect of Variables on Option Pricing </a:t>
            </a:r>
            <a:r>
              <a:rPr lang="en-US" altLang="en-US" sz="2200" dirty="0"/>
              <a:t>(Table 11.1)</a:t>
            </a:r>
            <a:endParaRPr lang="en-US" altLang="en-US" dirty="0"/>
          </a:p>
        </p:txBody>
      </p:sp>
      <p:sp>
        <p:nvSpPr>
          <p:cNvPr id="717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 Copyright © John  C. Hull 2021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87450" y="2420938"/>
          <a:ext cx="7129464" cy="3313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5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5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58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155"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Variable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>
                          <a:latin typeface="+mj-lt"/>
                        </a:rPr>
                        <a:t>c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>
                          <a:latin typeface="+mj-lt"/>
                        </a:rPr>
                        <a:t>p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>
                          <a:latin typeface="+mj-lt"/>
                        </a:rPr>
                        <a:t>C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>
                          <a:latin typeface="+mj-lt"/>
                        </a:rPr>
                        <a:t>P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826"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>
                          <a:latin typeface="+mj-lt"/>
                        </a:rPr>
                        <a:t>S</a:t>
                      </a:r>
                      <a:r>
                        <a:rPr lang="en-CA" sz="2400" i="0" baseline="-25000" dirty="0">
                          <a:latin typeface="+mj-lt"/>
                        </a:rPr>
                        <a:t>0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−</a:t>
                      </a: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−</a:t>
                      </a:r>
                    </a:p>
                  </a:txBody>
                  <a:tcPr marL="91449" marR="91449" marT="45730" marB="457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826"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>
                          <a:latin typeface="+mj-lt"/>
                        </a:rPr>
                        <a:t>K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−</a:t>
                      </a: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−</a:t>
                      </a: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826"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>
                          <a:latin typeface="+mj-lt"/>
                        </a:rPr>
                        <a:t>T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?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?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826">
                <a:tc>
                  <a:txBody>
                    <a:bodyPr/>
                    <a:lstStyle/>
                    <a:p>
                      <a:pPr algn="ctr"/>
                      <a:r>
                        <a:rPr lang="en-CA" sz="2400" i="0" dirty="0">
                          <a:latin typeface="Symbol" pitchFamily="18" charset="2"/>
                        </a:rPr>
                        <a:t>s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826"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>
                          <a:latin typeface="+mj-lt"/>
                        </a:rPr>
                        <a:t>r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−</a:t>
                      </a: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−</a:t>
                      </a:r>
                    </a:p>
                  </a:txBody>
                  <a:tcPr marL="91449" marR="91449" marT="45730" marB="4573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826"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>
                          <a:latin typeface="+mj-lt"/>
                        </a:rPr>
                        <a:t>D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−</a:t>
                      </a: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−</a:t>
                      </a:r>
                    </a:p>
                  </a:txBody>
                  <a:tcPr marL="91449" marR="9144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+</a:t>
                      </a:r>
                      <a:endParaRPr lang="en-US" sz="2400" dirty="0"/>
                    </a:p>
                  </a:txBody>
                  <a:tcPr marL="91449" marR="91449" marT="45730" marB="4573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2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4224A67-5E40-415F-B48E-A7BD4302802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American vs European Options</a:t>
            </a:r>
          </a:p>
        </p:txBody>
      </p:sp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 Copyright © John  C. Hull 2021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F2AFC3F-3658-4CFD-BFE2-93D1ABF5FF4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8197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>
                <a:latin typeface="Arial" charset="0"/>
                <a:cs typeface="Arial" charset="0"/>
              </a:rPr>
              <a:t>	An American option is worth at least as much as the corresponding European option</a:t>
            </a:r>
          </a:p>
          <a:p>
            <a:pPr eaLnBrk="1" hangingPunct="1">
              <a:buFontTx/>
              <a:buNone/>
            </a:pPr>
            <a:r>
              <a:rPr lang="en-US" altLang="en-US">
                <a:latin typeface="Arial" charset="0"/>
                <a:cs typeface="Arial" charset="0"/>
              </a:rPr>
              <a:t>			</a:t>
            </a:r>
            <a:r>
              <a:rPr lang="en-US" altLang="en-US" i="1">
                <a:latin typeface="Times New Roman" pitchFamily="18" charset="0"/>
                <a:cs typeface="Arial" charset="0"/>
              </a:rPr>
              <a:t>C</a:t>
            </a:r>
            <a:r>
              <a:rPr lang="en-US" altLang="en-US">
                <a:latin typeface="Arial" charset="0"/>
                <a:cs typeface="Arial" charset="0"/>
              </a:rPr>
              <a:t> </a:t>
            </a:r>
            <a:r>
              <a:rPr lang="en-US" altLang="en-US">
                <a:latin typeface="Symbol" pitchFamily="18" charset="2"/>
                <a:cs typeface="Arial" charset="0"/>
              </a:rPr>
              <a:t></a:t>
            </a:r>
            <a:r>
              <a:rPr lang="en-US" altLang="en-US">
                <a:latin typeface="Arial" charset="0"/>
                <a:cs typeface="Arial" charset="0"/>
              </a:rPr>
              <a:t>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c</a:t>
            </a:r>
          </a:p>
          <a:p>
            <a:pPr eaLnBrk="1" hangingPunct="1">
              <a:buFontTx/>
              <a:buNone/>
            </a:pPr>
            <a:r>
              <a:rPr lang="en-US" altLang="en-US" i="1">
                <a:latin typeface="Times New Roman" pitchFamily="18" charset="0"/>
                <a:cs typeface="Arial" charset="0"/>
              </a:rPr>
              <a:t>			P</a:t>
            </a:r>
            <a:r>
              <a:rPr lang="en-US" altLang="en-US">
                <a:latin typeface="Times New Roman" pitchFamily="18" charset="0"/>
                <a:cs typeface="Arial" charset="0"/>
              </a:rPr>
              <a:t> </a:t>
            </a:r>
            <a:r>
              <a:rPr lang="en-US" altLang="en-US">
                <a:latin typeface="Symbol" pitchFamily="18" charset="2"/>
                <a:cs typeface="Arial" charset="0"/>
              </a:rPr>
              <a:t></a:t>
            </a:r>
            <a:r>
              <a:rPr lang="en-US" altLang="en-US">
                <a:latin typeface="Arial" charset="0"/>
                <a:cs typeface="Arial" charset="0"/>
              </a:rPr>
              <a:t>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p</a:t>
            </a:r>
            <a:r>
              <a:rPr lang="en-US" altLang="en-US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Tx/>
              <a:buNone/>
            </a:pPr>
            <a:endParaRPr lang="en-US" alt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268413"/>
            <a:ext cx="7777163" cy="1131887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/>
              <a:t>Lower Bound for European Call Option Prices; No Dividends (</a:t>
            </a:r>
            <a:r>
              <a:rPr lang="en-US" altLang="en-US" sz="2200" dirty="0"/>
              <a:t>Equation 11.4)</a:t>
            </a:r>
            <a:endParaRPr lang="en-US" altLang="en-US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666875" y="3860800"/>
            <a:ext cx="5713413" cy="863600"/>
          </a:xfrm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i="1">
                <a:latin typeface="Arial" charset="0"/>
                <a:cs typeface="Arial" charset="0"/>
              </a:rPr>
              <a:t> </a:t>
            </a:r>
            <a:r>
              <a:rPr lang="en-US" altLang="en-US" sz="4000" i="1">
                <a:latin typeface="Times New Roman" pitchFamily="18" charset="0"/>
                <a:cs typeface="Arial" charset="0"/>
              </a:rPr>
              <a:t>c</a:t>
            </a:r>
            <a:r>
              <a:rPr lang="en-US" altLang="en-US" sz="4000">
                <a:latin typeface="Arial" charset="0"/>
                <a:cs typeface="Arial" charset="0"/>
              </a:rPr>
              <a:t> </a:t>
            </a:r>
            <a:r>
              <a:rPr lang="en-US" altLang="en-US" sz="4000">
                <a:latin typeface="Symbol" pitchFamily="18" charset="2"/>
                <a:cs typeface="Arial" charset="0"/>
              </a:rPr>
              <a:t></a:t>
            </a:r>
            <a:r>
              <a:rPr lang="en-US" altLang="en-US" sz="4000">
                <a:latin typeface="Arial" charset="0"/>
                <a:cs typeface="Arial" charset="0"/>
              </a:rPr>
              <a:t> max(</a:t>
            </a:r>
            <a:r>
              <a:rPr lang="en-US" altLang="en-US" sz="4000" i="1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4000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4000" i="1">
                <a:latin typeface="Times New Roman" pitchFamily="18" charset="0"/>
                <a:cs typeface="Arial" charset="0"/>
              </a:rPr>
              <a:t> –Ke </a:t>
            </a:r>
            <a:r>
              <a:rPr lang="en-US" altLang="en-US" sz="4000" i="1" baseline="30000">
                <a:latin typeface="Times New Roman" pitchFamily="18" charset="0"/>
                <a:cs typeface="Arial" charset="0"/>
              </a:rPr>
              <a:t>–rT</a:t>
            </a:r>
            <a:r>
              <a:rPr lang="en-US" altLang="en-US" sz="4000" i="1">
                <a:latin typeface="Times New Roman" pitchFamily="18" charset="0"/>
                <a:cs typeface="Arial" charset="0"/>
              </a:rPr>
              <a:t>, </a:t>
            </a:r>
            <a:r>
              <a:rPr lang="en-US" altLang="en-US" sz="4000">
                <a:latin typeface="Times New Roman" pitchFamily="18" charset="0"/>
                <a:cs typeface="Arial" charset="0"/>
              </a:rPr>
              <a:t>0)</a:t>
            </a:r>
            <a:endParaRPr lang="en-US" altLang="en-US" sz="4000" baseline="30000">
              <a:latin typeface="Arial" charset="0"/>
              <a:cs typeface="Arial" charset="0"/>
            </a:endParaRP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 Copyright © John  C. Hull 2021</a:t>
            </a: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EDB17AF-65D7-46E3-925C-DF3CF3096D4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1412875"/>
            <a:ext cx="7772400" cy="936625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/>
              <a:t>Lower Bound for European Put Prices; No Dividends </a:t>
            </a:r>
            <a:r>
              <a:rPr lang="en-US" altLang="en-US" sz="2200" dirty="0"/>
              <a:t>(Equation 11.5)</a:t>
            </a:r>
            <a:endParaRPr lang="en-US" alt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546225" y="3394075"/>
            <a:ext cx="6445250" cy="1092200"/>
          </a:xfrm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i="1" dirty="0">
                <a:latin typeface="Arial" charset="0"/>
                <a:cs typeface="Arial" charset="0"/>
              </a:rPr>
              <a:t> </a:t>
            </a:r>
            <a:r>
              <a:rPr lang="en-US" altLang="en-US" sz="4000" i="1" dirty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4000" dirty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4000" dirty="0">
                <a:latin typeface="Symbol" pitchFamily="18" charset="2"/>
                <a:cs typeface="Arial" charset="0"/>
              </a:rPr>
              <a:t></a:t>
            </a:r>
            <a:r>
              <a:rPr lang="en-US" altLang="en-US" sz="4000" dirty="0">
                <a:latin typeface="Arial" charset="0"/>
                <a:cs typeface="Arial" charset="0"/>
              </a:rPr>
              <a:t> max(</a:t>
            </a:r>
            <a:r>
              <a:rPr lang="en-US" altLang="en-US" sz="4000" i="1" dirty="0" err="1">
                <a:latin typeface="Times New Roman" pitchFamily="18" charset="0"/>
                <a:cs typeface="Arial" charset="0"/>
              </a:rPr>
              <a:t>Ke</a:t>
            </a:r>
            <a:r>
              <a:rPr lang="en-US" altLang="en-US" sz="4000" i="1" dirty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4000" i="1" baseline="30000" dirty="0">
                <a:latin typeface="Times New Roman" pitchFamily="18" charset="0"/>
                <a:cs typeface="Arial" charset="0"/>
              </a:rPr>
              <a:t>-</a:t>
            </a:r>
            <a:r>
              <a:rPr lang="en-US" altLang="en-US" sz="4000" i="1" baseline="30000" dirty="0" err="1">
                <a:latin typeface="Times New Roman" pitchFamily="18" charset="0"/>
                <a:cs typeface="Arial" charset="0"/>
              </a:rPr>
              <a:t>rT</a:t>
            </a:r>
            <a:r>
              <a:rPr lang="en-US" altLang="en-US" sz="4000" i="1" dirty="0">
                <a:latin typeface="Times New Roman" pitchFamily="18" charset="0"/>
                <a:cs typeface="Arial" charset="0"/>
              </a:rPr>
              <a:t>–S</a:t>
            </a:r>
            <a:r>
              <a:rPr lang="en-US" altLang="en-US" sz="4000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4000" dirty="0">
                <a:latin typeface="Times New Roman" pitchFamily="18" charset="0"/>
                <a:cs typeface="Arial" charset="0"/>
              </a:rPr>
              <a:t>, 0)</a:t>
            </a:r>
            <a:endParaRPr lang="en-US" altLang="en-US" sz="4000" baseline="-250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 Copyright © John  C. Hull 2021</a:t>
            </a: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BC6BE23-EA2C-4882-ADA0-458D7F17380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85813" y="1125538"/>
            <a:ext cx="7772400" cy="1150937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/>
              <a:t>Put-Call Parity: No Dividends 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>
          <a:xfrm>
            <a:off x="750888" y="2708275"/>
            <a:ext cx="7843837" cy="3387725"/>
          </a:xfrm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sz="2400" dirty="0"/>
              <a:t>Consider the following 2 portfolios:</a:t>
            </a:r>
          </a:p>
          <a:p>
            <a:pPr lvl="1" eaLnBrk="1" hangingPunct="1">
              <a:defRPr/>
            </a:pPr>
            <a:r>
              <a:rPr lang="en-US" dirty="0"/>
              <a:t>Portfolio A:  European call on a stock + zero-coupon bond that pays </a:t>
            </a:r>
            <a:r>
              <a:rPr lang="en-US" i="1" dirty="0">
                <a:latin typeface="+mj-lt"/>
              </a:rPr>
              <a:t>K</a:t>
            </a:r>
            <a:r>
              <a:rPr lang="en-US" dirty="0"/>
              <a:t> at time </a:t>
            </a:r>
            <a:r>
              <a:rPr lang="en-US" i="1" dirty="0">
                <a:latin typeface="+mj-lt"/>
              </a:rPr>
              <a:t>T</a:t>
            </a:r>
          </a:p>
          <a:p>
            <a:pPr lvl="1" eaLnBrk="1" hangingPunct="1">
              <a:defRPr/>
            </a:pPr>
            <a:r>
              <a:rPr lang="en-US" dirty="0"/>
              <a:t>Portfolio C:  European put on the stock + the stock</a:t>
            </a: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 Copyright © John  C. Hull 2021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0DA6377-6C82-46A9-857A-3E41E4E1DD3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Values of Portfolios </a:t>
            </a:r>
            <a:r>
              <a:rPr lang="en-CA" altLang="en-US" sz="2400" dirty="0"/>
              <a:t>(Table 11.2)</a:t>
            </a:r>
            <a:endParaRPr lang="en-US" altLang="en-US" sz="2400" dirty="0"/>
          </a:p>
        </p:txBody>
      </p:sp>
      <p:sp>
        <p:nvSpPr>
          <p:cNvPr id="1433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 Copyright © John  C. Hull 2021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D684EFB-97B4-4646-A747-667EE6A172B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28750" y="2143125"/>
          <a:ext cx="6096000" cy="259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>
                          <a:latin typeface="+mj-lt"/>
                        </a:rPr>
                        <a:t>S</a:t>
                      </a:r>
                      <a:r>
                        <a:rPr lang="en-CA" sz="1800" i="1" baseline="-25000" dirty="0">
                          <a:latin typeface="+mj-lt"/>
                        </a:rPr>
                        <a:t>T</a:t>
                      </a:r>
                      <a:r>
                        <a:rPr lang="en-CA" sz="1800" i="1" dirty="0">
                          <a:latin typeface="+mj-lt"/>
                        </a:rPr>
                        <a:t> &gt; 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>
                          <a:latin typeface="+mj-lt"/>
                        </a:rPr>
                        <a:t>S</a:t>
                      </a:r>
                      <a:r>
                        <a:rPr lang="en-CA" sz="1800" i="1" baseline="-25000" dirty="0">
                          <a:latin typeface="+mj-lt"/>
                        </a:rPr>
                        <a:t>T</a:t>
                      </a:r>
                      <a:r>
                        <a:rPr lang="en-CA" sz="1800" i="1" dirty="0">
                          <a:latin typeface="+mj-lt"/>
                        </a:rPr>
                        <a:t> &lt; 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CA" sz="1800" dirty="0"/>
                        <a:t>Portfolio A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Call option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>
                          <a:latin typeface="+mj-lt"/>
                        </a:rPr>
                        <a:t>S</a:t>
                      </a:r>
                      <a:r>
                        <a:rPr lang="en-CA" sz="1800" i="1" baseline="-25000" dirty="0">
                          <a:latin typeface="+mj-lt"/>
                        </a:rPr>
                        <a:t>T</a:t>
                      </a:r>
                      <a:r>
                        <a:rPr lang="en-CA" sz="1800" i="1" dirty="0">
                          <a:latin typeface="+mj-lt"/>
                        </a:rPr>
                        <a:t> − 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0" dirty="0">
                          <a:latin typeface="+mj-lt"/>
                        </a:rPr>
                        <a:t>0</a:t>
                      </a:r>
                      <a:endParaRPr lang="en-US" sz="1800" i="0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Zero-coupon bond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>
                          <a:latin typeface="+mj-lt"/>
                        </a:rPr>
                        <a:t>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>
                          <a:latin typeface="+mj-lt"/>
                        </a:rPr>
                        <a:t>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Total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>
                          <a:latin typeface="+mj-lt"/>
                        </a:rPr>
                        <a:t>S</a:t>
                      </a:r>
                      <a:r>
                        <a:rPr lang="en-CA" sz="1800" i="1" baseline="-25000" dirty="0">
                          <a:latin typeface="+mj-lt"/>
                        </a:rPr>
                        <a:t>T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>
                          <a:latin typeface="+mj-lt"/>
                        </a:rPr>
                        <a:t>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en-CA" sz="1800" dirty="0"/>
                        <a:t>Portfolio C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Put Option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0" dirty="0">
                          <a:latin typeface="+mj-lt"/>
                        </a:rPr>
                        <a:t>0</a:t>
                      </a:r>
                      <a:endParaRPr lang="en-US" sz="1800" i="0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>
                          <a:latin typeface="+mj-lt"/>
                        </a:rPr>
                        <a:t>K− S</a:t>
                      </a:r>
                      <a:r>
                        <a:rPr lang="en-CA" sz="1800" i="1" baseline="-25000" dirty="0">
                          <a:latin typeface="+mj-lt"/>
                        </a:rPr>
                        <a:t>T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Share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>
                          <a:latin typeface="+mj-lt"/>
                        </a:rPr>
                        <a:t>S</a:t>
                      </a:r>
                      <a:r>
                        <a:rPr lang="en-CA" sz="1800" i="1" baseline="-25000" dirty="0">
                          <a:latin typeface="+mj-lt"/>
                        </a:rPr>
                        <a:t>T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>
                          <a:latin typeface="+mj-lt"/>
                        </a:rPr>
                        <a:t>S</a:t>
                      </a:r>
                      <a:r>
                        <a:rPr lang="en-CA" sz="1800" i="1" baseline="-25000" dirty="0">
                          <a:latin typeface="+mj-lt"/>
                        </a:rPr>
                        <a:t>T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/>
                        <a:t>Total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>
                          <a:latin typeface="+mj-lt"/>
                        </a:rPr>
                        <a:t>S</a:t>
                      </a:r>
                      <a:r>
                        <a:rPr lang="en-CA" sz="1800" i="1" baseline="-25000" dirty="0">
                          <a:latin typeface="+mj-lt"/>
                        </a:rPr>
                        <a:t>T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>
                          <a:latin typeface="+mj-lt"/>
                        </a:rPr>
                        <a:t>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The Put-Call Parity Result </a:t>
            </a:r>
            <a:r>
              <a:rPr lang="en-US" altLang="en-US" sz="2400" dirty="0"/>
              <a:t>(Equation 11.6)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Both are worth max(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dirty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 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,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K</a:t>
            </a:r>
            <a:r>
              <a:rPr lang="en-US" altLang="en-US" dirty="0">
                <a:latin typeface="Arial" charset="0"/>
                <a:cs typeface="Arial" charset="0"/>
              </a:rPr>
              <a:t> ) at the maturity of the options</a:t>
            </a:r>
          </a:p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They must therefore be worth the same today. This means that</a:t>
            </a:r>
            <a:r>
              <a:rPr lang="en-US" altLang="en-US" sz="3600" dirty="0">
                <a:latin typeface="Arial" charset="0"/>
                <a:cs typeface="Arial" charset="0"/>
              </a:rPr>
              <a:t>				</a:t>
            </a:r>
            <a:r>
              <a:rPr lang="en-US" altLang="en-US" sz="4000" dirty="0">
                <a:latin typeface="Arial" charset="0"/>
                <a:cs typeface="Arial" charset="0"/>
              </a:rPr>
              <a:t>	</a:t>
            </a:r>
            <a:r>
              <a:rPr lang="en-US" altLang="en-US" sz="4000" i="1" dirty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z="4000" dirty="0">
                <a:latin typeface="Times New Roman" pitchFamily="18" charset="0"/>
                <a:cs typeface="Arial" charset="0"/>
              </a:rPr>
              <a:t> + </a:t>
            </a:r>
            <a:r>
              <a:rPr lang="en-US" altLang="en-US" sz="4000" i="1" dirty="0" err="1">
                <a:latin typeface="Times New Roman" pitchFamily="18" charset="0"/>
                <a:cs typeface="Arial" charset="0"/>
              </a:rPr>
              <a:t>Ke</a:t>
            </a:r>
            <a:r>
              <a:rPr lang="en-US" altLang="en-US" sz="4000" i="1" baseline="30000" dirty="0">
                <a:latin typeface="Times New Roman" pitchFamily="18" charset="0"/>
                <a:cs typeface="Arial" charset="0"/>
              </a:rPr>
              <a:t> -</a:t>
            </a:r>
            <a:r>
              <a:rPr lang="en-US" altLang="en-US" sz="4000" i="1" baseline="30000" dirty="0" err="1">
                <a:latin typeface="Times New Roman" pitchFamily="18" charset="0"/>
                <a:cs typeface="Arial" charset="0"/>
              </a:rPr>
              <a:t>rT</a:t>
            </a:r>
            <a:r>
              <a:rPr lang="en-US" altLang="en-US" sz="4000" i="1" baseline="30000" dirty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4000" dirty="0">
                <a:latin typeface="Times New Roman" pitchFamily="18" charset="0"/>
                <a:cs typeface="Arial" charset="0"/>
              </a:rPr>
              <a:t>= </a:t>
            </a:r>
            <a:r>
              <a:rPr lang="en-US" altLang="en-US" sz="4000" i="1" dirty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4000" dirty="0">
                <a:latin typeface="Times New Roman" pitchFamily="18" charset="0"/>
                <a:cs typeface="Arial" charset="0"/>
              </a:rPr>
              <a:t> + </a:t>
            </a:r>
            <a:r>
              <a:rPr lang="en-US" altLang="en-US" sz="4000" i="1" dirty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4000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4000" dirty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5400" dirty="0">
                <a:latin typeface="Times New Roman" pitchFamily="18" charset="0"/>
                <a:cs typeface="Arial" charset="0"/>
              </a:rPr>
              <a:t>	</a:t>
            </a:r>
            <a:r>
              <a:rPr lang="en-US" altLang="en-US" sz="3600" dirty="0">
                <a:latin typeface="Times New Roman" pitchFamily="18" charset="0"/>
                <a:cs typeface="Arial" charset="0"/>
              </a:rPr>
              <a:t>     </a:t>
            </a:r>
          </a:p>
          <a:p>
            <a:pPr eaLnBrk="1" hangingPunct="1"/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1536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 Copyright © John  C. Hull 2021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DEAFE83-DB09-4E0C-AC9F-C87090097CF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Early Exercise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2205038"/>
            <a:ext cx="7875588" cy="3960812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Usually there is some chance that an American option will be exercised early	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An exception is an American call on a non-dividend paying stock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This should never be exercised early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en-US" sz="3200">
              <a:latin typeface="Arial" charset="0"/>
              <a:cs typeface="Arial" charset="0"/>
            </a:endParaRP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 Copyright © John  C. Hull 2021</a:t>
            </a: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DC4A92A-D38A-4EE4-A2EA-B278E14B5FC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3600" dirty="0"/>
              <a:t>Bounds for European or American Call Options (No Dividends) </a:t>
            </a:r>
            <a:r>
              <a:rPr lang="en-CA" altLang="en-US" sz="2400" dirty="0"/>
              <a:t>Figure 11.3</a:t>
            </a:r>
            <a:endParaRPr lang="en-US" altLang="en-US" sz="2400" dirty="0"/>
          </a:p>
        </p:txBody>
      </p:sp>
      <p:pic>
        <p:nvPicPr>
          <p:cNvPr id="2048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3688" y="2132319"/>
            <a:ext cx="5500687" cy="4421188"/>
          </a:xfrm>
          <a:noFill/>
        </p:spPr>
      </p:pic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 Copyright © John  C. Hull 2021</a:t>
            </a:r>
          </a:p>
        </p:txBody>
      </p:sp>
      <p:sp>
        <p:nvSpPr>
          <p:cNvPr id="20485" name="Slide Number Placeholder 1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FD24187-E8DC-433C-AA98-ECE6C6AE804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3600" dirty="0"/>
              <a:t>Bounds for European and American Put Options (No Dividends) </a:t>
            </a:r>
            <a:r>
              <a:rPr lang="en-CA" altLang="en-US" sz="2400" dirty="0"/>
              <a:t>Figure 11.4</a:t>
            </a:r>
            <a:endParaRPr lang="en-US" altLang="en-US" sz="2400" dirty="0"/>
          </a:p>
        </p:txBody>
      </p:sp>
      <p:sp>
        <p:nvSpPr>
          <p:cNvPr id="2253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 Copyright © John  C. Hull 2021</a:t>
            </a:r>
          </a:p>
        </p:txBody>
      </p:sp>
      <p:sp>
        <p:nvSpPr>
          <p:cNvPr id="22532" name="Slide Number Placeholder 2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2F457EF-5427-457E-A0B8-813A14243A1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latin typeface="Arial" charset="0"/>
            </a:endParaRPr>
          </a:p>
        </p:txBody>
      </p:sp>
      <p:pic>
        <p:nvPicPr>
          <p:cNvPr id="2253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2057400"/>
            <a:ext cx="8342312" cy="315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125538"/>
            <a:ext cx="7772400" cy="11430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4000" dirty="0"/>
              <a:t>The Impact of Dividends on Lower Bounds to Option Prices</a:t>
            </a:r>
            <a:br>
              <a:rPr lang="en-US" altLang="en-US" dirty="0"/>
            </a:br>
            <a:r>
              <a:rPr lang="en-US" altLang="en-US" sz="2200" dirty="0"/>
              <a:t>(Equations 11.8 and 11.9)</a:t>
            </a:r>
            <a:endParaRPr lang="en-US" altLang="en-US" dirty="0"/>
          </a:p>
        </p:txBody>
      </p:sp>
      <p:sp>
        <p:nvSpPr>
          <p:cNvPr id="2355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 Copyright © John  C. Hull 2021</a:t>
            </a:r>
          </a:p>
        </p:txBody>
      </p:sp>
      <p:sp>
        <p:nvSpPr>
          <p:cNvPr id="2355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52A4ADC-59D8-480B-8EA3-C997D87A3AD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23557" name="Object 0">
            <a:hlinkClick r:id="" action="ppaction://ole?verb=0"/>
          </p:cNvPr>
          <p:cNvGraphicFramePr>
            <a:graphicFrameLocks/>
          </p:cNvGraphicFramePr>
          <p:nvPr/>
        </p:nvGraphicFramePr>
        <p:xfrm>
          <a:off x="1476375" y="3068638"/>
          <a:ext cx="3455988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80588" imgH="241195" progId="Equation.3">
                  <p:embed/>
                </p:oleObj>
              </mc:Choice>
              <mc:Fallback>
                <p:oleObj name="Equation" r:id="rId5" imgW="1180588" imgH="241195" progId="Equation.3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068638"/>
                        <a:ext cx="3455988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1">
            <a:hlinkClick r:id="" action="ppaction://ole?verb=0"/>
          </p:cNvPr>
          <p:cNvGraphicFramePr>
            <a:graphicFrameLocks/>
          </p:cNvGraphicFramePr>
          <p:nvPr/>
        </p:nvGraphicFramePr>
        <p:xfrm>
          <a:off x="1403350" y="3860800"/>
          <a:ext cx="345598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06500" imgH="241300" progId="Equation.3">
                  <p:embed/>
                </p:oleObj>
              </mc:Choice>
              <mc:Fallback>
                <p:oleObj name="Equation" r:id="rId7" imgW="1206500" imgH="241300" progId="Equation.3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860800"/>
                        <a:ext cx="3455988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836613"/>
            <a:ext cx="7772400" cy="792162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Extensions of Put-Call Parity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628775"/>
            <a:ext cx="7775575" cy="407035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 dirty="0">
                <a:latin typeface="Arial" charset="0"/>
                <a:cs typeface="Arial" charset="0"/>
              </a:rPr>
              <a:t>American options;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D</a:t>
            </a:r>
            <a:r>
              <a:rPr lang="en-US" altLang="en-US" sz="2400" dirty="0">
                <a:latin typeface="Arial" charset="0"/>
                <a:cs typeface="Arial" charset="0"/>
              </a:rPr>
              <a:t> = 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>
                <a:latin typeface="Arial" charset="0"/>
                <a:cs typeface="Arial" charset="0"/>
              </a:rPr>
              <a:t>		</a:t>
            </a:r>
          </a:p>
          <a:p>
            <a:pPr eaLnBrk="1" hangingPunct="1">
              <a:buFontTx/>
              <a:buNone/>
            </a:pPr>
            <a:r>
              <a:rPr lang="en-US" altLang="en-US" sz="2400" i="1" dirty="0">
                <a:latin typeface="Times New Roman" pitchFamily="18" charset="0"/>
                <a:cs typeface="Arial" charset="0"/>
              </a:rPr>
              <a:t>		S</a:t>
            </a:r>
            <a:r>
              <a:rPr lang="en-US" altLang="en-US" sz="2400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 −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K</a:t>
            </a:r>
            <a:r>
              <a:rPr lang="en-US" altLang="en-US" sz="2400" dirty="0">
                <a:latin typeface="Arial" charset="0"/>
                <a:cs typeface="Arial" charset="0"/>
              </a:rPr>
              <a:t> &lt;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 −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400" dirty="0">
                <a:latin typeface="Arial" charset="0"/>
                <a:cs typeface="Arial" charset="0"/>
              </a:rPr>
              <a:t> &lt;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 − </a:t>
            </a:r>
            <a:r>
              <a:rPr lang="en-US" altLang="en-US" sz="2400" i="1" dirty="0" err="1">
                <a:latin typeface="Times New Roman" pitchFamily="18" charset="0"/>
                <a:cs typeface="Arial" charset="0"/>
              </a:rPr>
              <a:t>Ke</a:t>
            </a:r>
            <a:r>
              <a:rPr lang="en-US" altLang="en-US" sz="2400" i="1" baseline="30000" dirty="0" err="1">
                <a:latin typeface="Times New Roman" pitchFamily="18" charset="0"/>
                <a:cs typeface="Arial" charset="0"/>
              </a:rPr>
              <a:t>−rT</a:t>
            </a:r>
            <a:r>
              <a:rPr lang="en-US" altLang="en-US" sz="2400" dirty="0">
                <a:latin typeface="Arial" charset="0"/>
                <a:cs typeface="Arial" charset="0"/>
              </a:rPr>
              <a:t>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800" dirty="0">
                <a:latin typeface="Arial" charset="0"/>
                <a:cs typeface="Arial" charset="0"/>
              </a:rPr>
              <a:t>		Equation 11.7</a:t>
            </a:r>
            <a:endParaRPr lang="en-US" altLang="en-US" sz="1800" i="1" dirty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z="2400" dirty="0">
                <a:latin typeface="Arial" charset="0"/>
                <a:cs typeface="Arial" charset="0"/>
              </a:rPr>
              <a:t>European options;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D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dirty="0">
                <a:latin typeface="Arial" charset="0"/>
                <a:cs typeface="Arial" charset="0"/>
              </a:rPr>
              <a:t>&gt; 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>
                <a:latin typeface="Arial" charset="0"/>
                <a:cs typeface="Arial" charset="0"/>
              </a:rPr>
              <a:t>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i="1" dirty="0">
                <a:latin typeface="Times New Roman" pitchFamily="18" charset="0"/>
                <a:cs typeface="Arial" charset="0"/>
              </a:rPr>
              <a:t>		c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 +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D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 + </a:t>
            </a:r>
            <a:r>
              <a:rPr lang="en-US" altLang="en-US" sz="2400" i="1" dirty="0" err="1">
                <a:latin typeface="Times New Roman" pitchFamily="18" charset="0"/>
                <a:cs typeface="Arial" charset="0"/>
              </a:rPr>
              <a:t>Ke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i="1" baseline="30000" dirty="0">
                <a:latin typeface="Times New Roman" pitchFamily="18" charset="0"/>
                <a:cs typeface="Arial" charset="0"/>
              </a:rPr>
              <a:t>−</a:t>
            </a:r>
            <a:r>
              <a:rPr lang="en-US" altLang="en-US" sz="2400" i="1" baseline="30000" dirty="0" err="1">
                <a:latin typeface="Times New Roman" pitchFamily="18" charset="0"/>
                <a:cs typeface="Arial" charset="0"/>
              </a:rPr>
              <a:t>rT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 =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 +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	</a:t>
            </a:r>
            <a:r>
              <a:rPr lang="en-US" altLang="en-US" sz="2400" i="1" dirty="0">
                <a:latin typeface="Arial" charset="0"/>
                <a:cs typeface="Arial" charset="0"/>
              </a:rPr>
              <a:t>	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800" dirty="0">
                <a:latin typeface="Arial" charset="0"/>
                <a:cs typeface="Arial" charset="0"/>
              </a:rPr>
              <a:t>		Equation 11.10</a:t>
            </a:r>
          </a:p>
          <a:p>
            <a:pPr eaLnBrk="1" hangingPunct="1"/>
            <a:r>
              <a:rPr lang="en-US" altLang="en-US" sz="2400" dirty="0">
                <a:latin typeface="Arial" charset="0"/>
                <a:cs typeface="Arial" charset="0"/>
              </a:rPr>
              <a:t>American options;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D</a:t>
            </a:r>
            <a:r>
              <a:rPr lang="en-US" altLang="en-US" sz="2400" i="1" dirty="0">
                <a:latin typeface="Arial" charset="0"/>
                <a:cs typeface="Arial" charset="0"/>
              </a:rPr>
              <a:t> </a:t>
            </a:r>
            <a:r>
              <a:rPr lang="en-US" altLang="en-US" sz="2400" dirty="0">
                <a:latin typeface="Arial" charset="0"/>
                <a:cs typeface="Arial" charset="0"/>
              </a:rPr>
              <a:t>&gt; 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>
                <a:latin typeface="Arial" charset="0"/>
                <a:cs typeface="Arial" charset="0"/>
              </a:rPr>
              <a:t>		</a:t>
            </a:r>
          </a:p>
          <a:p>
            <a:pPr eaLnBrk="1" hangingPunct="1">
              <a:buFontTx/>
              <a:buNone/>
            </a:pPr>
            <a:r>
              <a:rPr lang="en-US" altLang="en-US" sz="2400" i="1" dirty="0">
                <a:latin typeface="Times New Roman" pitchFamily="18" charset="0"/>
                <a:cs typeface="Arial" charset="0"/>
              </a:rPr>
              <a:t>		S</a:t>
            </a:r>
            <a:r>
              <a:rPr lang="en-US" altLang="en-US" sz="2400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 −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D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 −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K</a:t>
            </a:r>
            <a:r>
              <a:rPr lang="en-US" altLang="en-US" sz="2400" dirty="0">
                <a:latin typeface="Arial" charset="0"/>
                <a:cs typeface="Arial" charset="0"/>
              </a:rPr>
              <a:t> &lt;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 −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400" dirty="0">
                <a:latin typeface="Arial" charset="0"/>
                <a:cs typeface="Arial" charset="0"/>
              </a:rPr>
              <a:t> &lt;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 − </a:t>
            </a:r>
            <a:r>
              <a:rPr lang="en-US" altLang="en-US" sz="2400" i="1" dirty="0" err="1">
                <a:latin typeface="Times New Roman" pitchFamily="18" charset="0"/>
                <a:cs typeface="Arial" charset="0"/>
              </a:rPr>
              <a:t>Ke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i="1" baseline="30000" dirty="0">
                <a:latin typeface="Times New Roman" pitchFamily="18" charset="0"/>
                <a:cs typeface="Arial" charset="0"/>
              </a:rPr>
              <a:t>−</a:t>
            </a:r>
            <a:r>
              <a:rPr lang="en-US" altLang="en-US" sz="2400" i="1" baseline="30000" dirty="0" err="1">
                <a:latin typeface="Times New Roman" pitchFamily="18" charset="0"/>
                <a:cs typeface="Arial" charset="0"/>
              </a:rPr>
              <a:t>rT</a:t>
            </a:r>
            <a:endParaRPr lang="en-US" altLang="en-US" sz="2400" i="1" baseline="300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800" dirty="0">
                <a:latin typeface="Arial" charset="0"/>
                <a:cs typeface="Arial" charset="0"/>
              </a:rPr>
              <a:t>		Equation 11.11</a:t>
            </a: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 11th Edition,  Copyright © John  C. Hull 2021</a:t>
            </a: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BB71802-9607-427B-902F-B7E3F4CD22E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362200"/>
            <a:ext cx="6934200" cy="2286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>
                <a:solidFill>
                  <a:schemeClr val="tx2">
                    <a:satMod val="130000"/>
                  </a:schemeClr>
                </a:solidFill>
              </a:rPr>
              <a:t>Chapter 12</a:t>
            </a:r>
            <a:br>
              <a:rPr lang="en-CA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>
                <a:solidFill>
                  <a:schemeClr val="tx2">
                    <a:satMod val="130000"/>
                  </a:schemeClr>
                </a:solidFill>
              </a:rPr>
              <a:t>Trading Strategies Involving Options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charset="0"/>
              </a:rPr>
              <a:t>Options, Futures, and Other Derivatives,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charset="0"/>
              </a:rPr>
              <a:t>11th Edition, Copyright © John C. Hull 2021</a:t>
            </a: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534307-677D-4EEE-A986-EB683DDB83F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/>
              <a:t>Strategies to be Considered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905000"/>
            <a:ext cx="7543800" cy="4191000"/>
          </a:xfrm>
        </p:spPr>
        <p:txBody>
          <a:bodyPr lIns="92075" tIns="46038" rIns="92075" bIns="46038"/>
          <a:lstStyle/>
          <a:p>
            <a:pPr eaLnBrk="1" hangingPunct="1"/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/>
            <a:r>
              <a:rPr lang="en-CA" altLang="en-US" dirty="0">
                <a:latin typeface="Arial" charset="0"/>
                <a:cs typeface="Arial" charset="0"/>
              </a:rPr>
              <a:t>Bond plus option to create principal protected note</a:t>
            </a: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/>
            <a:r>
              <a:rPr lang="en-CA" altLang="en-US" dirty="0">
                <a:latin typeface="Arial" charset="0"/>
                <a:cs typeface="Arial" charset="0"/>
              </a:rPr>
              <a:t>Stock plus option</a:t>
            </a:r>
            <a:endParaRPr lang="en-US" altLang="en-US" dirty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Two or more options of the same type (a spread) </a:t>
            </a:r>
          </a:p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Two or more options of different types (a combination)</a:t>
            </a: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4C79818-CE5B-4496-B079-1C58CE725A6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Principal Protected Note</a:t>
            </a:r>
            <a:endParaRPr lang="en-US" altLang="en-US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latin typeface="Arial" charset="0"/>
                <a:cs typeface="Arial" charset="0"/>
              </a:rPr>
              <a:t>Allows investor to take a risky position without risking any principal</a:t>
            </a:r>
          </a:p>
          <a:p>
            <a:pPr eaLnBrk="1" hangingPunct="1"/>
            <a:r>
              <a:rPr lang="en-CA" altLang="en-US">
                <a:latin typeface="Arial" charset="0"/>
                <a:cs typeface="Arial" charset="0"/>
              </a:rPr>
              <a:t>Example: $1000 instrument consisting of</a:t>
            </a:r>
          </a:p>
          <a:p>
            <a:pPr lvl="1" eaLnBrk="1" hangingPunct="1"/>
            <a:r>
              <a:rPr lang="en-CA" altLang="en-US">
                <a:latin typeface="Arial" charset="0"/>
                <a:cs typeface="Arial" charset="0"/>
              </a:rPr>
              <a:t>3-year zero-coupon bond with principal of $1000</a:t>
            </a:r>
          </a:p>
          <a:p>
            <a:pPr lvl="1" eaLnBrk="1" hangingPunct="1"/>
            <a:r>
              <a:rPr lang="en-CA" altLang="en-US">
                <a:latin typeface="Arial" charset="0"/>
                <a:cs typeface="Arial" charset="0"/>
              </a:rPr>
              <a:t>3-year at-the-money call option on a stock portfolio currently worth $1000</a:t>
            </a:r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644676F-ECC5-4394-95F3-F0F10CA49D3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Principal Protected Notes </a:t>
            </a:r>
            <a:r>
              <a:rPr lang="en-CA" altLang="en-US" sz="2400"/>
              <a:t>continued</a:t>
            </a:r>
            <a:endParaRPr lang="en-US" altLang="en-US" sz="240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latin typeface="Arial" charset="0"/>
                <a:cs typeface="Arial" charset="0"/>
              </a:rPr>
              <a:t>Viability depends on</a:t>
            </a:r>
          </a:p>
          <a:p>
            <a:pPr lvl="1" eaLnBrk="1" hangingPunct="1"/>
            <a:r>
              <a:rPr lang="en-CA" altLang="en-US">
                <a:latin typeface="Arial" charset="0"/>
                <a:cs typeface="Arial" charset="0"/>
              </a:rPr>
              <a:t>Level of dividends</a:t>
            </a:r>
          </a:p>
          <a:p>
            <a:pPr lvl="1" eaLnBrk="1" hangingPunct="1"/>
            <a:r>
              <a:rPr lang="en-CA" altLang="en-US">
                <a:latin typeface="Arial" charset="0"/>
                <a:cs typeface="Arial" charset="0"/>
              </a:rPr>
              <a:t>Level of interest rates</a:t>
            </a:r>
          </a:p>
          <a:p>
            <a:pPr lvl="1" eaLnBrk="1" hangingPunct="1"/>
            <a:r>
              <a:rPr lang="en-CA" altLang="en-US">
                <a:latin typeface="Arial" charset="0"/>
                <a:cs typeface="Arial" charset="0"/>
              </a:rPr>
              <a:t>Volatility of the portfolio</a:t>
            </a:r>
            <a:endParaRPr lang="en-US" altLang="en-US">
              <a:latin typeface="Arial" charset="0"/>
              <a:cs typeface="Arial" charset="0"/>
            </a:endParaRPr>
          </a:p>
          <a:p>
            <a:pPr eaLnBrk="1" hangingPunct="1"/>
            <a:r>
              <a:rPr lang="en-CA" altLang="en-US">
                <a:latin typeface="Arial" charset="0"/>
                <a:cs typeface="Arial" charset="0"/>
              </a:rPr>
              <a:t>Variations on standard product</a:t>
            </a:r>
          </a:p>
          <a:p>
            <a:pPr lvl="1" eaLnBrk="1" hangingPunct="1"/>
            <a:r>
              <a:rPr lang="en-CA" altLang="en-US">
                <a:latin typeface="Arial" charset="0"/>
                <a:cs typeface="Arial" charset="0"/>
              </a:rPr>
              <a:t>Out of the money strike price</a:t>
            </a:r>
          </a:p>
          <a:p>
            <a:pPr lvl="1" eaLnBrk="1" hangingPunct="1"/>
            <a:r>
              <a:rPr lang="en-CA" altLang="en-US">
                <a:latin typeface="Arial" charset="0"/>
                <a:cs typeface="Arial" charset="0"/>
              </a:rPr>
              <a:t>Caps on investor return</a:t>
            </a:r>
          </a:p>
          <a:p>
            <a:pPr lvl="1" eaLnBrk="1" hangingPunct="1"/>
            <a:r>
              <a:rPr lang="en-CA" altLang="en-US">
                <a:latin typeface="Arial" charset="0"/>
                <a:cs typeface="Arial" charset="0"/>
              </a:rPr>
              <a:t>Knock outs, averaging features, etc</a:t>
            </a:r>
          </a:p>
          <a:p>
            <a:pPr lvl="1" eaLnBrk="1" hangingPunct="1"/>
            <a:endParaRPr lang="en-CA" altLang="en-US">
              <a:latin typeface="Arial" charset="0"/>
              <a:cs typeface="Arial" charset="0"/>
            </a:endParaRPr>
          </a:p>
          <a:p>
            <a:pPr lvl="1" eaLnBrk="1" hangingPunct="1"/>
            <a:endParaRPr lang="en-CA" altLang="en-US">
              <a:latin typeface="Arial" charset="0"/>
              <a:cs typeface="Arial" charset="0"/>
            </a:endParaRPr>
          </a:p>
        </p:txBody>
      </p:sp>
      <p:sp>
        <p:nvSpPr>
          <p:cNvPr id="81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5F14AF4-1224-48C5-B996-C89F95DF90A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1447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3500" dirty="0"/>
              <a:t>Positions in an Option &amp; the Underlying </a:t>
            </a:r>
            <a:r>
              <a:rPr lang="en-US" altLang="en-US" sz="2000" dirty="0"/>
              <a:t>(Figure 12.1)</a:t>
            </a:r>
            <a:endParaRPr lang="en-US" altLang="en-US" sz="3500" dirty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0313" y="1189038"/>
            <a:ext cx="3521075" cy="4538662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9221" name="Line 4"/>
          <p:cNvSpPr>
            <a:spLocks noChangeShapeType="1"/>
          </p:cNvSpPr>
          <p:nvPr/>
        </p:nvSpPr>
        <p:spPr bwMode="auto">
          <a:xfrm>
            <a:off x="1716088" y="1785938"/>
            <a:ext cx="0" cy="20716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2" name="Line 5"/>
          <p:cNvSpPr>
            <a:spLocks noChangeShapeType="1"/>
          </p:cNvSpPr>
          <p:nvPr/>
        </p:nvSpPr>
        <p:spPr bwMode="auto">
          <a:xfrm>
            <a:off x="1716088" y="2887663"/>
            <a:ext cx="2374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3" name="Rectangle 6"/>
          <p:cNvSpPr>
            <a:spLocks noChangeArrowheads="1"/>
          </p:cNvSpPr>
          <p:nvPr/>
        </p:nvSpPr>
        <p:spPr bwMode="auto">
          <a:xfrm>
            <a:off x="1752600" y="193516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Profit</a:t>
            </a:r>
          </a:p>
        </p:txBody>
      </p:sp>
      <p:sp>
        <p:nvSpPr>
          <p:cNvPr id="9224" name="Rectangle 7"/>
          <p:cNvSpPr>
            <a:spLocks noChangeArrowheads="1"/>
          </p:cNvSpPr>
          <p:nvPr/>
        </p:nvSpPr>
        <p:spPr bwMode="auto">
          <a:xfrm>
            <a:off x="3784600" y="2894013"/>
            <a:ext cx="51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S</a:t>
            </a:r>
            <a:r>
              <a:rPr lang="en-US" altLang="en-US" sz="2400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9225" name="Rectangle 8"/>
          <p:cNvSpPr>
            <a:spLocks noChangeArrowheads="1"/>
          </p:cNvSpPr>
          <p:nvPr/>
        </p:nvSpPr>
        <p:spPr bwMode="auto">
          <a:xfrm>
            <a:off x="2632075" y="2924175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K</a:t>
            </a:r>
          </a:p>
        </p:txBody>
      </p:sp>
      <p:sp>
        <p:nvSpPr>
          <p:cNvPr id="9226" name="Line 9"/>
          <p:cNvSpPr>
            <a:spLocks noChangeShapeType="1"/>
          </p:cNvSpPr>
          <p:nvPr/>
        </p:nvSpPr>
        <p:spPr bwMode="auto">
          <a:xfrm flipV="1">
            <a:off x="1716088" y="2541588"/>
            <a:ext cx="1114425" cy="10556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7" name="Line 10"/>
          <p:cNvSpPr>
            <a:spLocks noChangeShapeType="1"/>
          </p:cNvSpPr>
          <p:nvPr/>
        </p:nvSpPr>
        <p:spPr bwMode="auto">
          <a:xfrm>
            <a:off x="2843213" y="2565400"/>
            <a:ext cx="827087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Line 11"/>
          <p:cNvSpPr>
            <a:spLocks noChangeShapeType="1"/>
          </p:cNvSpPr>
          <p:nvPr/>
        </p:nvSpPr>
        <p:spPr bwMode="auto">
          <a:xfrm flipV="1">
            <a:off x="2825750" y="2840038"/>
            <a:ext cx="0" cy="47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Line 12"/>
          <p:cNvSpPr>
            <a:spLocks noChangeShapeType="1"/>
          </p:cNvSpPr>
          <p:nvPr/>
        </p:nvSpPr>
        <p:spPr bwMode="auto">
          <a:xfrm>
            <a:off x="1720850" y="2779713"/>
            <a:ext cx="11049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Line 13"/>
          <p:cNvSpPr>
            <a:spLocks noChangeShapeType="1"/>
          </p:cNvSpPr>
          <p:nvPr/>
        </p:nvSpPr>
        <p:spPr bwMode="auto">
          <a:xfrm>
            <a:off x="2825750" y="2760663"/>
            <a:ext cx="850900" cy="80486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Line 14"/>
          <p:cNvSpPr>
            <a:spLocks noChangeShapeType="1"/>
          </p:cNvSpPr>
          <p:nvPr/>
        </p:nvSpPr>
        <p:spPr bwMode="auto">
          <a:xfrm flipH="1">
            <a:off x="1720850" y="1854200"/>
            <a:ext cx="1941513" cy="1836738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2" name="Line 15"/>
          <p:cNvSpPr>
            <a:spLocks noChangeShapeType="1"/>
          </p:cNvSpPr>
          <p:nvPr/>
        </p:nvSpPr>
        <p:spPr bwMode="auto">
          <a:xfrm>
            <a:off x="5316538" y="1785938"/>
            <a:ext cx="0" cy="20716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3" name="Line 16"/>
          <p:cNvSpPr>
            <a:spLocks noChangeShapeType="1"/>
          </p:cNvSpPr>
          <p:nvPr/>
        </p:nvSpPr>
        <p:spPr bwMode="auto">
          <a:xfrm>
            <a:off x="5316538" y="2887663"/>
            <a:ext cx="23733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Rectangle 17"/>
          <p:cNvSpPr>
            <a:spLocks noChangeArrowheads="1"/>
          </p:cNvSpPr>
          <p:nvPr/>
        </p:nvSpPr>
        <p:spPr bwMode="auto">
          <a:xfrm>
            <a:off x="5410200" y="1828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Profit</a:t>
            </a:r>
          </a:p>
        </p:txBody>
      </p:sp>
      <p:sp>
        <p:nvSpPr>
          <p:cNvPr id="9235" name="Rectangle 18"/>
          <p:cNvSpPr>
            <a:spLocks noChangeArrowheads="1"/>
          </p:cNvSpPr>
          <p:nvPr/>
        </p:nvSpPr>
        <p:spPr bwMode="auto">
          <a:xfrm>
            <a:off x="7402513" y="2894013"/>
            <a:ext cx="51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S</a:t>
            </a:r>
            <a:r>
              <a:rPr lang="en-US" altLang="en-US" sz="2400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9236" name="Rectangle 19"/>
          <p:cNvSpPr>
            <a:spLocks noChangeArrowheads="1"/>
          </p:cNvSpPr>
          <p:nvPr/>
        </p:nvSpPr>
        <p:spPr bwMode="auto">
          <a:xfrm>
            <a:off x="6226175" y="24447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K</a:t>
            </a:r>
          </a:p>
        </p:txBody>
      </p:sp>
      <p:sp>
        <p:nvSpPr>
          <p:cNvPr id="9237" name="Line 20"/>
          <p:cNvSpPr>
            <a:spLocks noChangeShapeType="1"/>
          </p:cNvSpPr>
          <p:nvPr/>
        </p:nvSpPr>
        <p:spPr bwMode="auto">
          <a:xfrm>
            <a:off x="6443663" y="3213100"/>
            <a:ext cx="76835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8" name="Line 21"/>
          <p:cNvSpPr>
            <a:spLocks noChangeShapeType="1"/>
          </p:cNvSpPr>
          <p:nvPr/>
        </p:nvSpPr>
        <p:spPr bwMode="auto">
          <a:xfrm flipH="1" flipV="1">
            <a:off x="5326063" y="2149475"/>
            <a:ext cx="1120775" cy="10604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9" name="Line 22"/>
          <p:cNvSpPr>
            <a:spLocks noChangeShapeType="1"/>
          </p:cNvSpPr>
          <p:nvPr/>
        </p:nvSpPr>
        <p:spPr bwMode="auto">
          <a:xfrm>
            <a:off x="5326063" y="2995613"/>
            <a:ext cx="1112837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0" name="Line 23"/>
          <p:cNvSpPr>
            <a:spLocks noChangeShapeType="1"/>
          </p:cNvSpPr>
          <p:nvPr/>
        </p:nvSpPr>
        <p:spPr bwMode="auto">
          <a:xfrm flipV="1">
            <a:off x="6438900" y="2290763"/>
            <a:ext cx="744538" cy="7048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1" name="Line 24"/>
          <p:cNvSpPr>
            <a:spLocks noChangeShapeType="1"/>
          </p:cNvSpPr>
          <p:nvPr/>
        </p:nvSpPr>
        <p:spPr bwMode="auto">
          <a:xfrm>
            <a:off x="5326063" y="2020888"/>
            <a:ext cx="1930400" cy="1828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2" name="Line 25"/>
          <p:cNvSpPr>
            <a:spLocks noChangeShapeType="1"/>
          </p:cNvSpPr>
          <p:nvPr/>
        </p:nvSpPr>
        <p:spPr bwMode="auto">
          <a:xfrm flipV="1">
            <a:off x="6438900" y="2844800"/>
            <a:ext cx="0" cy="42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3" name="Line 26"/>
          <p:cNvSpPr>
            <a:spLocks noChangeShapeType="1"/>
          </p:cNvSpPr>
          <p:nvPr/>
        </p:nvSpPr>
        <p:spPr bwMode="auto">
          <a:xfrm>
            <a:off x="1716088" y="4040188"/>
            <a:ext cx="0" cy="2060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4" name="Line 27"/>
          <p:cNvSpPr>
            <a:spLocks noChangeShapeType="1"/>
          </p:cNvSpPr>
          <p:nvPr/>
        </p:nvSpPr>
        <p:spPr bwMode="auto">
          <a:xfrm>
            <a:off x="1716088" y="5126038"/>
            <a:ext cx="2374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5" name="Rectangle 28"/>
          <p:cNvSpPr>
            <a:spLocks noChangeArrowheads="1"/>
          </p:cNvSpPr>
          <p:nvPr/>
        </p:nvSpPr>
        <p:spPr bwMode="auto">
          <a:xfrm>
            <a:off x="1752600" y="39624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Profit</a:t>
            </a:r>
          </a:p>
        </p:txBody>
      </p:sp>
      <p:sp>
        <p:nvSpPr>
          <p:cNvPr id="9246" name="Rectangle 29"/>
          <p:cNvSpPr>
            <a:spLocks noChangeArrowheads="1"/>
          </p:cNvSpPr>
          <p:nvPr/>
        </p:nvSpPr>
        <p:spPr bwMode="auto">
          <a:xfrm>
            <a:off x="3784600" y="5132388"/>
            <a:ext cx="51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S</a:t>
            </a:r>
            <a:r>
              <a:rPr lang="en-US" altLang="en-US" sz="2400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9247" name="Rectangle 30"/>
          <p:cNvSpPr>
            <a:spLocks noChangeArrowheads="1"/>
          </p:cNvSpPr>
          <p:nvPr/>
        </p:nvSpPr>
        <p:spPr bwMode="auto">
          <a:xfrm>
            <a:off x="2663825" y="467677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K</a:t>
            </a:r>
          </a:p>
        </p:txBody>
      </p:sp>
      <p:sp>
        <p:nvSpPr>
          <p:cNvPr id="9248" name="Line 31"/>
          <p:cNvSpPr>
            <a:spLocks noChangeShapeType="1"/>
          </p:cNvSpPr>
          <p:nvPr/>
        </p:nvSpPr>
        <p:spPr bwMode="auto">
          <a:xfrm>
            <a:off x="1692275" y="5229225"/>
            <a:ext cx="114141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9" name="Line 32"/>
          <p:cNvSpPr>
            <a:spLocks noChangeShapeType="1"/>
          </p:cNvSpPr>
          <p:nvPr/>
        </p:nvSpPr>
        <p:spPr bwMode="auto">
          <a:xfrm flipV="1">
            <a:off x="2855913" y="4498975"/>
            <a:ext cx="782637" cy="7397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0" name="Line 33"/>
          <p:cNvSpPr>
            <a:spLocks noChangeShapeType="1"/>
          </p:cNvSpPr>
          <p:nvPr/>
        </p:nvSpPr>
        <p:spPr bwMode="auto">
          <a:xfrm flipV="1">
            <a:off x="2870200" y="5080000"/>
            <a:ext cx="0" cy="412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1" name="Line 34"/>
          <p:cNvSpPr>
            <a:spLocks noChangeShapeType="1"/>
          </p:cNvSpPr>
          <p:nvPr/>
        </p:nvSpPr>
        <p:spPr bwMode="auto">
          <a:xfrm flipH="1" flipV="1">
            <a:off x="1692275" y="4221163"/>
            <a:ext cx="1154113" cy="109061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2" name="Line 35"/>
          <p:cNvSpPr>
            <a:spLocks noChangeShapeType="1"/>
          </p:cNvSpPr>
          <p:nvPr/>
        </p:nvSpPr>
        <p:spPr bwMode="auto">
          <a:xfrm>
            <a:off x="2870200" y="5346700"/>
            <a:ext cx="742950" cy="31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3" name="Line 36"/>
          <p:cNvSpPr>
            <a:spLocks noChangeShapeType="1"/>
          </p:cNvSpPr>
          <p:nvPr/>
        </p:nvSpPr>
        <p:spPr bwMode="auto">
          <a:xfrm flipV="1">
            <a:off x="1720850" y="4264025"/>
            <a:ext cx="1922463" cy="18065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4" name="Line 37"/>
          <p:cNvSpPr>
            <a:spLocks noChangeShapeType="1"/>
          </p:cNvSpPr>
          <p:nvPr/>
        </p:nvSpPr>
        <p:spPr bwMode="auto">
          <a:xfrm>
            <a:off x="5316538" y="4035425"/>
            <a:ext cx="0" cy="2062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5" name="Line 38"/>
          <p:cNvSpPr>
            <a:spLocks noChangeShapeType="1"/>
          </p:cNvSpPr>
          <p:nvPr/>
        </p:nvSpPr>
        <p:spPr bwMode="auto">
          <a:xfrm>
            <a:off x="5316538" y="5126038"/>
            <a:ext cx="23733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6" name="Rectangle 39"/>
          <p:cNvSpPr>
            <a:spLocks noChangeArrowheads="1"/>
          </p:cNvSpPr>
          <p:nvPr/>
        </p:nvSpPr>
        <p:spPr bwMode="auto">
          <a:xfrm>
            <a:off x="5334000" y="3886200"/>
            <a:ext cx="1025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Profit</a:t>
            </a:r>
          </a:p>
        </p:txBody>
      </p:sp>
      <p:sp>
        <p:nvSpPr>
          <p:cNvPr id="9257" name="Rectangle 40"/>
          <p:cNvSpPr>
            <a:spLocks noChangeArrowheads="1"/>
          </p:cNvSpPr>
          <p:nvPr/>
        </p:nvSpPr>
        <p:spPr bwMode="auto">
          <a:xfrm>
            <a:off x="7402513" y="5132388"/>
            <a:ext cx="51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S</a:t>
            </a:r>
            <a:r>
              <a:rPr lang="en-US" altLang="en-US" sz="2400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9258" name="Rectangle 41"/>
          <p:cNvSpPr>
            <a:spLocks noChangeArrowheads="1"/>
          </p:cNvSpPr>
          <p:nvPr/>
        </p:nvSpPr>
        <p:spPr bwMode="auto">
          <a:xfrm>
            <a:off x="6226175" y="510698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K</a:t>
            </a:r>
          </a:p>
        </p:txBody>
      </p:sp>
      <p:sp>
        <p:nvSpPr>
          <p:cNvPr id="9259" name="Line 42"/>
          <p:cNvSpPr>
            <a:spLocks noChangeShapeType="1"/>
          </p:cNvSpPr>
          <p:nvPr/>
        </p:nvSpPr>
        <p:spPr bwMode="auto">
          <a:xfrm>
            <a:off x="5314950" y="5029200"/>
            <a:ext cx="112871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0" name="Line 43"/>
          <p:cNvSpPr>
            <a:spLocks noChangeShapeType="1"/>
          </p:cNvSpPr>
          <p:nvPr/>
        </p:nvSpPr>
        <p:spPr bwMode="auto">
          <a:xfrm flipH="1" flipV="1">
            <a:off x="6443663" y="5013325"/>
            <a:ext cx="903287" cy="8556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1" name="Line 44"/>
          <p:cNvSpPr>
            <a:spLocks noChangeShapeType="1"/>
          </p:cNvSpPr>
          <p:nvPr/>
        </p:nvSpPr>
        <p:spPr bwMode="auto">
          <a:xfrm>
            <a:off x="5295900" y="4127500"/>
            <a:ext cx="2051050" cy="194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2" name="Line 45"/>
          <p:cNvSpPr>
            <a:spLocks noChangeShapeType="1"/>
          </p:cNvSpPr>
          <p:nvPr/>
        </p:nvSpPr>
        <p:spPr bwMode="auto">
          <a:xfrm flipV="1">
            <a:off x="6438900" y="5080000"/>
            <a:ext cx="0" cy="412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3" name="Line 46"/>
          <p:cNvSpPr>
            <a:spLocks noChangeShapeType="1"/>
          </p:cNvSpPr>
          <p:nvPr/>
        </p:nvSpPr>
        <p:spPr bwMode="auto">
          <a:xfrm>
            <a:off x="6437313" y="4910138"/>
            <a:ext cx="8826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4" name="Line 47"/>
          <p:cNvSpPr>
            <a:spLocks noChangeShapeType="1"/>
          </p:cNvSpPr>
          <p:nvPr/>
        </p:nvSpPr>
        <p:spPr bwMode="auto">
          <a:xfrm flipH="1">
            <a:off x="5326063" y="4887913"/>
            <a:ext cx="1112837" cy="1054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5" name="Rectangle 48"/>
          <p:cNvSpPr>
            <a:spLocks noChangeArrowheads="1"/>
          </p:cNvSpPr>
          <p:nvPr/>
        </p:nvSpPr>
        <p:spPr bwMode="auto">
          <a:xfrm>
            <a:off x="2516188" y="3486150"/>
            <a:ext cx="542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(a)</a:t>
            </a:r>
          </a:p>
        </p:txBody>
      </p:sp>
      <p:sp>
        <p:nvSpPr>
          <p:cNvPr id="9266" name="Rectangle 49"/>
          <p:cNvSpPr>
            <a:spLocks noChangeArrowheads="1"/>
          </p:cNvSpPr>
          <p:nvPr/>
        </p:nvSpPr>
        <p:spPr bwMode="auto">
          <a:xfrm>
            <a:off x="6105525" y="3622675"/>
            <a:ext cx="495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(b)</a:t>
            </a:r>
          </a:p>
        </p:txBody>
      </p:sp>
      <p:sp>
        <p:nvSpPr>
          <p:cNvPr id="9267" name="Rectangle 50"/>
          <p:cNvSpPr>
            <a:spLocks noChangeArrowheads="1"/>
          </p:cNvSpPr>
          <p:nvPr/>
        </p:nvSpPr>
        <p:spPr bwMode="auto">
          <a:xfrm>
            <a:off x="2584450" y="5851525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(c)</a:t>
            </a:r>
          </a:p>
        </p:txBody>
      </p:sp>
      <p:sp>
        <p:nvSpPr>
          <p:cNvPr id="9268" name="Rectangle 51"/>
          <p:cNvSpPr>
            <a:spLocks noChangeArrowheads="1"/>
          </p:cNvSpPr>
          <p:nvPr/>
        </p:nvSpPr>
        <p:spPr bwMode="auto">
          <a:xfrm>
            <a:off x="6105525" y="5851525"/>
            <a:ext cx="495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(d)</a:t>
            </a:r>
          </a:p>
        </p:txBody>
      </p:sp>
      <p:sp>
        <p:nvSpPr>
          <p:cNvPr id="9269" name="Slide Number Placeholder 5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B7ACD80-5A35-4884-8104-C51F243FE5E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Bull Spread Using Calls</a:t>
            </a:r>
            <a:br>
              <a:rPr lang="en-US" altLang="en-US" dirty="0"/>
            </a:br>
            <a:r>
              <a:rPr lang="en-US" altLang="en-US" sz="2000" dirty="0"/>
              <a:t>(Figure 12.2)</a:t>
            </a:r>
            <a:endParaRPr lang="en-US" altLang="en-US" dirty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5138" y="1752600"/>
            <a:ext cx="4114800" cy="24384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0245" name="Line 4"/>
          <p:cNvSpPr>
            <a:spLocks noChangeShapeType="1"/>
          </p:cNvSpPr>
          <p:nvPr/>
        </p:nvSpPr>
        <p:spPr bwMode="auto">
          <a:xfrm>
            <a:off x="2192338" y="22860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Line 5"/>
          <p:cNvSpPr>
            <a:spLocks noChangeShapeType="1"/>
          </p:cNvSpPr>
          <p:nvPr/>
        </p:nvSpPr>
        <p:spPr bwMode="auto">
          <a:xfrm>
            <a:off x="2192338" y="41148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Line 6"/>
          <p:cNvSpPr>
            <a:spLocks noChangeShapeType="1"/>
          </p:cNvSpPr>
          <p:nvPr/>
        </p:nvSpPr>
        <p:spPr bwMode="auto">
          <a:xfrm flipV="1">
            <a:off x="4021138" y="40386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Line 7"/>
          <p:cNvSpPr>
            <a:spLocks noChangeShapeType="1"/>
          </p:cNvSpPr>
          <p:nvPr/>
        </p:nvSpPr>
        <p:spPr bwMode="auto">
          <a:xfrm flipV="1">
            <a:off x="5849938" y="40386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Rectangle 8"/>
          <p:cNvSpPr>
            <a:spLocks noChangeArrowheads="1"/>
          </p:cNvSpPr>
          <p:nvPr/>
        </p:nvSpPr>
        <p:spPr bwMode="auto">
          <a:xfrm>
            <a:off x="3776663" y="40846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10250" name="Rectangle 9"/>
          <p:cNvSpPr>
            <a:spLocks noChangeArrowheads="1"/>
          </p:cNvSpPr>
          <p:nvPr/>
        </p:nvSpPr>
        <p:spPr bwMode="auto">
          <a:xfrm>
            <a:off x="5181600" y="4084638"/>
            <a:ext cx="14843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lvl="1">
              <a:spcBef>
                <a:spcPct val="0"/>
              </a:spcBef>
              <a:buSzTx/>
              <a:buFontTx/>
              <a:buNone/>
            </a:pPr>
            <a:r>
              <a:rPr lang="en-US" altLang="en-US" sz="3200" i="1">
                <a:latin typeface="Times New Roman" pitchFamily="18" charset="0"/>
              </a:rPr>
              <a:t>K</a:t>
            </a:r>
            <a:r>
              <a:rPr lang="en-US" altLang="en-US" sz="3200" i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10251" name="Rectangle 10"/>
          <p:cNvSpPr>
            <a:spLocks noChangeArrowheads="1"/>
          </p:cNvSpPr>
          <p:nvPr/>
        </p:nvSpPr>
        <p:spPr bwMode="auto">
          <a:xfrm>
            <a:off x="2176463" y="2332038"/>
            <a:ext cx="1133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Profit</a:t>
            </a:r>
          </a:p>
        </p:txBody>
      </p:sp>
      <p:sp>
        <p:nvSpPr>
          <p:cNvPr id="10252" name="Rectangle 11"/>
          <p:cNvSpPr>
            <a:spLocks noChangeArrowheads="1"/>
          </p:cNvSpPr>
          <p:nvPr/>
        </p:nvSpPr>
        <p:spPr bwMode="auto">
          <a:xfrm>
            <a:off x="6900863" y="3505200"/>
            <a:ext cx="5667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10253" name="Line 12"/>
          <p:cNvSpPr>
            <a:spLocks noChangeShapeType="1"/>
          </p:cNvSpPr>
          <p:nvPr/>
        </p:nvSpPr>
        <p:spPr bwMode="auto">
          <a:xfrm flipV="1">
            <a:off x="3929063" y="3000375"/>
            <a:ext cx="2000250" cy="21431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Line 13"/>
          <p:cNvSpPr>
            <a:spLocks noChangeShapeType="1"/>
          </p:cNvSpPr>
          <p:nvPr/>
        </p:nvSpPr>
        <p:spPr bwMode="auto">
          <a:xfrm flipV="1">
            <a:off x="3929063" y="2571750"/>
            <a:ext cx="2857500" cy="30003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Line 14"/>
          <p:cNvSpPr>
            <a:spLocks noChangeShapeType="1"/>
          </p:cNvSpPr>
          <p:nvPr/>
        </p:nvSpPr>
        <p:spPr bwMode="auto">
          <a:xfrm flipH="1" flipV="1">
            <a:off x="2214563" y="5572125"/>
            <a:ext cx="17145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Line 15"/>
          <p:cNvSpPr>
            <a:spLocks noChangeShapeType="1"/>
          </p:cNvSpPr>
          <p:nvPr/>
        </p:nvSpPr>
        <p:spPr bwMode="auto">
          <a:xfrm flipH="1">
            <a:off x="2214563" y="5143500"/>
            <a:ext cx="17145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7" name="Line 16"/>
          <p:cNvSpPr>
            <a:spLocks noChangeShapeType="1"/>
          </p:cNvSpPr>
          <p:nvPr/>
        </p:nvSpPr>
        <p:spPr bwMode="auto">
          <a:xfrm>
            <a:off x="5929313" y="3000375"/>
            <a:ext cx="11477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Line 17"/>
          <p:cNvSpPr>
            <a:spLocks noChangeShapeType="1"/>
          </p:cNvSpPr>
          <p:nvPr/>
        </p:nvSpPr>
        <p:spPr bwMode="auto">
          <a:xfrm flipH="1">
            <a:off x="2192338" y="3657600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9" name="Line 18"/>
          <p:cNvSpPr>
            <a:spLocks noChangeShapeType="1"/>
          </p:cNvSpPr>
          <p:nvPr/>
        </p:nvSpPr>
        <p:spPr bwMode="auto">
          <a:xfrm>
            <a:off x="5849938" y="3657600"/>
            <a:ext cx="1219200" cy="1219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0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9C01D35-6A06-4914-B504-548A5859037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Bull Spread Using Puts</a:t>
            </a:r>
            <a:br>
              <a:rPr lang="en-US" altLang="en-US" dirty="0"/>
            </a:br>
            <a:r>
              <a:rPr lang="en-US" altLang="en-US" sz="2000" dirty="0"/>
              <a:t>Figure 12.3</a:t>
            </a:r>
            <a:endParaRPr lang="en-US" altLang="en-US" dirty="0"/>
          </a:p>
        </p:txBody>
      </p:sp>
      <p:grpSp>
        <p:nvGrpSpPr>
          <p:cNvPr id="11268" name="Group 19"/>
          <p:cNvGrpSpPr>
            <a:grpSpLocks/>
          </p:cNvGrpSpPr>
          <p:nvPr/>
        </p:nvGrpSpPr>
        <p:grpSpPr bwMode="auto">
          <a:xfrm>
            <a:off x="1643063" y="1785938"/>
            <a:ext cx="5708650" cy="4286250"/>
            <a:chOff x="949" y="1104"/>
            <a:chExt cx="3596" cy="2700"/>
          </a:xfrm>
        </p:grpSpPr>
        <p:sp>
          <p:nvSpPr>
            <p:cNvPr id="11270" name="Rectangle 3"/>
            <p:cNvSpPr>
              <a:spLocks noChangeArrowheads="1"/>
            </p:cNvSpPr>
            <p:nvPr/>
          </p:nvSpPr>
          <p:spPr bwMode="auto">
            <a:xfrm>
              <a:off x="949" y="1104"/>
              <a:ext cx="2592" cy="1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11271" name="Line 4"/>
            <p:cNvSpPr>
              <a:spLocks noChangeShapeType="1"/>
            </p:cNvSpPr>
            <p:nvPr/>
          </p:nvSpPr>
          <p:spPr bwMode="auto">
            <a:xfrm>
              <a:off x="1242" y="1440"/>
              <a:ext cx="0" cy="2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2" name="Line 5"/>
            <p:cNvSpPr>
              <a:spLocks noChangeShapeType="1"/>
            </p:cNvSpPr>
            <p:nvPr/>
          </p:nvSpPr>
          <p:spPr bwMode="auto">
            <a:xfrm>
              <a:off x="1242" y="2592"/>
              <a:ext cx="3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3" name="Line 6"/>
            <p:cNvSpPr>
              <a:spLocks noChangeShapeType="1"/>
            </p:cNvSpPr>
            <p:nvPr/>
          </p:nvSpPr>
          <p:spPr bwMode="auto">
            <a:xfrm flipV="1">
              <a:off x="2394" y="2544"/>
              <a:ext cx="0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4" name="Line 7"/>
            <p:cNvSpPr>
              <a:spLocks noChangeShapeType="1"/>
            </p:cNvSpPr>
            <p:nvPr/>
          </p:nvSpPr>
          <p:spPr bwMode="auto">
            <a:xfrm flipV="1">
              <a:off x="3546" y="2544"/>
              <a:ext cx="0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5" name="Rectangle 8"/>
            <p:cNvSpPr>
              <a:spLocks noChangeArrowheads="1"/>
            </p:cNvSpPr>
            <p:nvPr/>
          </p:nvSpPr>
          <p:spPr bwMode="auto">
            <a:xfrm>
              <a:off x="2254" y="2189"/>
              <a:ext cx="491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K</a:t>
              </a:r>
              <a:r>
                <a:rPr lang="en-US" altLang="en-US" i="1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1276" name="Rectangle 9"/>
            <p:cNvSpPr>
              <a:spLocks noChangeArrowheads="1"/>
            </p:cNvSpPr>
            <p:nvPr/>
          </p:nvSpPr>
          <p:spPr bwMode="auto">
            <a:xfrm>
              <a:off x="3392" y="2189"/>
              <a:ext cx="3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K</a:t>
              </a:r>
              <a:r>
                <a:rPr lang="en-US" altLang="en-US" i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1277" name="Rectangle 10"/>
            <p:cNvSpPr>
              <a:spLocks noChangeArrowheads="1"/>
            </p:cNvSpPr>
            <p:nvPr/>
          </p:nvSpPr>
          <p:spPr bwMode="auto">
            <a:xfrm>
              <a:off x="1232" y="1469"/>
              <a:ext cx="71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" charset="0"/>
                </a:rPr>
                <a:t>Profit</a:t>
              </a:r>
            </a:p>
          </p:txBody>
        </p:sp>
        <p:sp>
          <p:nvSpPr>
            <p:cNvPr id="11278" name="Rectangle 11"/>
            <p:cNvSpPr>
              <a:spLocks noChangeArrowheads="1"/>
            </p:cNvSpPr>
            <p:nvPr/>
          </p:nvSpPr>
          <p:spPr bwMode="auto">
            <a:xfrm>
              <a:off x="4208" y="2189"/>
              <a:ext cx="33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S</a:t>
              </a:r>
              <a:r>
                <a:rPr lang="en-US" altLang="en-US" i="1" baseline="-250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1279" name="Line 12"/>
            <p:cNvSpPr>
              <a:spLocks noChangeShapeType="1"/>
            </p:cNvSpPr>
            <p:nvPr/>
          </p:nvSpPr>
          <p:spPr bwMode="auto">
            <a:xfrm flipV="1">
              <a:off x="2344" y="2016"/>
              <a:ext cx="1202" cy="124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0" name="Line 13"/>
            <p:cNvSpPr>
              <a:spLocks noChangeShapeType="1"/>
            </p:cNvSpPr>
            <p:nvPr/>
          </p:nvSpPr>
          <p:spPr bwMode="auto">
            <a:xfrm flipH="1">
              <a:off x="1219" y="3264"/>
              <a:ext cx="115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1" name="Line 14"/>
            <p:cNvSpPr>
              <a:spLocks noChangeShapeType="1"/>
            </p:cNvSpPr>
            <p:nvPr/>
          </p:nvSpPr>
          <p:spPr bwMode="auto">
            <a:xfrm>
              <a:off x="3546" y="2016"/>
              <a:ext cx="82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2" name="Line 15"/>
            <p:cNvSpPr>
              <a:spLocks noChangeShapeType="1"/>
            </p:cNvSpPr>
            <p:nvPr/>
          </p:nvSpPr>
          <p:spPr bwMode="auto">
            <a:xfrm flipH="1">
              <a:off x="1579" y="1779"/>
              <a:ext cx="1935" cy="2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3" name="Line 16"/>
            <p:cNvSpPr>
              <a:spLocks noChangeShapeType="1"/>
            </p:cNvSpPr>
            <p:nvPr/>
          </p:nvSpPr>
          <p:spPr bwMode="auto">
            <a:xfrm>
              <a:off x="3514" y="1779"/>
              <a:ext cx="9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4" name="Line 17"/>
            <p:cNvSpPr>
              <a:spLocks noChangeShapeType="1"/>
            </p:cNvSpPr>
            <p:nvPr/>
          </p:nvSpPr>
          <p:spPr bwMode="auto">
            <a:xfrm flipH="1" flipV="1">
              <a:off x="1350" y="1710"/>
              <a:ext cx="1039" cy="11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5" name="Line 18"/>
            <p:cNvSpPr>
              <a:spLocks noChangeShapeType="1"/>
            </p:cNvSpPr>
            <p:nvPr/>
          </p:nvSpPr>
          <p:spPr bwMode="auto">
            <a:xfrm>
              <a:off x="2389" y="2859"/>
              <a:ext cx="19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69" name="Slide Number Placeholder 2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CC7016E-0525-4169-AB50-641060D5B66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Bear Spread Using Puts</a:t>
            </a:r>
            <a:br>
              <a:rPr lang="en-US" altLang="en-US" dirty="0"/>
            </a:br>
            <a:r>
              <a:rPr lang="en-US" altLang="en-US" sz="2000" dirty="0"/>
              <a:t>Figure 12.4</a:t>
            </a:r>
            <a:endParaRPr lang="en-US" altLang="en-US" dirty="0"/>
          </a:p>
        </p:txBody>
      </p:sp>
      <p:grpSp>
        <p:nvGrpSpPr>
          <p:cNvPr id="12292" name="Group 19"/>
          <p:cNvGrpSpPr>
            <a:grpSpLocks/>
          </p:cNvGrpSpPr>
          <p:nvPr/>
        </p:nvGrpSpPr>
        <p:grpSpPr bwMode="auto">
          <a:xfrm>
            <a:off x="1731963" y="1600200"/>
            <a:ext cx="5708650" cy="4191000"/>
            <a:chOff x="1091" y="1008"/>
            <a:chExt cx="3596" cy="2640"/>
          </a:xfrm>
        </p:grpSpPr>
        <p:sp>
          <p:nvSpPr>
            <p:cNvPr id="12294" name="Rectangle 3"/>
            <p:cNvSpPr>
              <a:spLocks noChangeArrowheads="1"/>
            </p:cNvSpPr>
            <p:nvPr/>
          </p:nvSpPr>
          <p:spPr bwMode="auto">
            <a:xfrm>
              <a:off x="1091" y="1008"/>
              <a:ext cx="2592" cy="1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12295" name="Line 4"/>
            <p:cNvSpPr>
              <a:spLocks noChangeShapeType="1"/>
            </p:cNvSpPr>
            <p:nvPr/>
          </p:nvSpPr>
          <p:spPr bwMode="auto">
            <a:xfrm>
              <a:off x="1384" y="1344"/>
              <a:ext cx="0" cy="2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6" name="Line 5"/>
            <p:cNvSpPr>
              <a:spLocks noChangeShapeType="1"/>
            </p:cNvSpPr>
            <p:nvPr/>
          </p:nvSpPr>
          <p:spPr bwMode="auto">
            <a:xfrm>
              <a:off x="1384" y="2496"/>
              <a:ext cx="3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7" name="Line 6"/>
            <p:cNvSpPr>
              <a:spLocks noChangeShapeType="1"/>
            </p:cNvSpPr>
            <p:nvPr/>
          </p:nvSpPr>
          <p:spPr bwMode="auto">
            <a:xfrm flipV="1">
              <a:off x="2536" y="2448"/>
              <a:ext cx="0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8" name="Line 7"/>
            <p:cNvSpPr>
              <a:spLocks noChangeShapeType="1"/>
            </p:cNvSpPr>
            <p:nvPr/>
          </p:nvSpPr>
          <p:spPr bwMode="auto">
            <a:xfrm flipV="1">
              <a:off x="3688" y="2448"/>
              <a:ext cx="0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9" name="Rectangle 8"/>
            <p:cNvSpPr>
              <a:spLocks noChangeArrowheads="1"/>
            </p:cNvSpPr>
            <p:nvPr/>
          </p:nvSpPr>
          <p:spPr bwMode="auto">
            <a:xfrm>
              <a:off x="2382" y="2477"/>
              <a:ext cx="3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K</a:t>
              </a:r>
              <a:r>
                <a:rPr lang="en-US" altLang="en-US" i="1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2300" name="Rectangle 9"/>
            <p:cNvSpPr>
              <a:spLocks noChangeArrowheads="1"/>
            </p:cNvSpPr>
            <p:nvPr/>
          </p:nvSpPr>
          <p:spPr bwMode="auto">
            <a:xfrm>
              <a:off x="3534" y="2477"/>
              <a:ext cx="3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K</a:t>
              </a:r>
              <a:r>
                <a:rPr lang="en-US" altLang="en-US" i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2301" name="Rectangle 10"/>
            <p:cNvSpPr>
              <a:spLocks noChangeArrowheads="1"/>
            </p:cNvSpPr>
            <p:nvPr/>
          </p:nvSpPr>
          <p:spPr bwMode="auto">
            <a:xfrm>
              <a:off x="1374" y="1373"/>
              <a:ext cx="71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Arial" charset="0"/>
                </a:rPr>
                <a:t>Profit</a:t>
              </a:r>
            </a:p>
          </p:txBody>
        </p:sp>
        <p:sp>
          <p:nvSpPr>
            <p:cNvPr id="12302" name="Rectangle 11"/>
            <p:cNvSpPr>
              <a:spLocks noChangeArrowheads="1"/>
            </p:cNvSpPr>
            <p:nvPr/>
          </p:nvSpPr>
          <p:spPr bwMode="auto">
            <a:xfrm>
              <a:off x="4350" y="2477"/>
              <a:ext cx="33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S</a:t>
              </a:r>
              <a:r>
                <a:rPr lang="en-US" altLang="en-US" i="1" baseline="-250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2303" name="Line 12"/>
            <p:cNvSpPr>
              <a:spLocks noChangeShapeType="1"/>
            </p:cNvSpPr>
            <p:nvPr/>
          </p:nvSpPr>
          <p:spPr bwMode="auto">
            <a:xfrm>
              <a:off x="1390" y="1920"/>
              <a:ext cx="115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4" name="Line 13"/>
            <p:cNvSpPr>
              <a:spLocks noChangeShapeType="1"/>
            </p:cNvSpPr>
            <p:nvPr/>
          </p:nvSpPr>
          <p:spPr bwMode="auto">
            <a:xfrm>
              <a:off x="2542" y="1920"/>
              <a:ext cx="1152" cy="115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5" name="Line 14"/>
            <p:cNvSpPr>
              <a:spLocks noChangeShapeType="1"/>
            </p:cNvSpPr>
            <p:nvPr/>
          </p:nvSpPr>
          <p:spPr bwMode="auto">
            <a:xfrm>
              <a:off x="3694" y="3072"/>
              <a:ext cx="81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6" name="Line 15"/>
            <p:cNvSpPr>
              <a:spLocks noChangeShapeType="1"/>
            </p:cNvSpPr>
            <p:nvPr/>
          </p:nvSpPr>
          <p:spPr bwMode="auto">
            <a:xfrm flipH="1" flipV="1">
              <a:off x="1935" y="1530"/>
              <a:ext cx="1755" cy="17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7" name="Line 16"/>
            <p:cNvSpPr>
              <a:spLocks noChangeShapeType="1"/>
            </p:cNvSpPr>
            <p:nvPr/>
          </p:nvSpPr>
          <p:spPr bwMode="auto">
            <a:xfrm flipV="1">
              <a:off x="3690" y="3285"/>
              <a:ext cx="732" cy="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8" name="Line 17"/>
            <p:cNvSpPr>
              <a:spLocks noChangeShapeType="1"/>
            </p:cNvSpPr>
            <p:nvPr/>
          </p:nvSpPr>
          <p:spPr bwMode="auto">
            <a:xfrm flipH="1">
              <a:off x="1392" y="2250"/>
              <a:ext cx="1128" cy="1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9" name="Line 18"/>
            <p:cNvSpPr>
              <a:spLocks noChangeShapeType="1"/>
            </p:cNvSpPr>
            <p:nvPr/>
          </p:nvSpPr>
          <p:spPr bwMode="auto">
            <a:xfrm>
              <a:off x="2520" y="2250"/>
              <a:ext cx="19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293" name="Slide Number Placeholder 2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AF507C0-F2D1-4F4C-B912-9B0634D3817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685800"/>
            <a:ext cx="77724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Bear Spread Using Calls</a:t>
            </a:r>
            <a:br>
              <a:rPr lang="en-US" altLang="en-US" dirty="0"/>
            </a:br>
            <a:r>
              <a:rPr lang="en-US" altLang="en-US" sz="2000" dirty="0"/>
              <a:t>Figure 12.5</a:t>
            </a:r>
            <a:endParaRPr lang="en-US" altLang="en-US" dirty="0"/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1752600" y="16764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3317" name="Line 4"/>
          <p:cNvSpPr>
            <a:spLocks noChangeShapeType="1"/>
          </p:cNvSpPr>
          <p:nvPr/>
        </p:nvSpPr>
        <p:spPr bwMode="auto">
          <a:xfrm>
            <a:off x="2217738" y="22098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Line 5"/>
          <p:cNvSpPr>
            <a:spLocks noChangeShapeType="1"/>
          </p:cNvSpPr>
          <p:nvPr/>
        </p:nvSpPr>
        <p:spPr bwMode="auto">
          <a:xfrm>
            <a:off x="2217738" y="40386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Line 6"/>
          <p:cNvSpPr>
            <a:spLocks noChangeShapeType="1"/>
          </p:cNvSpPr>
          <p:nvPr/>
        </p:nvSpPr>
        <p:spPr bwMode="auto">
          <a:xfrm flipV="1">
            <a:off x="4046538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Line 7"/>
          <p:cNvSpPr>
            <a:spLocks noChangeShapeType="1"/>
          </p:cNvSpPr>
          <p:nvPr/>
        </p:nvSpPr>
        <p:spPr bwMode="auto">
          <a:xfrm flipV="1">
            <a:off x="5875338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3802063" y="33988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630863" y="33988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2201863" y="1643063"/>
            <a:ext cx="137001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Profit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7002463" y="3398838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13325" name="Line 12"/>
          <p:cNvSpPr>
            <a:spLocks noChangeShapeType="1"/>
          </p:cNvSpPr>
          <p:nvPr/>
        </p:nvSpPr>
        <p:spPr bwMode="auto">
          <a:xfrm>
            <a:off x="2286000" y="2643188"/>
            <a:ext cx="17145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6" name="Line 13"/>
          <p:cNvSpPr>
            <a:spLocks noChangeShapeType="1"/>
          </p:cNvSpPr>
          <p:nvPr/>
        </p:nvSpPr>
        <p:spPr bwMode="auto">
          <a:xfrm>
            <a:off x="4000500" y="2643188"/>
            <a:ext cx="3119438" cy="3119437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7" name="Line 14"/>
          <p:cNvSpPr>
            <a:spLocks noChangeShapeType="1"/>
          </p:cNvSpPr>
          <p:nvPr/>
        </p:nvSpPr>
        <p:spPr bwMode="auto">
          <a:xfrm>
            <a:off x="2227263" y="3124200"/>
            <a:ext cx="1828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8" name="Line 15"/>
          <p:cNvSpPr>
            <a:spLocks noChangeShapeType="1"/>
          </p:cNvSpPr>
          <p:nvPr/>
        </p:nvSpPr>
        <p:spPr bwMode="auto">
          <a:xfrm>
            <a:off x="4056063" y="3124200"/>
            <a:ext cx="1828800" cy="1828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9" name="Line 16"/>
          <p:cNvSpPr>
            <a:spLocks noChangeShapeType="1"/>
          </p:cNvSpPr>
          <p:nvPr/>
        </p:nvSpPr>
        <p:spPr bwMode="auto">
          <a:xfrm>
            <a:off x="5884863" y="4953000"/>
            <a:ext cx="12954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0" name="Line 17"/>
          <p:cNvSpPr>
            <a:spLocks noChangeShapeType="1"/>
          </p:cNvSpPr>
          <p:nvPr/>
        </p:nvSpPr>
        <p:spPr bwMode="auto">
          <a:xfrm flipH="1" flipV="1">
            <a:off x="2214563" y="4572000"/>
            <a:ext cx="364331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1" name="Line 18"/>
          <p:cNvSpPr>
            <a:spLocks noChangeShapeType="1"/>
          </p:cNvSpPr>
          <p:nvPr/>
        </p:nvSpPr>
        <p:spPr bwMode="auto">
          <a:xfrm flipV="1">
            <a:off x="5857875" y="3357563"/>
            <a:ext cx="1295400" cy="1214437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32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89BFBE9-14C4-49B4-93EE-42C635018C4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Box Spread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A combination of a bull call spread and a bear put spread</a:t>
            </a:r>
          </a:p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If all options are European a box spread is worth the present value of the difference between the strike prices</a:t>
            </a:r>
          </a:p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If they are American this is not necessarily so (see Business Snapshot 11.1)</a:t>
            </a:r>
          </a:p>
          <a:p>
            <a:pPr marL="0" indent="0" eaLnBrk="1" hangingPunct="1">
              <a:buNone/>
            </a:pPr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2776961-39B7-4918-B607-29E81BF8BD8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A Straddle Combination</a:t>
            </a:r>
            <a:br>
              <a:rPr lang="en-US" altLang="en-US" dirty="0"/>
            </a:br>
            <a:r>
              <a:rPr lang="en-US" altLang="en-US" sz="2200" dirty="0"/>
              <a:t>Figure 12.10</a:t>
            </a:r>
            <a:endParaRPr lang="en-US" altLang="en-US" dirty="0"/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1749425" y="16764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9461" name="Line 4"/>
          <p:cNvSpPr>
            <a:spLocks noChangeShapeType="1"/>
          </p:cNvSpPr>
          <p:nvPr/>
        </p:nvSpPr>
        <p:spPr bwMode="auto">
          <a:xfrm>
            <a:off x="2214563" y="22098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Line 5"/>
          <p:cNvSpPr>
            <a:spLocks noChangeShapeType="1"/>
          </p:cNvSpPr>
          <p:nvPr/>
        </p:nvSpPr>
        <p:spPr bwMode="auto">
          <a:xfrm>
            <a:off x="2214563" y="40386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Rectangle 6"/>
          <p:cNvSpPr>
            <a:spLocks noChangeArrowheads="1"/>
          </p:cNvSpPr>
          <p:nvPr/>
        </p:nvSpPr>
        <p:spPr bwMode="auto">
          <a:xfrm>
            <a:off x="2198688" y="2255838"/>
            <a:ext cx="1133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Profit</a:t>
            </a:r>
          </a:p>
        </p:txBody>
      </p:sp>
      <p:sp>
        <p:nvSpPr>
          <p:cNvPr id="19464" name="Rectangle 7"/>
          <p:cNvSpPr>
            <a:spLocks noChangeArrowheads="1"/>
          </p:cNvSpPr>
          <p:nvPr/>
        </p:nvSpPr>
        <p:spPr bwMode="auto">
          <a:xfrm>
            <a:off x="6923088" y="4046538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19465" name="Line 8"/>
          <p:cNvSpPr>
            <a:spLocks noChangeShapeType="1"/>
          </p:cNvSpPr>
          <p:nvPr/>
        </p:nvSpPr>
        <p:spPr bwMode="auto">
          <a:xfrm flipV="1">
            <a:off x="49577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Rectangle 9"/>
          <p:cNvSpPr>
            <a:spLocks noChangeArrowheads="1"/>
          </p:cNvSpPr>
          <p:nvPr/>
        </p:nvSpPr>
        <p:spPr bwMode="auto">
          <a:xfrm>
            <a:off x="4713288" y="4046538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</a:p>
        </p:txBody>
      </p:sp>
      <p:sp>
        <p:nvSpPr>
          <p:cNvPr id="19467" name="Line 10"/>
          <p:cNvSpPr>
            <a:spLocks noChangeShapeType="1"/>
          </p:cNvSpPr>
          <p:nvPr/>
        </p:nvSpPr>
        <p:spPr bwMode="auto">
          <a:xfrm flipH="1">
            <a:off x="2209800" y="44958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Line 11"/>
          <p:cNvSpPr>
            <a:spLocks noChangeShapeType="1"/>
          </p:cNvSpPr>
          <p:nvPr/>
        </p:nvSpPr>
        <p:spPr bwMode="auto">
          <a:xfrm flipV="1">
            <a:off x="4953000" y="2209800"/>
            <a:ext cx="2286000" cy="2286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9" name="Line 12"/>
          <p:cNvSpPr>
            <a:spLocks noChangeShapeType="1"/>
          </p:cNvSpPr>
          <p:nvPr/>
        </p:nvSpPr>
        <p:spPr bwMode="auto">
          <a:xfrm>
            <a:off x="4953000" y="4953000"/>
            <a:ext cx="2286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Line 13"/>
          <p:cNvSpPr>
            <a:spLocks noChangeShapeType="1"/>
          </p:cNvSpPr>
          <p:nvPr/>
        </p:nvSpPr>
        <p:spPr bwMode="auto">
          <a:xfrm flipH="1" flipV="1">
            <a:off x="2667000" y="2667000"/>
            <a:ext cx="2286000" cy="2286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1" name="Line 14"/>
          <p:cNvSpPr>
            <a:spLocks noChangeShapeType="1"/>
          </p:cNvSpPr>
          <p:nvPr/>
        </p:nvSpPr>
        <p:spPr bwMode="auto">
          <a:xfrm flipV="1">
            <a:off x="4953000" y="3124200"/>
            <a:ext cx="2286000" cy="2286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2" name="Line 15"/>
          <p:cNvSpPr>
            <a:spLocks noChangeShapeType="1"/>
          </p:cNvSpPr>
          <p:nvPr/>
        </p:nvSpPr>
        <p:spPr bwMode="auto">
          <a:xfrm flipH="1" flipV="1">
            <a:off x="2195513" y="2636838"/>
            <a:ext cx="2743200" cy="2743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3" name="Slide Number Placeholder 1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D713914-E6B9-414D-9648-60CE098BFBF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Butterfly Spread Using Calls</a:t>
            </a:r>
            <a:br>
              <a:rPr lang="en-US" altLang="en-US" dirty="0"/>
            </a:br>
            <a:r>
              <a:rPr lang="en-US" altLang="en-US" sz="2200" dirty="0"/>
              <a:t>Figure 12.6</a:t>
            </a:r>
            <a:endParaRPr lang="en-US" altLang="en-US" dirty="0"/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1749425" y="16764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5365" name="Line 4"/>
          <p:cNvSpPr>
            <a:spLocks noChangeShapeType="1"/>
          </p:cNvSpPr>
          <p:nvPr/>
        </p:nvSpPr>
        <p:spPr bwMode="auto">
          <a:xfrm>
            <a:off x="2214563" y="22098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Line 5"/>
          <p:cNvSpPr>
            <a:spLocks noChangeShapeType="1"/>
          </p:cNvSpPr>
          <p:nvPr/>
        </p:nvSpPr>
        <p:spPr bwMode="auto">
          <a:xfrm>
            <a:off x="2214563" y="40386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Line 6"/>
          <p:cNvSpPr>
            <a:spLocks noChangeShapeType="1"/>
          </p:cNvSpPr>
          <p:nvPr/>
        </p:nvSpPr>
        <p:spPr bwMode="auto">
          <a:xfrm flipV="1">
            <a:off x="40433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Line 7"/>
          <p:cNvSpPr>
            <a:spLocks noChangeShapeType="1"/>
          </p:cNvSpPr>
          <p:nvPr/>
        </p:nvSpPr>
        <p:spPr bwMode="auto">
          <a:xfrm flipV="1">
            <a:off x="58721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Rectangle 8"/>
          <p:cNvSpPr>
            <a:spLocks noChangeArrowheads="1"/>
          </p:cNvSpPr>
          <p:nvPr/>
        </p:nvSpPr>
        <p:spPr bwMode="auto">
          <a:xfrm>
            <a:off x="37988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15370" name="Rectangle 9"/>
          <p:cNvSpPr>
            <a:spLocks noChangeArrowheads="1"/>
          </p:cNvSpPr>
          <p:nvPr/>
        </p:nvSpPr>
        <p:spPr bwMode="auto">
          <a:xfrm>
            <a:off x="56276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3</a:t>
            </a:r>
          </a:p>
        </p:txBody>
      </p:sp>
      <p:sp>
        <p:nvSpPr>
          <p:cNvPr id="15371" name="Rectangle 10"/>
          <p:cNvSpPr>
            <a:spLocks noChangeArrowheads="1"/>
          </p:cNvSpPr>
          <p:nvPr/>
        </p:nvSpPr>
        <p:spPr bwMode="auto">
          <a:xfrm>
            <a:off x="2198688" y="1928813"/>
            <a:ext cx="11334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Profit</a:t>
            </a:r>
          </a:p>
        </p:txBody>
      </p:sp>
      <p:sp>
        <p:nvSpPr>
          <p:cNvPr id="15372" name="Rectangle 11"/>
          <p:cNvSpPr>
            <a:spLocks noChangeArrowheads="1"/>
          </p:cNvSpPr>
          <p:nvPr/>
        </p:nvSpPr>
        <p:spPr bwMode="auto">
          <a:xfrm>
            <a:off x="6923088" y="3475038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15373" name="Line 12"/>
          <p:cNvSpPr>
            <a:spLocks noChangeShapeType="1"/>
          </p:cNvSpPr>
          <p:nvPr/>
        </p:nvSpPr>
        <p:spPr bwMode="auto">
          <a:xfrm flipV="1">
            <a:off x="49577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4" name="Rectangle 13"/>
          <p:cNvSpPr>
            <a:spLocks noChangeArrowheads="1"/>
          </p:cNvSpPr>
          <p:nvPr/>
        </p:nvSpPr>
        <p:spPr bwMode="auto">
          <a:xfrm>
            <a:off x="47132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15375" name="Line 14"/>
          <p:cNvSpPr>
            <a:spLocks noChangeShapeType="1"/>
          </p:cNvSpPr>
          <p:nvPr/>
        </p:nvSpPr>
        <p:spPr bwMode="auto">
          <a:xfrm flipH="1">
            <a:off x="2227263" y="4495800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6" name="Line 15"/>
          <p:cNvSpPr>
            <a:spLocks noChangeShapeType="1"/>
          </p:cNvSpPr>
          <p:nvPr/>
        </p:nvSpPr>
        <p:spPr bwMode="auto">
          <a:xfrm flipV="1">
            <a:off x="5884863" y="2428875"/>
            <a:ext cx="2044700" cy="206692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7" name="Line 16"/>
          <p:cNvSpPr>
            <a:spLocks noChangeShapeType="1"/>
          </p:cNvSpPr>
          <p:nvPr/>
        </p:nvSpPr>
        <p:spPr bwMode="auto">
          <a:xfrm flipV="1">
            <a:off x="4056063" y="1785938"/>
            <a:ext cx="3159125" cy="316706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8" name="Line 17"/>
          <p:cNvSpPr>
            <a:spLocks noChangeShapeType="1"/>
          </p:cNvSpPr>
          <p:nvPr/>
        </p:nvSpPr>
        <p:spPr bwMode="auto">
          <a:xfrm flipH="1">
            <a:off x="2227263" y="4953000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9" name="Line 18"/>
          <p:cNvSpPr>
            <a:spLocks noChangeShapeType="1"/>
          </p:cNvSpPr>
          <p:nvPr/>
        </p:nvSpPr>
        <p:spPr bwMode="auto">
          <a:xfrm>
            <a:off x="2227263" y="29718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0" name="Line 19"/>
          <p:cNvSpPr>
            <a:spLocks noChangeShapeType="1"/>
          </p:cNvSpPr>
          <p:nvPr/>
        </p:nvSpPr>
        <p:spPr bwMode="auto">
          <a:xfrm>
            <a:off x="4970463" y="2971800"/>
            <a:ext cx="1314450" cy="2743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1" name="Line 20"/>
          <p:cNvSpPr>
            <a:spLocks noChangeShapeType="1"/>
          </p:cNvSpPr>
          <p:nvPr/>
        </p:nvSpPr>
        <p:spPr bwMode="auto">
          <a:xfrm>
            <a:off x="2227263" y="4343400"/>
            <a:ext cx="1828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2" name="Line 21"/>
          <p:cNvSpPr>
            <a:spLocks noChangeShapeType="1"/>
          </p:cNvSpPr>
          <p:nvPr/>
        </p:nvSpPr>
        <p:spPr bwMode="auto">
          <a:xfrm flipV="1">
            <a:off x="4056063" y="3429000"/>
            <a:ext cx="914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3" name="Line 22"/>
          <p:cNvSpPr>
            <a:spLocks noChangeShapeType="1"/>
          </p:cNvSpPr>
          <p:nvPr/>
        </p:nvSpPr>
        <p:spPr bwMode="auto">
          <a:xfrm>
            <a:off x="4970463" y="3429000"/>
            <a:ext cx="914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4" name="Line 23"/>
          <p:cNvSpPr>
            <a:spLocks noChangeShapeType="1"/>
          </p:cNvSpPr>
          <p:nvPr/>
        </p:nvSpPr>
        <p:spPr bwMode="auto">
          <a:xfrm>
            <a:off x="5884863" y="4343400"/>
            <a:ext cx="1371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5" name="Slide Number Placeholder 2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48373A5-698C-49C1-88B2-D929A356CD1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Copyright © John C. Hull 2021</a:t>
            </a: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Butterfly Spread Using Puts</a:t>
            </a:r>
            <a:br>
              <a:rPr lang="en-US" altLang="en-US" dirty="0"/>
            </a:br>
            <a:r>
              <a:rPr lang="en-US" altLang="en-US" sz="2200" dirty="0"/>
              <a:t>Figure 12.7</a:t>
            </a:r>
            <a:endParaRPr lang="en-US" altLang="en-US" dirty="0"/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1749425" y="16764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6389" name="Line 4"/>
          <p:cNvSpPr>
            <a:spLocks noChangeShapeType="1"/>
          </p:cNvSpPr>
          <p:nvPr/>
        </p:nvSpPr>
        <p:spPr bwMode="auto">
          <a:xfrm>
            <a:off x="2214563" y="22098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Line 5"/>
          <p:cNvSpPr>
            <a:spLocks noChangeShapeType="1"/>
          </p:cNvSpPr>
          <p:nvPr/>
        </p:nvSpPr>
        <p:spPr bwMode="auto">
          <a:xfrm>
            <a:off x="2214563" y="40386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Line 6"/>
          <p:cNvSpPr>
            <a:spLocks noChangeShapeType="1"/>
          </p:cNvSpPr>
          <p:nvPr/>
        </p:nvSpPr>
        <p:spPr bwMode="auto">
          <a:xfrm flipV="1">
            <a:off x="40433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Line 7"/>
          <p:cNvSpPr>
            <a:spLocks noChangeShapeType="1"/>
          </p:cNvSpPr>
          <p:nvPr/>
        </p:nvSpPr>
        <p:spPr bwMode="auto">
          <a:xfrm flipV="1">
            <a:off x="58721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Rectangle 8"/>
          <p:cNvSpPr>
            <a:spLocks noChangeArrowheads="1"/>
          </p:cNvSpPr>
          <p:nvPr/>
        </p:nvSpPr>
        <p:spPr bwMode="auto">
          <a:xfrm>
            <a:off x="37988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16394" name="Rectangle 9"/>
          <p:cNvSpPr>
            <a:spLocks noChangeArrowheads="1"/>
          </p:cNvSpPr>
          <p:nvPr/>
        </p:nvSpPr>
        <p:spPr bwMode="auto">
          <a:xfrm>
            <a:off x="56276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3</a:t>
            </a:r>
          </a:p>
        </p:txBody>
      </p:sp>
      <p:sp>
        <p:nvSpPr>
          <p:cNvPr id="16395" name="Rectangle 10"/>
          <p:cNvSpPr>
            <a:spLocks noChangeArrowheads="1"/>
          </p:cNvSpPr>
          <p:nvPr/>
        </p:nvSpPr>
        <p:spPr bwMode="auto">
          <a:xfrm>
            <a:off x="928688" y="2255838"/>
            <a:ext cx="24034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Profit</a:t>
            </a:r>
          </a:p>
        </p:txBody>
      </p:sp>
      <p:sp>
        <p:nvSpPr>
          <p:cNvPr id="16396" name="Rectangle 11"/>
          <p:cNvSpPr>
            <a:spLocks noChangeArrowheads="1"/>
          </p:cNvSpPr>
          <p:nvPr/>
        </p:nvSpPr>
        <p:spPr bwMode="auto">
          <a:xfrm>
            <a:off x="6923088" y="3475038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i="1" baseline="-25000">
                <a:latin typeface="Times New Roman" pitchFamily="18" charset="0"/>
              </a:rPr>
              <a:t>T</a:t>
            </a:r>
          </a:p>
        </p:txBody>
      </p:sp>
      <p:sp>
        <p:nvSpPr>
          <p:cNvPr id="16397" name="Line 12"/>
          <p:cNvSpPr>
            <a:spLocks noChangeShapeType="1"/>
          </p:cNvSpPr>
          <p:nvPr/>
        </p:nvSpPr>
        <p:spPr bwMode="auto">
          <a:xfrm flipV="1">
            <a:off x="49577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8" name="Rectangle 13"/>
          <p:cNvSpPr>
            <a:spLocks noChangeArrowheads="1"/>
          </p:cNvSpPr>
          <p:nvPr/>
        </p:nvSpPr>
        <p:spPr bwMode="auto">
          <a:xfrm>
            <a:off x="47132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K</a:t>
            </a:r>
            <a:r>
              <a:rPr lang="en-US" altLang="en-US" i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16399" name="Line 14"/>
          <p:cNvSpPr>
            <a:spLocks noChangeShapeType="1"/>
          </p:cNvSpPr>
          <p:nvPr/>
        </p:nvSpPr>
        <p:spPr bwMode="auto">
          <a:xfrm flipH="1">
            <a:off x="4000500" y="4495800"/>
            <a:ext cx="3238500" cy="4763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Line 15"/>
          <p:cNvSpPr>
            <a:spLocks noChangeShapeType="1"/>
          </p:cNvSpPr>
          <p:nvPr/>
        </p:nvSpPr>
        <p:spPr bwMode="auto">
          <a:xfrm flipH="1" flipV="1">
            <a:off x="5857875" y="4929188"/>
            <a:ext cx="1381125" cy="2381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1" name="Line 16"/>
          <p:cNvSpPr>
            <a:spLocks noChangeShapeType="1"/>
          </p:cNvSpPr>
          <p:nvPr/>
        </p:nvSpPr>
        <p:spPr bwMode="auto">
          <a:xfrm>
            <a:off x="4929188" y="2928938"/>
            <a:ext cx="27860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2" name="Line 17"/>
          <p:cNvSpPr>
            <a:spLocks noChangeShapeType="1"/>
          </p:cNvSpPr>
          <p:nvPr/>
        </p:nvSpPr>
        <p:spPr bwMode="auto">
          <a:xfrm>
            <a:off x="2227263" y="4343400"/>
            <a:ext cx="1828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3" name="Line 18"/>
          <p:cNvSpPr>
            <a:spLocks noChangeShapeType="1"/>
          </p:cNvSpPr>
          <p:nvPr/>
        </p:nvSpPr>
        <p:spPr bwMode="auto">
          <a:xfrm flipV="1">
            <a:off x="4056063" y="3429000"/>
            <a:ext cx="914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4" name="Line 19"/>
          <p:cNvSpPr>
            <a:spLocks noChangeShapeType="1"/>
          </p:cNvSpPr>
          <p:nvPr/>
        </p:nvSpPr>
        <p:spPr bwMode="auto">
          <a:xfrm>
            <a:off x="4970463" y="3429000"/>
            <a:ext cx="914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5" name="Line 20"/>
          <p:cNvSpPr>
            <a:spLocks noChangeShapeType="1"/>
          </p:cNvSpPr>
          <p:nvPr/>
        </p:nvSpPr>
        <p:spPr bwMode="auto">
          <a:xfrm>
            <a:off x="5884863" y="4343400"/>
            <a:ext cx="1371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6" name="Line 21"/>
          <p:cNvSpPr>
            <a:spLocks noChangeShapeType="1"/>
          </p:cNvSpPr>
          <p:nvPr/>
        </p:nvSpPr>
        <p:spPr bwMode="auto">
          <a:xfrm flipH="1" flipV="1">
            <a:off x="2209800" y="2667000"/>
            <a:ext cx="1828800" cy="1828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7" name="Line 22"/>
          <p:cNvSpPr>
            <a:spLocks noChangeShapeType="1"/>
          </p:cNvSpPr>
          <p:nvPr/>
        </p:nvSpPr>
        <p:spPr bwMode="auto">
          <a:xfrm flipH="1" flipV="1">
            <a:off x="3276600" y="2362200"/>
            <a:ext cx="2590800" cy="2590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8" name="Line 23"/>
          <p:cNvSpPr>
            <a:spLocks noChangeShapeType="1"/>
          </p:cNvSpPr>
          <p:nvPr/>
        </p:nvSpPr>
        <p:spPr bwMode="auto">
          <a:xfrm flipH="1">
            <a:off x="3563938" y="2971800"/>
            <a:ext cx="1389062" cy="2895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9" name="Slide Number Placeholder 2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B19E317-1FC3-4AEF-975E-05CCCCACCE1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Ch09HullOFOD8thlEdition</Template>
  <TotalTime>531</TotalTime>
  <Pages>16</Pages>
  <Words>1327</Words>
  <Application>Microsoft Office PowerPoint</Application>
  <PresentationFormat>Letter Paper (8.5x11 in)</PresentationFormat>
  <Paragraphs>267</Paragraphs>
  <Slides>27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Symbol</vt:lpstr>
      <vt:lpstr>Tahoma</vt:lpstr>
      <vt:lpstr>Times New Roman</vt:lpstr>
      <vt:lpstr>Wingdings</vt:lpstr>
      <vt:lpstr>Global</vt:lpstr>
      <vt:lpstr>Equation</vt:lpstr>
      <vt:lpstr>Chapter 11  Properties of Stock Options</vt:lpstr>
      <vt:lpstr>Notation</vt:lpstr>
      <vt:lpstr>Effect of Variables on Option Pricing (Table 11.1)</vt:lpstr>
      <vt:lpstr>American vs European Options</vt:lpstr>
      <vt:lpstr>Lower Bound for European Call Option Prices; No Dividends (Equation 11.4)</vt:lpstr>
      <vt:lpstr>Lower Bound for European Put Prices; No Dividends (Equation 11.5)</vt:lpstr>
      <vt:lpstr>Put-Call Parity: No Dividends  </vt:lpstr>
      <vt:lpstr>Values of Portfolios (Table 11.2)</vt:lpstr>
      <vt:lpstr>The Put-Call Parity Result (Equation 11.6)</vt:lpstr>
      <vt:lpstr>Early Exercise</vt:lpstr>
      <vt:lpstr>Bounds for European or American Call Options (No Dividends) Figure 11.3</vt:lpstr>
      <vt:lpstr>Bounds for European and American Put Options (No Dividends) Figure 11.4</vt:lpstr>
      <vt:lpstr>The Impact of Dividends on Lower Bounds to Option Prices (Equations 11.8 and 11.9)</vt:lpstr>
      <vt:lpstr>Extensions of Put-Call Parity</vt:lpstr>
      <vt:lpstr>Chapter 12 Trading Strategies Involving Options</vt:lpstr>
      <vt:lpstr>Strategies to be Considered</vt:lpstr>
      <vt:lpstr>Principal Protected Note</vt:lpstr>
      <vt:lpstr>Principal Protected Notes continued</vt:lpstr>
      <vt:lpstr>Positions in an Option &amp; the Underlying (Figure 12.1)</vt:lpstr>
      <vt:lpstr>Bull Spread Using Calls (Figure 12.2)</vt:lpstr>
      <vt:lpstr>Bull Spread Using Puts Figure 12.3</vt:lpstr>
      <vt:lpstr>Bear Spread Using Puts Figure 12.4</vt:lpstr>
      <vt:lpstr>Bear Spread Using Calls Figure 12.5</vt:lpstr>
      <vt:lpstr>Box Spread</vt:lpstr>
      <vt:lpstr>A Straddle Combination Figure 12.10</vt:lpstr>
      <vt:lpstr>Butterfly Spread Using Calls Figure 12.6</vt:lpstr>
      <vt:lpstr>Butterfly Spread Using Puts Figure 12.7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Properties of Stock Options</dc:title>
  <dc:subject>Options, Futures, and Other Derivatives, 11th Edition</dc:subject>
  <dc:creator>John C. Hull</dc:creator>
  <cp:keywords>Chapter 11</cp:keywords>
  <dc:description>Copyright 2021 by John C. Hull.
All rights reserved. Published 2021.</dc:description>
  <cp:lastModifiedBy>Bihary  Zsolt</cp:lastModifiedBy>
  <cp:revision>64</cp:revision>
  <cp:lastPrinted>1999-07-13T14:41:13Z</cp:lastPrinted>
  <dcterms:created xsi:type="dcterms:W3CDTF">1996-10-23T21:58:56Z</dcterms:created>
  <dcterms:modified xsi:type="dcterms:W3CDTF">2023-11-27T07:22:50Z</dcterms:modified>
</cp:coreProperties>
</file>